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view of the eight stages. Enablers first: advanced UX prototype to end Oct, Data Sync to mid Nov, Core API (AD write authority) to mid Dec. Then integration and testing from mid Dec to mid Jan, with the single DST (Digital Security Review) cleared by mid Jan. UAT runs to mid Feb, Beta in Feb, Go-Live in Mar, and Access goes live in Apr after a ramp of at least three weeks. Bar start points and the DST window are indicative; confirm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enablers and the single DST review unblock every module. Each module then passes its own quality gate before ramping. Beta is February, go-live is March, and Access follows in April after a minimum three-week ramp. Hatched areas show where no module canary can start. If any enabler slips, the whole chain on the right moves. Bar positions are indicative; confirm exact dates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254000"/>
            <a:ext cx="11277600" cy="335260"/>
          </a:xfrm>
          <a:prstGeom prst="rect">
            <a:avLst/>
          </a:prstGeom>
          <a:noFill/>
          <a:ln/>
        </p:spPr>
        <p:txBody>
          <a:bodyPr wrap="square" lIns="0" tIns="0" rIns="0" bIns="0" rtlCol="0" anchor="t"/>
          <a:lstStyle>
            <a:lvl1pPr algn="l" indent="0" marL="0">
              <a:lnSpc>
                <a:spcPct val="110000"/>
              </a:lnSpc>
              <a:buNone/>
              <a:defRPr lang="en-US" sz="2400" dirty="0">
                <a:solidFill>
                  <a:srgbClr val="00205B"/>
                </a:solidFill>
                <a:latin typeface="DM Sans" pitchFamily="34" charset="0"/>
                <a:ea typeface="DM Sans" pitchFamily="34" charset="-122"/>
                <a:cs typeface="DM Sans" pitchFamily="34" charset="-120"/>
              </a:defRPr>
            </a:lvl1pPr>
          </a:lstStyle>
          <a:p>
            <a:pPr algn="l" indent="0" marL="0">
              <a:lnSpc>
                <a:spcPct val="110000"/>
              </a:lnSpc>
              <a:buNone/>
            </a:pPr>
            <a:endParaRPr lang="en-US" sz="2400" dirty="0"/>
          </a:p>
        </p:txBody>
      </p:sp>
      <p:sp>
        <p:nvSpPr>
          <p:cNvPr id="3" name="Text Placeholder 2"/>
          <p:cNvSpPr/>
          <p:nvPr>
            <p:ph idx="101" type="body"/>
          </p:nvPr>
        </p:nvSpPr>
        <p:spPr>
          <a:xfrm>
            <a:off x="457200" y="894060"/>
            <a:ext cx="10922000" cy="5151140"/>
          </a:xfrm>
          <a:prstGeom prst="rect">
            <a:avLst/>
          </a:prstGeom>
          <a:noFill/>
          <a:ln/>
        </p:spPr>
        <p:txBody>
          <a:bodyPr wrap="square" lIns="0" tIns="0" rIns="0" bIns="0" rtlCol="0" anchor="t"/>
          <a:lstStyle>
            <a:lvl1pPr algn="l" indent="0" marL="0">
              <a:lnSpc>
                <a:spcPct val="140000"/>
              </a:lnSpc>
              <a:buNone/>
              <a:defRPr lang="en-US" sz="1600" dirty="0">
                <a:solidFill>
                  <a:srgbClr val="00205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254000"/>
            <a:ext cx="11277600" cy="335260"/>
          </a:xfrm>
          <a:prstGeom prst="rect">
            <a:avLst/>
          </a:prstGeom>
          <a:noFill/>
          <a:ln/>
        </p:spPr>
        <p:txBody>
          <a:bodyPr wrap="square" lIns="0" tIns="0" rIns="0" bIns="0" rtlCol="0" anchor="t"/>
          <a:lstStyle>
            <a:lvl1pPr algn="l" indent="0" marL="0">
              <a:lnSpc>
                <a:spcPct val="110000"/>
              </a:lnSpc>
              <a:buNone/>
              <a:defRPr lang="en-US" sz="2400" dirty="0">
                <a:solidFill>
                  <a:srgbClr val="00205B"/>
                </a:solidFill>
                <a:latin typeface="DM Sans" pitchFamily="34" charset="0"/>
                <a:ea typeface="DM Sans" pitchFamily="34" charset="-122"/>
                <a:cs typeface="DM Sans" pitchFamily="34" charset="-120"/>
              </a:defRPr>
            </a:lvl1pPr>
          </a:lstStyle>
          <a:p>
            <a:pPr algn="l" indent="0" marL="0">
              <a:lnSpc>
                <a:spcPct val="110000"/>
              </a:lnSpc>
              <a:buNone/>
            </a:pPr>
            <a:endParaRPr lang="en-US" sz="2400" dirty="0"/>
          </a:p>
        </p:txBody>
      </p:sp>
      <p:sp>
        <p:nvSpPr>
          <p:cNvPr id="3" name="Text Placeholder 2"/>
          <p:cNvSpPr/>
          <p:nvPr>
            <p:ph idx="101" type="body"/>
          </p:nvPr>
        </p:nvSpPr>
        <p:spPr>
          <a:xfrm>
            <a:off x="457200" y="894060"/>
            <a:ext cx="10922000" cy="5151140"/>
          </a:xfrm>
          <a:prstGeom prst="rect">
            <a:avLst/>
          </a:prstGeom>
          <a:noFill/>
          <a:ln/>
        </p:spPr>
        <p:txBody>
          <a:bodyPr wrap="square" lIns="0" tIns="0" rIns="0" bIns="0" rtlCol="0" anchor="t"/>
          <a:lstStyle>
            <a:lvl1pPr algn="l" indent="0" marL="0">
              <a:lnSpc>
                <a:spcPct val="140000"/>
              </a:lnSpc>
              <a:buNone/>
              <a:defRPr lang="en-US" sz="1600" dirty="0">
                <a:solidFill>
                  <a:srgbClr val="00205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Text 0"/>
          <p:cNvSpPr/>
          <p:nvPr>
            <p:ph type="title"/>
          </p:nvPr>
        </p:nvSpPr>
        <p:spPr>
          <a:xfrm>
            <a:off x="457200" y="254000"/>
            <a:ext cx="11615928" cy="40253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1F2A44"/>
                </a:solidFill>
                <a:latin typeface="Source Serif 4" pitchFamily="18" charset="0"/>
                <a:ea typeface="Source Serif 4" pitchFamily="18" charset="-122"/>
                <a:cs typeface="Source Serif 4" pitchFamily="18" charset="-120"/>
              </a:rPr>
              <a:t>MyIAM · High-Level Roadmap: Oct 2026 → Apr 2027</a:t>
            </a:r>
            <a:endParaRPr lang="en-US" sz="2700" dirty="0"/>
          </a:p>
        </p:txBody>
      </p:sp>
      <p:sp>
        <p:nvSpPr>
          <p:cNvPr id="3" name="Text 1"/>
          <p:cNvSpPr/>
          <p:nvPr/>
        </p:nvSpPr>
        <p:spPr>
          <a:xfrm>
            <a:off x="457200" y="669230"/>
            <a:ext cx="11615928" cy="240010"/>
          </a:xfrm>
          <a:prstGeom prst="rect">
            <a:avLst/>
          </a:prstGeom>
          <a:noFill/>
          <a:ln/>
        </p:spPr>
        <p:txBody>
          <a:bodyPr wrap="square" lIns="0" tIns="0" rIns="0" bIns="0" rtlCol="0" anchor="t">
            <a:normAutofit/>
          </a:bodyPr>
          <a:lstStyle/>
          <a:p>
            <a:pPr algn="l" indent="0" marL="0">
              <a:lnSpc>
                <a:spcPts val="1690"/>
              </a:lnSpc>
              <a:buNone/>
            </a:pPr>
            <a:r>
              <a:rPr lang="en-US" sz="1300" i="1" dirty="0">
                <a:solidFill>
                  <a:srgbClr val="4A5568"/>
                </a:solidFill>
                <a:latin typeface="Arial" pitchFamily="34" charset="0"/>
                <a:ea typeface="Arial" pitchFamily="34" charset="-122"/>
                <a:cs typeface="Arial" pitchFamily="34" charset="-120"/>
              </a:rPr>
              <a:t>Gantt view: eight stages, each opening only when the one before it clears</a:t>
            </a:r>
            <a:endParaRPr lang="en-US" sz="1300" dirty="0"/>
          </a:p>
        </p:txBody>
      </p:sp>
      <p:sp>
        <p:nvSpPr>
          <p:cNvPr id="4" name="Text 2"/>
          <p:cNvSpPr/>
          <p:nvPr/>
        </p:nvSpPr>
        <p:spPr>
          <a:xfrm>
            <a:off x="457200" y="921941"/>
            <a:ext cx="3810000" cy="254198"/>
          </a:xfrm>
          <a:prstGeom prst="rect">
            <a:avLst/>
          </a:prstGeom>
          <a:solidFill>
            <a:srgbClr val="1F2A44"/>
          </a:solidFill>
          <a:ln/>
        </p:spPr>
        <p:txBody>
          <a:bodyPr wrap="square" lIns="0" tIns="0" rIns="0" bIns="0" rtlCol="0" anchor="t">
            <a:normAutofit/>
          </a:bodyPr>
          <a:lstStyle/>
          <a:p>
            <a:pPr algn="ctr" indent="0" marL="0">
              <a:lnSpc>
                <a:spcPts val="2002"/>
              </a:lnSpc>
              <a:buNone/>
            </a:pPr>
            <a:r>
              <a:rPr lang="en-US" sz="1300" b="1" dirty="0">
                <a:solidFill>
                  <a:srgbClr val="FFFFFF"/>
                </a:solidFill>
                <a:latin typeface="Arial" pitchFamily="34" charset="0"/>
                <a:ea typeface="Arial" pitchFamily="34" charset="-122"/>
                <a:cs typeface="Arial" pitchFamily="34" charset="-120"/>
              </a:rPr>
              <a:t>2026</a:t>
            </a:r>
            <a:endParaRPr lang="en-US" sz="1300" dirty="0"/>
          </a:p>
        </p:txBody>
      </p:sp>
      <p:sp>
        <p:nvSpPr>
          <p:cNvPr id="5" name="Text 3"/>
          <p:cNvSpPr/>
          <p:nvPr/>
        </p:nvSpPr>
        <p:spPr>
          <a:xfrm>
            <a:off x="4267200" y="921941"/>
            <a:ext cx="5080000" cy="254198"/>
          </a:xfrm>
          <a:prstGeom prst="rect">
            <a:avLst/>
          </a:prstGeom>
          <a:solidFill>
            <a:srgbClr val="1F2A44"/>
          </a:solidFill>
          <a:ln/>
        </p:spPr>
        <p:txBody>
          <a:bodyPr wrap="square" lIns="12700" tIns="0" rIns="0" bIns="0" rtlCol="0" anchor="t">
            <a:normAutofit/>
          </a:bodyPr>
          <a:lstStyle/>
          <a:p>
            <a:pPr algn="ctr" indent="0" marL="0">
              <a:lnSpc>
                <a:spcPts val="2002"/>
              </a:lnSpc>
              <a:buNone/>
            </a:pPr>
            <a:r>
              <a:rPr lang="en-US" sz="1300" b="1" dirty="0">
                <a:solidFill>
                  <a:srgbClr val="FFFFFF"/>
                </a:solidFill>
                <a:latin typeface="Arial" pitchFamily="34" charset="0"/>
                <a:ea typeface="Arial" pitchFamily="34" charset="-122"/>
                <a:cs typeface="Arial" pitchFamily="34" charset="-120"/>
              </a:rPr>
              <a:t>2027</a:t>
            </a:r>
            <a:endParaRPr lang="en-US" sz="1300" dirty="0"/>
          </a:p>
        </p:txBody>
      </p:sp>
      <p:sp>
        <p:nvSpPr>
          <p:cNvPr id="6" name="Shape 4"/>
          <p:cNvSpPr/>
          <p:nvPr/>
        </p:nvSpPr>
        <p:spPr>
          <a:xfrm>
            <a:off x="4273550" y="921941"/>
            <a:ext cx="0" cy="254198"/>
          </a:xfrm>
          <a:prstGeom prst="line">
            <a:avLst/>
          </a:prstGeom>
          <a:noFill/>
          <a:ln w="12700">
            <a:solidFill>
              <a:srgbClr val="F4F3F0"/>
            </a:solidFill>
            <a:prstDash val="solid"/>
          </a:ln>
        </p:spPr>
      </p:sp>
      <p:sp>
        <p:nvSpPr>
          <p:cNvPr id="7" name="Text 5"/>
          <p:cNvSpPr/>
          <p:nvPr/>
        </p:nvSpPr>
        <p:spPr>
          <a:xfrm>
            <a:off x="457200" y="1214239"/>
            <a:ext cx="1270000" cy="254496"/>
          </a:xfrm>
          <a:prstGeom prst="rect">
            <a:avLst/>
          </a:prstGeom>
          <a:solidFill>
            <a:srgbClr val="2C3E6B"/>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Oct</a:t>
            </a:r>
            <a:endParaRPr lang="en-US" sz="1200" dirty="0"/>
          </a:p>
        </p:txBody>
      </p:sp>
      <p:sp>
        <p:nvSpPr>
          <p:cNvPr id="8" name="Text 6"/>
          <p:cNvSpPr/>
          <p:nvPr/>
        </p:nvSpPr>
        <p:spPr>
          <a:xfrm>
            <a:off x="1727200" y="1214239"/>
            <a:ext cx="1270000" cy="254496"/>
          </a:xfrm>
          <a:prstGeom prst="rect">
            <a:avLst/>
          </a:prstGeom>
          <a:solidFill>
            <a:srgbClr val="2C3E6B"/>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Nov</a:t>
            </a:r>
            <a:endParaRPr lang="en-US" sz="1200" dirty="0"/>
          </a:p>
        </p:txBody>
      </p:sp>
      <p:sp>
        <p:nvSpPr>
          <p:cNvPr id="9" name="Shape 7"/>
          <p:cNvSpPr/>
          <p:nvPr/>
        </p:nvSpPr>
        <p:spPr>
          <a:xfrm>
            <a:off x="1733550" y="1214239"/>
            <a:ext cx="0" cy="254496"/>
          </a:xfrm>
          <a:prstGeom prst="line">
            <a:avLst/>
          </a:prstGeom>
          <a:noFill/>
          <a:ln w="12700">
            <a:solidFill>
              <a:srgbClr val="F4F3F0"/>
            </a:solidFill>
            <a:prstDash val="solid"/>
          </a:ln>
        </p:spPr>
      </p:sp>
      <p:sp>
        <p:nvSpPr>
          <p:cNvPr id="10" name="Text 8"/>
          <p:cNvSpPr/>
          <p:nvPr/>
        </p:nvSpPr>
        <p:spPr>
          <a:xfrm>
            <a:off x="2997200" y="1214239"/>
            <a:ext cx="1270000" cy="254496"/>
          </a:xfrm>
          <a:prstGeom prst="rect">
            <a:avLst/>
          </a:prstGeom>
          <a:solidFill>
            <a:srgbClr val="2C3E6B"/>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Dec</a:t>
            </a:r>
            <a:endParaRPr lang="en-US" sz="1200" dirty="0"/>
          </a:p>
        </p:txBody>
      </p:sp>
      <p:sp>
        <p:nvSpPr>
          <p:cNvPr id="11" name="Shape 9"/>
          <p:cNvSpPr/>
          <p:nvPr/>
        </p:nvSpPr>
        <p:spPr>
          <a:xfrm>
            <a:off x="3003550" y="1214239"/>
            <a:ext cx="0" cy="254496"/>
          </a:xfrm>
          <a:prstGeom prst="line">
            <a:avLst/>
          </a:prstGeom>
          <a:noFill/>
          <a:ln w="12700">
            <a:solidFill>
              <a:srgbClr val="F4F3F0"/>
            </a:solidFill>
            <a:prstDash val="solid"/>
          </a:ln>
        </p:spPr>
      </p:sp>
      <p:sp>
        <p:nvSpPr>
          <p:cNvPr id="12" name="Text 10"/>
          <p:cNvSpPr/>
          <p:nvPr/>
        </p:nvSpPr>
        <p:spPr>
          <a:xfrm>
            <a:off x="4267200" y="1214239"/>
            <a:ext cx="1270000" cy="254496"/>
          </a:xfrm>
          <a:prstGeom prst="rect">
            <a:avLst/>
          </a:prstGeom>
          <a:solidFill>
            <a:srgbClr val="7B3B3B"/>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Jan</a:t>
            </a:r>
            <a:endParaRPr lang="en-US" sz="1200" dirty="0"/>
          </a:p>
        </p:txBody>
      </p:sp>
      <p:sp>
        <p:nvSpPr>
          <p:cNvPr id="13" name="Shape 11"/>
          <p:cNvSpPr/>
          <p:nvPr/>
        </p:nvSpPr>
        <p:spPr>
          <a:xfrm>
            <a:off x="4273550" y="1214239"/>
            <a:ext cx="0" cy="254496"/>
          </a:xfrm>
          <a:prstGeom prst="line">
            <a:avLst/>
          </a:prstGeom>
          <a:noFill/>
          <a:ln w="12700">
            <a:solidFill>
              <a:srgbClr val="F4F3F0"/>
            </a:solidFill>
            <a:prstDash val="solid"/>
          </a:ln>
        </p:spPr>
      </p:sp>
      <p:sp>
        <p:nvSpPr>
          <p:cNvPr id="14" name="Text 12"/>
          <p:cNvSpPr/>
          <p:nvPr/>
        </p:nvSpPr>
        <p:spPr>
          <a:xfrm>
            <a:off x="5537200" y="1214239"/>
            <a:ext cx="1270000" cy="254496"/>
          </a:xfrm>
          <a:prstGeom prst="rect">
            <a:avLst/>
          </a:prstGeom>
          <a:solidFill>
            <a:srgbClr val="7B3B3B"/>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Feb</a:t>
            </a:r>
            <a:endParaRPr lang="en-US" sz="1200" dirty="0"/>
          </a:p>
        </p:txBody>
      </p:sp>
      <p:sp>
        <p:nvSpPr>
          <p:cNvPr id="15" name="Shape 13"/>
          <p:cNvSpPr/>
          <p:nvPr/>
        </p:nvSpPr>
        <p:spPr>
          <a:xfrm>
            <a:off x="5543550" y="1214239"/>
            <a:ext cx="0" cy="254496"/>
          </a:xfrm>
          <a:prstGeom prst="line">
            <a:avLst/>
          </a:prstGeom>
          <a:noFill/>
          <a:ln w="12700">
            <a:solidFill>
              <a:srgbClr val="F4F3F0"/>
            </a:solidFill>
            <a:prstDash val="solid"/>
          </a:ln>
        </p:spPr>
      </p:sp>
      <p:sp>
        <p:nvSpPr>
          <p:cNvPr id="16" name="Text 14"/>
          <p:cNvSpPr/>
          <p:nvPr/>
        </p:nvSpPr>
        <p:spPr>
          <a:xfrm>
            <a:off x="6807200" y="1214239"/>
            <a:ext cx="1270000" cy="254496"/>
          </a:xfrm>
          <a:prstGeom prst="rect">
            <a:avLst/>
          </a:prstGeom>
          <a:solidFill>
            <a:srgbClr val="7B3B3B"/>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Mar</a:t>
            </a:r>
            <a:endParaRPr lang="en-US" sz="1200" dirty="0"/>
          </a:p>
        </p:txBody>
      </p:sp>
      <p:sp>
        <p:nvSpPr>
          <p:cNvPr id="17" name="Shape 15"/>
          <p:cNvSpPr/>
          <p:nvPr/>
        </p:nvSpPr>
        <p:spPr>
          <a:xfrm>
            <a:off x="6813550" y="1214239"/>
            <a:ext cx="0" cy="254496"/>
          </a:xfrm>
          <a:prstGeom prst="line">
            <a:avLst/>
          </a:prstGeom>
          <a:noFill/>
          <a:ln w="12700">
            <a:solidFill>
              <a:srgbClr val="F4F3F0"/>
            </a:solidFill>
            <a:prstDash val="solid"/>
          </a:ln>
        </p:spPr>
      </p:sp>
      <p:sp>
        <p:nvSpPr>
          <p:cNvPr id="18" name="Text 16"/>
          <p:cNvSpPr/>
          <p:nvPr/>
        </p:nvSpPr>
        <p:spPr>
          <a:xfrm>
            <a:off x="8077200" y="1214239"/>
            <a:ext cx="1270000" cy="254496"/>
          </a:xfrm>
          <a:prstGeom prst="rect">
            <a:avLst/>
          </a:prstGeom>
          <a:solidFill>
            <a:srgbClr val="3E6B5A"/>
          </a:solidFill>
          <a:ln/>
        </p:spPr>
        <p:txBody>
          <a:bodyPr wrap="square" lIns="12700" tIns="0" rIns="0" bIns="0" rtlCol="0" anchor="t">
            <a:normAutofit/>
          </a:bodyPr>
          <a:lstStyle/>
          <a:p>
            <a:pPr algn="ctr" indent="0" marL="0">
              <a:lnSpc>
                <a:spcPts val="2004"/>
              </a:lnSpc>
              <a:buNone/>
            </a:pPr>
            <a:r>
              <a:rPr lang="en-US" sz="1200" b="1" dirty="0">
                <a:solidFill>
                  <a:srgbClr val="FFFFFF"/>
                </a:solidFill>
                <a:latin typeface="Arial" pitchFamily="34" charset="0"/>
                <a:ea typeface="Arial" pitchFamily="34" charset="-122"/>
                <a:cs typeface="Arial" pitchFamily="34" charset="-120"/>
              </a:rPr>
              <a:t>Apr</a:t>
            </a:r>
            <a:endParaRPr lang="en-US" sz="1200" dirty="0"/>
          </a:p>
        </p:txBody>
      </p:sp>
      <p:sp>
        <p:nvSpPr>
          <p:cNvPr id="19" name="Shape 17"/>
          <p:cNvSpPr/>
          <p:nvPr/>
        </p:nvSpPr>
        <p:spPr>
          <a:xfrm>
            <a:off x="8083550" y="1214239"/>
            <a:ext cx="0" cy="254496"/>
          </a:xfrm>
          <a:prstGeom prst="line">
            <a:avLst/>
          </a:prstGeom>
          <a:noFill/>
          <a:ln w="12700">
            <a:solidFill>
              <a:srgbClr val="F4F3F0"/>
            </a:solidFill>
            <a:prstDash val="solid"/>
          </a:ln>
        </p:spPr>
      </p:sp>
      <p:sp>
        <p:nvSpPr>
          <p:cNvPr id="20" name="Text 18"/>
          <p:cNvSpPr/>
          <p:nvPr/>
        </p:nvSpPr>
        <p:spPr>
          <a:xfrm>
            <a:off x="5727700" y="1519535"/>
            <a:ext cx="889000" cy="216396"/>
          </a:xfrm>
          <a:custGeom>
            <a:avLst/>
            <a:gdLst/>
            <a:ahLst/>
            <a:cxnLst/>
            <a:rect l="l" t="t" r="r" b="b"/>
            <a:pathLst>
              <a:path w="889000" h="216396">
                <a:moveTo>
                  <a:pt x="38100" y="0"/>
                </a:moveTo>
                <a:lnTo>
                  <a:pt x="850900" y="0"/>
                </a:lnTo>
                <a:arcTo hR="38100" wR="38100" stAng="16200000" swAng="5400000"/>
                <a:lnTo>
                  <a:pt x="889000" y="178296"/>
                </a:lnTo>
                <a:arcTo hR="38100" wR="38100" stAng="0" swAng="5400000"/>
                <a:lnTo>
                  <a:pt x="38100" y="216396"/>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Arial" pitchFamily="34" charset="0"/>
                <a:ea typeface="Arial" pitchFamily="34" charset="-122"/>
                <a:cs typeface="Arial" pitchFamily="34" charset="-120"/>
              </a:rPr>
              <a:t>BETA</a:t>
            </a:r>
            <a:endParaRPr lang="en-US" sz="1200" dirty="0"/>
          </a:p>
        </p:txBody>
      </p:sp>
      <p:sp>
        <p:nvSpPr>
          <p:cNvPr id="21" name="Text 19"/>
          <p:cNvSpPr/>
          <p:nvPr/>
        </p:nvSpPr>
        <p:spPr>
          <a:xfrm>
            <a:off x="6997700" y="1519535"/>
            <a:ext cx="889000" cy="216396"/>
          </a:xfrm>
          <a:custGeom>
            <a:avLst/>
            <a:gdLst/>
            <a:ahLst/>
            <a:cxnLst/>
            <a:rect l="l" t="t" r="r" b="b"/>
            <a:pathLst>
              <a:path w="889000" h="216396">
                <a:moveTo>
                  <a:pt x="38100" y="0"/>
                </a:moveTo>
                <a:lnTo>
                  <a:pt x="850900" y="0"/>
                </a:lnTo>
                <a:arcTo hR="38100" wR="38100" stAng="16200000" swAng="5400000"/>
                <a:lnTo>
                  <a:pt x="889000" y="178296"/>
                </a:lnTo>
                <a:arcTo hR="38100" wR="38100" stAng="0" swAng="5400000"/>
                <a:lnTo>
                  <a:pt x="38100" y="216396"/>
                </a:lnTo>
                <a:arcTo hR="38100" wR="38100" stAng="5400000" swAng="5400000"/>
                <a:lnTo>
                  <a:pt x="0" y="38100"/>
                </a:lnTo>
                <a:arcTo hR="38100" wR="38100" stAng="10800000" swAng="5400000"/>
                <a:close/>
              </a:path>
            </a:pathLst>
          </a:custGeom>
          <a:solidFill>
            <a:srgbClr val="1F2A44"/>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Arial" pitchFamily="34" charset="0"/>
                <a:ea typeface="Arial" pitchFamily="34" charset="-122"/>
                <a:cs typeface="Arial" pitchFamily="34" charset="-120"/>
              </a:rPr>
              <a:t>GO-LIVE</a:t>
            </a:r>
            <a:endParaRPr lang="en-US" sz="1200" dirty="0"/>
          </a:p>
        </p:txBody>
      </p:sp>
      <p:sp>
        <p:nvSpPr>
          <p:cNvPr id="22" name="Text 20"/>
          <p:cNvSpPr/>
          <p:nvPr/>
        </p:nvSpPr>
        <p:spPr>
          <a:xfrm>
            <a:off x="8299450" y="1519535"/>
            <a:ext cx="825500" cy="216396"/>
          </a:xfrm>
          <a:custGeom>
            <a:avLst/>
            <a:gdLst/>
            <a:ahLst/>
            <a:cxnLst/>
            <a:rect l="l" t="t" r="r" b="b"/>
            <a:pathLst>
              <a:path w="825500" h="216396">
                <a:moveTo>
                  <a:pt x="38100" y="0"/>
                </a:moveTo>
                <a:lnTo>
                  <a:pt x="787400" y="0"/>
                </a:lnTo>
                <a:arcTo hR="38100" wR="38100" stAng="16200000" swAng="5400000"/>
                <a:lnTo>
                  <a:pt x="825500" y="178296"/>
                </a:lnTo>
                <a:arcTo hR="38100" wR="38100" stAng="0" swAng="5400000"/>
                <a:lnTo>
                  <a:pt x="38100" y="216396"/>
                </a:lnTo>
                <a:arcTo hR="38100" wR="38100" stAng="5400000" swAng="5400000"/>
                <a:lnTo>
                  <a:pt x="0" y="38100"/>
                </a:lnTo>
                <a:arcTo hR="38100" wR="38100" stAng="10800000" swAng="5400000"/>
                <a:close/>
              </a:path>
            </a:pathLst>
          </a:custGeom>
          <a:solidFill>
            <a:srgbClr val="3E6B5A"/>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Arial" pitchFamily="34" charset="0"/>
                <a:ea typeface="Arial" pitchFamily="34" charset="-122"/>
                <a:cs typeface="Arial" pitchFamily="34" charset="-120"/>
              </a:rPr>
              <a:t>ACCESS</a:t>
            </a:r>
            <a:endParaRPr lang="en-US" sz="1200" dirty="0"/>
          </a:p>
        </p:txBody>
      </p:sp>
      <p:sp>
        <p:nvSpPr>
          <p:cNvPr id="23" name="Shape 21"/>
          <p:cNvSpPr/>
          <p:nvPr/>
        </p:nvSpPr>
        <p:spPr>
          <a:xfrm>
            <a:off x="457200" y="1786235"/>
            <a:ext cx="2362200" cy="381000"/>
          </a:xfrm>
          <a:prstGeom prst="rect">
            <a:avLst/>
          </a:prstGeom>
          <a:solidFill>
            <a:srgbClr val="20325C"/>
          </a:solidFill>
          <a:ln/>
        </p:spPr>
      </p:sp>
      <p:sp>
        <p:nvSpPr>
          <p:cNvPr id="24" name="Shape 22"/>
          <p:cNvSpPr/>
          <p:nvPr/>
        </p:nvSpPr>
        <p:spPr>
          <a:xfrm>
            <a:off x="482600" y="1786235"/>
            <a:ext cx="0" cy="381000"/>
          </a:xfrm>
          <a:prstGeom prst="line">
            <a:avLst/>
          </a:prstGeom>
          <a:noFill/>
          <a:ln w="50800">
            <a:solidFill>
              <a:srgbClr val="1F6E82"/>
            </a:solidFill>
            <a:prstDash val="solid"/>
          </a:ln>
        </p:spPr>
      </p:sp>
      <p:sp>
        <p:nvSpPr>
          <p:cNvPr id="25" name="Text 23"/>
          <p:cNvSpPr/>
          <p:nvPr/>
        </p:nvSpPr>
        <p:spPr>
          <a:xfrm>
            <a:off x="609600" y="18015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1 · UX Prototype</a:t>
            </a:r>
            <a:endParaRPr lang="en-US" sz="1200" dirty="0"/>
          </a:p>
        </p:txBody>
      </p:sp>
      <p:sp>
        <p:nvSpPr>
          <p:cNvPr id="26" name="Text 24"/>
          <p:cNvSpPr/>
          <p:nvPr/>
        </p:nvSpPr>
        <p:spPr>
          <a:xfrm>
            <a:off x="609600" y="19690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Enabler · parallel build</a:t>
            </a:r>
            <a:endParaRPr lang="en-US" sz="1200" dirty="0"/>
          </a:p>
        </p:txBody>
      </p:sp>
      <p:sp>
        <p:nvSpPr>
          <p:cNvPr id="27" name="Shape 25"/>
          <p:cNvSpPr/>
          <p:nvPr/>
        </p:nvSpPr>
        <p:spPr>
          <a:xfrm>
            <a:off x="2844800" y="17862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28" name="Shape 26"/>
          <p:cNvSpPr/>
          <p:nvPr/>
        </p:nvSpPr>
        <p:spPr>
          <a:xfrm>
            <a:off x="7934325" y="1786235"/>
            <a:ext cx="0" cy="381000"/>
          </a:xfrm>
          <a:prstGeom prst="line">
            <a:avLst/>
          </a:prstGeom>
          <a:noFill/>
          <a:ln w="19050">
            <a:solidFill>
              <a:srgbClr val="C2410C"/>
            </a:solidFill>
            <a:prstDash val="dash"/>
          </a:ln>
        </p:spPr>
      </p:sp>
      <p:sp>
        <p:nvSpPr>
          <p:cNvPr id="29" name="Shape 27"/>
          <p:cNvSpPr/>
          <p:nvPr/>
        </p:nvSpPr>
        <p:spPr>
          <a:xfrm>
            <a:off x="9204325" y="1786235"/>
            <a:ext cx="0" cy="381000"/>
          </a:xfrm>
          <a:prstGeom prst="line">
            <a:avLst/>
          </a:prstGeom>
          <a:noFill/>
          <a:ln w="19050">
            <a:solidFill>
              <a:srgbClr val="1F2A44"/>
            </a:solidFill>
            <a:prstDash val="dash"/>
          </a:ln>
        </p:spPr>
      </p:sp>
      <p:sp>
        <p:nvSpPr>
          <p:cNvPr id="30" name="Text 28"/>
          <p:cNvSpPr/>
          <p:nvPr/>
        </p:nvSpPr>
        <p:spPr>
          <a:xfrm>
            <a:off x="2844800" y="1837035"/>
            <a:ext cx="1270000" cy="278805"/>
          </a:xfrm>
          <a:custGeom>
            <a:avLst/>
            <a:gdLst/>
            <a:ahLst/>
            <a:cxnLst/>
            <a:rect l="l" t="t" r="r" b="b"/>
            <a:pathLst>
              <a:path w="1270000" h="278805">
                <a:moveTo>
                  <a:pt x="38100" y="0"/>
                </a:moveTo>
                <a:lnTo>
                  <a:pt x="1231900" y="0"/>
                </a:lnTo>
                <a:arcTo hR="38100" wR="38100" stAng="16200000" swAng="5400000"/>
                <a:lnTo>
                  <a:pt x="1270000" y="240705"/>
                </a:lnTo>
                <a:arcTo hR="38100" wR="38100" stAng="0" swAng="5400000"/>
                <a:lnTo>
                  <a:pt x="38100" y="278805"/>
                </a:lnTo>
                <a:arcTo hR="38100" wR="38100" stAng="5400000" swAng="5400000"/>
                <a:lnTo>
                  <a:pt x="0" y="38100"/>
                </a:lnTo>
                <a:arcTo hR="38100" wR="38100" stAng="10800000" swAng="5400000"/>
                <a:close/>
              </a:path>
            </a:pathLst>
          </a:custGeom>
          <a:solidFill>
            <a:srgbClr val="1F6E82"/>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Prototype</a:t>
            </a:r>
            <a:endParaRPr lang="en-US" sz="1200" dirty="0"/>
          </a:p>
        </p:txBody>
      </p:sp>
      <p:pic>
        <p:nvPicPr>
          <p:cNvPr id="31" name="Image 0" descr="ellipse">    </p:cNvPr>
          <p:cNvPicPr>
            <a:picLocks noChangeAspect="1"/>
          </p:cNvPicPr>
          <p:nvPr/>
        </p:nvPicPr>
        <p:blipFill>
          <a:blip r:embed="rId1"/>
          <a:srcRect l="0" r="0" t="0" b="0"/>
          <a:stretch/>
        </p:blipFill>
        <p:spPr>
          <a:xfrm>
            <a:off x="4025900" y="1887835"/>
            <a:ext cx="177800" cy="177800"/>
          </a:xfrm>
          <a:prstGeom prst="rect">
            <a:avLst/>
          </a:prstGeom>
        </p:spPr>
      </p:pic>
      <p:sp>
        <p:nvSpPr>
          <p:cNvPr id="32" name="Text 29"/>
          <p:cNvSpPr/>
          <p:nvPr/>
        </p:nvSpPr>
        <p:spPr>
          <a:xfrm>
            <a:off x="4254500" y="1875135"/>
            <a:ext cx="1143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b="1" i="1" dirty="0">
                <a:solidFill>
                  <a:srgbClr val="3B4558"/>
                </a:solidFill>
                <a:latin typeface="Arial" pitchFamily="34" charset="0"/>
                <a:ea typeface="Arial" pitchFamily="34" charset="-122"/>
                <a:cs typeface="Arial" pitchFamily="34" charset="-120"/>
              </a:rPr>
              <a:t>D1</a:t>
            </a:r>
            <a:r>
              <a:rPr lang="en-US" sz="1200" i="1" dirty="0">
                <a:solidFill>
                  <a:srgbClr val="3B4558"/>
                </a:solidFill>
                <a:latin typeface="Arial" pitchFamily="34" charset="0"/>
                <a:ea typeface="Arial" pitchFamily="34" charset="-122"/>
                <a:cs typeface="Arial" pitchFamily="34" charset="-120"/>
              </a:rPr>
              <a:t> · End Oct</a:t>
            </a:r>
            <a:endParaRPr lang="en-US" sz="1200" dirty="0"/>
          </a:p>
        </p:txBody>
      </p:sp>
      <p:sp>
        <p:nvSpPr>
          <p:cNvPr id="33" name="Shape 30"/>
          <p:cNvSpPr/>
          <p:nvPr/>
        </p:nvSpPr>
        <p:spPr>
          <a:xfrm>
            <a:off x="457200" y="2192635"/>
            <a:ext cx="2362200" cy="381000"/>
          </a:xfrm>
          <a:prstGeom prst="rect">
            <a:avLst/>
          </a:prstGeom>
          <a:solidFill>
            <a:srgbClr val="20325C"/>
          </a:solidFill>
          <a:ln/>
        </p:spPr>
      </p:sp>
      <p:sp>
        <p:nvSpPr>
          <p:cNvPr id="34" name="Shape 31"/>
          <p:cNvSpPr/>
          <p:nvPr/>
        </p:nvSpPr>
        <p:spPr>
          <a:xfrm>
            <a:off x="482600" y="2192635"/>
            <a:ext cx="0" cy="381000"/>
          </a:xfrm>
          <a:prstGeom prst="line">
            <a:avLst/>
          </a:prstGeom>
          <a:noFill/>
          <a:ln w="50800">
            <a:solidFill>
              <a:srgbClr val="3F3FA0"/>
            </a:solidFill>
            <a:prstDash val="solid"/>
          </a:ln>
        </p:spPr>
      </p:sp>
      <p:sp>
        <p:nvSpPr>
          <p:cNvPr id="35" name="Text 32"/>
          <p:cNvSpPr/>
          <p:nvPr/>
        </p:nvSpPr>
        <p:spPr>
          <a:xfrm>
            <a:off x="609600" y="22079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2 · Data Sync</a:t>
            </a:r>
            <a:endParaRPr lang="en-US" sz="1200" dirty="0"/>
          </a:p>
        </p:txBody>
      </p:sp>
      <p:sp>
        <p:nvSpPr>
          <p:cNvPr id="36" name="Text 33"/>
          <p:cNvSpPr/>
          <p:nvPr/>
        </p:nvSpPr>
        <p:spPr>
          <a:xfrm>
            <a:off x="609600" y="23754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Enabler · multi-source</a:t>
            </a:r>
            <a:endParaRPr lang="en-US" sz="1200" dirty="0"/>
          </a:p>
        </p:txBody>
      </p:sp>
      <p:sp>
        <p:nvSpPr>
          <p:cNvPr id="37" name="Shape 34"/>
          <p:cNvSpPr/>
          <p:nvPr/>
        </p:nvSpPr>
        <p:spPr>
          <a:xfrm>
            <a:off x="2844800" y="21926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38" name="Shape 35"/>
          <p:cNvSpPr/>
          <p:nvPr/>
        </p:nvSpPr>
        <p:spPr>
          <a:xfrm>
            <a:off x="7934325" y="2192635"/>
            <a:ext cx="0" cy="381000"/>
          </a:xfrm>
          <a:prstGeom prst="line">
            <a:avLst/>
          </a:prstGeom>
          <a:noFill/>
          <a:ln w="19050">
            <a:solidFill>
              <a:srgbClr val="C2410C"/>
            </a:solidFill>
            <a:prstDash val="dash"/>
          </a:ln>
        </p:spPr>
      </p:sp>
      <p:sp>
        <p:nvSpPr>
          <p:cNvPr id="39" name="Shape 36"/>
          <p:cNvSpPr/>
          <p:nvPr/>
        </p:nvSpPr>
        <p:spPr>
          <a:xfrm>
            <a:off x="9204325" y="2192635"/>
            <a:ext cx="0" cy="381000"/>
          </a:xfrm>
          <a:prstGeom prst="line">
            <a:avLst/>
          </a:prstGeom>
          <a:noFill/>
          <a:ln w="19050">
            <a:solidFill>
              <a:srgbClr val="1F2A44"/>
            </a:solidFill>
            <a:prstDash val="dash"/>
          </a:ln>
        </p:spPr>
      </p:sp>
      <p:sp>
        <p:nvSpPr>
          <p:cNvPr id="40" name="Text 37"/>
          <p:cNvSpPr/>
          <p:nvPr/>
        </p:nvSpPr>
        <p:spPr>
          <a:xfrm>
            <a:off x="2844800" y="2243435"/>
            <a:ext cx="1905000" cy="278805"/>
          </a:xfrm>
          <a:custGeom>
            <a:avLst/>
            <a:gdLst/>
            <a:ahLst/>
            <a:cxnLst/>
            <a:rect l="l" t="t" r="r" b="b"/>
            <a:pathLst>
              <a:path w="1905000" h="278805">
                <a:moveTo>
                  <a:pt x="38100" y="0"/>
                </a:moveTo>
                <a:lnTo>
                  <a:pt x="1866900" y="0"/>
                </a:lnTo>
                <a:arcTo hR="38100" wR="38100" stAng="16200000" swAng="5400000"/>
                <a:lnTo>
                  <a:pt x="1905000" y="240705"/>
                </a:lnTo>
                <a:arcTo hR="38100" wR="38100" stAng="0" swAng="5400000"/>
                <a:lnTo>
                  <a:pt x="38100" y="278805"/>
                </a:lnTo>
                <a:arcTo hR="38100" wR="38100" stAng="5400000" swAng="5400000"/>
                <a:lnTo>
                  <a:pt x="0" y="38100"/>
                </a:lnTo>
                <a:arcTo hR="38100" wR="38100" stAng="10800000" swAng="5400000"/>
                <a:close/>
              </a:path>
            </a:pathLst>
          </a:custGeom>
          <a:solidFill>
            <a:srgbClr val="3F3FA0"/>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Multi-source sync</a:t>
            </a:r>
            <a:endParaRPr lang="en-US" sz="1200" dirty="0"/>
          </a:p>
        </p:txBody>
      </p:sp>
      <p:pic>
        <p:nvPicPr>
          <p:cNvPr id="41" name="Image 1" descr="ellipse">    </p:cNvPr>
          <p:cNvPicPr>
            <a:picLocks noChangeAspect="1"/>
          </p:cNvPicPr>
          <p:nvPr/>
        </p:nvPicPr>
        <p:blipFill>
          <a:blip r:embed="rId2"/>
          <a:srcRect l="0" r="0" t="0" b="0"/>
          <a:stretch/>
        </p:blipFill>
        <p:spPr>
          <a:xfrm>
            <a:off x="4660900" y="2294235"/>
            <a:ext cx="177800" cy="177800"/>
          </a:xfrm>
          <a:prstGeom prst="rect">
            <a:avLst/>
          </a:prstGeom>
        </p:spPr>
      </p:pic>
      <p:sp>
        <p:nvSpPr>
          <p:cNvPr id="42" name="Text 38"/>
          <p:cNvSpPr/>
          <p:nvPr/>
        </p:nvSpPr>
        <p:spPr>
          <a:xfrm>
            <a:off x="4889500" y="2281535"/>
            <a:ext cx="1143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b="1" i="1" dirty="0">
                <a:solidFill>
                  <a:srgbClr val="3B4558"/>
                </a:solidFill>
                <a:latin typeface="Arial" pitchFamily="34" charset="0"/>
                <a:ea typeface="Arial" pitchFamily="34" charset="-122"/>
                <a:cs typeface="Arial" pitchFamily="34" charset="-120"/>
              </a:rPr>
              <a:t>D2</a:t>
            </a:r>
            <a:r>
              <a:rPr lang="en-US" sz="1200" i="1" dirty="0">
                <a:solidFill>
                  <a:srgbClr val="3B4558"/>
                </a:solidFill>
                <a:latin typeface="Arial" pitchFamily="34" charset="0"/>
                <a:ea typeface="Arial" pitchFamily="34" charset="-122"/>
                <a:cs typeface="Arial" pitchFamily="34" charset="-120"/>
              </a:rPr>
              <a:t> · Mid Nov</a:t>
            </a:r>
            <a:endParaRPr lang="en-US" sz="1200" dirty="0"/>
          </a:p>
        </p:txBody>
      </p:sp>
      <p:sp>
        <p:nvSpPr>
          <p:cNvPr id="43" name="Shape 39"/>
          <p:cNvSpPr/>
          <p:nvPr/>
        </p:nvSpPr>
        <p:spPr>
          <a:xfrm>
            <a:off x="457200" y="2599035"/>
            <a:ext cx="2362200" cy="381000"/>
          </a:xfrm>
          <a:prstGeom prst="rect">
            <a:avLst/>
          </a:prstGeom>
          <a:solidFill>
            <a:srgbClr val="20325C"/>
          </a:solidFill>
          <a:ln/>
        </p:spPr>
      </p:sp>
      <p:sp>
        <p:nvSpPr>
          <p:cNvPr id="44" name="Shape 40"/>
          <p:cNvSpPr/>
          <p:nvPr/>
        </p:nvSpPr>
        <p:spPr>
          <a:xfrm>
            <a:off x="482600" y="2599035"/>
            <a:ext cx="0" cy="381000"/>
          </a:xfrm>
          <a:prstGeom prst="line">
            <a:avLst/>
          </a:prstGeom>
          <a:noFill/>
          <a:ln w="50800">
            <a:solidFill>
              <a:srgbClr val="B8461B"/>
            </a:solidFill>
            <a:prstDash val="solid"/>
          </a:ln>
        </p:spPr>
      </p:sp>
      <p:sp>
        <p:nvSpPr>
          <p:cNvPr id="45" name="Text 41"/>
          <p:cNvSpPr/>
          <p:nvPr/>
        </p:nvSpPr>
        <p:spPr>
          <a:xfrm>
            <a:off x="609600" y="26143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3 · Core API</a:t>
            </a:r>
            <a:endParaRPr lang="en-US" sz="1200" dirty="0"/>
          </a:p>
        </p:txBody>
      </p:sp>
      <p:sp>
        <p:nvSpPr>
          <p:cNvPr id="46" name="Text 42"/>
          <p:cNvSpPr/>
          <p:nvPr/>
        </p:nvSpPr>
        <p:spPr>
          <a:xfrm>
            <a:off x="609600" y="27818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Enabler · AD write</a:t>
            </a:r>
            <a:endParaRPr lang="en-US" sz="1200" dirty="0"/>
          </a:p>
        </p:txBody>
      </p:sp>
      <p:sp>
        <p:nvSpPr>
          <p:cNvPr id="47" name="Shape 43"/>
          <p:cNvSpPr/>
          <p:nvPr/>
        </p:nvSpPr>
        <p:spPr>
          <a:xfrm>
            <a:off x="2844800" y="25990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48" name="Shape 44"/>
          <p:cNvSpPr/>
          <p:nvPr/>
        </p:nvSpPr>
        <p:spPr>
          <a:xfrm>
            <a:off x="7934325" y="2599035"/>
            <a:ext cx="0" cy="381000"/>
          </a:xfrm>
          <a:prstGeom prst="line">
            <a:avLst/>
          </a:prstGeom>
          <a:noFill/>
          <a:ln w="19050">
            <a:solidFill>
              <a:srgbClr val="C2410C"/>
            </a:solidFill>
            <a:prstDash val="dash"/>
          </a:ln>
        </p:spPr>
      </p:sp>
      <p:sp>
        <p:nvSpPr>
          <p:cNvPr id="49" name="Shape 45"/>
          <p:cNvSpPr/>
          <p:nvPr/>
        </p:nvSpPr>
        <p:spPr>
          <a:xfrm>
            <a:off x="9204325" y="2599035"/>
            <a:ext cx="0" cy="381000"/>
          </a:xfrm>
          <a:prstGeom prst="line">
            <a:avLst/>
          </a:prstGeom>
          <a:noFill/>
          <a:ln w="19050">
            <a:solidFill>
              <a:srgbClr val="1F2A44"/>
            </a:solidFill>
            <a:prstDash val="dash"/>
          </a:ln>
        </p:spPr>
      </p:sp>
      <p:sp>
        <p:nvSpPr>
          <p:cNvPr id="50" name="Text 46"/>
          <p:cNvSpPr/>
          <p:nvPr/>
        </p:nvSpPr>
        <p:spPr>
          <a:xfrm>
            <a:off x="3479800" y="2649835"/>
            <a:ext cx="2540000" cy="278805"/>
          </a:xfrm>
          <a:custGeom>
            <a:avLst/>
            <a:gdLst/>
            <a:ahLst/>
            <a:cxnLst/>
            <a:rect l="l" t="t" r="r" b="b"/>
            <a:pathLst>
              <a:path w="2540000" h="278805">
                <a:moveTo>
                  <a:pt x="38100" y="0"/>
                </a:moveTo>
                <a:lnTo>
                  <a:pt x="2501900" y="0"/>
                </a:lnTo>
                <a:arcTo hR="38100" wR="38100" stAng="16200000" swAng="5400000"/>
                <a:lnTo>
                  <a:pt x="2540000" y="240705"/>
                </a:lnTo>
                <a:arcTo hR="38100" wR="38100" stAng="0" swAng="5400000"/>
                <a:lnTo>
                  <a:pt x="38100" y="278805"/>
                </a:lnTo>
                <a:arcTo hR="38100" wR="38100" stAng="5400000" swAng="5400000"/>
                <a:lnTo>
                  <a:pt x="0" y="38100"/>
                </a:lnTo>
                <a:arcTo hR="38100" wR="38100" stAng="10800000" swAng="5400000"/>
                <a:close/>
              </a:path>
            </a:pathLst>
          </a:custGeom>
          <a:solidFill>
            <a:srgbClr val="B8461B"/>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Design → implementation</a:t>
            </a:r>
            <a:endParaRPr lang="en-US" sz="1200" dirty="0"/>
          </a:p>
        </p:txBody>
      </p:sp>
      <p:pic>
        <p:nvPicPr>
          <p:cNvPr id="51" name="Image 2" descr="ellipse">    </p:cNvPr>
          <p:cNvPicPr>
            <a:picLocks noChangeAspect="1"/>
          </p:cNvPicPr>
          <p:nvPr/>
        </p:nvPicPr>
        <p:blipFill>
          <a:blip r:embed="rId3"/>
          <a:srcRect l="0" r="0" t="0" b="0"/>
          <a:stretch/>
        </p:blipFill>
        <p:spPr>
          <a:xfrm>
            <a:off x="5930900" y="2700635"/>
            <a:ext cx="177800" cy="177800"/>
          </a:xfrm>
          <a:prstGeom prst="rect">
            <a:avLst/>
          </a:prstGeom>
        </p:spPr>
      </p:pic>
      <p:sp>
        <p:nvSpPr>
          <p:cNvPr id="52" name="Text 47"/>
          <p:cNvSpPr/>
          <p:nvPr/>
        </p:nvSpPr>
        <p:spPr>
          <a:xfrm>
            <a:off x="6159500" y="2687935"/>
            <a:ext cx="1143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b="1" i="1" dirty="0">
                <a:solidFill>
                  <a:srgbClr val="3B4558"/>
                </a:solidFill>
                <a:latin typeface="Arial" pitchFamily="34" charset="0"/>
                <a:ea typeface="Arial" pitchFamily="34" charset="-122"/>
                <a:cs typeface="Arial" pitchFamily="34" charset="-120"/>
              </a:rPr>
              <a:t>D3</a:t>
            </a:r>
            <a:r>
              <a:rPr lang="en-US" sz="1200" i="1" dirty="0">
                <a:solidFill>
                  <a:srgbClr val="3B4558"/>
                </a:solidFill>
                <a:latin typeface="Arial" pitchFamily="34" charset="0"/>
                <a:ea typeface="Arial" pitchFamily="34" charset="-122"/>
                <a:cs typeface="Arial" pitchFamily="34" charset="-120"/>
              </a:rPr>
              <a:t> · Mid Dec</a:t>
            </a:r>
            <a:endParaRPr lang="en-US" sz="1200" dirty="0"/>
          </a:p>
        </p:txBody>
      </p:sp>
      <p:sp>
        <p:nvSpPr>
          <p:cNvPr id="53" name="Shape 48"/>
          <p:cNvSpPr/>
          <p:nvPr/>
        </p:nvSpPr>
        <p:spPr>
          <a:xfrm>
            <a:off x="457200" y="3005435"/>
            <a:ext cx="2362200" cy="381000"/>
          </a:xfrm>
          <a:prstGeom prst="rect">
            <a:avLst/>
          </a:prstGeom>
          <a:solidFill>
            <a:srgbClr val="20325C"/>
          </a:solidFill>
          <a:ln/>
        </p:spPr>
      </p:sp>
      <p:sp>
        <p:nvSpPr>
          <p:cNvPr id="54" name="Shape 49"/>
          <p:cNvSpPr/>
          <p:nvPr/>
        </p:nvSpPr>
        <p:spPr>
          <a:xfrm>
            <a:off x="482600" y="3005435"/>
            <a:ext cx="0" cy="381000"/>
          </a:xfrm>
          <a:prstGeom prst="line">
            <a:avLst/>
          </a:prstGeom>
          <a:noFill/>
          <a:ln w="50800">
            <a:solidFill>
              <a:srgbClr val="7A2E2A"/>
            </a:solidFill>
            <a:prstDash val="solid"/>
          </a:ln>
        </p:spPr>
      </p:sp>
      <p:sp>
        <p:nvSpPr>
          <p:cNvPr id="55" name="Text 50"/>
          <p:cNvSpPr/>
          <p:nvPr/>
        </p:nvSpPr>
        <p:spPr>
          <a:xfrm>
            <a:off x="609600" y="30207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4 · Integration &amp; Testing</a:t>
            </a:r>
            <a:endParaRPr lang="en-US" sz="1200" dirty="0"/>
          </a:p>
        </p:txBody>
      </p:sp>
      <p:sp>
        <p:nvSpPr>
          <p:cNvPr id="56" name="Text 51"/>
          <p:cNvSpPr/>
          <p:nvPr/>
        </p:nvSpPr>
        <p:spPr>
          <a:xfrm>
            <a:off x="609600" y="31882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Verify · end-to-end</a:t>
            </a:r>
            <a:endParaRPr lang="en-US" sz="1200" dirty="0"/>
          </a:p>
        </p:txBody>
      </p:sp>
      <p:sp>
        <p:nvSpPr>
          <p:cNvPr id="57" name="Shape 52"/>
          <p:cNvSpPr/>
          <p:nvPr/>
        </p:nvSpPr>
        <p:spPr>
          <a:xfrm>
            <a:off x="2844800" y="30054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58" name="Shape 53"/>
          <p:cNvSpPr/>
          <p:nvPr/>
        </p:nvSpPr>
        <p:spPr>
          <a:xfrm>
            <a:off x="7934325" y="3005435"/>
            <a:ext cx="0" cy="381000"/>
          </a:xfrm>
          <a:prstGeom prst="line">
            <a:avLst/>
          </a:prstGeom>
          <a:noFill/>
          <a:ln w="19050">
            <a:solidFill>
              <a:srgbClr val="C2410C"/>
            </a:solidFill>
            <a:prstDash val="dash"/>
          </a:ln>
        </p:spPr>
      </p:sp>
      <p:sp>
        <p:nvSpPr>
          <p:cNvPr id="59" name="Shape 54"/>
          <p:cNvSpPr/>
          <p:nvPr/>
        </p:nvSpPr>
        <p:spPr>
          <a:xfrm>
            <a:off x="9204325" y="3005435"/>
            <a:ext cx="0" cy="381000"/>
          </a:xfrm>
          <a:prstGeom prst="line">
            <a:avLst/>
          </a:prstGeom>
          <a:noFill/>
          <a:ln w="19050">
            <a:solidFill>
              <a:srgbClr val="1F2A44"/>
            </a:solidFill>
            <a:prstDash val="dash"/>
          </a:ln>
        </p:spPr>
      </p:sp>
      <p:sp>
        <p:nvSpPr>
          <p:cNvPr id="60" name="Text 55"/>
          <p:cNvSpPr/>
          <p:nvPr/>
        </p:nvSpPr>
        <p:spPr>
          <a:xfrm>
            <a:off x="6019800" y="3056235"/>
            <a:ext cx="1270000" cy="278805"/>
          </a:xfrm>
          <a:custGeom>
            <a:avLst/>
            <a:gdLst/>
            <a:ahLst/>
            <a:cxnLst/>
            <a:rect l="l" t="t" r="r" b="b"/>
            <a:pathLst>
              <a:path w="1270000" h="278805">
                <a:moveTo>
                  <a:pt x="38100" y="0"/>
                </a:moveTo>
                <a:lnTo>
                  <a:pt x="1231900" y="0"/>
                </a:lnTo>
                <a:arcTo hR="38100" wR="38100" stAng="16200000" swAng="5400000"/>
                <a:lnTo>
                  <a:pt x="1270000" y="240705"/>
                </a:lnTo>
                <a:arcTo hR="38100" wR="38100" stAng="0" swAng="5400000"/>
                <a:lnTo>
                  <a:pt x="38100" y="278805"/>
                </a:lnTo>
                <a:arcTo hR="38100" wR="38100" stAng="5400000" swAng="5400000"/>
                <a:lnTo>
                  <a:pt x="0" y="38100"/>
                </a:lnTo>
                <a:arcTo hR="38100" wR="38100" stAng="10800000" swAng="5400000"/>
                <a:close/>
              </a:path>
            </a:pathLst>
          </a:custGeom>
          <a:solidFill>
            <a:srgbClr val="7A2E2A"/>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Integration</a:t>
            </a:r>
            <a:endParaRPr lang="en-US" sz="1200" dirty="0"/>
          </a:p>
        </p:txBody>
      </p:sp>
      <p:pic>
        <p:nvPicPr>
          <p:cNvPr id="61" name="Image 3" descr="ellipse">    </p:cNvPr>
          <p:cNvPicPr>
            <a:picLocks noChangeAspect="1"/>
          </p:cNvPicPr>
          <p:nvPr/>
        </p:nvPicPr>
        <p:blipFill>
          <a:blip r:embed="rId4"/>
          <a:srcRect l="0" r="0" t="0" b="0"/>
          <a:stretch/>
        </p:blipFill>
        <p:spPr>
          <a:xfrm>
            <a:off x="7200900" y="3107035"/>
            <a:ext cx="177800" cy="177800"/>
          </a:xfrm>
          <a:prstGeom prst="rect">
            <a:avLst/>
          </a:prstGeom>
        </p:spPr>
      </p:pic>
      <p:sp>
        <p:nvSpPr>
          <p:cNvPr id="62" name="Text 56"/>
          <p:cNvSpPr/>
          <p:nvPr/>
        </p:nvSpPr>
        <p:spPr>
          <a:xfrm>
            <a:off x="7429500" y="3094335"/>
            <a:ext cx="1143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b="1" i="1" dirty="0">
                <a:solidFill>
                  <a:srgbClr val="3B4558"/>
                </a:solidFill>
                <a:latin typeface="Arial" pitchFamily="34" charset="0"/>
                <a:ea typeface="Arial" pitchFamily="34" charset="-122"/>
                <a:cs typeface="Arial" pitchFamily="34" charset="-120"/>
              </a:rPr>
              <a:t>D4</a:t>
            </a:r>
            <a:r>
              <a:rPr lang="en-US" sz="1200" i="1" dirty="0">
                <a:solidFill>
                  <a:srgbClr val="3B4558"/>
                </a:solidFill>
                <a:latin typeface="Arial" pitchFamily="34" charset="0"/>
                <a:ea typeface="Arial" pitchFamily="34" charset="-122"/>
                <a:cs typeface="Arial" pitchFamily="34" charset="-120"/>
              </a:rPr>
              <a:t> · Mid Jan</a:t>
            </a:r>
            <a:endParaRPr lang="en-US" sz="1200" dirty="0"/>
          </a:p>
        </p:txBody>
      </p:sp>
      <p:sp>
        <p:nvSpPr>
          <p:cNvPr id="63" name="Shape 57"/>
          <p:cNvSpPr/>
          <p:nvPr/>
        </p:nvSpPr>
        <p:spPr>
          <a:xfrm>
            <a:off x="457200" y="3411835"/>
            <a:ext cx="2362200" cy="381000"/>
          </a:xfrm>
          <a:prstGeom prst="rect">
            <a:avLst/>
          </a:prstGeom>
          <a:solidFill>
            <a:srgbClr val="20325C"/>
          </a:solidFill>
          <a:ln/>
        </p:spPr>
      </p:sp>
      <p:sp>
        <p:nvSpPr>
          <p:cNvPr id="64" name="Shape 58"/>
          <p:cNvSpPr/>
          <p:nvPr/>
        </p:nvSpPr>
        <p:spPr>
          <a:xfrm>
            <a:off x="482600" y="3411835"/>
            <a:ext cx="0" cy="381000"/>
          </a:xfrm>
          <a:prstGeom prst="line">
            <a:avLst/>
          </a:prstGeom>
          <a:noFill/>
          <a:ln w="50800">
            <a:solidFill>
              <a:srgbClr val="5B2A86"/>
            </a:solidFill>
            <a:prstDash val="solid"/>
          </a:ln>
        </p:spPr>
      </p:sp>
      <p:sp>
        <p:nvSpPr>
          <p:cNvPr id="65" name="Text 59"/>
          <p:cNvSpPr/>
          <p:nvPr/>
        </p:nvSpPr>
        <p:spPr>
          <a:xfrm>
            <a:off x="609600" y="34271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5 · DST Review</a:t>
            </a:r>
            <a:endParaRPr lang="en-US" sz="1200" dirty="0"/>
          </a:p>
        </p:txBody>
      </p:sp>
      <p:sp>
        <p:nvSpPr>
          <p:cNvPr id="66" name="Text 60"/>
          <p:cNvSpPr/>
          <p:nvPr/>
        </p:nvSpPr>
        <p:spPr>
          <a:xfrm>
            <a:off x="609600" y="35946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Verify · single review</a:t>
            </a:r>
            <a:endParaRPr lang="en-US" sz="1200" dirty="0"/>
          </a:p>
        </p:txBody>
      </p:sp>
      <p:sp>
        <p:nvSpPr>
          <p:cNvPr id="67" name="Shape 61"/>
          <p:cNvSpPr/>
          <p:nvPr/>
        </p:nvSpPr>
        <p:spPr>
          <a:xfrm>
            <a:off x="2844800" y="34118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68" name="Shape 62"/>
          <p:cNvSpPr/>
          <p:nvPr/>
        </p:nvSpPr>
        <p:spPr>
          <a:xfrm>
            <a:off x="7934325" y="3411835"/>
            <a:ext cx="0" cy="381000"/>
          </a:xfrm>
          <a:prstGeom prst="line">
            <a:avLst/>
          </a:prstGeom>
          <a:noFill/>
          <a:ln w="19050">
            <a:solidFill>
              <a:srgbClr val="C2410C"/>
            </a:solidFill>
            <a:prstDash val="dash"/>
          </a:ln>
        </p:spPr>
      </p:sp>
      <p:sp>
        <p:nvSpPr>
          <p:cNvPr id="69" name="Shape 63"/>
          <p:cNvSpPr/>
          <p:nvPr/>
        </p:nvSpPr>
        <p:spPr>
          <a:xfrm>
            <a:off x="9204325" y="3411835"/>
            <a:ext cx="0" cy="381000"/>
          </a:xfrm>
          <a:prstGeom prst="line">
            <a:avLst/>
          </a:prstGeom>
          <a:noFill/>
          <a:ln w="19050">
            <a:solidFill>
              <a:srgbClr val="1F2A44"/>
            </a:solidFill>
            <a:prstDash val="dash"/>
          </a:ln>
        </p:spPr>
      </p:sp>
      <p:sp>
        <p:nvSpPr>
          <p:cNvPr id="70" name="Text 64"/>
          <p:cNvSpPr/>
          <p:nvPr/>
        </p:nvSpPr>
        <p:spPr>
          <a:xfrm>
            <a:off x="6654800" y="3462635"/>
            <a:ext cx="635000" cy="278805"/>
          </a:xfrm>
          <a:custGeom>
            <a:avLst/>
            <a:gdLst/>
            <a:ahLst/>
            <a:cxnLst/>
            <a:rect l="l" t="t" r="r" b="b"/>
            <a:pathLst>
              <a:path w="635000" h="278805">
                <a:moveTo>
                  <a:pt x="38100" y="0"/>
                </a:moveTo>
                <a:lnTo>
                  <a:pt x="596900" y="0"/>
                </a:lnTo>
                <a:arcTo hR="38100" wR="38100" stAng="16200000" swAng="5400000"/>
                <a:lnTo>
                  <a:pt x="635000" y="240705"/>
                </a:lnTo>
                <a:arcTo hR="38100" wR="38100" stAng="0" swAng="5400000"/>
                <a:lnTo>
                  <a:pt x="38100" y="278805"/>
                </a:lnTo>
                <a:arcTo hR="38100" wR="38100" stAng="5400000" swAng="5400000"/>
                <a:lnTo>
                  <a:pt x="0" y="38100"/>
                </a:lnTo>
                <a:arcTo hR="38100" wR="38100" stAng="10800000" swAng="5400000"/>
                <a:close/>
              </a:path>
            </a:pathLst>
          </a:custGeom>
          <a:solidFill>
            <a:srgbClr val="5B2A86"/>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DST</a:t>
            </a:r>
            <a:endParaRPr lang="en-US" sz="1200" dirty="0"/>
          </a:p>
        </p:txBody>
      </p:sp>
      <p:pic>
        <p:nvPicPr>
          <p:cNvPr id="71" name="Image 4" descr="ellipse">    </p:cNvPr>
          <p:cNvPicPr>
            <a:picLocks noChangeAspect="1"/>
          </p:cNvPicPr>
          <p:nvPr/>
        </p:nvPicPr>
        <p:blipFill>
          <a:blip r:embed="rId5"/>
          <a:srcRect l="0" r="0" t="0" b="0"/>
          <a:stretch/>
        </p:blipFill>
        <p:spPr>
          <a:xfrm>
            <a:off x="7200900" y="3513435"/>
            <a:ext cx="177800" cy="177800"/>
          </a:xfrm>
          <a:prstGeom prst="rect">
            <a:avLst/>
          </a:prstGeom>
        </p:spPr>
      </p:pic>
      <p:sp>
        <p:nvSpPr>
          <p:cNvPr id="72" name="Text 65"/>
          <p:cNvSpPr/>
          <p:nvPr/>
        </p:nvSpPr>
        <p:spPr>
          <a:xfrm>
            <a:off x="7429500" y="3500735"/>
            <a:ext cx="2540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i="1" dirty="0">
                <a:solidFill>
                  <a:srgbClr val="3B4558"/>
                </a:solidFill>
                <a:latin typeface="Arial" pitchFamily="34" charset="0"/>
                <a:ea typeface="Arial" pitchFamily="34" charset="-122"/>
                <a:cs typeface="Arial" pitchFamily="34" charset="-120"/>
              </a:rPr>
              <a:t>Single review · clears mid Jan</a:t>
            </a:r>
            <a:endParaRPr lang="en-US" sz="1200" dirty="0"/>
          </a:p>
        </p:txBody>
      </p:sp>
      <p:sp>
        <p:nvSpPr>
          <p:cNvPr id="73" name="Shape 66"/>
          <p:cNvSpPr/>
          <p:nvPr/>
        </p:nvSpPr>
        <p:spPr>
          <a:xfrm>
            <a:off x="457200" y="3818235"/>
            <a:ext cx="2362200" cy="381000"/>
          </a:xfrm>
          <a:prstGeom prst="rect">
            <a:avLst/>
          </a:prstGeom>
          <a:solidFill>
            <a:srgbClr val="20325C"/>
          </a:solidFill>
          <a:ln/>
        </p:spPr>
      </p:sp>
      <p:sp>
        <p:nvSpPr>
          <p:cNvPr id="74" name="Shape 67"/>
          <p:cNvSpPr/>
          <p:nvPr/>
        </p:nvSpPr>
        <p:spPr>
          <a:xfrm>
            <a:off x="482600" y="3818235"/>
            <a:ext cx="0" cy="381000"/>
          </a:xfrm>
          <a:prstGeom prst="line">
            <a:avLst/>
          </a:prstGeom>
          <a:noFill/>
          <a:ln w="50800">
            <a:solidFill>
              <a:srgbClr val="8C5A00"/>
            </a:solidFill>
            <a:prstDash val="solid"/>
          </a:ln>
        </p:spPr>
      </p:sp>
      <p:sp>
        <p:nvSpPr>
          <p:cNvPr id="75" name="Text 68"/>
          <p:cNvSpPr/>
          <p:nvPr/>
        </p:nvSpPr>
        <p:spPr>
          <a:xfrm>
            <a:off x="609600" y="38335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6 · UAT</a:t>
            </a:r>
            <a:endParaRPr lang="en-US" sz="1200" dirty="0"/>
          </a:p>
        </p:txBody>
      </p:sp>
      <p:sp>
        <p:nvSpPr>
          <p:cNvPr id="76" name="Text 69"/>
          <p:cNvSpPr/>
          <p:nvPr/>
        </p:nvSpPr>
        <p:spPr>
          <a:xfrm>
            <a:off x="609600" y="40010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Accept · sign-off gate</a:t>
            </a:r>
            <a:endParaRPr lang="en-US" sz="1200" dirty="0"/>
          </a:p>
        </p:txBody>
      </p:sp>
      <p:sp>
        <p:nvSpPr>
          <p:cNvPr id="77" name="Shape 70"/>
          <p:cNvSpPr/>
          <p:nvPr/>
        </p:nvSpPr>
        <p:spPr>
          <a:xfrm>
            <a:off x="2844800" y="38182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78" name="Shape 71"/>
          <p:cNvSpPr/>
          <p:nvPr/>
        </p:nvSpPr>
        <p:spPr>
          <a:xfrm>
            <a:off x="7934325" y="3818235"/>
            <a:ext cx="0" cy="381000"/>
          </a:xfrm>
          <a:prstGeom prst="line">
            <a:avLst/>
          </a:prstGeom>
          <a:noFill/>
          <a:ln w="19050">
            <a:solidFill>
              <a:srgbClr val="C2410C"/>
            </a:solidFill>
            <a:prstDash val="dash"/>
          </a:ln>
        </p:spPr>
      </p:sp>
      <p:sp>
        <p:nvSpPr>
          <p:cNvPr id="79" name="Shape 72"/>
          <p:cNvSpPr/>
          <p:nvPr/>
        </p:nvSpPr>
        <p:spPr>
          <a:xfrm>
            <a:off x="9204325" y="3818235"/>
            <a:ext cx="0" cy="381000"/>
          </a:xfrm>
          <a:prstGeom prst="line">
            <a:avLst/>
          </a:prstGeom>
          <a:noFill/>
          <a:ln w="19050">
            <a:solidFill>
              <a:srgbClr val="1F2A44"/>
            </a:solidFill>
            <a:prstDash val="dash"/>
          </a:ln>
        </p:spPr>
      </p:sp>
      <p:sp>
        <p:nvSpPr>
          <p:cNvPr id="80" name="Text 73"/>
          <p:cNvSpPr/>
          <p:nvPr/>
        </p:nvSpPr>
        <p:spPr>
          <a:xfrm>
            <a:off x="7289800" y="3869035"/>
            <a:ext cx="1270000" cy="278805"/>
          </a:xfrm>
          <a:custGeom>
            <a:avLst/>
            <a:gdLst/>
            <a:ahLst/>
            <a:cxnLst/>
            <a:rect l="l" t="t" r="r" b="b"/>
            <a:pathLst>
              <a:path w="1270000" h="278805">
                <a:moveTo>
                  <a:pt x="38100" y="0"/>
                </a:moveTo>
                <a:lnTo>
                  <a:pt x="1231900" y="0"/>
                </a:lnTo>
                <a:arcTo hR="38100" wR="38100" stAng="16200000" swAng="5400000"/>
                <a:lnTo>
                  <a:pt x="1270000" y="240705"/>
                </a:lnTo>
                <a:arcTo hR="38100" wR="38100" stAng="0" swAng="5400000"/>
                <a:lnTo>
                  <a:pt x="38100" y="278805"/>
                </a:lnTo>
                <a:arcTo hR="38100" wR="38100" stAng="5400000" swAng="5400000"/>
                <a:lnTo>
                  <a:pt x="0" y="38100"/>
                </a:lnTo>
                <a:arcTo hR="38100" wR="38100" stAng="10800000" swAng="5400000"/>
                <a:close/>
              </a:path>
            </a:pathLst>
          </a:custGeom>
          <a:solidFill>
            <a:srgbClr val="8C5A00"/>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UAT</a:t>
            </a:r>
            <a:endParaRPr lang="en-US" sz="1200" dirty="0"/>
          </a:p>
        </p:txBody>
      </p:sp>
      <p:pic>
        <p:nvPicPr>
          <p:cNvPr id="81" name="Image 5" descr="ellipse">    </p:cNvPr>
          <p:cNvPicPr>
            <a:picLocks noChangeAspect="1"/>
          </p:cNvPicPr>
          <p:nvPr/>
        </p:nvPicPr>
        <p:blipFill>
          <a:blip r:embed="rId6"/>
          <a:srcRect l="0" r="0" t="0" b="0"/>
          <a:stretch/>
        </p:blipFill>
        <p:spPr>
          <a:xfrm>
            <a:off x="8470900" y="3919835"/>
            <a:ext cx="177800" cy="177800"/>
          </a:xfrm>
          <a:prstGeom prst="rect">
            <a:avLst/>
          </a:prstGeom>
        </p:spPr>
      </p:pic>
      <p:sp>
        <p:nvSpPr>
          <p:cNvPr id="82" name="Text 74"/>
          <p:cNvSpPr/>
          <p:nvPr/>
        </p:nvSpPr>
        <p:spPr>
          <a:xfrm>
            <a:off x="8699500" y="3907135"/>
            <a:ext cx="11430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b="1" i="1" dirty="0">
                <a:solidFill>
                  <a:srgbClr val="3B4558"/>
                </a:solidFill>
                <a:latin typeface="Arial" pitchFamily="34" charset="0"/>
                <a:ea typeface="Arial" pitchFamily="34" charset="-122"/>
                <a:cs typeface="Arial" pitchFamily="34" charset="-120"/>
              </a:rPr>
              <a:t>D5</a:t>
            </a:r>
            <a:r>
              <a:rPr lang="en-US" sz="1200" i="1" dirty="0">
                <a:solidFill>
                  <a:srgbClr val="3B4558"/>
                </a:solidFill>
                <a:latin typeface="Arial" pitchFamily="34" charset="0"/>
                <a:ea typeface="Arial" pitchFamily="34" charset="-122"/>
                <a:cs typeface="Arial" pitchFamily="34" charset="-120"/>
              </a:rPr>
              <a:t> · Mid Feb</a:t>
            </a:r>
            <a:endParaRPr lang="en-US" sz="1200" dirty="0"/>
          </a:p>
        </p:txBody>
      </p:sp>
      <p:sp>
        <p:nvSpPr>
          <p:cNvPr id="83" name="Shape 75"/>
          <p:cNvSpPr/>
          <p:nvPr/>
        </p:nvSpPr>
        <p:spPr>
          <a:xfrm>
            <a:off x="457200" y="4224635"/>
            <a:ext cx="2362200" cy="381000"/>
          </a:xfrm>
          <a:prstGeom prst="rect">
            <a:avLst/>
          </a:prstGeom>
          <a:solidFill>
            <a:srgbClr val="20325C"/>
          </a:solidFill>
          <a:ln/>
        </p:spPr>
      </p:sp>
      <p:sp>
        <p:nvSpPr>
          <p:cNvPr id="84" name="Shape 76"/>
          <p:cNvSpPr/>
          <p:nvPr/>
        </p:nvSpPr>
        <p:spPr>
          <a:xfrm>
            <a:off x="482600" y="4224635"/>
            <a:ext cx="0" cy="381000"/>
          </a:xfrm>
          <a:prstGeom prst="line">
            <a:avLst/>
          </a:prstGeom>
          <a:noFill/>
          <a:ln w="50800">
            <a:solidFill>
              <a:srgbClr val="2E6B52"/>
            </a:solidFill>
            <a:prstDash val="solid"/>
          </a:ln>
        </p:spPr>
      </p:sp>
      <p:sp>
        <p:nvSpPr>
          <p:cNvPr id="85" name="Text 77"/>
          <p:cNvSpPr/>
          <p:nvPr/>
        </p:nvSpPr>
        <p:spPr>
          <a:xfrm>
            <a:off x="609600" y="42399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7 · Beta</a:t>
            </a:r>
            <a:endParaRPr lang="en-US" sz="1200" dirty="0"/>
          </a:p>
        </p:txBody>
      </p:sp>
      <p:sp>
        <p:nvSpPr>
          <p:cNvPr id="86" name="Text 78"/>
          <p:cNvSpPr/>
          <p:nvPr/>
        </p:nvSpPr>
        <p:spPr>
          <a:xfrm>
            <a:off x="609600" y="44074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Roll out · pilot users</a:t>
            </a:r>
            <a:endParaRPr lang="en-US" sz="1200" dirty="0"/>
          </a:p>
        </p:txBody>
      </p:sp>
      <p:sp>
        <p:nvSpPr>
          <p:cNvPr id="87" name="Shape 79"/>
          <p:cNvSpPr/>
          <p:nvPr/>
        </p:nvSpPr>
        <p:spPr>
          <a:xfrm>
            <a:off x="2844800" y="42246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88" name="Shape 80"/>
          <p:cNvSpPr/>
          <p:nvPr/>
        </p:nvSpPr>
        <p:spPr>
          <a:xfrm>
            <a:off x="7934325" y="4224635"/>
            <a:ext cx="0" cy="381000"/>
          </a:xfrm>
          <a:prstGeom prst="line">
            <a:avLst/>
          </a:prstGeom>
          <a:noFill/>
          <a:ln w="19050">
            <a:solidFill>
              <a:srgbClr val="C2410C"/>
            </a:solidFill>
            <a:prstDash val="dash"/>
          </a:ln>
        </p:spPr>
      </p:sp>
      <p:sp>
        <p:nvSpPr>
          <p:cNvPr id="89" name="Shape 81"/>
          <p:cNvSpPr/>
          <p:nvPr/>
        </p:nvSpPr>
        <p:spPr>
          <a:xfrm>
            <a:off x="9204325" y="4224635"/>
            <a:ext cx="0" cy="381000"/>
          </a:xfrm>
          <a:prstGeom prst="line">
            <a:avLst/>
          </a:prstGeom>
          <a:noFill/>
          <a:ln w="19050">
            <a:solidFill>
              <a:srgbClr val="1F2A44"/>
            </a:solidFill>
            <a:prstDash val="dash"/>
          </a:ln>
        </p:spPr>
      </p:sp>
      <p:sp>
        <p:nvSpPr>
          <p:cNvPr id="90" name="Text 82"/>
          <p:cNvSpPr/>
          <p:nvPr/>
        </p:nvSpPr>
        <p:spPr>
          <a:xfrm>
            <a:off x="7924800" y="4275435"/>
            <a:ext cx="1270000" cy="278805"/>
          </a:xfrm>
          <a:custGeom>
            <a:avLst/>
            <a:gdLst/>
            <a:ahLst/>
            <a:cxnLst/>
            <a:rect l="l" t="t" r="r" b="b"/>
            <a:pathLst>
              <a:path w="1270000" h="278805">
                <a:moveTo>
                  <a:pt x="38100" y="0"/>
                </a:moveTo>
                <a:lnTo>
                  <a:pt x="1231900" y="0"/>
                </a:lnTo>
                <a:arcTo hR="38100" wR="38100" stAng="16200000" swAng="5400000"/>
                <a:lnTo>
                  <a:pt x="1270000" y="240705"/>
                </a:lnTo>
                <a:arcTo hR="38100" wR="38100" stAng="0" swAng="5400000"/>
                <a:lnTo>
                  <a:pt x="38100" y="278805"/>
                </a:lnTo>
                <a:arcTo hR="38100" wR="38100" stAng="5400000" swAng="5400000"/>
                <a:lnTo>
                  <a:pt x="0" y="38100"/>
                </a:lnTo>
                <a:arcTo hR="38100" wR="38100" stAng="10800000" swAng="5400000"/>
                <a:close/>
              </a:path>
            </a:pathLst>
          </a:custGeom>
          <a:solidFill>
            <a:srgbClr val="2E6B52"/>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Beta</a:t>
            </a:r>
            <a:endParaRPr lang="en-US" sz="1200" dirty="0"/>
          </a:p>
        </p:txBody>
      </p:sp>
      <p:sp>
        <p:nvSpPr>
          <p:cNvPr id="91" name="Text 83"/>
          <p:cNvSpPr/>
          <p:nvPr/>
        </p:nvSpPr>
        <p:spPr>
          <a:xfrm>
            <a:off x="9334500" y="4313535"/>
            <a:ext cx="1968500" cy="202605"/>
          </a:xfrm>
          <a:prstGeom prst="rect">
            <a:avLst/>
          </a:prstGeom>
          <a:solidFill>
            <a:srgbClr val="E9ECF0"/>
          </a:solidFill>
          <a:ln/>
        </p:spPr>
        <p:txBody>
          <a:bodyPr wrap="square" lIns="50800" tIns="0" rIns="0" bIns="0" rtlCol="0" anchor="t">
            <a:normAutofit/>
          </a:bodyPr>
          <a:lstStyle/>
          <a:p>
            <a:pPr algn="l" indent="0" marL="0">
              <a:lnSpc>
                <a:spcPts val="1596"/>
              </a:lnSpc>
              <a:buNone/>
            </a:pPr>
            <a:r>
              <a:rPr lang="en-US" sz="1200" i="1" dirty="0">
                <a:solidFill>
                  <a:srgbClr val="3B4558"/>
                </a:solidFill>
                <a:latin typeface="Arial" pitchFamily="34" charset="0"/>
                <a:ea typeface="Arial" pitchFamily="34" charset="-122"/>
                <a:cs typeface="Arial" pitchFamily="34" charset="-120"/>
              </a:rPr>
              <a:t>Feb 2027 · pilot users</a:t>
            </a:r>
            <a:endParaRPr lang="en-US" sz="1200" dirty="0"/>
          </a:p>
        </p:txBody>
      </p:sp>
      <p:sp>
        <p:nvSpPr>
          <p:cNvPr id="92" name="Shape 84"/>
          <p:cNvSpPr/>
          <p:nvPr/>
        </p:nvSpPr>
        <p:spPr>
          <a:xfrm>
            <a:off x="457200" y="4631035"/>
            <a:ext cx="2362200" cy="381000"/>
          </a:xfrm>
          <a:prstGeom prst="rect">
            <a:avLst/>
          </a:prstGeom>
          <a:solidFill>
            <a:srgbClr val="20325C"/>
          </a:solidFill>
          <a:ln/>
        </p:spPr>
      </p:sp>
      <p:sp>
        <p:nvSpPr>
          <p:cNvPr id="93" name="Shape 85"/>
          <p:cNvSpPr/>
          <p:nvPr/>
        </p:nvSpPr>
        <p:spPr>
          <a:xfrm>
            <a:off x="482600" y="4631035"/>
            <a:ext cx="0" cy="381000"/>
          </a:xfrm>
          <a:prstGeom prst="line">
            <a:avLst/>
          </a:prstGeom>
          <a:noFill/>
          <a:ln w="50800">
            <a:solidFill>
              <a:srgbClr val="1E4D3A"/>
            </a:solidFill>
            <a:prstDash val="solid"/>
          </a:ln>
        </p:spPr>
      </p:sp>
      <p:sp>
        <p:nvSpPr>
          <p:cNvPr id="94" name="Text 86"/>
          <p:cNvSpPr/>
          <p:nvPr/>
        </p:nvSpPr>
        <p:spPr>
          <a:xfrm>
            <a:off x="609600" y="4646315"/>
            <a:ext cx="2223770" cy="19298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FFFFFF"/>
                </a:solidFill>
                <a:latin typeface="Arial" pitchFamily="34" charset="0"/>
                <a:ea typeface="Arial" pitchFamily="34" charset="-122"/>
                <a:cs typeface="Arial" pitchFamily="34" charset="-120"/>
              </a:rPr>
              <a:t>8 · Go-Live</a:t>
            </a:r>
            <a:endParaRPr lang="en-US" sz="1200" dirty="0"/>
          </a:p>
        </p:txBody>
      </p:sp>
      <p:sp>
        <p:nvSpPr>
          <p:cNvPr id="95" name="Text 87"/>
          <p:cNvSpPr/>
          <p:nvPr/>
        </p:nvSpPr>
        <p:spPr>
          <a:xfrm>
            <a:off x="609600" y="4813895"/>
            <a:ext cx="222377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9D3EA"/>
                </a:solidFill>
                <a:latin typeface="Arial" pitchFamily="34" charset="0"/>
                <a:ea typeface="Arial" pitchFamily="34" charset="-122"/>
                <a:cs typeface="Arial" pitchFamily="34" charset="-120"/>
              </a:rPr>
              <a:t>Roll out · staged ramp</a:t>
            </a:r>
            <a:endParaRPr lang="en-US" sz="1200" dirty="0"/>
          </a:p>
        </p:txBody>
      </p:sp>
      <p:sp>
        <p:nvSpPr>
          <p:cNvPr id="96" name="Shape 88"/>
          <p:cNvSpPr/>
          <p:nvPr/>
        </p:nvSpPr>
        <p:spPr>
          <a:xfrm>
            <a:off x="2844800" y="4631035"/>
            <a:ext cx="8890000" cy="381000"/>
          </a:xfrm>
          <a:prstGeom prst="rect">
            <a:avLst/>
          </a:prstGeom>
          <a:gradFill rotWithShape="1">
            <a:gsLst>
              <a:gs pos="0">
                <a:srgbClr val="E9ECF0"/>
              </a:gs>
              <a:gs pos="99000">
                <a:srgbClr val="E9ECF0"/>
              </a:gs>
              <a:gs pos="99000">
                <a:srgbClr val="FFFFFF"/>
              </a:gs>
              <a:gs pos="100000">
                <a:srgbClr val="FFFFFF"/>
              </a:gs>
            </a:gsLst>
            <a:lin ang="0" scaled="0"/>
          </a:gradFill>
          <a:ln/>
        </p:spPr>
      </p:sp>
      <p:sp>
        <p:nvSpPr>
          <p:cNvPr id="97" name="Shape 89"/>
          <p:cNvSpPr/>
          <p:nvPr/>
        </p:nvSpPr>
        <p:spPr>
          <a:xfrm>
            <a:off x="7934325" y="4631035"/>
            <a:ext cx="0" cy="381000"/>
          </a:xfrm>
          <a:prstGeom prst="line">
            <a:avLst/>
          </a:prstGeom>
          <a:noFill/>
          <a:ln w="19050">
            <a:solidFill>
              <a:srgbClr val="C2410C"/>
            </a:solidFill>
            <a:prstDash val="dash"/>
          </a:ln>
        </p:spPr>
      </p:sp>
      <p:sp>
        <p:nvSpPr>
          <p:cNvPr id="98" name="Shape 90"/>
          <p:cNvSpPr/>
          <p:nvPr/>
        </p:nvSpPr>
        <p:spPr>
          <a:xfrm>
            <a:off x="9204325" y="4631035"/>
            <a:ext cx="0" cy="381000"/>
          </a:xfrm>
          <a:prstGeom prst="line">
            <a:avLst/>
          </a:prstGeom>
          <a:noFill/>
          <a:ln w="19050">
            <a:solidFill>
              <a:srgbClr val="1F2A44"/>
            </a:solidFill>
            <a:prstDash val="dash"/>
          </a:ln>
        </p:spPr>
      </p:sp>
      <p:sp>
        <p:nvSpPr>
          <p:cNvPr id="99" name="Text 91"/>
          <p:cNvSpPr/>
          <p:nvPr/>
        </p:nvSpPr>
        <p:spPr>
          <a:xfrm>
            <a:off x="9194800" y="4681835"/>
            <a:ext cx="1270000" cy="278805"/>
          </a:xfrm>
          <a:custGeom>
            <a:avLst/>
            <a:gdLst/>
            <a:ahLst/>
            <a:cxnLst/>
            <a:rect l="l" t="t" r="r" b="b"/>
            <a:pathLst>
              <a:path w="1270000" h="278805">
                <a:moveTo>
                  <a:pt x="38100" y="0"/>
                </a:moveTo>
                <a:lnTo>
                  <a:pt x="1231900" y="0"/>
                </a:lnTo>
                <a:arcTo hR="38100" wR="38100" stAng="16200000" swAng="5400000"/>
                <a:lnTo>
                  <a:pt x="1270000" y="240705"/>
                </a:lnTo>
                <a:arcTo hR="38100" wR="38100" stAng="0" swAng="5400000"/>
                <a:lnTo>
                  <a:pt x="38100" y="278805"/>
                </a:lnTo>
                <a:arcTo hR="38100" wR="38100" stAng="5400000" swAng="5400000"/>
                <a:lnTo>
                  <a:pt x="0" y="38100"/>
                </a:lnTo>
                <a:arcTo hR="38100" wR="38100" stAng="10800000" swAng="5400000"/>
                <a:close/>
              </a:path>
            </a:pathLst>
          </a:custGeom>
          <a:solidFill>
            <a:srgbClr val="1E4D3A"/>
          </a:solidFill>
          <a:ln/>
        </p:spPr>
        <p:txBody>
          <a:bodyPr wrap="square" lIns="0" tIns="0" rIns="0" bIns="0" rtlCol="0" anchor="t">
            <a:normAutofit/>
          </a:bodyPr>
          <a:lstStyle/>
          <a:p>
            <a:pPr algn="ctr" indent="0" marL="0">
              <a:lnSpc>
                <a:spcPts val="2196"/>
              </a:lnSpc>
              <a:buNone/>
            </a:pPr>
            <a:r>
              <a:rPr lang="en-US" sz="1200" b="1" dirty="0">
                <a:solidFill>
                  <a:srgbClr val="FFFFFF"/>
                </a:solidFill>
                <a:latin typeface="Arial" pitchFamily="34" charset="0"/>
                <a:ea typeface="Arial" pitchFamily="34" charset="-122"/>
                <a:cs typeface="Arial" pitchFamily="34" charset="-120"/>
              </a:rPr>
              <a:t>Go-Live ramp</a:t>
            </a:r>
            <a:endParaRPr lang="en-US" sz="1200" dirty="0"/>
          </a:p>
        </p:txBody>
      </p:sp>
      <p:sp>
        <p:nvSpPr>
          <p:cNvPr id="100" name="Text 92"/>
          <p:cNvSpPr/>
          <p:nvPr/>
        </p:nvSpPr>
        <p:spPr>
          <a:xfrm>
            <a:off x="10471150" y="4688185"/>
            <a:ext cx="1257300" cy="267196"/>
          </a:xfrm>
          <a:custGeom>
            <a:avLst/>
            <a:gdLst/>
            <a:ahLst/>
            <a:cxnLst/>
            <a:rect l="l" t="t" r="r" b="b"/>
            <a:pathLst>
              <a:path w="1257300" h="267196">
                <a:moveTo>
                  <a:pt x="31750" y="0"/>
                </a:moveTo>
                <a:lnTo>
                  <a:pt x="1225550" y="0"/>
                </a:lnTo>
                <a:arcTo hR="31750" wR="31750" stAng="16200000" swAng="5400000"/>
                <a:lnTo>
                  <a:pt x="1257300" y="235446"/>
                </a:lnTo>
                <a:arcTo hR="31750" wR="31750" stAng="0" swAng="5400000"/>
                <a:lnTo>
                  <a:pt x="31750" y="267196"/>
                </a:lnTo>
                <a:arcTo hR="31750" wR="31750" stAng="5400000" swAng="5400000"/>
                <a:lnTo>
                  <a:pt x="0" y="31750"/>
                </a:lnTo>
                <a:arcTo hR="31750" wR="31750" stAng="10800000" swAng="5400000"/>
                <a:close/>
              </a:path>
            </a:pathLst>
          </a:custGeom>
          <a:solidFill>
            <a:srgbClr val="D4E5DC"/>
          </a:solidFill>
          <a:ln w="12700">
            <a:solidFill>
              <a:srgbClr val="2E6B52"/>
            </a:solidFill>
            <a:prstDash val="solid"/>
          </a:ln>
        </p:spPr>
        <p:txBody>
          <a:bodyPr wrap="square" lIns="0" tIns="6350" rIns="0" bIns="0" rtlCol="0" anchor="t">
            <a:normAutofit/>
          </a:bodyPr>
          <a:lstStyle/>
          <a:p>
            <a:pPr algn="ctr" indent="0" marL="0">
              <a:lnSpc>
                <a:spcPts val="2004"/>
              </a:lnSpc>
              <a:buNone/>
            </a:pPr>
            <a:r>
              <a:rPr lang="en-US" sz="1200" b="1" dirty="0">
                <a:solidFill>
                  <a:srgbClr val="1E4D3A"/>
                </a:solidFill>
                <a:latin typeface="Arial" pitchFamily="34" charset="0"/>
                <a:ea typeface="Arial" pitchFamily="34" charset="-122"/>
                <a:cs typeface="Arial" pitchFamily="34" charset="-120"/>
              </a:rPr>
              <a:t>Access live</a:t>
            </a:r>
            <a:endParaRPr lang="en-US" sz="1200" dirty="0"/>
          </a:p>
        </p:txBody>
      </p:sp>
      <p:pic>
        <p:nvPicPr>
          <p:cNvPr id="101" name="Image 6" descr="ellipse">    </p:cNvPr>
          <p:cNvPicPr>
            <a:picLocks noChangeAspect="1"/>
          </p:cNvPicPr>
          <p:nvPr/>
        </p:nvPicPr>
        <p:blipFill>
          <a:blip r:embed="rId7"/>
          <a:srcRect l="0" r="0" t="0" b="0"/>
          <a:stretch/>
        </p:blipFill>
        <p:spPr>
          <a:xfrm>
            <a:off x="457200" y="5065316"/>
            <a:ext cx="152400" cy="152400"/>
          </a:xfrm>
          <a:prstGeom prst="rect">
            <a:avLst/>
          </a:prstGeom>
        </p:spPr>
      </p:pic>
      <p:sp>
        <p:nvSpPr>
          <p:cNvPr id="102" name="Text 93"/>
          <p:cNvSpPr/>
          <p:nvPr/>
        </p:nvSpPr>
        <p:spPr>
          <a:xfrm>
            <a:off x="673100" y="5050135"/>
            <a:ext cx="925116"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558"/>
                </a:solidFill>
                <a:latin typeface="Arial" pitchFamily="34" charset="0"/>
                <a:ea typeface="Arial" pitchFamily="34" charset="-122"/>
                <a:cs typeface="Arial" pitchFamily="34" charset="-120"/>
              </a:rPr>
              <a:t>Completion</a:t>
            </a:r>
            <a:endParaRPr lang="en-US" sz="1200" dirty="0"/>
          </a:p>
        </p:txBody>
      </p:sp>
      <p:sp>
        <p:nvSpPr>
          <p:cNvPr id="103" name="Text 94"/>
          <p:cNvSpPr/>
          <p:nvPr/>
        </p:nvSpPr>
        <p:spPr>
          <a:xfrm>
            <a:off x="1698030" y="5050135"/>
            <a:ext cx="1745159"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3B4558"/>
                </a:solidFill>
                <a:latin typeface="Arial" pitchFamily="34" charset="0"/>
                <a:ea typeface="Arial" pitchFamily="34" charset="-122"/>
                <a:cs typeface="Arial" pitchFamily="34" charset="-120"/>
              </a:rPr>
              <a:t>D1–D5</a:t>
            </a:r>
            <a:r>
              <a:rPr lang="en-US" sz="1200" dirty="0">
                <a:solidFill>
                  <a:srgbClr val="3B4558"/>
                </a:solidFill>
                <a:latin typeface="Arial" pitchFamily="34" charset="0"/>
                <a:ea typeface="Arial" pitchFamily="34" charset="-122"/>
                <a:cs typeface="Arial" pitchFamily="34" charset="-120"/>
              </a:rPr>
              <a:t> decision gates</a:t>
            </a:r>
            <a:endParaRPr lang="en-US" sz="1200" dirty="0"/>
          </a:p>
        </p:txBody>
      </p:sp>
      <p:pic>
        <p:nvPicPr>
          <p:cNvPr id="104" name="Image 7" descr="line">    </p:cNvPr>
          <p:cNvPicPr>
            <a:picLocks noChangeAspect="1"/>
          </p:cNvPicPr>
          <p:nvPr/>
        </p:nvPicPr>
        <p:blipFill>
          <a:blip r:embed="rId8"/>
          <a:srcRect l="0" r="0" t="0" b="0"/>
          <a:stretch/>
        </p:blipFill>
        <p:spPr>
          <a:xfrm>
            <a:off x="3443188" y="5122466"/>
            <a:ext cx="304800" cy="38100"/>
          </a:xfrm>
          <a:prstGeom prst="rect">
            <a:avLst/>
          </a:prstGeom>
        </p:spPr>
      </p:pic>
      <p:sp>
        <p:nvSpPr>
          <p:cNvPr id="105" name="Text 95"/>
          <p:cNvSpPr/>
          <p:nvPr/>
        </p:nvSpPr>
        <p:spPr>
          <a:xfrm>
            <a:off x="3811488" y="5050135"/>
            <a:ext cx="1311593"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558"/>
                </a:solidFill>
                <a:latin typeface="Arial" pitchFamily="34" charset="0"/>
                <a:ea typeface="Arial" pitchFamily="34" charset="-122"/>
                <a:cs typeface="Arial" pitchFamily="34" charset="-120"/>
              </a:rPr>
              <a:t>Beta · Feb 2027</a:t>
            </a:r>
            <a:endParaRPr lang="en-US" sz="1200" dirty="0"/>
          </a:p>
        </p:txBody>
      </p:sp>
      <p:pic>
        <p:nvPicPr>
          <p:cNvPr id="106" name="Image 8" descr="line">    </p:cNvPr>
          <p:cNvPicPr>
            <a:picLocks noChangeAspect="1"/>
          </p:cNvPicPr>
          <p:nvPr/>
        </p:nvPicPr>
        <p:blipFill>
          <a:blip r:embed="rId9"/>
          <a:srcRect l="0" r="0" t="0" b="0"/>
          <a:stretch/>
        </p:blipFill>
        <p:spPr>
          <a:xfrm>
            <a:off x="5158482" y="5122466"/>
            <a:ext cx="304800" cy="38100"/>
          </a:xfrm>
          <a:prstGeom prst="rect">
            <a:avLst/>
          </a:prstGeom>
        </p:spPr>
      </p:pic>
      <p:sp>
        <p:nvSpPr>
          <p:cNvPr id="107" name="Text 96"/>
          <p:cNvSpPr/>
          <p:nvPr/>
        </p:nvSpPr>
        <p:spPr>
          <a:xfrm>
            <a:off x="5526782" y="5050135"/>
            <a:ext cx="1575554"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558"/>
                </a:solidFill>
                <a:latin typeface="Arial" pitchFamily="34" charset="0"/>
                <a:ea typeface="Arial" pitchFamily="34" charset="-122"/>
                <a:cs typeface="Arial" pitchFamily="34" charset="-120"/>
              </a:rPr>
              <a:t>Go-Live · Mar 2027</a:t>
            </a:r>
            <a:endParaRPr lang="en-US" sz="1200" dirty="0"/>
          </a:p>
        </p:txBody>
      </p:sp>
      <p:sp>
        <p:nvSpPr>
          <p:cNvPr id="108" name="Shape 97"/>
          <p:cNvSpPr/>
          <p:nvPr/>
        </p:nvSpPr>
        <p:spPr>
          <a:xfrm>
            <a:off x="463550" y="5277445"/>
            <a:ext cx="11264900" cy="393700"/>
          </a:xfrm>
          <a:prstGeom prst="roundRect">
            <a:avLst>
              <a:gd name="adj" fmla="val 11290"/>
            </a:avLst>
          </a:prstGeom>
          <a:solidFill>
            <a:srgbClr val="FBEADF"/>
          </a:solidFill>
          <a:ln w="12700">
            <a:solidFill>
              <a:srgbClr val="E3A98C"/>
            </a:solidFill>
            <a:prstDash val="solid"/>
          </a:ln>
        </p:spPr>
      </p:sp>
      <p:pic>
        <p:nvPicPr>
          <p:cNvPr id="109" name="Image 9" descr="Warning">    </p:cNvPr>
          <p:cNvPicPr>
            <a:picLocks noChangeAspect="1"/>
          </p:cNvPicPr>
          <p:nvPr/>
        </p:nvPicPr>
        <p:blipFill>
          <a:blip r:embed="rId10"/>
          <a:srcRect l="0" r="0" t="0" b="0"/>
          <a:stretch/>
        </p:blipFill>
        <p:spPr>
          <a:xfrm>
            <a:off x="622300" y="5359995"/>
            <a:ext cx="228600" cy="228600"/>
          </a:xfrm>
          <a:prstGeom prst="rect">
            <a:avLst/>
          </a:prstGeom>
        </p:spPr>
      </p:pic>
      <p:sp>
        <p:nvSpPr>
          <p:cNvPr id="110" name="Text 98"/>
          <p:cNvSpPr/>
          <p:nvPr/>
        </p:nvSpPr>
        <p:spPr>
          <a:xfrm>
            <a:off x="952500" y="5371108"/>
            <a:ext cx="10935716"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A2A12"/>
                </a:solidFill>
                <a:latin typeface="Arial" pitchFamily="34" charset="0"/>
                <a:ea typeface="Arial" pitchFamily="34" charset="-122"/>
                <a:cs typeface="Arial" pitchFamily="34" charset="-120"/>
              </a:rPr>
              <a:t>If any enabler slips (UX prototype, Data Sync, Core API) or Claude Code is delayed, integration, DST, UAT, Beta and Go-Live all move with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457200" y="254000"/>
            <a:ext cx="11615928" cy="36066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00205B"/>
                </a:solidFill>
                <a:latin typeface="DM Sans" pitchFamily="34" charset="0"/>
                <a:ea typeface="DM Sans" pitchFamily="34" charset="-122"/>
                <a:cs typeface="DM Sans" pitchFamily="34" charset="-120"/>
              </a:rPr>
              <a:t>MyIAM roadmap: enablers first, then five modules to go-live</a:t>
            </a:r>
            <a:endParaRPr lang="en-US" sz="2400" dirty="0"/>
          </a:p>
        </p:txBody>
      </p:sp>
      <p:sp>
        <p:nvSpPr>
          <p:cNvPr id="3" name="Text 1"/>
          <p:cNvSpPr/>
          <p:nvPr/>
        </p:nvSpPr>
        <p:spPr>
          <a:xfrm>
            <a:off x="457200" y="665460"/>
            <a:ext cx="11615928"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8"/>
                </a:solidFill>
                <a:latin typeface="DM Sans" pitchFamily="34" charset="0"/>
                <a:ea typeface="DM Sans" pitchFamily="34" charset="-122"/>
                <a:cs typeface="DM Sans" pitchFamily="34" charset="-120"/>
              </a:rPr>
              <a:t>Beta Feb 2027 · Go-live Mar 2027 · Access go-live Apr 2027 — if one enabler slips, every module moves with it</a:t>
            </a:r>
            <a:endParaRPr lang="en-US" sz="1400" dirty="0"/>
          </a:p>
        </p:txBody>
      </p:sp>
      <p:sp>
        <p:nvSpPr>
          <p:cNvPr id="4" name="Text 2"/>
          <p:cNvSpPr/>
          <p:nvPr/>
        </p:nvSpPr>
        <p:spPr>
          <a:xfrm>
            <a:off x="457200" y="972741"/>
            <a:ext cx="3302000" cy="305395"/>
          </a:xfrm>
          <a:prstGeom prst="rect">
            <a:avLst/>
          </a:prstGeom>
          <a:solidFill>
            <a:srgbClr val="E4E9F3"/>
          </a:solidFill>
          <a:ln/>
        </p:spPr>
        <p:txBody>
          <a:bodyPr wrap="square" lIns="0" tIns="0" rIns="0" bIns="0" rtlCol="0" anchor="t">
            <a:normAutofit/>
          </a:bodyPr>
          <a:lstStyle/>
          <a:p>
            <a:pPr algn="ctr" indent="0" marL="0">
              <a:lnSpc>
                <a:spcPts val="2405"/>
              </a:lnSpc>
              <a:buNone/>
            </a:pPr>
            <a:r>
              <a:rPr lang="en-US" sz="1300" b="1" dirty="0">
                <a:solidFill>
                  <a:srgbClr val="00205B"/>
                </a:solidFill>
                <a:latin typeface="DM Sans" pitchFamily="34" charset="0"/>
                <a:ea typeface="DM Sans" pitchFamily="34" charset="-122"/>
                <a:cs typeface="DM Sans" pitchFamily="34" charset="-120"/>
              </a:rPr>
              <a:t>Q4 2026 · Oct–Dec</a:t>
            </a:r>
            <a:endParaRPr lang="en-US" sz="1300" dirty="0"/>
          </a:p>
        </p:txBody>
      </p:sp>
      <p:sp>
        <p:nvSpPr>
          <p:cNvPr id="5" name="Text 3"/>
          <p:cNvSpPr/>
          <p:nvPr/>
        </p:nvSpPr>
        <p:spPr>
          <a:xfrm>
            <a:off x="3759200" y="972741"/>
            <a:ext cx="1619250" cy="305395"/>
          </a:xfrm>
          <a:prstGeom prst="rect">
            <a:avLst/>
          </a:prstGeom>
          <a:solidFill>
            <a:srgbClr val="E4E9F3"/>
          </a:solidFill>
          <a:ln/>
        </p:spPr>
        <p:txBody>
          <a:bodyPr wrap="square" lIns="12700" tIns="0" rIns="0" bIns="0" rtlCol="0" anchor="t">
            <a:normAutofit/>
          </a:bodyPr>
          <a:lstStyle/>
          <a:p>
            <a:pPr algn="ctr" indent="0" marL="0">
              <a:lnSpc>
                <a:spcPts val="2405"/>
              </a:lnSpc>
              <a:buNone/>
            </a:pPr>
            <a:r>
              <a:rPr lang="en-US" sz="1300" b="1" dirty="0">
                <a:solidFill>
                  <a:srgbClr val="00205B"/>
                </a:solidFill>
                <a:latin typeface="DM Sans" pitchFamily="34" charset="0"/>
                <a:ea typeface="DM Sans" pitchFamily="34" charset="-122"/>
                <a:cs typeface="DM Sans" pitchFamily="34" charset="-120"/>
              </a:rPr>
              <a:t>Jan 2027</a:t>
            </a:r>
            <a:endParaRPr lang="en-US" sz="1300" dirty="0"/>
          </a:p>
        </p:txBody>
      </p:sp>
      <p:sp>
        <p:nvSpPr>
          <p:cNvPr id="6" name="Shape 4"/>
          <p:cNvSpPr/>
          <p:nvPr/>
        </p:nvSpPr>
        <p:spPr>
          <a:xfrm>
            <a:off x="3765550" y="972741"/>
            <a:ext cx="0" cy="305395"/>
          </a:xfrm>
          <a:prstGeom prst="line">
            <a:avLst/>
          </a:prstGeom>
          <a:noFill/>
          <a:ln w="12700">
            <a:solidFill>
              <a:srgbClr val="F6F4EF"/>
            </a:solidFill>
            <a:prstDash val="solid"/>
          </a:ln>
        </p:spPr>
      </p:sp>
      <p:sp>
        <p:nvSpPr>
          <p:cNvPr id="7" name="Text 5"/>
          <p:cNvSpPr/>
          <p:nvPr/>
        </p:nvSpPr>
        <p:spPr>
          <a:xfrm>
            <a:off x="5378450" y="972741"/>
            <a:ext cx="1619250" cy="305395"/>
          </a:xfrm>
          <a:prstGeom prst="rect">
            <a:avLst/>
          </a:prstGeom>
          <a:solidFill>
            <a:srgbClr val="C2410C"/>
          </a:solidFill>
          <a:ln/>
        </p:spPr>
        <p:txBody>
          <a:bodyPr wrap="square" lIns="0" tIns="0" rIns="0" bIns="0" rtlCol="0" anchor="t">
            <a:normAutofit/>
          </a:bodyPr>
          <a:lstStyle/>
          <a:p>
            <a:pPr algn="ctr" indent="0" marL="0">
              <a:lnSpc>
                <a:spcPts val="2405"/>
              </a:lnSpc>
              <a:buNone/>
            </a:pPr>
            <a:r>
              <a:rPr lang="en-US" sz="1300" b="1" dirty="0">
                <a:solidFill>
                  <a:srgbClr val="FFFFFF"/>
                </a:solidFill>
                <a:latin typeface="DM Sans" pitchFamily="34" charset="0"/>
                <a:ea typeface="DM Sans" pitchFamily="34" charset="-122"/>
                <a:cs typeface="DM Sans" pitchFamily="34" charset="-120"/>
              </a:rPr>
              <a:t>Feb · BETA</a:t>
            </a:r>
            <a:endParaRPr lang="en-US" sz="1300" dirty="0"/>
          </a:p>
        </p:txBody>
      </p:sp>
      <p:sp>
        <p:nvSpPr>
          <p:cNvPr id="8" name="Text 6"/>
          <p:cNvSpPr/>
          <p:nvPr/>
        </p:nvSpPr>
        <p:spPr>
          <a:xfrm>
            <a:off x="6997700" y="972741"/>
            <a:ext cx="1619250" cy="305395"/>
          </a:xfrm>
          <a:prstGeom prst="rect">
            <a:avLst/>
          </a:prstGeom>
          <a:solidFill>
            <a:srgbClr val="00205B"/>
          </a:solidFill>
          <a:ln/>
        </p:spPr>
        <p:txBody>
          <a:bodyPr wrap="square" lIns="0" tIns="0" rIns="0" bIns="0" rtlCol="0" anchor="t">
            <a:normAutofit/>
          </a:bodyPr>
          <a:lstStyle/>
          <a:p>
            <a:pPr algn="ctr" indent="0" marL="0">
              <a:lnSpc>
                <a:spcPts val="2405"/>
              </a:lnSpc>
              <a:buNone/>
            </a:pPr>
            <a:r>
              <a:rPr lang="en-US" sz="1300" b="1" dirty="0">
                <a:solidFill>
                  <a:srgbClr val="FFFFFF"/>
                </a:solidFill>
                <a:latin typeface="DM Sans" pitchFamily="34" charset="0"/>
                <a:ea typeface="DM Sans" pitchFamily="34" charset="-122"/>
                <a:cs typeface="DM Sans" pitchFamily="34" charset="-120"/>
              </a:rPr>
              <a:t>Mar · GO-LIVE</a:t>
            </a:r>
            <a:endParaRPr lang="en-US" sz="1300" dirty="0"/>
          </a:p>
        </p:txBody>
      </p:sp>
      <p:sp>
        <p:nvSpPr>
          <p:cNvPr id="9" name="Text 7"/>
          <p:cNvSpPr/>
          <p:nvPr/>
        </p:nvSpPr>
        <p:spPr>
          <a:xfrm>
            <a:off x="8616950" y="972741"/>
            <a:ext cx="1619250" cy="305395"/>
          </a:xfrm>
          <a:prstGeom prst="rect">
            <a:avLst/>
          </a:prstGeom>
          <a:solidFill>
            <a:srgbClr val="00205B"/>
          </a:solidFill>
          <a:ln/>
        </p:spPr>
        <p:txBody>
          <a:bodyPr wrap="square" lIns="12700" tIns="0" rIns="0" bIns="0" rtlCol="0" anchor="t">
            <a:normAutofit/>
          </a:bodyPr>
          <a:lstStyle/>
          <a:p>
            <a:pPr algn="ctr" indent="0" marL="0">
              <a:lnSpc>
                <a:spcPts val="2405"/>
              </a:lnSpc>
              <a:buNone/>
            </a:pPr>
            <a:r>
              <a:rPr lang="en-US" sz="1300" b="1" dirty="0">
                <a:solidFill>
                  <a:srgbClr val="FFFFFF"/>
                </a:solidFill>
                <a:latin typeface="DM Sans" pitchFamily="34" charset="0"/>
                <a:ea typeface="DM Sans" pitchFamily="34" charset="-122"/>
                <a:cs typeface="DM Sans" pitchFamily="34" charset="-120"/>
              </a:rPr>
              <a:t>Apr · ACCESS</a:t>
            </a:r>
            <a:endParaRPr lang="en-US" sz="1300" dirty="0"/>
          </a:p>
        </p:txBody>
      </p:sp>
      <p:sp>
        <p:nvSpPr>
          <p:cNvPr id="10" name="Shape 8"/>
          <p:cNvSpPr/>
          <p:nvPr/>
        </p:nvSpPr>
        <p:spPr>
          <a:xfrm>
            <a:off x="8623300" y="972741"/>
            <a:ext cx="0" cy="305395"/>
          </a:xfrm>
          <a:prstGeom prst="line">
            <a:avLst/>
          </a:prstGeom>
          <a:noFill/>
          <a:ln w="12700">
            <a:solidFill>
              <a:srgbClr val="F6F4EF"/>
            </a:solidFill>
            <a:prstDash val="solid"/>
          </a:ln>
        </p:spPr>
      </p:sp>
      <p:sp>
        <p:nvSpPr>
          <p:cNvPr id="11" name="Text 9"/>
          <p:cNvSpPr/>
          <p:nvPr/>
        </p:nvSpPr>
        <p:spPr>
          <a:xfrm>
            <a:off x="457200" y="1673126"/>
            <a:ext cx="1473200" cy="220960"/>
          </a:xfrm>
          <a:prstGeom prst="rect">
            <a:avLst/>
          </a:prstGeom>
          <a:noFill/>
          <a:ln/>
        </p:spPr>
        <p:txBody>
          <a:bodyPr wrap="square" lIns="0" tIns="0" rIns="0" bIns="0" rtlCol="0" anchor="t">
            <a:normAutofit/>
          </a:bodyPr>
          <a:lstStyle/>
          <a:p>
            <a:pPr algn="l" indent="0" marL="0">
              <a:lnSpc>
                <a:spcPts val="1540"/>
              </a:lnSpc>
              <a:buNone/>
            </a:pPr>
            <a:r>
              <a:rPr lang="en-US" sz="1400" b="1" dirty="0">
                <a:solidFill>
                  <a:srgbClr val="9B1C1C"/>
                </a:solidFill>
                <a:latin typeface="DM Sans" pitchFamily="34" charset="0"/>
                <a:ea typeface="DM Sans" pitchFamily="34" charset="-122"/>
                <a:cs typeface="DM Sans" pitchFamily="34" charset="-120"/>
              </a:rPr>
              <a:t>ENABLERS</a:t>
            </a:r>
            <a:endParaRPr lang="en-US" sz="1400" dirty="0"/>
          </a:p>
        </p:txBody>
      </p:sp>
      <p:sp>
        <p:nvSpPr>
          <p:cNvPr id="12" name="Text 10"/>
          <p:cNvSpPr/>
          <p:nvPr/>
        </p:nvSpPr>
        <p:spPr>
          <a:xfrm>
            <a:off x="457200" y="1868686"/>
            <a:ext cx="1473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9B1C1C"/>
                </a:solidFill>
                <a:latin typeface="DM Sans" pitchFamily="34" charset="0"/>
                <a:ea typeface="DM Sans" pitchFamily="34" charset="-122"/>
                <a:cs typeface="DM Sans" pitchFamily="34" charset="-120"/>
              </a:rPr>
              <a:t>critical path</a:t>
            </a:r>
            <a:endParaRPr lang="en-US" sz="1200" dirty="0"/>
          </a:p>
        </p:txBody>
      </p:sp>
      <p:sp>
        <p:nvSpPr>
          <p:cNvPr id="13" name="Shape 11"/>
          <p:cNvSpPr/>
          <p:nvPr/>
        </p:nvSpPr>
        <p:spPr>
          <a:xfrm>
            <a:off x="1965325" y="1363861"/>
            <a:ext cx="9759950" cy="996950"/>
          </a:xfrm>
          <a:prstGeom prst="roundRect">
            <a:avLst>
              <a:gd name="adj" fmla="val 6688"/>
            </a:avLst>
          </a:prstGeom>
          <a:solidFill>
            <a:srgbClr val="FBE9E7"/>
          </a:solidFill>
          <a:ln w="19050">
            <a:solidFill>
              <a:srgbClr val="9B1C1C"/>
            </a:solidFill>
            <a:prstDash val="solid"/>
          </a:ln>
        </p:spPr>
      </p:sp>
      <p:sp>
        <p:nvSpPr>
          <p:cNvPr id="14" name="Text 12"/>
          <p:cNvSpPr/>
          <p:nvPr/>
        </p:nvSpPr>
        <p:spPr>
          <a:xfrm>
            <a:off x="2032000" y="1417836"/>
            <a:ext cx="3149600" cy="266700"/>
          </a:xfrm>
          <a:custGeom>
            <a:avLst/>
            <a:gdLst/>
            <a:ahLst/>
            <a:cxnLst/>
            <a:rect l="l" t="t" r="r" b="b"/>
            <a:pathLst>
              <a:path w="3149600" h="266700">
                <a:moveTo>
                  <a:pt x="50800" y="0"/>
                </a:moveTo>
                <a:lnTo>
                  <a:pt x="3098800" y="0"/>
                </a:lnTo>
                <a:arcTo hR="50800" wR="50800" stAng="16200000" swAng="5400000"/>
                <a:lnTo>
                  <a:pt x="3149600" y="215900"/>
                </a:lnTo>
                <a:arcTo hR="50800" wR="50800" stAng="0" swAng="5400000"/>
                <a:lnTo>
                  <a:pt x="50800" y="266700"/>
                </a:lnTo>
                <a:arcTo hR="50800" wR="50800" stAng="5400000" swAng="5400000"/>
                <a:lnTo>
                  <a:pt x="0" y="50800"/>
                </a:lnTo>
                <a:arcTo hR="50800" wR="50800" stAng="10800000" swAng="5400000"/>
                <a:close/>
              </a:path>
            </a:pathLst>
          </a:custGeom>
          <a:solidFill>
            <a:srgbClr val="00205B"/>
          </a:solidFill>
          <a:ln/>
        </p:spPr>
        <p:txBody>
          <a:bodyPr wrap="square" lIns="101600" tIns="0" rIns="13208" bIns="0" rtlCol="0" anchor="t">
            <a:normAutofit/>
          </a:bodyPr>
          <a:lstStyle/>
          <a:p>
            <a:pPr algn="l" indent="0" marL="0">
              <a:lnSpc>
                <a:spcPts val="2100"/>
              </a:lnSpc>
              <a:buNone/>
            </a:pPr>
            <a:r>
              <a:rPr lang="en-US" sz="1200" b="1" dirty="0">
                <a:solidFill>
                  <a:srgbClr val="FFFFFF"/>
                </a:solidFill>
                <a:latin typeface="DM Sans" pitchFamily="34" charset="0"/>
                <a:ea typeface="DM Sans" pitchFamily="34" charset="-122"/>
                <a:cs typeface="DM Sans" pitchFamily="34" charset="-120"/>
              </a:rPr>
              <a:t>Claude Code availability</a:t>
            </a:r>
            <a:endParaRPr lang="en-US" sz="1200" dirty="0"/>
          </a:p>
        </p:txBody>
      </p:sp>
      <p:sp>
        <p:nvSpPr>
          <p:cNvPr id="15" name="Text 13"/>
          <p:cNvSpPr/>
          <p:nvPr/>
        </p:nvSpPr>
        <p:spPr>
          <a:xfrm>
            <a:off x="2032000" y="1722636"/>
            <a:ext cx="3149600" cy="266700"/>
          </a:xfrm>
          <a:custGeom>
            <a:avLst/>
            <a:gdLst/>
            <a:ahLst/>
            <a:cxnLst/>
            <a:rect l="l" t="t" r="r" b="b"/>
            <a:pathLst>
              <a:path w="3149600" h="266700">
                <a:moveTo>
                  <a:pt x="50800" y="0"/>
                </a:moveTo>
                <a:lnTo>
                  <a:pt x="3098800" y="0"/>
                </a:lnTo>
                <a:arcTo hR="50800" wR="50800" stAng="16200000" swAng="5400000"/>
                <a:lnTo>
                  <a:pt x="3149600" y="215900"/>
                </a:lnTo>
                <a:arcTo hR="50800" wR="50800" stAng="0" swAng="5400000"/>
                <a:lnTo>
                  <a:pt x="50800" y="266700"/>
                </a:lnTo>
                <a:arcTo hR="50800" wR="50800" stAng="5400000" swAng="5400000"/>
                <a:lnTo>
                  <a:pt x="0" y="50800"/>
                </a:lnTo>
                <a:arcTo hR="50800" wR="50800" stAng="10800000" swAng="5400000"/>
                <a:close/>
              </a:path>
            </a:pathLst>
          </a:custGeom>
          <a:solidFill>
            <a:srgbClr val="00205B"/>
          </a:solidFill>
          <a:ln/>
        </p:spPr>
        <p:txBody>
          <a:bodyPr wrap="square" lIns="101600" tIns="0" rIns="13208" bIns="0" rtlCol="0" anchor="t">
            <a:normAutofit/>
          </a:bodyPr>
          <a:lstStyle/>
          <a:p>
            <a:pPr algn="l" indent="0" marL="0">
              <a:lnSpc>
                <a:spcPts val="2100"/>
              </a:lnSpc>
              <a:buNone/>
            </a:pPr>
            <a:r>
              <a:rPr lang="en-US" sz="1200" b="1" dirty="0">
                <a:solidFill>
                  <a:srgbClr val="FFFFFF"/>
                </a:solidFill>
                <a:latin typeface="DM Sans" pitchFamily="34" charset="0"/>
                <a:ea typeface="DM Sans" pitchFamily="34" charset="-122"/>
                <a:cs typeface="DM Sans" pitchFamily="34" charset="-120"/>
              </a:rPr>
              <a:t>Core API · AD Write Authority</a:t>
            </a:r>
            <a:endParaRPr lang="en-US" sz="1200" dirty="0"/>
          </a:p>
        </p:txBody>
      </p:sp>
      <p:sp>
        <p:nvSpPr>
          <p:cNvPr id="16" name="Text 14"/>
          <p:cNvSpPr/>
          <p:nvPr/>
        </p:nvSpPr>
        <p:spPr>
          <a:xfrm>
            <a:off x="2032000" y="2027436"/>
            <a:ext cx="3149600" cy="266700"/>
          </a:xfrm>
          <a:custGeom>
            <a:avLst/>
            <a:gdLst/>
            <a:ahLst/>
            <a:cxnLst/>
            <a:rect l="l" t="t" r="r" b="b"/>
            <a:pathLst>
              <a:path w="3149600" h="266700">
                <a:moveTo>
                  <a:pt x="50800" y="0"/>
                </a:moveTo>
                <a:lnTo>
                  <a:pt x="3098800" y="0"/>
                </a:lnTo>
                <a:arcTo hR="50800" wR="50800" stAng="16200000" swAng="5400000"/>
                <a:lnTo>
                  <a:pt x="3149600" y="215900"/>
                </a:lnTo>
                <a:arcTo hR="50800" wR="50800" stAng="0" swAng="5400000"/>
                <a:lnTo>
                  <a:pt x="50800" y="266700"/>
                </a:lnTo>
                <a:arcTo hR="50800" wR="50800" stAng="5400000" swAng="5400000"/>
                <a:lnTo>
                  <a:pt x="0" y="50800"/>
                </a:lnTo>
                <a:arcTo hR="50800" wR="50800" stAng="10800000" swAng="5400000"/>
                <a:close/>
              </a:path>
            </a:pathLst>
          </a:custGeom>
          <a:solidFill>
            <a:srgbClr val="00205B"/>
          </a:solidFill>
          <a:ln/>
        </p:spPr>
        <p:txBody>
          <a:bodyPr wrap="square" lIns="101600" tIns="0" rIns="13208" bIns="0" rtlCol="0" anchor="t">
            <a:normAutofit/>
          </a:bodyPr>
          <a:lstStyle/>
          <a:p>
            <a:pPr algn="l" indent="0" marL="0">
              <a:lnSpc>
                <a:spcPts val="2100"/>
              </a:lnSpc>
              <a:buNone/>
            </a:pPr>
            <a:r>
              <a:rPr lang="en-US" sz="1200" b="1" dirty="0">
                <a:solidFill>
                  <a:srgbClr val="FFFFFF"/>
                </a:solidFill>
                <a:latin typeface="DM Sans" pitchFamily="34" charset="0"/>
                <a:ea typeface="DM Sans" pitchFamily="34" charset="-122"/>
                <a:cs typeface="DM Sans" pitchFamily="34" charset="-120"/>
              </a:rPr>
              <a:t>AD → DB Data Sync</a:t>
            </a:r>
            <a:endParaRPr lang="en-US" sz="1200" dirty="0"/>
          </a:p>
        </p:txBody>
      </p:sp>
      <p:sp>
        <p:nvSpPr>
          <p:cNvPr id="17" name="Text 15"/>
          <p:cNvSpPr/>
          <p:nvPr/>
        </p:nvSpPr>
        <p:spPr>
          <a:xfrm>
            <a:off x="5384800" y="1430536"/>
            <a:ext cx="640969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B1C1C"/>
                </a:solidFill>
                <a:latin typeface="DM Sans" pitchFamily="34" charset="0"/>
                <a:ea typeface="DM Sans" pitchFamily="34" charset="-122"/>
                <a:cs typeface="DM Sans" pitchFamily="34" charset="-120"/>
              </a:rPr>
              <a:t>Prerequisite block: all three in production by Dec 2026. No module canary starts until they clear.</a:t>
            </a:r>
            <a:endParaRPr lang="en-US" sz="1400" dirty="0"/>
          </a:p>
        </p:txBody>
      </p:sp>
      <p:sp>
        <p:nvSpPr>
          <p:cNvPr id="18" name="Text 16"/>
          <p:cNvSpPr/>
          <p:nvPr/>
        </p:nvSpPr>
        <p:spPr>
          <a:xfrm>
            <a:off x="5384800" y="1963936"/>
            <a:ext cx="640969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558"/>
                </a:solidFill>
                <a:latin typeface="DM Sans" pitchFamily="34" charset="0"/>
                <a:ea typeface="DM Sans" pitchFamily="34" charset="-122"/>
                <a:cs typeface="DM Sans" pitchFamily="34" charset="-120"/>
              </a:rPr>
              <a:t>Beta and Go-Live depend on Claude Code availability to deliver Core API and Data Sync on time.</a:t>
            </a:r>
            <a:endParaRPr lang="en-US" sz="1200" dirty="0"/>
          </a:p>
        </p:txBody>
      </p:sp>
      <p:sp>
        <p:nvSpPr>
          <p:cNvPr id="19" name="Text 17"/>
          <p:cNvSpPr/>
          <p:nvPr/>
        </p:nvSpPr>
        <p:spPr>
          <a:xfrm>
            <a:off x="457200" y="2590006"/>
            <a:ext cx="1473200" cy="220960"/>
          </a:xfrm>
          <a:prstGeom prst="rect">
            <a:avLst/>
          </a:prstGeom>
          <a:noFill/>
          <a:ln/>
        </p:spPr>
        <p:txBody>
          <a:bodyPr wrap="square" lIns="0" tIns="0" rIns="0" bIns="0" rtlCol="0" anchor="t">
            <a:normAutofit/>
          </a:bodyPr>
          <a:lstStyle/>
          <a:p>
            <a:pPr algn="l" indent="0" marL="0">
              <a:lnSpc>
                <a:spcPts val="1540"/>
              </a:lnSpc>
              <a:buNone/>
            </a:pPr>
            <a:r>
              <a:rPr lang="en-US" sz="1400" b="1" dirty="0">
                <a:solidFill>
                  <a:srgbClr val="00205B"/>
                </a:solidFill>
                <a:latin typeface="DM Sans" pitchFamily="34" charset="0"/>
                <a:ea typeface="DM Sans" pitchFamily="34" charset="-122"/>
                <a:cs typeface="DM Sans" pitchFamily="34" charset="-120"/>
              </a:rPr>
              <a:t>GATES</a:t>
            </a:r>
            <a:endParaRPr lang="en-US" sz="1400" dirty="0"/>
          </a:p>
        </p:txBody>
      </p:sp>
      <p:sp>
        <p:nvSpPr>
          <p:cNvPr id="20" name="Shape 18"/>
          <p:cNvSpPr/>
          <p:nvPr/>
        </p:nvSpPr>
        <p:spPr>
          <a:xfrm>
            <a:off x="1955800" y="2446536"/>
            <a:ext cx="9779000" cy="482600"/>
          </a:xfrm>
          <a:prstGeom prst="roundRect">
            <a:avLst>
              <a:gd name="adj" fmla="val 15789"/>
            </a:avLst>
          </a:prstGeom>
          <a:solidFill>
            <a:srgbClr val="E4E9F3"/>
          </a:solidFill>
          <a:ln/>
        </p:spPr>
      </p:sp>
      <p:sp>
        <p:nvSpPr>
          <p:cNvPr id="21" name="Text 19"/>
          <p:cNvSpPr/>
          <p:nvPr/>
        </p:nvSpPr>
        <p:spPr>
          <a:xfrm>
            <a:off x="2032000" y="2535436"/>
            <a:ext cx="4699000" cy="304800"/>
          </a:xfrm>
          <a:custGeom>
            <a:avLst/>
            <a:gdLst/>
            <a:ahLst/>
            <a:cxnLst/>
            <a:rect l="l" t="t" r="r" b="b"/>
            <a:pathLst>
              <a:path w="4699000" h="304800">
                <a:moveTo>
                  <a:pt x="50800" y="0"/>
                </a:moveTo>
                <a:lnTo>
                  <a:pt x="4648200" y="0"/>
                </a:lnTo>
                <a:arcTo hR="50800" wR="50800" stAng="16200000" swAng="5400000"/>
                <a:lnTo>
                  <a:pt x="4699000" y="254000"/>
                </a:lnTo>
                <a:arcTo hR="50800" wR="50800" stAng="0" swAng="5400000"/>
                <a:lnTo>
                  <a:pt x="50800" y="304800"/>
                </a:lnTo>
                <a:arcTo hR="50800" wR="50800" stAng="5400000" swAng="5400000"/>
                <a:lnTo>
                  <a:pt x="0" y="50800"/>
                </a:lnTo>
                <a:arcTo hR="50800" wR="50800" stAng="10800000" swAng="5400000"/>
                <a:close/>
              </a:path>
            </a:pathLst>
          </a:custGeom>
          <a:solidFill>
            <a:srgbClr val="C2410C"/>
          </a:solidFill>
          <a:ln/>
        </p:spPr>
        <p:txBody>
          <a:bodyPr wrap="square" lIns="101600" tIns="0" rIns="0" bIns="0" rtlCol="0" anchor="t">
            <a:normAutofit/>
          </a:bodyPr>
          <a:lstStyle/>
          <a:p>
            <a:pPr algn="l" indent="0" marL="0">
              <a:lnSpc>
                <a:spcPts val="2400"/>
              </a:lnSpc>
              <a:buNone/>
            </a:pPr>
            <a:r>
              <a:rPr lang="en-US" sz="1200" b="1" dirty="0">
                <a:solidFill>
                  <a:srgbClr val="FFFFFF"/>
                </a:solidFill>
                <a:latin typeface="DM Sans" pitchFamily="34" charset="0"/>
                <a:ea typeface="DM Sans" pitchFamily="34" charset="-122"/>
                <a:cs typeface="DM Sans" pitchFamily="34" charset="-120"/>
              </a:rPr>
              <a:t>DST · Digital Security Review (single approval)</a:t>
            </a:r>
            <a:endParaRPr lang="en-US" sz="1200" dirty="0"/>
          </a:p>
        </p:txBody>
      </p:sp>
      <p:sp>
        <p:nvSpPr>
          <p:cNvPr id="22" name="Text 20"/>
          <p:cNvSpPr/>
          <p:nvPr/>
        </p:nvSpPr>
        <p:spPr>
          <a:xfrm>
            <a:off x="6908800" y="2497336"/>
            <a:ext cx="48399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0205B"/>
                </a:solidFill>
                <a:latin typeface="DM Sans" pitchFamily="34" charset="0"/>
                <a:ea typeface="DM Sans" pitchFamily="34" charset="-122"/>
                <a:cs typeface="DM Sans" pitchFamily="34" charset="-120"/>
              </a:rPr>
              <a:t>Per-module quality gate: clean time window plus manual sign-off before each ramp step</a:t>
            </a:r>
            <a:endParaRPr lang="en-US" sz="1200" dirty="0"/>
          </a:p>
        </p:txBody>
      </p:sp>
      <p:sp>
        <p:nvSpPr>
          <p:cNvPr id="23" name="Text 21"/>
          <p:cNvSpPr/>
          <p:nvPr/>
        </p:nvSpPr>
        <p:spPr>
          <a:xfrm>
            <a:off x="457200" y="3079651"/>
            <a:ext cx="14732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Password Reset</a:t>
            </a:r>
            <a:endParaRPr lang="en-US" sz="1300" dirty="0"/>
          </a:p>
        </p:txBody>
      </p:sp>
      <p:sp>
        <p:nvSpPr>
          <p:cNvPr id="24" name="Shape 22"/>
          <p:cNvSpPr/>
          <p:nvPr/>
        </p:nvSpPr>
        <p:spPr>
          <a:xfrm>
            <a:off x="1955800" y="3005336"/>
            <a:ext cx="9779000" cy="330200"/>
          </a:xfrm>
          <a:prstGeom prst="roundRect">
            <a:avLst>
              <a:gd name="adj" fmla="val 15385"/>
            </a:avLst>
          </a:prstGeom>
          <a:solidFill>
            <a:srgbClr val="FFFFFF"/>
          </a:solidFill>
          <a:ln/>
        </p:spPr>
      </p:sp>
      <p:sp>
        <p:nvSpPr>
          <p:cNvPr id="25" name="Shape 23"/>
          <p:cNvSpPr/>
          <p:nvPr/>
        </p:nvSpPr>
        <p:spPr>
          <a:xfrm>
            <a:off x="1962150" y="3005336"/>
            <a:ext cx="0" cy="330200"/>
          </a:xfrm>
          <a:prstGeom prst="line">
            <a:avLst/>
          </a:prstGeom>
          <a:noFill/>
          <a:ln w="12700">
            <a:solidFill>
              <a:srgbClr val="D5DAE3"/>
            </a:solidFill>
            <a:prstDash val="solid"/>
          </a:ln>
        </p:spPr>
      </p:sp>
      <p:sp>
        <p:nvSpPr>
          <p:cNvPr id="26" name="Shape 24"/>
          <p:cNvSpPr/>
          <p:nvPr/>
        </p:nvSpPr>
        <p:spPr>
          <a:xfrm>
            <a:off x="3581400" y="3005336"/>
            <a:ext cx="0" cy="330200"/>
          </a:xfrm>
          <a:prstGeom prst="line">
            <a:avLst/>
          </a:prstGeom>
          <a:noFill/>
          <a:ln w="12700">
            <a:solidFill>
              <a:srgbClr val="D5DAE3"/>
            </a:solidFill>
            <a:prstDash val="solid"/>
          </a:ln>
        </p:spPr>
      </p:sp>
      <p:sp>
        <p:nvSpPr>
          <p:cNvPr id="27" name="Shape 25"/>
          <p:cNvSpPr/>
          <p:nvPr/>
        </p:nvSpPr>
        <p:spPr>
          <a:xfrm>
            <a:off x="5200650" y="3005336"/>
            <a:ext cx="0" cy="330200"/>
          </a:xfrm>
          <a:prstGeom prst="line">
            <a:avLst/>
          </a:prstGeom>
          <a:noFill/>
          <a:ln w="12700">
            <a:solidFill>
              <a:srgbClr val="D5DAE3"/>
            </a:solidFill>
            <a:prstDash val="solid"/>
          </a:ln>
        </p:spPr>
      </p:sp>
      <p:sp>
        <p:nvSpPr>
          <p:cNvPr id="28" name="Shape 26"/>
          <p:cNvSpPr/>
          <p:nvPr/>
        </p:nvSpPr>
        <p:spPr>
          <a:xfrm>
            <a:off x="6819900" y="3005336"/>
            <a:ext cx="0" cy="330200"/>
          </a:xfrm>
          <a:prstGeom prst="line">
            <a:avLst/>
          </a:prstGeom>
          <a:noFill/>
          <a:ln w="12700">
            <a:solidFill>
              <a:srgbClr val="D5DAE3"/>
            </a:solidFill>
            <a:prstDash val="solid"/>
          </a:ln>
        </p:spPr>
      </p:sp>
      <p:sp>
        <p:nvSpPr>
          <p:cNvPr id="29" name="Shape 27"/>
          <p:cNvSpPr/>
          <p:nvPr/>
        </p:nvSpPr>
        <p:spPr>
          <a:xfrm>
            <a:off x="1955800" y="3005336"/>
            <a:ext cx="4921250" cy="330200"/>
          </a:xfrm>
          <a:prstGeom prst="roundRect">
            <a:avLst>
              <a:gd name="adj" fmla="val 15385"/>
            </a:avLst>
          </a:prstGeom>
          <a:gradFill rotWithShape="1">
            <a:gsLst>
              <a:gs pos="0">
                <a:srgbClr val="F3E1DE"/>
              </a:gs>
              <a:gs pos="50000">
                <a:srgbClr val="F3E1DE"/>
              </a:gs>
              <a:gs pos="50000">
                <a:srgbClr val="FFFFFF"/>
              </a:gs>
              <a:gs pos="100000">
                <a:srgbClr val="FFFFFF"/>
              </a:gs>
            </a:gsLst>
            <a:lin ang="2700000" scaled="0"/>
          </a:gradFill>
          <a:ln/>
        </p:spPr>
      </p:sp>
      <p:sp>
        <p:nvSpPr>
          <p:cNvPr id="30" name="Text 28"/>
          <p:cNvSpPr/>
          <p:nvPr/>
        </p:nvSpPr>
        <p:spPr>
          <a:xfrm>
            <a:off x="6877050" y="3056136"/>
            <a:ext cx="825500" cy="228600"/>
          </a:xfrm>
          <a:custGeom>
            <a:avLst/>
            <a:gdLst/>
            <a:ahLst/>
            <a:cxnLst/>
            <a:rect l="l" t="t" r="r" b="b"/>
            <a:pathLst>
              <a:path w="825500" h="228600">
                <a:moveTo>
                  <a:pt x="38100" y="0"/>
                </a:moveTo>
                <a:lnTo>
                  <a:pt x="787400" y="0"/>
                </a:lnTo>
                <a:arcTo hR="38100" wR="38100" stAng="16200000" swAng="5400000"/>
                <a:lnTo>
                  <a:pt x="825500" y="190500"/>
                </a:lnTo>
                <a:arcTo hR="38100" wR="38100" stAng="0" swAng="5400000"/>
                <a:lnTo>
                  <a:pt x="38100" y="228600"/>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Beta</a:t>
            </a:r>
            <a:endParaRPr lang="en-US" sz="1200" dirty="0"/>
          </a:p>
        </p:txBody>
      </p:sp>
      <p:sp>
        <p:nvSpPr>
          <p:cNvPr id="31" name="Text 29"/>
          <p:cNvSpPr/>
          <p:nvPr/>
        </p:nvSpPr>
        <p:spPr>
          <a:xfrm>
            <a:off x="7702550" y="3056136"/>
            <a:ext cx="1555750" cy="228600"/>
          </a:xfrm>
          <a:custGeom>
            <a:avLst/>
            <a:gdLst/>
            <a:ahLst/>
            <a:cxnLst/>
            <a:rect l="l" t="t" r="r" b="b"/>
            <a:pathLst>
              <a:path w="1555750" h="228600">
                <a:moveTo>
                  <a:pt x="38100" y="0"/>
                </a:moveTo>
                <a:lnTo>
                  <a:pt x="1517650" y="0"/>
                </a:lnTo>
                <a:arcTo hR="38100" wR="38100" stAng="16200000" swAng="5400000"/>
                <a:lnTo>
                  <a:pt x="1555750" y="190500"/>
                </a:lnTo>
                <a:arcTo hR="38100" wR="38100" stAng="0" swAng="5400000"/>
                <a:lnTo>
                  <a:pt x="38100" y="228600"/>
                </a:lnTo>
                <a:arcTo hR="38100" wR="38100" stAng="5400000" swAng="5400000"/>
                <a:lnTo>
                  <a:pt x="0" y="38100"/>
                </a:lnTo>
                <a:arcTo hR="38100" wR="38100" stAng="10800000" swAng="5400000"/>
                <a:close/>
              </a:path>
            </a:pathLst>
          </a:custGeom>
          <a:solidFill>
            <a:srgbClr val="00205B"/>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Ramp → Live</a:t>
            </a:r>
            <a:endParaRPr lang="en-US" sz="1200" dirty="0"/>
          </a:p>
        </p:txBody>
      </p:sp>
      <p:sp>
        <p:nvSpPr>
          <p:cNvPr id="32" name="Text 30"/>
          <p:cNvSpPr/>
          <p:nvPr/>
        </p:nvSpPr>
        <p:spPr>
          <a:xfrm>
            <a:off x="457200" y="3447951"/>
            <a:ext cx="14732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Solution</a:t>
            </a:r>
            <a:endParaRPr lang="en-US" sz="1300" dirty="0"/>
          </a:p>
        </p:txBody>
      </p:sp>
      <p:sp>
        <p:nvSpPr>
          <p:cNvPr id="33" name="Shape 31"/>
          <p:cNvSpPr/>
          <p:nvPr/>
        </p:nvSpPr>
        <p:spPr>
          <a:xfrm>
            <a:off x="1955800" y="3373636"/>
            <a:ext cx="9779000" cy="330200"/>
          </a:xfrm>
          <a:prstGeom prst="roundRect">
            <a:avLst>
              <a:gd name="adj" fmla="val 15385"/>
            </a:avLst>
          </a:prstGeom>
          <a:solidFill>
            <a:srgbClr val="FFFFFF"/>
          </a:solidFill>
          <a:ln/>
        </p:spPr>
      </p:sp>
      <p:sp>
        <p:nvSpPr>
          <p:cNvPr id="34" name="Shape 32"/>
          <p:cNvSpPr/>
          <p:nvPr/>
        </p:nvSpPr>
        <p:spPr>
          <a:xfrm>
            <a:off x="1962150" y="3373636"/>
            <a:ext cx="0" cy="330200"/>
          </a:xfrm>
          <a:prstGeom prst="line">
            <a:avLst/>
          </a:prstGeom>
          <a:noFill/>
          <a:ln w="12700">
            <a:solidFill>
              <a:srgbClr val="D5DAE3"/>
            </a:solidFill>
            <a:prstDash val="solid"/>
          </a:ln>
        </p:spPr>
      </p:sp>
      <p:sp>
        <p:nvSpPr>
          <p:cNvPr id="35" name="Shape 33"/>
          <p:cNvSpPr/>
          <p:nvPr/>
        </p:nvSpPr>
        <p:spPr>
          <a:xfrm>
            <a:off x="3581400" y="3373636"/>
            <a:ext cx="0" cy="330200"/>
          </a:xfrm>
          <a:prstGeom prst="line">
            <a:avLst/>
          </a:prstGeom>
          <a:noFill/>
          <a:ln w="12700">
            <a:solidFill>
              <a:srgbClr val="D5DAE3"/>
            </a:solidFill>
            <a:prstDash val="solid"/>
          </a:ln>
        </p:spPr>
      </p:sp>
      <p:sp>
        <p:nvSpPr>
          <p:cNvPr id="36" name="Shape 34"/>
          <p:cNvSpPr/>
          <p:nvPr/>
        </p:nvSpPr>
        <p:spPr>
          <a:xfrm>
            <a:off x="5200650" y="3373636"/>
            <a:ext cx="0" cy="330200"/>
          </a:xfrm>
          <a:prstGeom prst="line">
            <a:avLst/>
          </a:prstGeom>
          <a:noFill/>
          <a:ln w="12700">
            <a:solidFill>
              <a:srgbClr val="D5DAE3"/>
            </a:solidFill>
            <a:prstDash val="solid"/>
          </a:ln>
        </p:spPr>
      </p:sp>
      <p:sp>
        <p:nvSpPr>
          <p:cNvPr id="37" name="Shape 35"/>
          <p:cNvSpPr/>
          <p:nvPr/>
        </p:nvSpPr>
        <p:spPr>
          <a:xfrm>
            <a:off x="6819900" y="3373636"/>
            <a:ext cx="0" cy="330200"/>
          </a:xfrm>
          <a:prstGeom prst="line">
            <a:avLst/>
          </a:prstGeom>
          <a:noFill/>
          <a:ln w="12700">
            <a:solidFill>
              <a:srgbClr val="D5DAE3"/>
            </a:solidFill>
            <a:prstDash val="solid"/>
          </a:ln>
        </p:spPr>
      </p:sp>
      <p:sp>
        <p:nvSpPr>
          <p:cNvPr id="38" name="Shape 36"/>
          <p:cNvSpPr/>
          <p:nvPr/>
        </p:nvSpPr>
        <p:spPr>
          <a:xfrm>
            <a:off x="1955800" y="3373636"/>
            <a:ext cx="4921250" cy="330200"/>
          </a:xfrm>
          <a:prstGeom prst="roundRect">
            <a:avLst>
              <a:gd name="adj" fmla="val 15385"/>
            </a:avLst>
          </a:prstGeom>
          <a:gradFill rotWithShape="1">
            <a:gsLst>
              <a:gs pos="0">
                <a:srgbClr val="F3E1DE"/>
              </a:gs>
              <a:gs pos="50000">
                <a:srgbClr val="F3E1DE"/>
              </a:gs>
              <a:gs pos="50000">
                <a:srgbClr val="FFFFFF"/>
              </a:gs>
              <a:gs pos="100000">
                <a:srgbClr val="FFFFFF"/>
              </a:gs>
            </a:gsLst>
            <a:lin ang="2700000" scaled="0"/>
          </a:gradFill>
          <a:ln/>
        </p:spPr>
      </p:sp>
      <p:sp>
        <p:nvSpPr>
          <p:cNvPr id="39" name="Text 37"/>
          <p:cNvSpPr/>
          <p:nvPr/>
        </p:nvSpPr>
        <p:spPr>
          <a:xfrm>
            <a:off x="7289800" y="3424436"/>
            <a:ext cx="825500" cy="228600"/>
          </a:xfrm>
          <a:custGeom>
            <a:avLst/>
            <a:gdLst/>
            <a:ahLst/>
            <a:cxnLst/>
            <a:rect l="l" t="t" r="r" b="b"/>
            <a:pathLst>
              <a:path w="825500" h="228600">
                <a:moveTo>
                  <a:pt x="38100" y="0"/>
                </a:moveTo>
                <a:lnTo>
                  <a:pt x="787400" y="0"/>
                </a:lnTo>
                <a:arcTo hR="38100" wR="38100" stAng="16200000" swAng="5400000"/>
                <a:lnTo>
                  <a:pt x="825500" y="190500"/>
                </a:lnTo>
                <a:arcTo hR="38100" wR="38100" stAng="0" swAng="5400000"/>
                <a:lnTo>
                  <a:pt x="38100" y="228600"/>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Beta</a:t>
            </a:r>
            <a:endParaRPr lang="en-US" sz="1200" dirty="0"/>
          </a:p>
        </p:txBody>
      </p:sp>
      <p:sp>
        <p:nvSpPr>
          <p:cNvPr id="40" name="Text 38"/>
          <p:cNvSpPr/>
          <p:nvPr/>
        </p:nvSpPr>
        <p:spPr>
          <a:xfrm>
            <a:off x="8115300" y="3424436"/>
            <a:ext cx="1524000" cy="228600"/>
          </a:xfrm>
          <a:custGeom>
            <a:avLst/>
            <a:gdLst/>
            <a:ahLst/>
            <a:cxnLst/>
            <a:rect l="l" t="t" r="r" b="b"/>
            <a:pathLst>
              <a:path w="1524000" h="228600">
                <a:moveTo>
                  <a:pt x="38100" y="0"/>
                </a:moveTo>
                <a:lnTo>
                  <a:pt x="1485900" y="0"/>
                </a:lnTo>
                <a:arcTo hR="38100" wR="38100" stAng="16200000" swAng="5400000"/>
                <a:lnTo>
                  <a:pt x="1524000" y="190500"/>
                </a:lnTo>
                <a:arcTo hR="38100" wR="38100" stAng="0" swAng="5400000"/>
                <a:lnTo>
                  <a:pt x="38100" y="228600"/>
                </a:lnTo>
                <a:arcTo hR="38100" wR="38100" stAng="5400000" swAng="5400000"/>
                <a:lnTo>
                  <a:pt x="0" y="38100"/>
                </a:lnTo>
                <a:arcTo hR="38100" wR="38100" stAng="10800000" swAng="5400000"/>
                <a:close/>
              </a:path>
            </a:pathLst>
          </a:custGeom>
          <a:solidFill>
            <a:srgbClr val="00205B"/>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Ramp → Live</a:t>
            </a:r>
            <a:endParaRPr lang="en-US" sz="1200" dirty="0"/>
          </a:p>
        </p:txBody>
      </p:sp>
      <p:sp>
        <p:nvSpPr>
          <p:cNvPr id="41" name="Text 39"/>
          <p:cNvSpPr/>
          <p:nvPr/>
        </p:nvSpPr>
        <p:spPr>
          <a:xfrm>
            <a:off x="457200" y="3816251"/>
            <a:ext cx="14732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Groups</a:t>
            </a:r>
            <a:endParaRPr lang="en-US" sz="1300" dirty="0"/>
          </a:p>
        </p:txBody>
      </p:sp>
      <p:sp>
        <p:nvSpPr>
          <p:cNvPr id="42" name="Shape 40"/>
          <p:cNvSpPr/>
          <p:nvPr/>
        </p:nvSpPr>
        <p:spPr>
          <a:xfrm>
            <a:off x="1955800" y="3741936"/>
            <a:ext cx="9779000" cy="330200"/>
          </a:xfrm>
          <a:prstGeom prst="roundRect">
            <a:avLst>
              <a:gd name="adj" fmla="val 15385"/>
            </a:avLst>
          </a:prstGeom>
          <a:solidFill>
            <a:srgbClr val="FFFFFF"/>
          </a:solidFill>
          <a:ln/>
        </p:spPr>
      </p:sp>
      <p:sp>
        <p:nvSpPr>
          <p:cNvPr id="43" name="Shape 41"/>
          <p:cNvSpPr/>
          <p:nvPr/>
        </p:nvSpPr>
        <p:spPr>
          <a:xfrm>
            <a:off x="1962150" y="3741936"/>
            <a:ext cx="0" cy="330200"/>
          </a:xfrm>
          <a:prstGeom prst="line">
            <a:avLst/>
          </a:prstGeom>
          <a:noFill/>
          <a:ln w="12700">
            <a:solidFill>
              <a:srgbClr val="D5DAE3"/>
            </a:solidFill>
            <a:prstDash val="solid"/>
          </a:ln>
        </p:spPr>
      </p:sp>
      <p:sp>
        <p:nvSpPr>
          <p:cNvPr id="44" name="Shape 42"/>
          <p:cNvSpPr/>
          <p:nvPr/>
        </p:nvSpPr>
        <p:spPr>
          <a:xfrm>
            <a:off x="3581400" y="3741936"/>
            <a:ext cx="0" cy="330200"/>
          </a:xfrm>
          <a:prstGeom prst="line">
            <a:avLst/>
          </a:prstGeom>
          <a:noFill/>
          <a:ln w="12700">
            <a:solidFill>
              <a:srgbClr val="D5DAE3"/>
            </a:solidFill>
            <a:prstDash val="solid"/>
          </a:ln>
        </p:spPr>
      </p:sp>
      <p:sp>
        <p:nvSpPr>
          <p:cNvPr id="45" name="Shape 43"/>
          <p:cNvSpPr/>
          <p:nvPr/>
        </p:nvSpPr>
        <p:spPr>
          <a:xfrm>
            <a:off x="5200650" y="3741936"/>
            <a:ext cx="0" cy="330200"/>
          </a:xfrm>
          <a:prstGeom prst="line">
            <a:avLst/>
          </a:prstGeom>
          <a:noFill/>
          <a:ln w="12700">
            <a:solidFill>
              <a:srgbClr val="D5DAE3"/>
            </a:solidFill>
            <a:prstDash val="solid"/>
          </a:ln>
        </p:spPr>
      </p:sp>
      <p:sp>
        <p:nvSpPr>
          <p:cNvPr id="46" name="Shape 44"/>
          <p:cNvSpPr/>
          <p:nvPr/>
        </p:nvSpPr>
        <p:spPr>
          <a:xfrm>
            <a:off x="6819900" y="3741936"/>
            <a:ext cx="0" cy="330200"/>
          </a:xfrm>
          <a:prstGeom prst="line">
            <a:avLst/>
          </a:prstGeom>
          <a:noFill/>
          <a:ln w="12700">
            <a:solidFill>
              <a:srgbClr val="D5DAE3"/>
            </a:solidFill>
            <a:prstDash val="solid"/>
          </a:ln>
        </p:spPr>
      </p:sp>
      <p:sp>
        <p:nvSpPr>
          <p:cNvPr id="47" name="Shape 45"/>
          <p:cNvSpPr/>
          <p:nvPr/>
        </p:nvSpPr>
        <p:spPr>
          <a:xfrm>
            <a:off x="1955800" y="3741936"/>
            <a:ext cx="4921250" cy="330200"/>
          </a:xfrm>
          <a:prstGeom prst="roundRect">
            <a:avLst>
              <a:gd name="adj" fmla="val 15385"/>
            </a:avLst>
          </a:prstGeom>
          <a:gradFill rotWithShape="1">
            <a:gsLst>
              <a:gs pos="0">
                <a:srgbClr val="F3E1DE"/>
              </a:gs>
              <a:gs pos="50000">
                <a:srgbClr val="F3E1DE"/>
              </a:gs>
              <a:gs pos="50000">
                <a:srgbClr val="FFFFFF"/>
              </a:gs>
              <a:gs pos="100000">
                <a:srgbClr val="FFFFFF"/>
              </a:gs>
            </a:gsLst>
            <a:lin ang="2700000" scaled="0"/>
          </a:gradFill>
          <a:ln/>
        </p:spPr>
      </p:sp>
      <p:sp>
        <p:nvSpPr>
          <p:cNvPr id="48" name="Text 46"/>
          <p:cNvSpPr/>
          <p:nvPr/>
        </p:nvSpPr>
        <p:spPr>
          <a:xfrm>
            <a:off x="2108200" y="3792736"/>
            <a:ext cx="3302000" cy="228600"/>
          </a:xfrm>
          <a:custGeom>
            <a:avLst/>
            <a:gdLst/>
            <a:ahLst/>
            <a:cxnLst/>
            <a:rect l="l" t="t" r="r" b="b"/>
            <a:pathLst>
              <a:path w="3302000" h="228600">
                <a:moveTo>
                  <a:pt x="38100" y="0"/>
                </a:moveTo>
                <a:lnTo>
                  <a:pt x="3263900" y="0"/>
                </a:lnTo>
                <a:arcTo hR="38100" wR="38100" stAng="16200000" swAng="5400000"/>
                <a:lnTo>
                  <a:pt x="3302000" y="190500"/>
                </a:lnTo>
                <a:arcTo hR="38100" wR="38100" stAng="0" swAng="5400000"/>
                <a:lnTo>
                  <a:pt x="38100" y="228600"/>
                </a:lnTo>
                <a:arcTo hR="38100" wR="38100" stAng="5400000" swAng="5400000"/>
                <a:lnTo>
                  <a:pt x="0" y="38100"/>
                </a:lnTo>
                <a:arcTo hR="38100" wR="38100" stAng="10800000" swAng="5400000"/>
                <a:close/>
              </a:path>
            </a:pathLst>
          </a:custGeom>
          <a:solidFill>
            <a:srgbClr val="F6F4EF"/>
          </a:solidFill>
          <a:ln/>
        </p:spPr>
        <p:txBody>
          <a:bodyPr wrap="square" lIns="76200" tIns="0" rIns="0" bIns="0" rtlCol="0" anchor="t">
            <a:normAutofit/>
          </a:bodyPr>
          <a:lstStyle/>
          <a:p>
            <a:pPr algn="l" indent="0" marL="0">
              <a:lnSpc>
                <a:spcPts val="1800"/>
              </a:lnSpc>
              <a:buNone/>
            </a:pPr>
            <a:r>
              <a:rPr lang="en-US" sz="1200" b="1" dirty="0">
                <a:solidFill>
                  <a:srgbClr val="9B1C1C"/>
                </a:solidFill>
                <a:latin typeface="DM Sans" pitchFamily="34" charset="0"/>
                <a:ea typeface="DM Sans" pitchFamily="34" charset="-122"/>
                <a:cs typeface="DM Sans" pitchFamily="34" charset="-120"/>
              </a:rPr>
              <a:t>Blocked until enablers and DST clear</a:t>
            </a:r>
            <a:endParaRPr lang="en-US" sz="1200" dirty="0"/>
          </a:p>
        </p:txBody>
      </p:sp>
      <p:sp>
        <p:nvSpPr>
          <p:cNvPr id="49" name="Text 47"/>
          <p:cNvSpPr/>
          <p:nvPr/>
        </p:nvSpPr>
        <p:spPr>
          <a:xfrm>
            <a:off x="7670800" y="3792736"/>
            <a:ext cx="825500" cy="228600"/>
          </a:xfrm>
          <a:custGeom>
            <a:avLst/>
            <a:gdLst/>
            <a:ahLst/>
            <a:cxnLst/>
            <a:rect l="l" t="t" r="r" b="b"/>
            <a:pathLst>
              <a:path w="825500" h="228600">
                <a:moveTo>
                  <a:pt x="38100" y="0"/>
                </a:moveTo>
                <a:lnTo>
                  <a:pt x="787400" y="0"/>
                </a:lnTo>
                <a:arcTo hR="38100" wR="38100" stAng="16200000" swAng="5400000"/>
                <a:lnTo>
                  <a:pt x="825500" y="190500"/>
                </a:lnTo>
                <a:arcTo hR="38100" wR="38100" stAng="0" swAng="5400000"/>
                <a:lnTo>
                  <a:pt x="38100" y="228600"/>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Beta</a:t>
            </a:r>
            <a:endParaRPr lang="en-US" sz="1200" dirty="0"/>
          </a:p>
        </p:txBody>
      </p:sp>
      <p:sp>
        <p:nvSpPr>
          <p:cNvPr id="50" name="Text 48"/>
          <p:cNvSpPr/>
          <p:nvPr/>
        </p:nvSpPr>
        <p:spPr>
          <a:xfrm>
            <a:off x="8496300" y="3792736"/>
            <a:ext cx="1333500" cy="228600"/>
          </a:xfrm>
          <a:custGeom>
            <a:avLst/>
            <a:gdLst/>
            <a:ahLst/>
            <a:cxnLst/>
            <a:rect l="l" t="t" r="r" b="b"/>
            <a:pathLst>
              <a:path w="1333500" h="228600">
                <a:moveTo>
                  <a:pt x="38100" y="0"/>
                </a:moveTo>
                <a:lnTo>
                  <a:pt x="1295400" y="0"/>
                </a:lnTo>
                <a:arcTo hR="38100" wR="38100" stAng="16200000" swAng="5400000"/>
                <a:lnTo>
                  <a:pt x="1333500" y="190500"/>
                </a:lnTo>
                <a:arcTo hR="38100" wR="38100" stAng="0" swAng="5400000"/>
                <a:lnTo>
                  <a:pt x="38100" y="228600"/>
                </a:lnTo>
                <a:arcTo hR="38100" wR="38100" stAng="5400000" swAng="5400000"/>
                <a:lnTo>
                  <a:pt x="0" y="38100"/>
                </a:lnTo>
                <a:arcTo hR="38100" wR="38100" stAng="10800000" swAng="5400000"/>
                <a:close/>
              </a:path>
            </a:pathLst>
          </a:custGeom>
          <a:solidFill>
            <a:srgbClr val="00205B"/>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Ramp → Live</a:t>
            </a:r>
            <a:endParaRPr lang="en-US" sz="1200" dirty="0"/>
          </a:p>
        </p:txBody>
      </p:sp>
      <p:sp>
        <p:nvSpPr>
          <p:cNvPr id="51" name="Text 49"/>
          <p:cNvSpPr/>
          <p:nvPr/>
        </p:nvSpPr>
        <p:spPr>
          <a:xfrm>
            <a:off x="457200" y="4184551"/>
            <a:ext cx="14732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Accounts</a:t>
            </a:r>
            <a:endParaRPr lang="en-US" sz="1300" dirty="0"/>
          </a:p>
        </p:txBody>
      </p:sp>
      <p:sp>
        <p:nvSpPr>
          <p:cNvPr id="52" name="Shape 50"/>
          <p:cNvSpPr/>
          <p:nvPr/>
        </p:nvSpPr>
        <p:spPr>
          <a:xfrm>
            <a:off x="1955800" y="4110236"/>
            <a:ext cx="9779000" cy="330200"/>
          </a:xfrm>
          <a:prstGeom prst="roundRect">
            <a:avLst>
              <a:gd name="adj" fmla="val 15385"/>
            </a:avLst>
          </a:prstGeom>
          <a:solidFill>
            <a:srgbClr val="FFFFFF"/>
          </a:solidFill>
          <a:ln/>
        </p:spPr>
      </p:sp>
      <p:sp>
        <p:nvSpPr>
          <p:cNvPr id="53" name="Shape 51"/>
          <p:cNvSpPr/>
          <p:nvPr/>
        </p:nvSpPr>
        <p:spPr>
          <a:xfrm>
            <a:off x="1962150" y="4110236"/>
            <a:ext cx="0" cy="330200"/>
          </a:xfrm>
          <a:prstGeom prst="line">
            <a:avLst/>
          </a:prstGeom>
          <a:noFill/>
          <a:ln w="12700">
            <a:solidFill>
              <a:srgbClr val="D5DAE3"/>
            </a:solidFill>
            <a:prstDash val="solid"/>
          </a:ln>
        </p:spPr>
      </p:sp>
      <p:sp>
        <p:nvSpPr>
          <p:cNvPr id="54" name="Shape 52"/>
          <p:cNvSpPr/>
          <p:nvPr/>
        </p:nvSpPr>
        <p:spPr>
          <a:xfrm>
            <a:off x="3581400" y="4110236"/>
            <a:ext cx="0" cy="330200"/>
          </a:xfrm>
          <a:prstGeom prst="line">
            <a:avLst/>
          </a:prstGeom>
          <a:noFill/>
          <a:ln w="12700">
            <a:solidFill>
              <a:srgbClr val="D5DAE3"/>
            </a:solidFill>
            <a:prstDash val="solid"/>
          </a:ln>
        </p:spPr>
      </p:sp>
      <p:sp>
        <p:nvSpPr>
          <p:cNvPr id="55" name="Shape 53"/>
          <p:cNvSpPr/>
          <p:nvPr/>
        </p:nvSpPr>
        <p:spPr>
          <a:xfrm>
            <a:off x="5200650" y="4110236"/>
            <a:ext cx="0" cy="330200"/>
          </a:xfrm>
          <a:prstGeom prst="line">
            <a:avLst/>
          </a:prstGeom>
          <a:noFill/>
          <a:ln w="12700">
            <a:solidFill>
              <a:srgbClr val="D5DAE3"/>
            </a:solidFill>
            <a:prstDash val="solid"/>
          </a:ln>
        </p:spPr>
      </p:sp>
      <p:sp>
        <p:nvSpPr>
          <p:cNvPr id="56" name="Shape 54"/>
          <p:cNvSpPr/>
          <p:nvPr/>
        </p:nvSpPr>
        <p:spPr>
          <a:xfrm>
            <a:off x="6819900" y="4110236"/>
            <a:ext cx="0" cy="330200"/>
          </a:xfrm>
          <a:prstGeom prst="line">
            <a:avLst/>
          </a:prstGeom>
          <a:noFill/>
          <a:ln w="12700">
            <a:solidFill>
              <a:srgbClr val="D5DAE3"/>
            </a:solidFill>
            <a:prstDash val="solid"/>
          </a:ln>
        </p:spPr>
      </p:sp>
      <p:sp>
        <p:nvSpPr>
          <p:cNvPr id="57" name="Shape 55"/>
          <p:cNvSpPr/>
          <p:nvPr/>
        </p:nvSpPr>
        <p:spPr>
          <a:xfrm>
            <a:off x="1955800" y="4110236"/>
            <a:ext cx="4921250" cy="330200"/>
          </a:xfrm>
          <a:prstGeom prst="roundRect">
            <a:avLst>
              <a:gd name="adj" fmla="val 15385"/>
            </a:avLst>
          </a:prstGeom>
          <a:gradFill rotWithShape="1">
            <a:gsLst>
              <a:gs pos="0">
                <a:srgbClr val="F3E1DE"/>
              </a:gs>
              <a:gs pos="50000">
                <a:srgbClr val="F3E1DE"/>
              </a:gs>
              <a:gs pos="50000">
                <a:srgbClr val="FFFFFF"/>
              </a:gs>
              <a:gs pos="100000">
                <a:srgbClr val="FFFFFF"/>
              </a:gs>
            </a:gsLst>
            <a:lin ang="2700000" scaled="0"/>
          </a:gradFill>
          <a:ln/>
        </p:spPr>
      </p:sp>
      <p:sp>
        <p:nvSpPr>
          <p:cNvPr id="58" name="Text 56"/>
          <p:cNvSpPr/>
          <p:nvPr/>
        </p:nvSpPr>
        <p:spPr>
          <a:xfrm>
            <a:off x="7988300" y="4161036"/>
            <a:ext cx="698500" cy="228600"/>
          </a:xfrm>
          <a:custGeom>
            <a:avLst/>
            <a:gdLst/>
            <a:ahLst/>
            <a:cxnLst/>
            <a:rect l="l" t="t" r="r" b="b"/>
            <a:pathLst>
              <a:path w="698500" h="228600">
                <a:moveTo>
                  <a:pt x="38100" y="0"/>
                </a:moveTo>
                <a:lnTo>
                  <a:pt x="660400" y="0"/>
                </a:lnTo>
                <a:arcTo hR="38100" wR="38100" stAng="16200000" swAng="5400000"/>
                <a:lnTo>
                  <a:pt x="698500" y="190500"/>
                </a:lnTo>
                <a:arcTo hR="38100" wR="38100" stAng="0" swAng="5400000"/>
                <a:lnTo>
                  <a:pt x="38100" y="228600"/>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Beta</a:t>
            </a:r>
            <a:endParaRPr lang="en-US" sz="1200" dirty="0"/>
          </a:p>
        </p:txBody>
      </p:sp>
      <p:sp>
        <p:nvSpPr>
          <p:cNvPr id="59" name="Text 57"/>
          <p:cNvSpPr/>
          <p:nvPr/>
        </p:nvSpPr>
        <p:spPr>
          <a:xfrm>
            <a:off x="8686800" y="4161036"/>
            <a:ext cx="1333500" cy="228600"/>
          </a:xfrm>
          <a:custGeom>
            <a:avLst/>
            <a:gdLst/>
            <a:ahLst/>
            <a:cxnLst/>
            <a:rect l="l" t="t" r="r" b="b"/>
            <a:pathLst>
              <a:path w="1333500" h="228600">
                <a:moveTo>
                  <a:pt x="38100" y="0"/>
                </a:moveTo>
                <a:lnTo>
                  <a:pt x="1295400" y="0"/>
                </a:lnTo>
                <a:arcTo hR="38100" wR="38100" stAng="16200000" swAng="5400000"/>
                <a:lnTo>
                  <a:pt x="1333500" y="190500"/>
                </a:lnTo>
                <a:arcTo hR="38100" wR="38100" stAng="0" swAng="5400000"/>
                <a:lnTo>
                  <a:pt x="38100" y="228600"/>
                </a:lnTo>
                <a:arcTo hR="38100" wR="38100" stAng="5400000" swAng="5400000"/>
                <a:lnTo>
                  <a:pt x="0" y="38100"/>
                </a:lnTo>
                <a:arcTo hR="38100" wR="38100" stAng="10800000" swAng="5400000"/>
                <a:close/>
              </a:path>
            </a:pathLst>
          </a:custGeom>
          <a:solidFill>
            <a:srgbClr val="00205B"/>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Ramp → Live</a:t>
            </a:r>
            <a:endParaRPr lang="en-US" sz="1200" dirty="0"/>
          </a:p>
        </p:txBody>
      </p:sp>
      <p:sp>
        <p:nvSpPr>
          <p:cNvPr id="60" name="Text 58"/>
          <p:cNvSpPr/>
          <p:nvPr/>
        </p:nvSpPr>
        <p:spPr>
          <a:xfrm>
            <a:off x="457200" y="4552851"/>
            <a:ext cx="14732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Access</a:t>
            </a:r>
            <a:endParaRPr lang="en-US" sz="1300" dirty="0"/>
          </a:p>
        </p:txBody>
      </p:sp>
      <p:sp>
        <p:nvSpPr>
          <p:cNvPr id="61" name="Shape 59"/>
          <p:cNvSpPr/>
          <p:nvPr/>
        </p:nvSpPr>
        <p:spPr>
          <a:xfrm>
            <a:off x="1955800" y="4478536"/>
            <a:ext cx="9779000" cy="330200"/>
          </a:xfrm>
          <a:prstGeom prst="roundRect">
            <a:avLst>
              <a:gd name="adj" fmla="val 15385"/>
            </a:avLst>
          </a:prstGeom>
          <a:solidFill>
            <a:srgbClr val="FFFFFF"/>
          </a:solidFill>
          <a:ln/>
        </p:spPr>
      </p:sp>
      <p:sp>
        <p:nvSpPr>
          <p:cNvPr id="62" name="Shape 60"/>
          <p:cNvSpPr/>
          <p:nvPr/>
        </p:nvSpPr>
        <p:spPr>
          <a:xfrm>
            <a:off x="1962150" y="4478536"/>
            <a:ext cx="0" cy="330200"/>
          </a:xfrm>
          <a:prstGeom prst="line">
            <a:avLst/>
          </a:prstGeom>
          <a:noFill/>
          <a:ln w="12700">
            <a:solidFill>
              <a:srgbClr val="D5DAE3"/>
            </a:solidFill>
            <a:prstDash val="solid"/>
          </a:ln>
        </p:spPr>
      </p:sp>
      <p:sp>
        <p:nvSpPr>
          <p:cNvPr id="63" name="Shape 61"/>
          <p:cNvSpPr/>
          <p:nvPr/>
        </p:nvSpPr>
        <p:spPr>
          <a:xfrm>
            <a:off x="3581400" y="4478536"/>
            <a:ext cx="0" cy="330200"/>
          </a:xfrm>
          <a:prstGeom prst="line">
            <a:avLst/>
          </a:prstGeom>
          <a:noFill/>
          <a:ln w="12700">
            <a:solidFill>
              <a:srgbClr val="D5DAE3"/>
            </a:solidFill>
            <a:prstDash val="solid"/>
          </a:ln>
        </p:spPr>
      </p:sp>
      <p:sp>
        <p:nvSpPr>
          <p:cNvPr id="64" name="Shape 62"/>
          <p:cNvSpPr/>
          <p:nvPr/>
        </p:nvSpPr>
        <p:spPr>
          <a:xfrm>
            <a:off x="5200650" y="4478536"/>
            <a:ext cx="0" cy="330200"/>
          </a:xfrm>
          <a:prstGeom prst="line">
            <a:avLst/>
          </a:prstGeom>
          <a:noFill/>
          <a:ln w="12700">
            <a:solidFill>
              <a:srgbClr val="D5DAE3"/>
            </a:solidFill>
            <a:prstDash val="solid"/>
          </a:ln>
        </p:spPr>
      </p:sp>
      <p:sp>
        <p:nvSpPr>
          <p:cNvPr id="65" name="Shape 63"/>
          <p:cNvSpPr/>
          <p:nvPr/>
        </p:nvSpPr>
        <p:spPr>
          <a:xfrm>
            <a:off x="6819900" y="4478536"/>
            <a:ext cx="0" cy="330200"/>
          </a:xfrm>
          <a:prstGeom prst="line">
            <a:avLst/>
          </a:prstGeom>
          <a:noFill/>
          <a:ln w="12700">
            <a:solidFill>
              <a:srgbClr val="D5DAE3"/>
            </a:solidFill>
            <a:prstDash val="solid"/>
          </a:ln>
        </p:spPr>
      </p:sp>
      <p:sp>
        <p:nvSpPr>
          <p:cNvPr id="66" name="Shape 64"/>
          <p:cNvSpPr/>
          <p:nvPr/>
        </p:nvSpPr>
        <p:spPr>
          <a:xfrm>
            <a:off x="1955800" y="4478536"/>
            <a:ext cx="4921250" cy="330200"/>
          </a:xfrm>
          <a:prstGeom prst="roundRect">
            <a:avLst>
              <a:gd name="adj" fmla="val 15385"/>
            </a:avLst>
          </a:prstGeom>
          <a:gradFill rotWithShape="1">
            <a:gsLst>
              <a:gs pos="0">
                <a:srgbClr val="F3E1DE"/>
              </a:gs>
              <a:gs pos="50000">
                <a:srgbClr val="F3E1DE"/>
              </a:gs>
              <a:gs pos="50000">
                <a:srgbClr val="FFFFFF"/>
              </a:gs>
              <a:gs pos="100000">
                <a:srgbClr val="FFFFFF"/>
              </a:gs>
            </a:gsLst>
            <a:lin ang="2700000" scaled="0"/>
          </a:gradFill>
          <a:ln/>
        </p:spPr>
      </p:sp>
      <p:sp>
        <p:nvSpPr>
          <p:cNvPr id="67" name="Text 65"/>
          <p:cNvSpPr/>
          <p:nvPr/>
        </p:nvSpPr>
        <p:spPr>
          <a:xfrm>
            <a:off x="8940800" y="4529336"/>
            <a:ext cx="825500" cy="228600"/>
          </a:xfrm>
          <a:custGeom>
            <a:avLst/>
            <a:gdLst/>
            <a:ahLst/>
            <a:cxnLst/>
            <a:rect l="l" t="t" r="r" b="b"/>
            <a:pathLst>
              <a:path w="825500" h="228600">
                <a:moveTo>
                  <a:pt x="38100" y="0"/>
                </a:moveTo>
                <a:lnTo>
                  <a:pt x="787400" y="0"/>
                </a:lnTo>
                <a:arcTo hR="38100" wR="38100" stAng="16200000" swAng="5400000"/>
                <a:lnTo>
                  <a:pt x="825500" y="190500"/>
                </a:lnTo>
                <a:arcTo hR="38100" wR="38100" stAng="0" swAng="5400000"/>
                <a:lnTo>
                  <a:pt x="38100" y="228600"/>
                </a:lnTo>
                <a:arcTo hR="38100" wR="38100" stAng="5400000" swAng="5400000"/>
                <a:lnTo>
                  <a:pt x="0" y="38100"/>
                </a:lnTo>
                <a:arcTo hR="38100" wR="38100" stAng="10800000" swAng="5400000"/>
                <a:close/>
              </a:path>
            </a:pathLst>
          </a:custGeom>
          <a:solidFill>
            <a:srgbClr val="C2410C"/>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Beta</a:t>
            </a:r>
            <a:endParaRPr lang="en-US" sz="1200" dirty="0"/>
          </a:p>
        </p:txBody>
      </p:sp>
      <p:sp>
        <p:nvSpPr>
          <p:cNvPr id="68" name="Text 66"/>
          <p:cNvSpPr/>
          <p:nvPr/>
        </p:nvSpPr>
        <p:spPr>
          <a:xfrm>
            <a:off x="9766300" y="4529336"/>
            <a:ext cx="1778000" cy="228600"/>
          </a:xfrm>
          <a:custGeom>
            <a:avLst/>
            <a:gdLst/>
            <a:ahLst/>
            <a:cxnLst/>
            <a:rect l="l" t="t" r="r" b="b"/>
            <a:pathLst>
              <a:path w="1778000" h="228600">
                <a:moveTo>
                  <a:pt x="38100" y="0"/>
                </a:moveTo>
                <a:lnTo>
                  <a:pt x="1739900" y="0"/>
                </a:lnTo>
                <a:arcTo hR="38100" wR="38100" stAng="16200000" swAng="5400000"/>
                <a:lnTo>
                  <a:pt x="1778000" y="190500"/>
                </a:lnTo>
                <a:arcTo hR="38100" wR="38100" stAng="0" swAng="5400000"/>
                <a:lnTo>
                  <a:pt x="38100" y="228600"/>
                </a:lnTo>
                <a:arcTo hR="38100" wR="38100" stAng="5400000" swAng="5400000"/>
                <a:lnTo>
                  <a:pt x="0" y="38100"/>
                </a:lnTo>
                <a:arcTo hR="38100" wR="38100" stAng="10800000" swAng="5400000"/>
                <a:close/>
              </a:path>
            </a:pathLst>
          </a:custGeom>
          <a:solidFill>
            <a:srgbClr val="00205B"/>
          </a:solidFill>
          <a:ln/>
        </p:spPr>
        <p:txBody>
          <a:bodyPr wrap="square" lIns="0" tIns="0" rIns="0" bIns="0" rtlCol="0" anchor="t">
            <a:normAutofit/>
          </a:bodyPr>
          <a:lstStyle/>
          <a:p>
            <a:pPr algn="ctr" indent="0" marL="0">
              <a:lnSpc>
                <a:spcPts val="1800"/>
              </a:lnSpc>
              <a:buNone/>
            </a:pPr>
            <a:r>
              <a:rPr lang="en-US" sz="1200" b="1" dirty="0">
                <a:solidFill>
                  <a:srgbClr val="FFFFFF"/>
                </a:solidFill>
                <a:latin typeface="DM Sans" pitchFamily="34" charset="0"/>
                <a:ea typeface="DM Sans" pitchFamily="34" charset="-122"/>
                <a:cs typeface="DM Sans" pitchFamily="34" charset="-120"/>
              </a:rPr>
              <a:t>Ramp ≥3 wks → Live</a:t>
            </a:r>
            <a:endParaRPr lang="en-US" sz="1200" dirty="0"/>
          </a:p>
        </p:txBody>
      </p:sp>
      <p:sp>
        <p:nvSpPr>
          <p:cNvPr id="69" name="Text 67"/>
          <p:cNvSpPr/>
          <p:nvPr/>
        </p:nvSpPr>
        <p:spPr>
          <a:xfrm>
            <a:off x="457200" y="5035451"/>
            <a:ext cx="1498600" cy="206970"/>
          </a:xfrm>
          <a:prstGeom prst="rect">
            <a:avLst/>
          </a:prstGeom>
          <a:noFill/>
          <a:ln/>
        </p:spPr>
        <p:txBody>
          <a:bodyPr wrap="square" lIns="0" tIns="0" rIns="0" bIns="0" rtlCol="0" anchor="t">
            <a:normAutofit/>
          </a:bodyPr>
          <a:lstStyle/>
          <a:p>
            <a:pPr algn="l" indent="0" marL="0">
              <a:lnSpc>
                <a:spcPts val="1430"/>
              </a:lnSpc>
              <a:buNone/>
            </a:pPr>
            <a:r>
              <a:rPr lang="en-US" sz="1300" b="1" dirty="0">
                <a:solidFill>
                  <a:srgbClr val="00205B"/>
                </a:solidFill>
                <a:latin typeface="DM Sans" pitchFamily="34" charset="0"/>
                <a:ea typeface="DM Sans" pitchFamily="34" charset="-122"/>
                <a:cs typeface="DM Sans" pitchFamily="34" charset="-120"/>
              </a:rPr>
              <a:t>End-user comms</a:t>
            </a:r>
            <a:endParaRPr lang="en-US" sz="1300" dirty="0"/>
          </a:p>
        </p:txBody>
      </p:sp>
      <p:sp>
        <p:nvSpPr>
          <p:cNvPr id="70" name="Shape 68"/>
          <p:cNvSpPr/>
          <p:nvPr/>
        </p:nvSpPr>
        <p:spPr>
          <a:xfrm>
            <a:off x="1955800" y="4884936"/>
            <a:ext cx="9779000" cy="482600"/>
          </a:xfrm>
          <a:prstGeom prst="roundRect">
            <a:avLst>
              <a:gd name="adj" fmla="val 15789"/>
            </a:avLst>
          </a:prstGeom>
          <a:solidFill>
            <a:srgbClr val="E4E9F3"/>
          </a:solidFill>
          <a:ln/>
        </p:spPr>
      </p:sp>
      <p:sp>
        <p:nvSpPr>
          <p:cNvPr id="71" name="Text 69"/>
          <p:cNvSpPr/>
          <p:nvPr/>
        </p:nvSpPr>
        <p:spPr>
          <a:xfrm>
            <a:off x="2032000" y="4935736"/>
            <a:ext cx="32702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0205B"/>
                </a:solidFill>
                <a:latin typeface="DM Sans" pitchFamily="34" charset="0"/>
                <a:ea typeface="DM Sans" pitchFamily="34" charset="-122"/>
                <a:cs typeface="DM Sans" pitchFamily="34" charset="-120"/>
              </a:rPr>
              <a:t>Same three messages repeat for every module</a:t>
            </a:r>
            <a:endParaRPr lang="en-US" sz="1200" dirty="0"/>
          </a:p>
        </p:txBody>
      </p:sp>
      <p:sp>
        <p:nvSpPr>
          <p:cNvPr id="72" name="Text 70"/>
          <p:cNvSpPr/>
          <p:nvPr/>
        </p:nvSpPr>
        <p:spPr>
          <a:xfrm>
            <a:off x="5391150" y="4980186"/>
            <a:ext cx="1479550" cy="317500"/>
          </a:xfrm>
          <a:custGeom>
            <a:avLst/>
            <a:gdLst/>
            <a:ahLst/>
            <a:cxnLst/>
            <a:rect l="l" t="t" r="r" b="b"/>
            <a:pathLst>
              <a:path w="1479550" h="317500">
                <a:moveTo>
                  <a:pt x="44450" y="0"/>
                </a:moveTo>
                <a:lnTo>
                  <a:pt x="1435100" y="0"/>
                </a:lnTo>
                <a:arcTo hR="44450" wR="44450" stAng="16200000" swAng="5400000"/>
                <a:lnTo>
                  <a:pt x="1479550" y="273050"/>
                </a:lnTo>
                <a:arcTo hR="44450" wR="44450" stAng="0" swAng="5400000"/>
                <a:lnTo>
                  <a:pt x="44450" y="317500"/>
                </a:lnTo>
                <a:arcTo hR="44450" wR="44450" stAng="5400000" swAng="5400000"/>
                <a:lnTo>
                  <a:pt x="0" y="44450"/>
                </a:lnTo>
                <a:arcTo hR="44450" wR="44450" stAng="10800000" swAng="5400000"/>
                <a:close/>
              </a:path>
            </a:pathLst>
          </a:custGeom>
          <a:solidFill>
            <a:srgbClr val="FFFFFF"/>
          </a:solidFill>
          <a:ln w="12700">
            <a:solidFill>
              <a:srgbClr val="00205B"/>
            </a:solidFill>
            <a:prstDash val="solid"/>
          </a:ln>
        </p:spPr>
        <p:txBody>
          <a:bodyPr wrap="square" lIns="0" tIns="6350" rIns="0" bIns="0" rtlCol="0" anchor="t">
            <a:normAutofit/>
          </a:bodyPr>
          <a:lstStyle/>
          <a:p>
            <a:pPr algn="ctr" indent="0" marL="0">
              <a:lnSpc>
                <a:spcPts val="2400"/>
              </a:lnSpc>
              <a:buNone/>
            </a:pPr>
            <a:r>
              <a:rPr lang="en-US" sz="1200" b="1" dirty="0">
                <a:solidFill>
                  <a:srgbClr val="00205B"/>
                </a:solidFill>
                <a:latin typeface="DM Sans" pitchFamily="34" charset="0"/>
                <a:ea typeface="DM Sans" pitchFamily="34" charset="-122"/>
                <a:cs typeface="DM Sans" pitchFamily="34" charset="-120"/>
              </a:rPr>
              <a:t>1 Announcement</a:t>
            </a:r>
            <a:endParaRPr lang="en-US" sz="1200" dirty="0"/>
          </a:p>
        </p:txBody>
      </p:sp>
      <p:sp>
        <p:nvSpPr>
          <p:cNvPr id="73" name="Text 71"/>
          <p:cNvSpPr/>
          <p:nvPr/>
        </p:nvSpPr>
        <p:spPr>
          <a:xfrm>
            <a:off x="8534400" y="4980186"/>
            <a:ext cx="1574800" cy="317500"/>
          </a:xfrm>
          <a:custGeom>
            <a:avLst/>
            <a:gdLst/>
            <a:ahLst/>
            <a:cxnLst/>
            <a:rect l="l" t="t" r="r" b="b"/>
            <a:pathLst>
              <a:path w="1574800" h="317500">
                <a:moveTo>
                  <a:pt x="44450" y="0"/>
                </a:moveTo>
                <a:lnTo>
                  <a:pt x="1530350" y="0"/>
                </a:lnTo>
                <a:arcTo hR="44450" wR="44450" stAng="16200000" swAng="5400000"/>
                <a:lnTo>
                  <a:pt x="1574800" y="273050"/>
                </a:lnTo>
                <a:arcTo hR="44450" wR="44450" stAng="0" swAng="5400000"/>
                <a:lnTo>
                  <a:pt x="44450" y="317500"/>
                </a:lnTo>
                <a:arcTo hR="44450" wR="44450" stAng="5400000" swAng="5400000"/>
                <a:lnTo>
                  <a:pt x="0" y="44450"/>
                </a:lnTo>
                <a:arcTo hR="44450" wR="44450" stAng="10800000" swAng="5400000"/>
                <a:close/>
              </a:path>
            </a:pathLst>
          </a:custGeom>
          <a:solidFill>
            <a:srgbClr val="FFFFFF"/>
          </a:solidFill>
          <a:ln w="12700">
            <a:solidFill>
              <a:srgbClr val="00205B"/>
            </a:solidFill>
            <a:prstDash val="solid"/>
          </a:ln>
        </p:spPr>
        <p:txBody>
          <a:bodyPr wrap="square" lIns="0" tIns="6350" rIns="0" bIns="0" rtlCol="0" anchor="t">
            <a:normAutofit/>
          </a:bodyPr>
          <a:lstStyle/>
          <a:p>
            <a:pPr algn="ctr" indent="0" marL="0">
              <a:lnSpc>
                <a:spcPts val="2400"/>
              </a:lnSpc>
              <a:buNone/>
            </a:pPr>
            <a:r>
              <a:rPr lang="en-US" sz="1200" b="1" dirty="0">
                <a:solidFill>
                  <a:srgbClr val="00205B"/>
                </a:solidFill>
                <a:latin typeface="DM Sans" pitchFamily="34" charset="0"/>
                <a:ea typeface="DM Sans" pitchFamily="34" charset="-122"/>
                <a:cs typeface="DM Sans" pitchFamily="34" charset="-120"/>
              </a:rPr>
              <a:t>2 Go-live notice</a:t>
            </a:r>
            <a:endParaRPr lang="en-US" sz="1200" dirty="0"/>
          </a:p>
        </p:txBody>
      </p:sp>
      <p:sp>
        <p:nvSpPr>
          <p:cNvPr id="74" name="Text 72"/>
          <p:cNvSpPr/>
          <p:nvPr/>
        </p:nvSpPr>
        <p:spPr>
          <a:xfrm>
            <a:off x="10185400" y="4942086"/>
            <a:ext cx="1479550" cy="392509"/>
          </a:xfrm>
          <a:prstGeom prst="roundRect">
            <a:avLst>
              <a:gd name="adj" fmla="val 11325"/>
            </a:avLst>
          </a:prstGeom>
          <a:solidFill>
            <a:srgbClr val="FFFFFF"/>
          </a:solidFill>
          <a:ln w="12700">
            <a:solidFill>
              <a:srgbClr val="00205B"/>
            </a:solidFill>
            <a:prstDash val="solid"/>
          </a:ln>
        </p:spPr>
        <p:txBody>
          <a:bodyPr wrap="square" lIns="44131" tIns="18731" rIns="44131" bIns="0" rtlCol="0" anchor="t">
            <a:normAutofit/>
          </a:bodyPr>
          <a:lstStyle/>
          <a:p>
            <a:pPr algn="ctr" indent="0" marL="0">
              <a:lnSpc>
                <a:spcPts val="1296"/>
              </a:lnSpc>
              <a:buNone/>
            </a:pPr>
            <a:r>
              <a:rPr lang="en-US" sz="1200" b="1" dirty="0">
                <a:solidFill>
                  <a:srgbClr val="00205B"/>
                </a:solidFill>
                <a:latin typeface="DM Sans" pitchFamily="34" charset="0"/>
                <a:ea typeface="DM Sans" pitchFamily="34" charset="-122"/>
                <a:cs typeface="DM Sans" pitchFamily="34" charset="-120"/>
              </a:rPr>
              <a:t>3 Post go-live feedback</a:t>
            </a:r>
            <a:endParaRPr lang="en-US" sz="1200" dirty="0"/>
          </a:p>
        </p:txBody>
      </p:sp>
      <p:sp>
        <p:nvSpPr>
          <p:cNvPr id="75" name="Shape 73"/>
          <p:cNvSpPr/>
          <p:nvPr/>
        </p:nvSpPr>
        <p:spPr>
          <a:xfrm>
            <a:off x="457200" y="5443736"/>
            <a:ext cx="11277600" cy="462260"/>
          </a:xfrm>
          <a:prstGeom prst="roundRect">
            <a:avLst>
              <a:gd name="adj" fmla="val 16484"/>
            </a:avLst>
          </a:prstGeom>
          <a:solidFill>
            <a:srgbClr val="00205B"/>
          </a:solidFill>
          <a:ln/>
        </p:spPr>
      </p:sp>
      <p:sp>
        <p:nvSpPr>
          <p:cNvPr id="76" name="Text 74"/>
          <p:cNvSpPr/>
          <p:nvPr/>
        </p:nvSpPr>
        <p:spPr>
          <a:xfrm>
            <a:off x="609600" y="5583436"/>
            <a:ext cx="2027555"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D9C4"/>
                </a:solidFill>
                <a:latin typeface="DM Sans" pitchFamily="34" charset="0"/>
                <a:ea typeface="DM Sans" pitchFamily="34" charset="-122"/>
                <a:cs typeface="DM Sans" pitchFamily="34" charset="-120"/>
              </a:rPr>
              <a:t>IF ONE ENABLER SLIPS</a:t>
            </a:r>
            <a:endParaRPr lang="en-US" sz="1200" dirty="0"/>
          </a:p>
        </p:txBody>
      </p:sp>
      <p:sp>
        <p:nvSpPr>
          <p:cNvPr id="77" name="Text 75"/>
          <p:cNvSpPr/>
          <p:nvPr/>
        </p:nvSpPr>
        <p:spPr>
          <a:xfrm>
            <a:off x="2667000" y="5532636"/>
            <a:ext cx="1065312" cy="284460"/>
          </a:xfrm>
          <a:prstGeom prst="roundRect">
            <a:avLst>
              <a:gd name="adj" fmla="val 17858"/>
            </a:avLst>
          </a:prstGeom>
          <a:solidFill>
            <a:srgbClr val="2F4A85"/>
          </a:solidFill>
          <a:ln/>
        </p:spPr>
        <p:txBody>
          <a:bodyPr wrap="none" lIns="0" tIns="0" rIns="0" bIns="0" rtlCol="0" anchor="ctr">
            <a:normAutofit/>
          </a:bodyPr>
          <a:lstStyle/>
          <a:p>
            <a:pPr algn="ctr" indent="0" marL="0">
              <a:lnSpc>
                <a:spcPts val="1440"/>
              </a:lnSpc>
              <a:buNone/>
            </a:pPr>
            <a:r>
              <a:rPr lang="en-US" sz="1200" b="1" dirty="0">
                <a:solidFill>
                  <a:srgbClr val="FFFFFF"/>
                </a:solidFill>
                <a:latin typeface="DM Sans" pitchFamily="34" charset="0"/>
                <a:ea typeface="DM Sans" pitchFamily="34" charset="-122"/>
                <a:cs typeface="DM Sans" pitchFamily="34" charset="-120"/>
              </a:rPr>
              <a:t>Enabler late</a:t>
            </a:r>
            <a:endParaRPr lang="en-US" sz="1200" dirty="0"/>
          </a:p>
        </p:txBody>
      </p:sp>
      <p:pic>
        <p:nvPicPr>
          <p:cNvPr id="78" name="Image 0" descr="arrow-right">    </p:cNvPr>
          <p:cNvPicPr>
            <a:picLocks noChangeAspect="1"/>
          </p:cNvPicPr>
          <p:nvPr/>
        </p:nvPicPr>
        <p:blipFill>
          <a:blip r:embed="rId1"/>
          <a:srcRect l="0" r="0" t="0" b="0"/>
          <a:stretch/>
        </p:blipFill>
        <p:spPr>
          <a:xfrm>
            <a:off x="3821212" y="5598616"/>
            <a:ext cx="254000" cy="152400"/>
          </a:xfrm>
          <a:prstGeom prst="rect">
            <a:avLst/>
          </a:prstGeom>
        </p:spPr>
      </p:pic>
      <p:sp>
        <p:nvSpPr>
          <p:cNvPr id="79" name="Text 76"/>
          <p:cNvSpPr/>
          <p:nvPr/>
        </p:nvSpPr>
        <p:spPr>
          <a:xfrm>
            <a:off x="4164112" y="5532636"/>
            <a:ext cx="902494" cy="284460"/>
          </a:xfrm>
          <a:prstGeom prst="roundRect">
            <a:avLst>
              <a:gd name="adj" fmla="val 17858"/>
            </a:avLst>
          </a:prstGeom>
          <a:solidFill>
            <a:srgbClr val="2F4A85"/>
          </a:solidFill>
          <a:ln/>
        </p:spPr>
        <p:txBody>
          <a:bodyPr wrap="none" lIns="0" tIns="0" rIns="0" bIns="0" rtlCol="0" anchor="ctr">
            <a:normAutofit/>
          </a:bodyPr>
          <a:lstStyle/>
          <a:p>
            <a:pPr algn="ctr" indent="0" marL="0">
              <a:lnSpc>
                <a:spcPts val="1440"/>
              </a:lnSpc>
              <a:buNone/>
            </a:pPr>
            <a:r>
              <a:rPr lang="en-US" sz="1200" b="1" dirty="0">
                <a:solidFill>
                  <a:srgbClr val="FFFFFF"/>
                </a:solidFill>
                <a:latin typeface="DM Sans" pitchFamily="34" charset="0"/>
                <a:ea typeface="DM Sans" pitchFamily="34" charset="-122"/>
                <a:cs typeface="DM Sans" pitchFamily="34" charset="-120"/>
              </a:rPr>
              <a:t>DST waits</a:t>
            </a:r>
            <a:endParaRPr lang="en-US" sz="1200" dirty="0"/>
          </a:p>
        </p:txBody>
      </p:sp>
      <p:pic>
        <p:nvPicPr>
          <p:cNvPr id="80" name="Image 1" descr="arrow-right">    </p:cNvPr>
          <p:cNvPicPr>
            <a:picLocks noChangeAspect="1"/>
          </p:cNvPicPr>
          <p:nvPr/>
        </p:nvPicPr>
        <p:blipFill>
          <a:blip r:embed="rId2"/>
          <a:srcRect l="0" r="0" t="0" b="0"/>
          <a:stretch/>
        </p:blipFill>
        <p:spPr>
          <a:xfrm>
            <a:off x="5155505" y="5598616"/>
            <a:ext cx="254000" cy="152400"/>
          </a:xfrm>
          <a:prstGeom prst="rect">
            <a:avLst/>
          </a:prstGeom>
        </p:spPr>
      </p:pic>
      <p:sp>
        <p:nvSpPr>
          <p:cNvPr id="81" name="Text 77"/>
          <p:cNvSpPr/>
          <p:nvPr/>
        </p:nvSpPr>
        <p:spPr>
          <a:xfrm>
            <a:off x="5498405" y="5532636"/>
            <a:ext cx="2086868" cy="284460"/>
          </a:xfrm>
          <a:prstGeom prst="roundRect">
            <a:avLst>
              <a:gd name="adj" fmla="val 17858"/>
            </a:avLst>
          </a:prstGeom>
          <a:solidFill>
            <a:srgbClr val="2F4A85"/>
          </a:solidFill>
          <a:ln/>
        </p:spPr>
        <p:txBody>
          <a:bodyPr wrap="none" lIns="0" tIns="0" rIns="0" bIns="0" rtlCol="0" anchor="ctr">
            <a:normAutofit/>
          </a:bodyPr>
          <a:lstStyle/>
          <a:p>
            <a:pPr algn="ctr" indent="0" marL="0">
              <a:lnSpc>
                <a:spcPts val="1440"/>
              </a:lnSpc>
              <a:buNone/>
            </a:pPr>
            <a:r>
              <a:rPr lang="en-US" sz="1200" b="1" dirty="0">
                <a:solidFill>
                  <a:srgbClr val="FFFFFF"/>
                </a:solidFill>
                <a:latin typeface="DM Sans" pitchFamily="34" charset="0"/>
                <a:ea typeface="DM Sans" pitchFamily="34" charset="-122"/>
                <a:cs typeface="DM Sans" pitchFamily="34" charset="-120"/>
              </a:rPr>
              <a:t>All module canaries move</a:t>
            </a:r>
            <a:endParaRPr lang="en-US" sz="1200" dirty="0"/>
          </a:p>
        </p:txBody>
      </p:sp>
      <p:pic>
        <p:nvPicPr>
          <p:cNvPr id="82" name="Image 2" descr="arrow-right">    </p:cNvPr>
          <p:cNvPicPr>
            <a:picLocks noChangeAspect="1"/>
          </p:cNvPicPr>
          <p:nvPr/>
        </p:nvPicPr>
        <p:blipFill>
          <a:blip r:embed="rId3"/>
          <a:srcRect l="0" r="0" t="0" b="0"/>
          <a:stretch/>
        </p:blipFill>
        <p:spPr>
          <a:xfrm>
            <a:off x="7674173" y="5598616"/>
            <a:ext cx="254000" cy="152400"/>
          </a:xfrm>
          <a:prstGeom prst="rect">
            <a:avLst/>
          </a:prstGeom>
        </p:spPr>
      </p:pic>
      <p:sp>
        <p:nvSpPr>
          <p:cNvPr id="83" name="Text 78"/>
          <p:cNvSpPr/>
          <p:nvPr/>
        </p:nvSpPr>
        <p:spPr>
          <a:xfrm>
            <a:off x="8017073" y="5532636"/>
            <a:ext cx="1680567" cy="284460"/>
          </a:xfrm>
          <a:prstGeom prst="roundRect">
            <a:avLst>
              <a:gd name="adj" fmla="val 17858"/>
            </a:avLst>
          </a:prstGeom>
          <a:solidFill>
            <a:srgbClr val="C2410C"/>
          </a:solidFill>
          <a:ln/>
        </p:spPr>
        <p:txBody>
          <a:bodyPr wrap="none" lIns="0" tIns="0" rIns="0" bIns="0" rtlCol="0" anchor="ctr">
            <a:normAutofit/>
          </a:bodyPr>
          <a:lstStyle/>
          <a:p>
            <a:pPr algn="ctr" indent="0" marL="0">
              <a:lnSpc>
                <a:spcPts val="1440"/>
              </a:lnSpc>
              <a:buNone/>
            </a:pPr>
            <a:r>
              <a:rPr lang="en-US" sz="1200" b="1" dirty="0">
                <a:solidFill>
                  <a:srgbClr val="FFFFFF"/>
                </a:solidFill>
                <a:latin typeface="DM Sans" pitchFamily="34" charset="0"/>
                <a:ea typeface="DM Sans" pitchFamily="34" charset="-122"/>
                <a:cs typeface="DM Sans" pitchFamily="34" charset="-120"/>
              </a:rPr>
              <a:t>Beta + Go-live move</a:t>
            </a:r>
            <a:endParaRPr lang="en-US" sz="1200" dirty="0"/>
          </a:p>
        </p:txBody>
      </p:sp>
      <p:sp>
        <p:nvSpPr>
          <p:cNvPr id="84" name="Text 79"/>
          <p:cNvSpPr/>
          <p:nvPr/>
        </p:nvSpPr>
        <p:spPr>
          <a:xfrm>
            <a:off x="457200" y="6446540"/>
            <a:ext cx="11615928"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DM Sans" pitchFamily="34" charset="0"/>
                <a:ea typeface="DM Sans" pitchFamily="34" charset="-122"/>
                <a:cs typeface="DM Sans" pitchFamily="34" charset="-120"/>
              </a:rPr>
              <a:t>Bar timing indicative · Status per module: Not released → Beta-Internal → Beta-Pilot → Live · MyAppConnect out of scope</a:t>
            </a:r>
            <a:endParaRPr lang="en-US" sz="1200" dirty="0"/>
          </a:p>
        </p:txBody>
      </p:sp>
    </p:spTree>
  </p:cSld>
  <p:clrMapOvr>
    <a:masterClrMapping/>
  </p:clrMapOvr>
</p:sld>
</file>

<file path=ppt/theme/theme1.xml><?xml version="1.0" encoding="utf-8"?>
<a:theme xmlns:a="http://schemas.openxmlformats.org/drawingml/2006/main" name="MyIAM Executive Roadmap">
  <a:themeElements>
    <a:clrScheme name="MyIAM Executive Roadmap">
      <a:dk1>
        <a:srgbClr val="00205B"/>
      </a:dk1>
      <a:lt1>
        <a:srgbClr val="F6F4EF"/>
      </a:lt1>
      <a:dk2>
        <a:srgbClr val="3E5580"/>
      </a:dk2>
      <a:lt2>
        <a:srgbClr val="DDDFE0"/>
      </a:lt2>
      <a:accent1>
        <a:srgbClr val="C2410C"/>
      </a:accent1>
      <a:accent2>
        <a:srgbClr val="20325C"/>
      </a:accent2>
      <a:accent3>
        <a:srgbClr val="9B1C1C"/>
      </a:accent3>
      <a:accent4>
        <a:srgbClr val="2C3E6B"/>
      </a:accent4>
      <a:accent5>
        <a:srgbClr val="7B3B3B"/>
      </a:accent5>
      <a:accent6>
        <a:srgbClr val="2F4A85"/>
      </a:accent6>
      <a:hlink>
        <a:srgbClr val="0563C1"/>
      </a:hlink>
      <a:folHlink>
        <a:srgbClr val="954F72"/>
      </a:folHlink>
    </a:clrScheme>
    <a:fontScheme name="MyIAM Executive Roadmap">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MyIAM Executive Roadmap</dc:title>
  <dc:subject/>
  <dc:creator/>
  <cp:lastModifiedBy/>
  <cp:revision>1</cp:revision>
  <dcterms:created xsi:type="dcterms:W3CDTF">2026-10-12T13:31:16Z</dcterms:created>
  <dcterms:modified xsi:type="dcterms:W3CDTF">2026-10-12T13:31:16Z</dcterms:modified>
</cp:coreProperties>
</file>