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7a5d30f7_0_5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4097a5d30f7_0_5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4097a5d30f7_0_5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7a5d30f7_0_5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4097a5d30f7_0_5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4097a5d30f7_0_5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97a5d30f7_0_7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4097a5d30f7_0_7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097a5d30f7_0_67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4097a5d30f7_0_67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4097a5d30f7_0_671:notes"/>
          <p:cNvSpPr txBox="1"/>
          <p:nvPr>
            <p:ph idx="12" type="sldNum"/>
          </p:nvPr>
        </p:nvSpPr>
        <p:spPr>
          <a:xfrm>
            <a:off x="3884613" y="6513910"/>
            <a:ext cx="29721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4097a5d30f7_0_7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4097a5d30f7_0_7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097a5d30f7_0_90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4097a5d30f7_0_9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4097a5d30f7_0_10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4097a5d30f7_0_10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g4097a5d30f7_0_10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943600" y="-731520"/>
            <a:ext cx="4572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E3D"/>
              </a:buClr>
              <a:buSzPts val="42000"/>
              <a:buFont typeface="Calibri"/>
              <a:buNone/>
            </a:pPr>
            <a:r>
              <a:rPr b="1" i="0" lang="en" sz="42000" u="none" cap="none" strike="noStrike">
                <a:solidFill>
                  <a:srgbClr val="1218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11480" y="320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AIRBUS  · IAM Convergence PROGRAMME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384048" y="658368"/>
            <a:ext cx="8229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b="1" i="0" lang="en" sz="8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MyIAM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11480" y="1938528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A8D4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Foundational Journey - Draft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11480" y="2633472"/>
            <a:ext cx="2011800" cy="321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11480" y="2761488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June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– Apr 2028  ·  4 Phases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11480" y="338328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4→1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11480" y="404164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IAM Self service  tools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560320" y="338328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Url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560320" y="404164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experience for ~100k Users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709160" y="338328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709160" y="404164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Modernized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858000" y="404164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4882896"/>
            <a:ext cx="9144000" cy="260700"/>
          </a:xfrm>
          <a:prstGeom prst="rect">
            <a:avLst/>
          </a:prstGeom>
          <a:solidFill>
            <a:srgbClr val="030A14"/>
          </a:solidFill>
          <a:ln cap="flat" cmpd="sng" w="12700">
            <a:solidFill>
              <a:srgbClr val="03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11480" y="4892040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0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Airbus Commercial  ·  IIDIA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479425" y="3386050"/>
            <a:ext cx="2264400" cy="64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479424" y="4044419"/>
            <a:ext cx="2011800" cy="2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iOS+Android MyIAM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84048" y="91440"/>
            <a:ext cx="548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STRATEGIC PHASE VIEW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84048" y="274320"/>
            <a:ext cx="6858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MyIAM Foundational Journey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207135" y="27432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May 2026 → Apr 2028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01168" y="822960"/>
            <a:ext cx="2148900" cy="1647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56032" y="822960"/>
            <a:ext cx="207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 ·  MFE Consolidation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395728" y="822960"/>
            <a:ext cx="2148900" cy="1647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450592" y="822960"/>
            <a:ext cx="207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·  Core Backend &amp; Integration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590300" y="822950"/>
            <a:ext cx="2084700" cy="1647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645150" y="822950"/>
            <a:ext cx="203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·  Domain APIs + Zero Trust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784848" y="822960"/>
            <a:ext cx="2148900" cy="1647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452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839700" y="786249"/>
            <a:ext cx="2075700" cy="2013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 ·  Mobile Platform + Passport Decom </a:t>
            </a:r>
            <a:endParaRPr b="1" i="0" sz="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SCOPE TBD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01168" y="813816"/>
            <a:ext cx="22800" cy="183000"/>
          </a:xfrm>
          <a:prstGeom prst="rect">
            <a:avLst/>
          </a:prstGeom>
          <a:solidFill>
            <a:srgbClr val="334466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-54864" y="585216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350008" y="813816"/>
            <a:ext cx="22800" cy="183000"/>
          </a:xfrm>
          <a:prstGeom prst="rect">
            <a:avLst/>
          </a:prstGeom>
          <a:solidFill>
            <a:srgbClr val="334466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093976" y="585216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Nov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498848" y="813816"/>
            <a:ext cx="22800" cy="183000"/>
          </a:xfrm>
          <a:prstGeom prst="rect">
            <a:avLst/>
          </a:prstGeom>
          <a:solidFill>
            <a:srgbClr val="334466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242816" y="585216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May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647688" y="813816"/>
            <a:ext cx="22800" cy="183000"/>
          </a:xfrm>
          <a:prstGeom prst="rect">
            <a:avLst/>
          </a:prstGeom>
          <a:solidFill>
            <a:srgbClr val="334466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391656" y="585216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Nov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8873401" y="813816"/>
            <a:ext cx="22800" cy="183000"/>
          </a:xfrm>
          <a:prstGeom prst="rect">
            <a:avLst/>
          </a:prstGeom>
          <a:solidFill>
            <a:srgbClr val="334466"/>
          </a:solidFill>
          <a:ln cap="flat" cmpd="sng" w="12700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540496" y="585216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Apr 2028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01168" y="1060704"/>
            <a:ext cx="2084700" cy="38223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92608" y="1133856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822960" y="1188720"/>
            <a:ext cx="135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MFE CONSOLIDATION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292608" y="1627632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92608" y="1700784"/>
            <a:ext cx="190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300"/>
              <a:buFont typeface="Calibri"/>
              <a:buNone/>
            </a:pPr>
            <a:r>
              <a:rPr b="1" i="0" lang="en" sz="11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Unified Cockpit Live </a:t>
            </a:r>
            <a:r>
              <a:rPr b="1" lang="en" sz="11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March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92608" y="2066544"/>
            <a:ext cx="19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t/>
            </a:r>
            <a:endParaRPr i="1" sz="8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i="1" lang="en" sz="8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Release 1: MyAccess UI Convergence (technical merge) </a:t>
            </a:r>
            <a:endParaRPr i="1" sz="8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i="1" lang="en" sz="80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· Release 2: MFE Shell (refined UX) · April 2028</a:t>
            </a:r>
            <a:endParaRPr i="1" sz="8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t/>
            </a:r>
            <a:endParaRPr i="1" sz="800">
              <a:solidFill>
                <a:srgbClr val="607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92608" y="2569464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92608" y="2734056"/>
            <a:ext cx="164700" cy="165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292608" y="2779776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One identity experience for 100K+ Airbus users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92608" y="2999232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4 </a:t>
            </a:r>
            <a:r>
              <a:rPr lang="en" sz="8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applications </a:t>
            </a: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converged into 1 unified platform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92608" y="3218688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≥80% user adoption at Gate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292608" y="3465576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92608" y="3511296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PROGRAMME DELIVERS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92608" y="3694176"/>
            <a:ext cx="190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MFE Shell ·  Kendo · 4 MFE Modules · Legacy UIs Retired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01168" y="4425696"/>
            <a:ext cx="2084700" cy="4572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292608" y="4443984"/>
            <a:ext cx="194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⬥  G1: Unified cockpit live · 100K+ users onboarded · Adoption ≥80%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2395728" y="1060704"/>
            <a:ext cx="2084700" cy="38223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2487168" y="1133856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017520" y="1188720"/>
            <a:ext cx="135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CORE BACKEND &amp; INTEGRATION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487168" y="1627632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487168" y="1700784"/>
            <a:ext cx="190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Secure Foundation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487168" y="2066544"/>
            <a:ext cx="19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Secure data foundation - one pipeline in, one authorised write path 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487168" y="2569464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487168" y="2734056"/>
            <a:ext cx="164700" cy="165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487168" y="2779776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Single authorised write path to Active Directory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487168" y="2999232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All IAM 	sources unified into one secure data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487168" y="3218688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Full auditability enforced from day one · Zero data loss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487168" y="3465576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487168" y="3511296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PROGRAMME DELIVERS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487168" y="3694176"/>
            <a:ext cx="190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Apache NiFi · MyX DB Cluster · Core API · Schema Unification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395728" y="4425696"/>
            <a:ext cx="2084700" cy="4572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487168" y="4443984"/>
            <a:ext cx="194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⬥  G2: Secure foundation live · Single write path validated · Zero data loss confirmed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590288" y="1060704"/>
            <a:ext cx="2084700" cy="38223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681728" y="1133856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212080" y="1188720"/>
            <a:ext cx="135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DOMAIN APIS + ZERO TRUST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681728" y="1627632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681728" y="1700784"/>
            <a:ext cx="190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Platform Backbone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681728" y="2066544"/>
            <a:ext cx="19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Platform backbone live - scalable, resilient, Zero Trust enforced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681728" y="2466594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681728" y="2640538"/>
            <a:ext cx="164700" cy="165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681728" y="2952473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Legacy systems fully marked for  decommissioned ·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681728" y="3218688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Security posture elevated , Zero Trust enforced across all IAM self ser operations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681728" y="3465576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681728" y="3511296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PROGRAMME DELIVERS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681728" y="3694176"/>
            <a:ext cx="190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API Gateway · 4 Module APIs · Business Logic Migrated · APIs marked for retirement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590288" y="4425696"/>
            <a:ext cx="2084700" cy="4572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681728" y="4443984"/>
            <a:ext cx="194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⬥  G3: Platform backbone live · Ready for Legacy decommissioned · Zero Trust enforced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784848" y="1060704"/>
            <a:ext cx="2084700" cy="3822300"/>
          </a:xfrm>
          <a:prstGeom prst="rect">
            <a:avLst/>
          </a:prstGeom>
          <a:solidFill>
            <a:schemeClr val="lt2"/>
          </a:solidFill>
          <a:ln cap="flat" cmpd="sng" w="15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876288" y="1133856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27A0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4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406640" y="1188720"/>
            <a:ext cx="135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27A0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MOBILE PLATFORM + PASSPORT DECOM</a:t>
            </a:r>
            <a:endParaRPr b="0" i="0" sz="7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876288" y="1627632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876288" y="1700784"/>
            <a:ext cx="190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MyIAM Mobile Platform</a:t>
            </a:r>
            <a:endParaRPr b="0" i="0" sz="13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876288" y="2066544"/>
            <a:ext cx="19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One MyIAM platform across all channels · Web · Mobile · Airbus Passport decommissioned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876288" y="2569464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27A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65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876288" y="2734056"/>
            <a:ext cx="164700" cy="16500"/>
          </a:xfrm>
          <a:prstGeom prst="rect">
            <a:avLst/>
          </a:prstGeom>
          <a:solidFill>
            <a:srgbClr val="4527A0"/>
          </a:solidFill>
          <a:ln cap="flat" cmpd="sng" w="12700">
            <a:solidFill>
              <a:srgbClr val="452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76288" y="2779776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MyIAM accessible on iOS and Android , full self-service on mobile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876288" y="2999232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Airbus Passport functionality absorbed into MyIAM cockpit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876288" y="3218688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Airbus Passport formally marked for decommission at Gate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876288" y="3465576"/>
            <a:ext cx="1902000" cy="16500"/>
          </a:xfrm>
          <a:prstGeom prst="rect">
            <a:avLst/>
          </a:prstGeom>
          <a:solidFill>
            <a:srgbClr val="D0D8E8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876288" y="3511296"/>
            <a:ext cx="1902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PROGRAMME DELIVERS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876288" y="3694176"/>
            <a:ext cx="190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iOS + Android - MyIAM Mob EIS  · Airbus Passport Decom starts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784848" y="4425696"/>
            <a:ext cx="2084700" cy="4572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452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876288" y="4443984"/>
            <a:ext cx="1947600" cy="420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⬥  G4: MyIAM Mobile live · Airbus Passport marked for decom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01168" y="4965192"/>
            <a:ext cx="640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⬥  </a:t>
            </a:r>
            <a:r>
              <a:rPr i="1" lang="en" sz="750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Out of scope  -1.  IAM Copilot  2. Decommission of MyX Applications planning 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681728" y="2676906"/>
            <a:ext cx="190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-  Resilient microservice architecture , no single point of failure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784848" y="3435132"/>
            <a:ext cx="2359200" cy="457200"/>
          </a:xfrm>
          <a:prstGeom prst="rect">
            <a:avLst/>
          </a:prstGeom>
          <a:solidFill>
            <a:srgbClr val="DDDDDD"/>
          </a:solidFill>
          <a:ln cap="flat" cmpd="sng" w="19050">
            <a:solidFill>
              <a:srgbClr val="AAAAAA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SCOPE TBD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Pending G</a:t>
            </a:r>
            <a:r>
              <a:rPr i="1" lang="en" sz="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720775" y="1099375"/>
            <a:ext cx="2148900" cy="3440700"/>
          </a:xfrm>
          <a:prstGeom prst="rect">
            <a:avLst/>
          </a:prstGeom>
          <a:solidFill>
            <a:srgbClr val="F5F5F5">
              <a:alpha val="20000"/>
            </a:srgbClr>
          </a:solidFill>
          <a:ln cap="flat" cmpd="sng" w="22850">
            <a:solidFill>
              <a:srgbClr val="AAAAAA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2176272" y="457200"/>
            <a:ext cx="6912900" cy="723000"/>
          </a:xfrm>
          <a:prstGeom prst="rect">
            <a:avLst/>
          </a:prstGeom>
          <a:solidFill>
            <a:srgbClr val="ECF0F7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176272" y="1209599"/>
            <a:ext cx="6912900" cy="7230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176272" y="1961998"/>
            <a:ext cx="6912900" cy="723000"/>
          </a:xfrm>
          <a:prstGeom prst="rect">
            <a:avLst/>
          </a:prstGeom>
          <a:solidFill>
            <a:srgbClr val="ECF0F7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176272" y="2714396"/>
            <a:ext cx="6912900" cy="7230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176272" y="3466795"/>
            <a:ext cx="6912900" cy="723000"/>
          </a:xfrm>
          <a:prstGeom prst="rect">
            <a:avLst/>
          </a:prstGeom>
          <a:solidFill>
            <a:srgbClr val="ECF0F7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176272" y="4219194"/>
            <a:ext cx="6912900" cy="723000"/>
          </a:xfrm>
          <a:prstGeom prst="rect">
            <a:avLst/>
          </a:prstGeom>
          <a:solidFill>
            <a:srgbClr val="F4F7FC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176272" y="0"/>
            <a:ext cx="2592300" cy="201300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176272" y="0"/>
            <a:ext cx="259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768596" y="0"/>
            <a:ext cx="3456300" cy="201300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768596" y="0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225028" y="0"/>
            <a:ext cx="864000" cy="201300"/>
          </a:xfrm>
          <a:prstGeom prst="rect">
            <a:avLst/>
          </a:prstGeom>
          <a:solidFill>
            <a:srgbClr val="1A2A4A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225028" y="0"/>
            <a:ext cx="86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176272" y="201168"/>
            <a:ext cx="864000" cy="255900"/>
          </a:xfrm>
          <a:prstGeom prst="rect">
            <a:avLst/>
          </a:prstGeom>
          <a:solidFill>
            <a:srgbClr val="1E3055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176272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176272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May–Jul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040380" y="201168"/>
            <a:ext cx="864000" cy="255900"/>
          </a:xfrm>
          <a:prstGeom prst="rect">
            <a:avLst/>
          </a:prstGeom>
          <a:solidFill>
            <a:srgbClr val="253760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040380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040380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Aug–Oct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904488" y="201168"/>
            <a:ext cx="864000" cy="255900"/>
          </a:xfrm>
          <a:prstGeom prst="rect">
            <a:avLst/>
          </a:prstGeom>
          <a:solidFill>
            <a:srgbClr val="1E3055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904488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904488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Nov–Jan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768596" y="201168"/>
            <a:ext cx="864000" cy="255900"/>
          </a:xfrm>
          <a:prstGeom prst="rect">
            <a:avLst/>
          </a:prstGeom>
          <a:solidFill>
            <a:srgbClr val="253760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4768596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4768596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Feb–Apr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5632704" y="201168"/>
            <a:ext cx="864000" cy="255900"/>
          </a:xfrm>
          <a:prstGeom prst="rect">
            <a:avLst/>
          </a:prstGeom>
          <a:solidFill>
            <a:srgbClr val="1E3055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632704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632704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May–Jul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6496812" y="201168"/>
            <a:ext cx="864000" cy="255900"/>
          </a:xfrm>
          <a:prstGeom prst="rect">
            <a:avLst/>
          </a:prstGeom>
          <a:solidFill>
            <a:srgbClr val="253760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6496812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6496812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Aug–Oct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7360920" y="201168"/>
            <a:ext cx="864000" cy="255900"/>
          </a:xfrm>
          <a:prstGeom prst="rect">
            <a:avLst/>
          </a:prstGeom>
          <a:solidFill>
            <a:srgbClr val="1E3055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7360920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2027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7360920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Nov–Jan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8225028" y="201168"/>
            <a:ext cx="864000" cy="255900"/>
          </a:xfrm>
          <a:prstGeom prst="rect">
            <a:avLst/>
          </a:prstGeom>
          <a:solidFill>
            <a:srgbClr val="253760"/>
          </a:solidFill>
          <a:ln cap="flat" cmpd="sng" w="9525">
            <a:solidFill>
              <a:srgbClr val="2A3F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8225028" y="201168"/>
            <a:ext cx="86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2028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8225028" y="329184"/>
            <a:ext cx="864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AAC8"/>
              </a:buClr>
              <a:buSzPts val="550"/>
              <a:buFont typeface="Calibri"/>
              <a:buNone/>
            </a:pPr>
            <a:r>
              <a:rPr b="0" i="0" lang="en" sz="550" u="none" cap="none" strike="noStrike">
                <a:solidFill>
                  <a:srgbClr val="8AAAC8"/>
                </a:solidFill>
                <a:latin typeface="Calibri"/>
                <a:ea typeface="Calibri"/>
                <a:cs typeface="Calibri"/>
                <a:sym typeface="Calibri"/>
              </a:rPr>
              <a:t>Feb–Apr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2169871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3033979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3898087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4762195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5626303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6490411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7354519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8218627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9082735" y="457200"/>
            <a:ext cx="12000" cy="4485000"/>
          </a:xfrm>
          <a:prstGeom prst="rect">
            <a:avLst/>
          </a:prstGeom>
          <a:solidFill>
            <a:srgbClr val="CBD5E0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2176275" y="543975"/>
            <a:ext cx="2719200" cy="274200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4895379" y="543977"/>
            <a:ext cx="137100" cy="137100"/>
          </a:xfrm>
          <a:prstGeom prst="rtTriangle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/>
          <p:nvPr/>
        </p:nvSpPr>
        <p:spPr>
          <a:xfrm flipH="1" rot="10800000">
            <a:off x="4895379" y="681197"/>
            <a:ext cx="137100" cy="137100"/>
          </a:xfrm>
          <a:prstGeom prst="rtTriangle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2240280" y="543977"/>
            <a:ext cx="235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MyAccess   UI Convergence   ·  3 Apps Absorbed (MyAccount, MyPassword, MyAppConnect)</a:t>
            </a:r>
            <a:endParaRPr b="1" sz="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5287015" y="543975"/>
            <a:ext cx="310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from 4 to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1 app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3586580" y="863829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1" lang="en" sz="6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Beta Release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 rot="2700000">
            <a:off x="5044686" y="571386"/>
            <a:ext cx="219345" cy="219345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5072062" y="598841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3040380" y="1296375"/>
            <a:ext cx="31557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6186830" y="1296375"/>
            <a:ext cx="137100" cy="137100"/>
          </a:xfrm>
          <a:prstGeom prst="rtTriangl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 flipH="1" rot="10800000">
            <a:off x="6186830" y="1433595"/>
            <a:ext cx="137100" cy="137100"/>
          </a:xfrm>
          <a:prstGeom prst="rtTriangl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104388" y="1296375"/>
            <a:ext cx="304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Tier</a:t>
            </a: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My</a:t>
            </a: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IAM </a:t>
            </a: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DB Sync  ·  </a:t>
            </a:r>
            <a:r>
              <a:rPr b="1" lang="en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(Apache nifi  + Micro db)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4107942" y="1672407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NiFi Pipelines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AD→MyX Sync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972050" y="1672407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5836158" y="1672407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Foundation </a:t>
            </a:r>
            <a:r>
              <a:rPr b="1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6241694" y="1351239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4336542" y="2048774"/>
            <a:ext cx="22050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6532474" y="2048774"/>
            <a:ext cx="137100" cy="137100"/>
          </a:xfrm>
          <a:prstGeom prst="rtTriangl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/>
          <p:nvPr/>
        </p:nvSpPr>
        <p:spPr>
          <a:xfrm flipH="1" rot="10800000">
            <a:off x="6532474" y="2185994"/>
            <a:ext cx="137100" cy="137100"/>
          </a:xfrm>
          <a:prstGeom prst="rtTriangl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4400550" y="2048774"/>
            <a:ext cx="209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API  ·  Domain Write Operations  ·  AD Write Authority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4539996" y="2424806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⬡ Proto: Arch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+Interface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404104" y="2424806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Write Ops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268212" y="2424806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Core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Live </a:t>
            </a:r>
            <a:r>
              <a:rPr b="1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 rot="2700000">
            <a:off x="6559962" y="2076183"/>
            <a:ext cx="219345" cy="219345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523330" y="2094494"/>
            <a:ext cx="29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6587338" y="2103638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115461" y="2801173"/>
            <a:ext cx="2766600" cy="274200"/>
          </a:xfrm>
          <a:prstGeom prst="rect">
            <a:avLst/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6859915" y="2793936"/>
            <a:ext cx="137100" cy="137100"/>
          </a:xfrm>
          <a:prstGeom prst="rtTriangle">
            <a:avLst/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 flipH="1" rot="10800000">
            <a:off x="6859915" y="2931156"/>
            <a:ext cx="137100" cy="137100"/>
          </a:xfrm>
          <a:prstGeom prst="rtTriangle">
            <a:avLst/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276095" y="2801173"/>
            <a:ext cx="265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</a:t>
            </a:r>
            <a:r>
              <a:rPr lang="en" sz="600">
                <a:solidFill>
                  <a:schemeClr val="lt1"/>
                </a:solidFill>
              </a:rPr>
              <a:t>microservice</a:t>
            </a: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4 Domain APIs  ·  Legacy APIs Retired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7163286" y="2801175"/>
            <a:ext cx="42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5 APIs →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1 Gateway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4318915" y="3177205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5183023" y="3177205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Password +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Account APIs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6047131" y="3177205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Group +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SSO APIs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781623" y="3177205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Legacy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Retired </a:t>
            </a:r>
            <a:r>
              <a:rPr b="1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 rot="2700000">
            <a:off x="6900551" y="2828582"/>
            <a:ext cx="219345" cy="219345"/>
          </a:xfrm>
          <a:prstGeom prst="rect">
            <a:avLst/>
          </a:prstGeom>
          <a:solidFill>
            <a:srgbClr val="C84B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6927927" y="2856037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4768596" y="3553572"/>
            <a:ext cx="3328500" cy="274200"/>
          </a:xfrm>
          <a:prstGeom prst="rect">
            <a:avLst/>
          </a:prstGeom>
          <a:solidFill>
            <a:srgbClr val="0E6B50"/>
          </a:solidFill>
          <a:ln cap="flat" cmpd="sng" w="12700">
            <a:solidFill>
              <a:srgbClr val="0E6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8087868" y="3553572"/>
            <a:ext cx="137100" cy="137100"/>
          </a:xfrm>
          <a:prstGeom prst="rtTriangle">
            <a:avLst/>
          </a:prstGeom>
          <a:solidFill>
            <a:srgbClr val="0E6B50"/>
          </a:solidFill>
          <a:ln cap="flat" cmpd="sng" w="12700">
            <a:solidFill>
              <a:srgbClr val="0E6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 flipH="1" rot="10800000">
            <a:off x="8087868" y="3690792"/>
            <a:ext cx="137100" cy="137100"/>
          </a:xfrm>
          <a:prstGeom prst="rtTriangle">
            <a:avLst/>
          </a:prstGeom>
          <a:solidFill>
            <a:srgbClr val="0E6B50"/>
          </a:solidFill>
          <a:ln cap="flat" cmpd="sng" w="12700">
            <a:solidFill>
              <a:srgbClr val="0E6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832604" y="3553572"/>
            <a:ext cx="321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Direct AD Access  ·  PAP Policies  ·  JIT Privileged Access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8339413" y="3553575"/>
            <a:ext cx="59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0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1E4A80"/>
                </a:solidFill>
                <a:latin typeface="Calibri"/>
                <a:ea typeface="Calibri"/>
                <a:cs typeface="Calibri"/>
                <a:sym typeface="Calibri"/>
              </a:rPr>
              <a:t>time-bound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972050" y="3929604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PAP Policy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6268212" y="3929604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JIT Access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7823606" y="3929604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Zero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Direct AD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8142732" y="3608436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6928866" y="4305971"/>
            <a:ext cx="1729800" cy="274200"/>
          </a:xfrm>
          <a:prstGeom prst="rect">
            <a:avLst/>
          </a:prstGeom>
          <a:solidFill>
            <a:srgbClr val="37474F"/>
          </a:solidFill>
          <a:ln cap="flat" cmpd="sng" w="12700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8649538" y="4305971"/>
            <a:ext cx="137100" cy="137100"/>
          </a:xfrm>
          <a:prstGeom prst="rtTriangle">
            <a:avLst/>
          </a:prstGeom>
          <a:solidFill>
            <a:srgbClr val="37474F"/>
          </a:solidFill>
          <a:ln cap="flat" cmpd="sng" w="12700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 flipH="1" rot="10800000">
            <a:off x="8649538" y="4443191"/>
            <a:ext cx="137100" cy="137100"/>
          </a:xfrm>
          <a:prstGeom prst="rtTriangle">
            <a:avLst/>
          </a:prstGeom>
          <a:solidFill>
            <a:srgbClr val="37474F"/>
          </a:solidFill>
          <a:ln cap="flat" cmpd="sng" w="12700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6992874" y="4305971"/>
            <a:ext cx="1620000" cy="274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iOS+Android  ·  Airbus Passport Decom  ·  Platform Hardening</a:t>
            </a:r>
            <a:endParaRPr b="0" i="0" sz="75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7132320" y="4682002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iOS+Android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ARD Review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7823606" y="4682002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Mobile Beta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Copilot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8428482" y="4682002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Mobile Live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 rot="2700000">
            <a:off x="8677026" y="4333380"/>
            <a:ext cx="219345" cy="219345"/>
          </a:xfrm>
          <a:prstGeom prst="rect">
            <a:avLst/>
          </a:prstGeom>
          <a:solidFill>
            <a:srgbClr val="37474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8640394" y="4351691"/>
            <a:ext cx="29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8704402" y="4360835"/>
            <a:ext cx="164700" cy="164700"/>
          </a:xfrm>
          <a:prstGeom prst="ellipse">
            <a:avLst/>
          </a:prstGeom>
          <a:solidFill>
            <a:srgbClr val="888888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0" y="0"/>
            <a:ext cx="2176200" cy="5143500"/>
          </a:xfrm>
          <a:prstGeom prst="rect">
            <a:avLst/>
          </a:prstGeom>
          <a:solidFill>
            <a:srgbClr val="0D1A2E"/>
          </a:solidFill>
          <a:ln cap="flat" cmpd="sng" w="12700">
            <a:solidFill>
              <a:srgbClr val="0D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0" y="457200"/>
            <a:ext cx="530400" cy="723000"/>
          </a:xfrm>
          <a:prstGeom prst="rect">
            <a:avLst/>
          </a:prstGeom>
          <a:solidFill>
            <a:srgbClr val="6B3F7A"/>
          </a:solidFill>
          <a:ln cap="flat" cmpd="sng" w="12700">
            <a:solidFill>
              <a:srgbClr val="6B3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18288" y="457200"/>
            <a:ext cx="5121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Consolidation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0" y="1209599"/>
            <a:ext cx="530400" cy="147540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18288" y="1209599"/>
            <a:ext cx="5121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Backend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Integration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0" y="2714396"/>
            <a:ext cx="530400" cy="1475400"/>
          </a:xfrm>
          <a:prstGeom prst="rect">
            <a:avLst/>
          </a:prstGeom>
          <a:solidFill>
            <a:srgbClr val="0E6B50"/>
          </a:solidFill>
          <a:ln cap="flat" cmpd="sng" w="12700">
            <a:solidFill>
              <a:srgbClr val="0E6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8288" y="2714396"/>
            <a:ext cx="5121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APIs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Zero Trust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0" y="4219194"/>
            <a:ext cx="530400" cy="723000"/>
          </a:xfrm>
          <a:prstGeom prst="rect">
            <a:avLst/>
          </a:prstGeom>
          <a:solidFill>
            <a:srgbClr val="37474F"/>
          </a:solidFill>
          <a:ln cap="flat" cmpd="sng" w="12700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8288" y="4219194"/>
            <a:ext cx="5121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Platform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Passport Decom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30936" y="658749"/>
            <a:ext cx="148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MFE Consolidation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30936" y="905637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MFE Shell · Angular ModFed · OAuth2 · 4 Modules  ·  ⬡ NiFi / Core API / Domain API Prototypes run in parallel during Phase 1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30936" y="1324280"/>
            <a:ext cx="1481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NiFi Pipelines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MyX DB Cluster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30936" y="1744904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Apache NiFi · AD→My</a:t>
            </a:r>
            <a:r>
              <a:rPr lang="en" sz="560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 DB · Schema Unification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630936" y="2163547"/>
            <a:ext cx="148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30936" y="2410435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Sole Write </a:t>
            </a:r>
            <a:r>
              <a:rPr lang="en" sz="560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to any data source</a:t>
            </a: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· Audit + Security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630936" y="2829077"/>
            <a:ext cx="1481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APIs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Zero Trust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630936" y="3249701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" sz="560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MyX </a:t>
            </a: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r>
              <a:rPr lang="en" sz="560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 marked for </a:t>
            </a: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 Retire</a:t>
            </a:r>
            <a:r>
              <a:rPr lang="en" sz="560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ment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30936" y="3668344"/>
            <a:ext cx="148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Trust &amp; JIT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630936" y="3915232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No Direct AD · PAP Policies · JIT Access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630936" y="4420743"/>
            <a:ext cx="148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Platform + Passport Decom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630936" y="4667631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8AA"/>
              </a:buClr>
              <a:buSzPts val="560"/>
              <a:buFont typeface="Calibri"/>
              <a:buNone/>
            </a:pPr>
            <a:r>
              <a:rPr b="0" i="0" lang="en" sz="560" u="none" cap="none" strike="noStrike">
                <a:solidFill>
                  <a:srgbClr val="6A88AA"/>
                </a:solidFill>
                <a:latin typeface="Calibri"/>
                <a:ea typeface="Calibri"/>
                <a:cs typeface="Calibri"/>
                <a:sym typeface="Calibri"/>
              </a:rPr>
              <a:t>iOS+Android · Airbus Passport Decom · Platform Hardening</a:t>
            </a:r>
            <a:endParaRPr b="0" i="0" sz="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91440" y="73152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MyIAM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91440" y="310896"/>
            <a:ext cx="155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888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4A6888"/>
                </a:solidFill>
                <a:latin typeface="Calibri"/>
                <a:ea typeface="Calibri"/>
                <a:cs typeface="Calibri"/>
                <a:sym typeface="Calibri"/>
              </a:rPr>
              <a:t>Roadmap  ·  May 2026 → Apr 2028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0" y="4960620"/>
            <a:ext cx="2176200" cy="183000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08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2221992" y="5015484"/>
            <a:ext cx="91500" cy="91500"/>
          </a:xfrm>
          <a:prstGeom prst="ellipse">
            <a:avLst/>
          </a:prstGeom>
          <a:solidFill>
            <a:srgbClr val="2E7D3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2350008" y="5024628"/>
            <a:ext cx="7314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r>
              <a:rPr lang="en" sz="600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 : 4 release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3182112" y="5015484"/>
            <a:ext cx="91500" cy="91500"/>
          </a:xfrm>
          <a:prstGeom prst="ellipse">
            <a:avLst/>
          </a:prstGeom>
          <a:solidFill>
            <a:srgbClr val="C6282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3310128" y="5024628"/>
            <a:ext cx="7314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 rot="2700000">
            <a:off x="4096529" y="5006333"/>
            <a:ext cx="100551" cy="100551"/>
          </a:xfrm>
          <a:prstGeom prst="rect">
            <a:avLst/>
          </a:prstGeom>
          <a:solidFill>
            <a:srgbClr val="7B4F9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4251960" y="5024628"/>
            <a:ext cx="3108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G1–G4 Decision gate  ·  Abhishek Reddy sign-off required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2216540" y="1645086"/>
            <a:ext cx="859500" cy="242400"/>
          </a:xfrm>
          <a:prstGeom prst="rect">
            <a:avLst/>
          </a:prstGeom>
          <a:solidFill>
            <a:srgbClr val="37474F">
              <a:alpha val="85100"/>
            </a:srgbClr>
          </a:solidFill>
          <a:ln cap="flat" cmpd="sng" w="19050">
            <a:solidFill>
              <a:srgbClr val="80CB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⬡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0" i="1" lang="en" sz="5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NiFi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2321450" y="2391075"/>
            <a:ext cx="915600" cy="242400"/>
          </a:xfrm>
          <a:prstGeom prst="rect">
            <a:avLst/>
          </a:prstGeom>
          <a:solidFill>
            <a:srgbClr val="37474F">
              <a:alpha val="85100"/>
            </a:srgbClr>
          </a:solidFill>
          <a:ln cap="flat" cmpd="sng" w="19050">
            <a:solidFill>
              <a:srgbClr val="80CB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⬡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0" i="1" lang="en" sz="5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Core API 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2176275" y="2744223"/>
            <a:ext cx="807600" cy="274200"/>
          </a:xfrm>
          <a:prstGeom prst="rect">
            <a:avLst/>
          </a:prstGeom>
          <a:solidFill>
            <a:srgbClr val="37474F">
              <a:alpha val="85100"/>
            </a:srgbClr>
          </a:solidFill>
          <a:ln cap="flat" cmpd="sng" w="19050">
            <a:solidFill>
              <a:srgbClr val="80CB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⬡ PROTOTYPE  ·  Domain API Gateway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2216540" y="933825"/>
            <a:ext cx="859500" cy="246900"/>
          </a:xfrm>
          <a:prstGeom prst="rect">
            <a:avLst/>
          </a:prstGeom>
          <a:solidFill>
            <a:srgbClr val="37474F">
              <a:alpha val="85100"/>
            </a:srgbClr>
          </a:solidFill>
          <a:ln cap="flat" cmpd="sng" w="19050">
            <a:solidFill>
              <a:srgbClr val="80CB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⬡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0" i="1" lang="en" sz="550" u="none" cap="none" strike="noStrike">
                <a:solidFill>
                  <a:srgbClr val="E0F2F1"/>
                </a:solidFill>
                <a:latin typeface="Calibri"/>
                <a:ea typeface="Calibri"/>
                <a:cs typeface="Calibri"/>
                <a:sym typeface="Calibri"/>
              </a:rPr>
              <a:t>MFE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8288" y="4219194"/>
            <a:ext cx="5121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Mobile Platform</a:t>
            </a:r>
            <a:endParaRPr b="0" i="0" sz="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0"/>
              <a:buFont typeface="Calibri"/>
              <a:buNone/>
            </a:pPr>
            <a:r>
              <a:rPr b="1" i="0" lang="en" sz="68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+ Passport Decom</a:t>
            </a:r>
            <a:endParaRPr b="0" i="0" sz="6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580050" y="4256799"/>
            <a:ext cx="8514600" cy="693000"/>
          </a:xfrm>
          <a:prstGeom prst="rect">
            <a:avLst/>
          </a:prstGeom>
          <a:solidFill>
            <a:srgbClr val="F0F0F0">
              <a:alpha val="20000"/>
            </a:srgbClr>
          </a:solidFill>
          <a:ln cap="flat" cmpd="sng" w="19050">
            <a:solidFill>
              <a:srgbClr val="BBBBBB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SCOPE TBD  ·  To be decided after G3  ·  H</a:t>
            </a:r>
            <a:r>
              <a:rPr b="1" i="1" lang="en" sz="8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1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approval required</a:t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4903176" y="871795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✓ Cockpit Live - </a:t>
            </a:r>
            <a:r>
              <a:rPr b="1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3136575" y="2740569"/>
            <a:ext cx="694800" cy="334800"/>
          </a:xfrm>
          <a:prstGeom prst="snip1Rect">
            <a:avLst>
              <a:gd fmla="val 16667" name="adj"/>
            </a:avLst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Initial design: API microservice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3093298" y="1991459"/>
            <a:ext cx="694800" cy="334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Initial design: Core API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644875" y="567800"/>
            <a:ext cx="2929500" cy="2742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708874" y="567800"/>
            <a:ext cx="2592300" cy="27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MFE Shell  ·  Angular ModFed  ·  Micro-Frontend Modules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 rot="2700000">
            <a:off x="8723090" y="608734"/>
            <a:ext cx="219345" cy="219345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8750467" y="642957"/>
            <a:ext cx="164700" cy="164700"/>
          </a:xfrm>
          <a:prstGeom prst="ellipse">
            <a:avLst/>
          </a:prstGeom>
          <a:solidFill>
            <a:srgbClr val="2E7D32"/>
          </a:solidFill>
          <a:ln cap="flat" cmpd="sng" w="114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8573109" y="564280"/>
            <a:ext cx="137100" cy="137100"/>
          </a:xfrm>
          <a:prstGeom prst="rtTriangl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 flipH="1" rot="10800000">
            <a:off x="8574834" y="705010"/>
            <a:ext cx="137100" cy="137100"/>
          </a:xfrm>
          <a:prstGeom prst="rtTriangl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8494980" y="880626"/>
            <a:ext cx="493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" sz="6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MFE </a:t>
            </a:r>
            <a:r>
              <a:rPr b="0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6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/>
          <p:nvPr/>
        </p:nvSpPr>
        <p:spPr>
          <a:xfrm>
            <a:off x="0" y="0"/>
            <a:ext cx="9144000" cy="639000"/>
          </a:xfrm>
          <a:prstGeom prst="rect">
            <a:avLst/>
          </a:prstGeom>
          <a:solidFill>
            <a:srgbClr val="050E1F"/>
          </a:solidFill>
          <a:ln cap="flat" cmpd="sng" w="9525">
            <a:solidFill>
              <a:srgbClr val="050E1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274320" y="27432"/>
            <a:ext cx="3429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0BFD4"/>
                </a:solidFill>
                <a:latin typeface="Calibri"/>
                <a:ea typeface="Calibri"/>
                <a:cs typeface="Calibri"/>
                <a:sym typeface="Calibri"/>
              </a:rPr>
              <a:t>PROGRAMME RISK REGISTER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148533" y="159715"/>
            <a:ext cx="597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Dependency Risks &amp; Mitigations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6587275" y="239590"/>
            <a:ext cx="2263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solidFill>
                  <a:srgbClr val="B0BFD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700" u="none" cap="none" strike="noStrike">
                <a:solidFill>
                  <a:srgbClr val="B0BFD4"/>
                </a:solidFill>
                <a:latin typeface="Calibri"/>
                <a:ea typeface="Calibri"/>
                <a:cs typeface="Calibri"/>
                <a:sym typeface="Calibri"/>
              </a:rPr>
              <a:t> risks  · </a:t>
            </a:r>
            <a:r>
              <a:rPr lang="en" sz="700">
                <a:solidFill>
                  <a:srgbClr val="B0BFD4"/>
                </a:solidFill>
                <a:latin typeface="Calibri"/>
                <a:ea typeface="Calibri"/>
                <a:cs typeface="Calibri"/>
                <a:sym typeface="Calibri"/>
              </a:rPr>
              <a:t>1 not mitigated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4796700" y="2196799"/>
            <a:ext cx="4221300" cy="1389600"/>
          </a:xfrm>
          <a:prstGeom prst="rect">
            <a:avLst/>
          </a:prstGeom>
          <a:solidFill>
            <a:srgbClr val="FBFBFB"/>
          </a:solidFill>
          <a:ln cap="flat" cmpd="sng" w="1235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t/>
            </a:r>
            <a:endParaRPr b="0" i="0" sz="18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4688850" y="2198752"/>
            <a:ext cx="69300" cy="1353300"/>
          </a:xfrm>
          <a:prstGeom prst="rect">
            <a:avLst/>
          </a:prstGeom>
          <a:solidFill>
            <a:srgbClr val="DC3545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4908038" y="2291748"/>
            <a:ext cx="426900" cy="2847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 cap="flat" cmpd="sng" w="1235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7"/>
              <a:buFont typeface="Arial"/>
              <a:buNone/>
            </a:pPr>
            <a:r>
              <a:rPr b="1" i="0" lang="en" sz="12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2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5427613" y="2291748"/>
            <a:ext cx="974100" cy="284700"/>
          </a:xfrm>
          <a:prstGeom prst="rect">
            <a:avLst/>
          </a:prstGeom>
          <a:solidFill>
            <a:srgbClr val="F1F1F1"/>
          </a:solidFill>
          <a:ln cap="flat" cmpd="sng" w="1235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CRITICAL ★ NEW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6510590" y="2236311"/>
            <a:ext cx="2468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1" i="0" lang="en" sz="908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Phase 2 API modernization breaks Phase 1 MFE modules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4908038" y="2671544"/>
            <a:ext cx="4035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1" lang="en" sz="648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Phase 1 go-live (Oct 2026) → Phase 2 transition (Nov 2026)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4908038" y="2840342"/>
            <a:ext cx="556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5427625" y="2851732"/>
            <a:ext cx="33678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0" lang="en" sz="648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Phase 1 ships MFE to 200K+ users on legacy APIs. Phase 2 replaces them with domain APIs — different contracts. Modules break without refactoring.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4908038" y="3093540"/>
            <a:ext cx="760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5569493" y="3104929"/>
            <a:ext cx="31824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0" lang="en" sz="648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API Gateway backward compatibility layer. 2–4 week parallel operation window. Coordinate API contracts Q2 2026. Module refactoring in Phase 2 early weeks.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117874" y="4840004"/>
            <a:ext cx="845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1" lang="en" sz="600" u="none" cap="none" strike="noStrike">
                <a:solidFill>
                  <a:srgbClr val="9B9B9B"/>
                </a:solidFill>
                <a:latin typeface="Calibri"/>
                <a:ea typeface="Calibri"/>
                <a:cs typeface="Calibri"/>
                <a:sym typeface="Calibri"/>
              </a:rPr>
              <a:t>Mitigations additive to existing roadmap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187175" y="1024378"/>
            <a:ext cx="4321800" cy="1041300"/>
          </a:xfrm>
          <a:prstGeom prst="rect">
            <a:avLst/>
          </a:prstGeom>
          <a:solidFill>
            <a:srgbClr val="FBFBFB"/>
          </a:solidFill>
          <a:ln cap="flat" cmpd="sng" w="1020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92629" y="1024376"/>
            <a:ext cx="69300" cy="1097400"/>
          </a:xfrm>
          <a:prstGeom prst="rect">
            <a:avLst/>
          </a:prstGeom>
          <a:solidFill>
            <a:srgbClr val="E66E00"/>
          </a:solidFill>
          <a:ln cap="flat" cmpd="sng" w="1020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231598" y="1062453"/>
            <a:ext cx="452400" cy="198000"/>
          </a:xfrm>
          <a:prstGeom prst="roundRect">
            <a:avLst>
              <a:gd fmla="val 16667" name="adj"/>
            </a:avLst>
          </a:prstGeom>
          <a:solidFill>
            <a:srgbClr val="E66E00"/>
          </a:solidFill>
          <a:ln cap="flat" cmpd="sng" w="1020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0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782281" y="1062453"/>
            <a:ext cx="1032300" cy="198000"/>
          </a:xfrm>
          <a:prstGeom prst="rect">
            <a:avLst/>
          </a:prstGeom>
          <a:solidFill>
            <a:srgbClr val="F1F1F1"/>
          </a:solidFill>
          <a:ln cap="flat" cmpd="sng" w="1020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IMPORTANT ★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1893481" y="1062453"/>
            <a:ext cx="2615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9"/>
              <a:buFont typeface="Arial"/>
              <a:buNone/>
            </a:pPr>
            <a:r>
              <a:rPr b="1" lang="en" sz="749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R1 – Phase 1: MyAccess UI Consolidation (3-app merge technical complexity)</a:t>
            </a:r>
            <a:endParaRPr b="1" sz="749">
              <a:solidFill>
                <a:srgbClr val="3241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231598" y="1326576"/>
            <a:ext cx="42774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0" i="1" lang="en" sz="535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Q2 2026 module development → potential Q3 delays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231598" y="1443964"/>
            <a:ext cx="590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900285" y="1443964"/>
            <a:ext cx="3569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lang="en" sz="635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MyAccess consolidation of 3 apps requires significant technical refactoring. Minimal UX experience  . UI development rework </a:t>
            </a:r>
            <a:endParaRPr sz="635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t/>
            </a:r>
            <a:endParaRPr sz="635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231598" y="1717884"/>
            <a:ext cx="806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908269" y="1696919"/>
            <a:ext cx="3372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lang="en" sz="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Phase 1 (May-Jan 2026): Focus on technical consolidation only. Defer full redesign to Phase 2. Early design sprints (Apr-Jan 2026) define integration patterns and full redevelopment for better UX and adaptation. New features cant be </a:t>
            </a:r>
            <a:r>
              <a:rPr lang="en" sz="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accommodate</a:t>
            </a:r>
            <a:r>
              <a:rPr lang="en" sz="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until Release 5</a:t>
            </a:r>
            <a:endParaRPr sz="600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215350" y="2242878"/>
            <a:ext cx="4362000" cy="1153200"/>
          </a:xfrm>
          <a:prstGeom prst="rect">
            <a:avLst/>
          </a:prstGeom>
          <a:solidFill>
            <a:srgbClr val="FBFBFB"/>
          </a:solidFill>
          <a:ln cap="flat" cmpd="sng" w="1020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104050" y="2317867"/>
            <a:ext cx="69300" cy="1060800"/>
          </a:xfrm>
          <a:prstGeom prst="rect">
            <a:avLst/>
          </a:prstGeom>
          <a:solidFill>
            <a:srgbClr val="DC3545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222054" y="2383898"/>
            <a:ext cx="452400" cy="1980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0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772737" y="2383898"/>
            <a:ext cx="1032300" cy="198000"/>
          </a:xfrm>
          <a:prstGeom prst="rect">
            <a:avLst/>
          </a:prstGeom>
          <a:solidFill>
            <a:srgbClr val="F1F1F1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CRITICAL ★ 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1883937" y="2383898"/>
            <a:ext cx="26157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9"/>
              <a:buFont typeface="Arial"/>
              <a:buNone/>
            </a:pPr>
            <a:r>
              <a:rPr b="1" i="0" lang="en" sz="749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Legacy API contracts not optimized for MFE consumption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222054" y="2648021"/>
            <a:ext cx="42774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0" i="1" lang="en" sz="535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Phase 1 go-live (</a:t>
            </a:r>
            <a:r>
              <a:rPr i="1" lang="en" sz="535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Jan</a:t>
            </a:r>
            <a:r>
              <a:rPr b="0" i="1" lang="en" sz="535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 2026) and Phase 2 transition (Apr 2027)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222054" y="2765409"/>
            <a:ext cx="590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890740" y="2765409"/>
            <a:ext cx="3569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0" i="0" lang="en" sz="6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Legacy MyX APIs return monolithic payloads. MFE modules can't fetch independently — causes full-payload overhead and breaking changes when Phase 2 APIs replace them.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222054" y="3067283"/>
            <a:ext cx="806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891736" y="3032341"/>
            <a:ext cx="3372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0" i="0" lang="en" sz="635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Phase 1: API adapter layer + shared state mgmt. Phase 2: Granular domain APIs per module. 4-week API coexistence window. Refactoring sprints in Phase 2 weeks 2–4.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4724051" y="1011895"/>
            <a:ext cx="4362000" cy="1041300"/>
          </a:xfrm>
          <a:prstGeom prst="rect">
            <a:avLst/>
          </a:prstGeom>
          <a:solidFill>
            <a:srgbClr val="FBFBFB"/>
          </a:solidFill>
          <a:ln cap="flat" cmpd="sng" w="1020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4638593" y="1011895"/>
            <a:ext cx="69300" cy="1005900"/>
          </a:xfrm>
          <a:prstGeom prst="rect">
            <a:avLst/>
          </a:prstGeom>
          <a:solidFill>
            <a:srgbClr val="DC3545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4779904" y="1077926"/>
            <a:ext cx="452400" cy="1980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0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330587" y="1077926"/>
            <a:ext cx="1032300" cy="198000"/>
          </a:xfrm>
          <a:prstGeom prst="rect">
            <a:avLst/>
          </a:prstGeom>
          <a:solidFill>
            <a:srgbClr val="F1F1F1"/>
          </a:solidFill>
          <a:ln cap="flat" cmpd="sng" w="10200">
            <a:solidFill>
              <a:srgbClr val="DC35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CRITICAL ★ 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6441025" y="1083136"/>
            <a:ext cx="2468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9"/>
              <a:buFont typeface="Arial"/>
              <a:buNone/>
            </a:pPr>
            <a:r>
              <a:rPr b="1" lang="en" sz="749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Data Sync(Nifi) &amp; Core Engine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4779904" y="1342049"/>
            <a:ext cx="42774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0" i="1" lang="en" sz="535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Architecture review — hits Q3/Q4 2026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4779904" y="1459437"/>
            <a:ext cx="590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5448590" y="1459437"/>
            <a:ext cx="3569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lang="en" sz="635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Both POCs should succeed with target metrics for exit criteria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4779904" y="1635519"/>
            <a:ext cx="806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b="1" i="0" lang="en" sz="535" u="none" cap="none" strike="noStrike">
                <a:solidFill>
                  <a:srgbClr val="8C1414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1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505794" y="1635519"/>
            <a:ext cx="33726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675" lIns="73350" spcFirstLastPara="1" rIns="73350" wrap="square" tIns="366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"/>
              <a:buFont typeface="Arial"/>
              <a:buNone/>
            </a:pPr>
            <a:r>
              <a:rPr lang="en" sz="635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200475" y="3542781"/>
            <a:ext cx="4221300" cy="1181700"/>
          </a:xfrm>
          <a:prstGeom prst="rect">
            <a:avLst/>
          </a:prstGeom>
          <a:solidFill>
            <a:srgbClr val="FBFBFB"/>
          </a:solidFill>
          <a:ln cap="flat" cmpd="sng" w="1235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t/>
            </a:r>
            <a:endParaRPr b="0" i="0" sz="18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92637" y="3556609"/>
            <a:ext cx="69300" cy="1188600"/>
          </a:xfrm>
          <a:prstGeom prst="rect">
            <a:avLst/>
          </a:prstGeom>
          <a:solidFill>
            <a:srgbClr val="E66E00"/>
          </a:solidFill>
          <a:ln cap="flat" cmpd="sng" w="1020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311813" y="3637730"/>
            <a:ext cx="426900" cy="284700"/>
          </a:xfrm>
          <a:prstGeom prst="roundRect">
            <a:avLst>
              <a:gd fmla="val 16667" name="adj"/>
            </a:avLst>
          </a:prstGeom>
          <a:solidFill>
            <a:srgbClr val="E66E00"/>
          </a:solidFill>
          <a:ln cap="flat" cmpd="sng" w="1235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7"/>
              <a:buFont typeface="Arial"/>
              <a:buNone/>
            </a:pPr>
            <a:r>
              <a:rPr b="1" i="0" lang="en" sz="12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2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831388" y="3637730"/>
            <a:ext cx="816300" cy="284700"/>
          </a:xfrm>
          <a:prstGeom prst="rect">
            <a:avLst/>
          </a:prstGeom>
          <a:solidFill>
            <a:srgbClr val="F1F1F1"/>
          </a:solidFill>
          <a:ln cap="flat" cmpd="sng" w="1235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1722088" y="3637730"/>
            <a:ext cx="2626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1" i="0" lang="en" sz="908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Feature Freeze — Post-</a:t>
            </a:r>
            <a:r>
              <a:rPr b="1" lang="en" sz="908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b="1" i="0" lang="en" sz="908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 2026 changes create scope gaps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311813" y="4017526"/>
            <a:ext cx="4035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1" lang="en" sz="648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Locked March 2026  ·  Delta review at each G1–G4 gate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311813" y="4186324"/>
            <a:ext cx="556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942725" y="4186313"/>
            <a:ext cx="3429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0" lang="en" sz="648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Features frozen at March 2026 baseline. Post-freeze additions create gaps in MFE module scope.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311813" y="4439522"/>
            <a:ext cx="760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1023461" y="4411568"/>
            <a:ext cx="31824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0" lang="en" sz="648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PM owns feature freeze sign-off with each product team. Re-adjustment sprints at end of Phase 1 &amp; 3.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796806" y="3661868"/>
            <a:ext cx="4221300" cy="1181700"/>
          </a:xfrm>
          <a:prstGeom prst="rect">
            <a:avLst/>
          </a:prstGeom>
          <a:solidFill>
            <a:srgbClr val="FBFBFB"/>
          </a:solidFill>
          <a:ln cap="flat" cmpd="sng" w="12350">
            <a:solidFill>
              <a:srgbClr val="D7D7D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r>
              <a:t/>
            </a:r>
            <a:endParaRPr b="0" i="0" sz="18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4688968" y="3675696"/>
            <a:ext cx="69300" cy="1188600"/>
          </a:xfrm>
          <a:prstGeom prst="rect">
            <a:avLst/>
          </a:prstGeom>
          <a:solidFill>
            <a:srgbClr val="E66E00"/>
          </a:solidFill>
          <a:ln cap="flat" cmpd="sng" w="1020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6675" lIns="73350" spcFirstLastPara="1" rIns="73350" wrap="square" tIns="3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8"/>
              <a:buFont typeface="Arial"/>
              <a:buNone/>
            </a:pPr>
            <a:r>
              <a:t/>
            </a:r>
            <a:endParaRPr b="0" i="0" sz="14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4908143" y="3756817"/>
            <a:ext cx="426900" cy="284700"/>
          </a:xfrm>
          <a:prstGeom prst="roundRect">
            <a:avLst>
              <a:gd fmla="val 16667" name="adj"/>
            </a:avLst>
          </a:prstGeom>
          <a:solidFill>
            <a:srgbClr val="E66E00"/>
          </a:solidFill>
          <a:ln cap="flat" cmpd="sng" w="1235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7"/>
              <a:buFont typeface="Arial"/>
              <a:buNone/>
            </a:pPr>
            <a:r>
              <a:rPr b="1" i="0" lang="en" sz="12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2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427719" y="3756817"/>
            <a:ext cx="816300" cy="284700"/>
          </a:xfrm>
          <a:prstGeom prst="rect">
            <a:avLst/>
          </a:prstGeom>
          <a:solidFill>
            <a:srgbClr val="F1F1F1"/>
          </a:solidFill>
          <a:ln cap="flat" cmpd="sng" w="12350">
            <a:solidFill>
              <a:srgbClr val="E66E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4425" lIns="88900" spcFirstLastPara="1" rIns="88900" wrap="square" tIns="44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6318419" y="3756817"/>
            <a:ext cx="2626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8"/>
              <a:buFont typeface="Arial"/>
              <a:buNone/>
            </a:pPr>
            <a:r>
              <a:rPr b="1" lang="en" sz="908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Infrastructure dependency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4908143" y="4136613"/>
            <a:ext cx="4035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1" lang="en" sz="648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Locked March 2026  ·  Delta review at each G1–G4 gate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8"/>
          <p:cNvSpPr txBox="1"/>
          <p:nvPr/>
        </p:nvSpPr>
        <p:spPr>
          <a:xfrm>
            <a:off x="4908143" y="4305412"/>
            <a:ext cx="556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5539056" y="4305400"/>
            <a:ext cx="3429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t/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4908143" y="4558609"/>
            <a:ext cx="760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1" i="0" lang="en" sz="648" u="none" cap="none" strike="noStrike">
                <a:solidFill>
                  <a:srgbClr val="9B4600"/>
                </a:solidFill>
                <a:latin typeface="Calibri"/>
                <a:ea typeface="Calibri"/>
                <a:cs typeface="Calibri"/>
                <a:sym typeface="Calibri"/>
              </a:rPr>
              <a:t>Mitigation:</a:t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5619792" y="4530655"/>
            <a:ext cx="3182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88900" spcFirstLastPara="1" rIns="88900" wrap="square" tIns="44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t/>
            </a:r>
            <a:endParaRPr b="0" i="0" sz="14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"/>
          <p:cNvSpPr/>
          <p:nvPr/>
        </p:nvSpPr>
        <p:spPr>
          <a:xfrm>
            <a:off x="0" y="0"/>
            <a:ext cx="9144000" cy="425100"/>
          </a:xfrm>
          <a:prstGeom prst="rect">
            <a:avLst/>
          </a:prstGeom>
          <a:solidFill>
            <a:srgbClr val="050E1F"/>
          </a:solidFill>
          <a:ln cap="flat" cmpd="sng" w="9525">
            <a:solidFill>
              <a:srgbClr val="050E1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274320" y="27432"/>
            <a:ext cx="3429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0BFD4"/>
                </a:solidFill>
                <a:latin typeface="Calibri"/>
                <a:ea typeface="Calibri"/>
                <a:cs typeface="Calibri"/>
                <a:sym typeface="Calibri"/>
              </a:rPr>
              <a:t>PROGRAMME RISK REGISTER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274320" y="89831"/>
            <a:ext cx="445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&amp; External Dependencies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99596" y="466352"/>
            <a:ext cx="8836800" cy="307200"/>
          </a:xfrm>
          <a:prstGeom prst="rect">
            <a:avLst/>
          </a:prstGeom>
          <a:solidFill>
            <a:srgbClr val="F6F6F6"/>
          </a:solidFill>
          <a:ln cap="flat" cmpd="sng" w="13350">
            <a:solidFill>
              <a:srgbClr val="D2D2D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8000" lIns="96050" spcFirstLastPara="1" rIns="96050" wrap="square" tIns="4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t/>
            </a:r>
            <a:endParaRPr b="0" i="0" sz="19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62900" y="504775"/>
            <a:ext cx="872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0" i="0" lang="en" sz="840" u="none" cap="none" strike="noStrike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🟣  R</a:t>
            </a:r>
            <a:r>
              <a:rPr lang="en" sz="840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840" u="none" cap="none" strike="noStrike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  Internal Constraint</a:t>
            </a:r>
            <a:r>
              <a:rPr lang="en" sz="840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840" u="none" cap="none" strike="noStrike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team at capacity ceiling; accepted;          🔵  R</a:t>
            </a:r>
            <a:r>
              <a:rPr lang="en" sz="840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" sz="840" u="none" cap="none" strike="noStrike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  External Dependency </a:t>
            </a:r>
            <a:r>
              <a:rPr lang="en" sz="840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" sz="840" u="none" cap="none" strike="noStrike">
                <a:solidFill>
                  <a:srgbClr val="373737"/>
                </a:solidFill>
                <a:latin typeface="Calibri"/>
                <a:ea typeface="Calibri"/>
                <a:cs typeface="Calibri"/>
                <a:sym typeface="Calibri"/>
              </a:rPr>
              <a:t> AD team support required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99603" y="878513"/>
            <a:ext cx="8836800" cy="1728900"/>
          </a:xfrm>
          <a:prstGeom prst="rect">
            <a:avLst/>
          </a:prstGeom>
          <a:solidFill>
            <a:srgbClr val="F9F3FF"/>
          </a:solidFill>
          <a:ln cap="flat" cmpd="sng" w="24025">
            <a:solidFill>
              <a:srgbClr val="7800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8000" lIns="96050" spcFirstLastPara="1" rIns="96050" wrap="square" tIns="4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t/>
            </a:r>
            <a:endParaRPr b="0" i="0" sz="19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99596" y="878497"/>
            <a:ext cx="86700" cy="1728900"/>
          </a:xfrm>
          <a:prstGeom prst="rect">
            <a:avLst/>
          </a:prstGeom>
          <a:solidFill>
            <a:srgbClr val="78008C"/>
          </a:solidFill>
          <a:ln cap="flat" cmpd="sng" w="13350">
            <a:solidFill>
              <a:srgbClr val="7800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8000" lIns="96050" spcFirstLastPara="1" rIns="96050" wrap="square" tIns="4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t/>
            </a:r>
            <a:endParaRPr b="0" i="0" sz="19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243669" y="974545"/>
            <a:ext cx="441900" cy="259200"/>
          </a:xfrm>
          <a:prstGeom prst="roundRect">
            <a:avLst>
              <a:gd fmla="val 16667" name="adj"/>
            </a:avLst>
          </a:prstGeom>
          <a:solidFill>
            <a:srgbClr val="78008C"/>
          </a:solidFill>
          <a:ln cap="flat" cmpd="sng" w="13350">
            <a:solidFill>
              <a:srgbClr val="7800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8000" lIns="96050" spcFirstLastPara="1" rIns="96050" wrap="square" tIns="4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1"/>
              <a:buFont typeface="Arial"/>
              <a:buNone/>
            </a:pPr>
            <a:r>
              <a:rPr b="1" i="0" lang="en" sz="140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40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810355" y="974545"/>
            <a:ext cx="1056600" cy="259200"/>
          </a:xfrm>
          <a:prstGeom prst="rect">
            <a:avLst/>
          </a:prstGeom>
          <a:solidFill>
            <a:srgbClr val="F1F1F1"/>
          </a:solidFill>
          <a:ln cap="flat" cmpd="sng" w="13350">
            <a:solidFill>
              <a:srgbClr val="7800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8000" lIns="96050" spcFirstLastPara="1" rIns="96050" wrap="square" tIns="4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CRITICAL ★ CONSTRAINT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2001356" y="974545"/>
            <a:ext cx="6742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Resource availability — </a:t>
            </a:r>
            <a:r>
              <a:rPr b="1" lang="en" sz="1120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" sz="1120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eam capacity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2001356" y="1243479"/>
            <a:ext cx="67428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0" i="1" lang="en" sz="840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Ongoing throughout Phases 1–4  ·  May 2026 – Apr 2028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243669" y="1416365"/>
            <a:ext cx="653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1" i="0" lang="en" sz="84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964032" y="1416365"/>
            <a:ext cx="7827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0" i="0" lang="en" sz="84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Team at capacity ceiling across Phase 1 (MFE), Phase 2 (API), Phase 3 (</a:t>
            </a:r>
            <a:r>
              <a:rPr lang="en" sz="84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core backend </a:t>
            </a:r>
            <a:r>
              <a:rPr b="0" i="0" lang="en" sz="84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) and live support in parallel. Contractor availability not guaranteed. Key architects are single points of failure — no redundancy.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243669" y="1800556"/>
            <a:ext cx="672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1" i="0" lang="en" sz="840" u="none" cap="none" strike="noStrike">
                <a:solidFill>
                  <a:srgbClr val="78008C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964032" y="1800556"/>
            <a:ext cx="78279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00" lIns="96050" spcFirstLastPara="1" rIns="96050" wrap="square" tIns="480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Arial"/>
              <a:buNone/>
            </a:pPr>
            <a:r>
              <a:rPr b="1" i="0" lang="en" sz="84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NO MITIGATION PLANNED — ACCEPTED CONSTRAINT.</a:t>
            </a:r>
            <a:br>
              <a:rPr b="1" i="0" lang="en" sz="84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4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Programme gates (G1–G4) absorb schedule pressure without compressing scope. If capacity is exceeded → escalate to </a:t>
            </a:r>
            <a:r>
              <a:rPr b="1" lang="en" sz="840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Product manager and reprioritization</a:t>
            </a:r>
            <a:r>
              <a:rPr b="1" i="0" lang="en" sz="840" u="none" cap="none" strike="noStrike">
                <a:solidFill>
                  <a:srgbClr val="4B005F"/>
                </a:solidFill>
                <a:latin typeface="Calibri"/>
                <a:ea typeface="Calibri"/>
                <a:cs typeface="Calibri"/>
                <a:sym typeface="Calibri"/>
              </a:rPr>
              <a:t>, not roadmap compression.</a:t>
            </a:r>
            <a:endParaRPr b="0" i="0" sz="15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148535" y="2679877"/>
            <a:ext cx="8775600" cy="1716900"/>
          </a:xfrm>
          <a:prstGeom prst="rect">
            <a:avLst/>
          </a:prstGeom>
          <a:solidFill>
            <a:srgbClr val="ECF9FB"/>
          </a:solidFill>
          <a:ln cap="flat" cmpd="sng" w="23850">
            <a:solidFill>
              <a:srgbClr val="00879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7675" lIns="95375" spcFirstLastPara="1" rIns="95375" wrap="square" tIns="47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7"/>
              <a:buFont typeface="Arial"/>
              <a:buNone/>
            </a:pPr>
            <a:r>
              <a:t/>
            </a:r>
            <a:endParaRPr b="0" i="0" sz="19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148535" y="2679877"/>
            <a:ext cx="86100" cy="1716900"/>
          </a:xfrm>
          <a:prstGeom prst="rect">
            <a:avLst/>
          </a:prstGeom>
          <a:solidFill>
            <a:srgbClr val="008796"/>
          </a:solidFill>
          <a:ln cap="flat" cmpd="sng" w="13250">
            <a:solidFill>
              <a:srgbClr val="00879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7675" lIns="95375" spcFirstLastPara="1" rIns="95375" wrap="square" tIns="47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7"/>
              <a:buFont typeface="Arial"/>
              <a:buNone/>
            </a:pPr>
            <a:r>
              <a:t/>
            </a:r>
            <a:endParaRPr b="0" i="0" sz="19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291610" y="2775260"/>
            <a:ext cx="438900" cy="257400"/>
          </a:xfrm>
          <a:prstGeom prst="roundRect">
            <a:avLst>
              <a:gd fmla="val 16667" name="adj"/>
            </a:avLst>
          </a:prstGeom>
          <a:solidFill>
            <a:srgbClr val="008796"/>
          </a:solidFill>
          <a:ln cap="flat" cmpd="sng" w="13250">
            <a:solidFill>
              <a:srgbClr val="00879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7675" lIns="95375" spcFirstLastPara="1" rIns="95375" wrap="square" tIns="47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1"/>
              <a:buFont typeface="Arial"/>
              <a:buNone/>
            </a:pPr>
            <a:r>
              <a:rPr b="1" i="0" lang="en" sz="139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139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854373" y="2775260"/>
            <a:ext cx="1049400" cy="257400"/>
          </a:xfrm>
          <a:prstGeom prst="rect">
            <a:avLst/>
          </a:prstGeom>
          <a:solidFill>
            <a:srgbClr val="F1F1F1"/>
          </a:solidFill>
          <a:ln cap="flat" cmpd="sng" w="13250">
            <a:solidFill>
              <a:srgbClr val="00879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7675" lIns="95375" spcFirstLastPara="1" rIns="95375" wrap="square" tIns="47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"/>
              <a:buFont typeface="Arial"/>
              <a:buNone/>
            </a:pPr>
            <a:r>
              <a:rPr b="1" i="0" lang="en" sz="69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CRITICAL ★ DEPENDENCY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2037129" y="2775260"/>
            <a:ext cx="6696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b="1" i="0" lang="en" sz="1113" u="none" cap="none" strike="noStrike">
                <a:solidFill>
                  <a:srgbClr val="32414B"/>
                </a:solidFill>
                <a:latin typeface="Calibri"/>
                <a:ea typeface="Calibri"/>
                <a:cs typeface="Calibri"/>
                <a:sym typeface="Calibri"/>
              </a:rPr>
              <a:t>AD/LDAP team continuous support required for foundation (Phases 1 &amp; 2)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2037129" y="3042334"/>
            <a:ext cx="669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0" i="1" lang="en" sz="835" u="none" cap="none" strike="noStrike">
                <a:solidFill>
                  <a:srgbClr val="7D7D7D"/>
                </a:solidFill>
                <a:latin typeface="Calibri"/>
                <a:ea typeface="Calibri"/>
                <a:cs typeface="Calibri"/>
                <a:sym typeface="Calibri"/>
              </a:rPr>
              <a:t>Ongoing Q2 2026 – Q2 2027  ·  Phases 1–2 critical path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291610" y="3214025"/>
            <a:ext cx="648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Cause: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1006987" y="3214025"/>
            <a:ext cx="7773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lang="en" sz="835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Base foundation metrics are decided based on AD integration. We need advice and continuous support to set a solid foundation with respect to Data Sync and Core API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291610" y="3595559"/>
            <a:ext cx="66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1" i="0" lang="en" sz="835" u="none" cap="none" strike="noStrike">
                <a:solidFill>
                  <a:srgbClr val="008796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1006987" y="3595559"/>
            <a:ext cx="7773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75" lIns="95375" spcFirstLastPara="1" rIns="95375" wrap="square" tIns="47675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NO MITIGATION POSSIBLE </a:t>
            </a:r>
            <a:r>
              <a:rPr b="1" lang="en" sz="835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 EXTERNAL DEPENDENCY. Requires executive commitment before Gate 0:</a:t>
            </a:r>
            <a:b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·  Dedicated AD team liaison assigned to MyIAM for Phases 1 &amp; 2</a:t>
            </a:r>
            <a:b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·  Joint </a:t>
            </a:r>
            <a:r>
              <a:rPr b="1" lang="en" sz="835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meeting </a:t>
            </a: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(MyIAM PM + AD Lead) to surface conflicts early</a:t>
            </a:r>
            <a:b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·  Escalation: Abhishek Reddy </a:t>
            </a:r>
            <a:r>
              <a:rPr b="1" lang="en" sz="835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" sz="835" u="none" cap="none" strike="noStrike">
                <a:solidFill>
                  <a:srgbClr val="005A69"/>
                </a:solidFill>
                <a:latin typeface="Calibri"/>
                <a:ea typeface="Calibri"/>
                <a:cs typeface="Calibri"/>
                <a:sym typeface="Calibri"/>
              </a:rPr>
              <a:t> if AD capacity withdrawn, gate pauses</a:t>
            </a:r>
            <a:endParaRPr b="0" i="0" sz="15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F7FC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384048" y="91440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RESOURCE &amp; CAPACITY  ·  IAM Convergence PROGRAMME</a:t>
            </a:r>
            <a:endParaRPr b="0" i="0" sz="750" u="none" cap="none" strike="noStrike">
              <a:solidFill>
                <a:srgbClr val="4A6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384048" y="274320"/>
            <a:ext cx="640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 Management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6400800" y="29260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SP = Story Points  ·  40 SP velocity  ·  2-week sprints  ·  Mobile: 8 SP / dedicated 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256032" y="841248"/>
            <a:ext cx="1956900" cy="804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256032" y="841248"/>
            <a:ext cx="54900" cy="8046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384048" y="87782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40 SP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384048" y="1261872"/>
            <a:ext cx="160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Velocity per sprint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384048" y="1463040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2-week cadence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2432304" y="841248"/>
            <a:ext cx="1956900" cy="804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2432304" y="841248"/>
            <a:ext cx="54900" cy="8046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2560320" y="87782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403 SP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2560320" y="1261872"/>
            <a:ext cx="160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Total programme 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2560320" y="1463040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403 SP total programme scope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608576" y="841248"/>
            <a:ext cx="1956900" cy="804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4608576" y="841248"/>
            <a:ext cx="54900" cy="804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4736592" y="87782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4736592" y="1261872"/>
            <a:ext cx="160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Sprints to deliver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4736592" y="1463040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18 weeks execution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6784848" y="841248"/>
            <a:ext cx="1956900" cy="804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6784848" y="841248"/>
            <a:ext cx="54900" cy="8046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256032" y="1828800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STORY POINT DISTRIBUTION PER PHASE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256032" y="210312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4F9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7B4F9E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256032" y="228600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MFE Consolidation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987552" y="2212848"/>
            <a:ext cx="3986700" cy="2013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987552" y="2212848"/>
            <a:ext cx="1155900" cy="201300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2198399" y="2212848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4F9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7B4F9E"/>
                </a:solidFill>
                <a:latin typeface="Calibri"/>
                <a:ea typeface="Calibri"/>
                <a:cs typeface="Calibri"/>
                <a:sym typeface="Calibri"/>
              </a:rPr>
              <a:t>99 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2198399" y="2395728"/>
            <a:ext cx="50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3 sprints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256032" y="265176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256032" y="283464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Core Backend &amp; Integration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987552" y="2761488"/>
            <a:ext cx="3986700" cy="2013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987552" y="2761488"/>
            <a:ext cx="735600" cy="2013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1723177" y="2761488"/>
            <a:ext cx="1226100" cy="2013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3004084" y="2761488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168 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3004084" y="2944368"/>
            <a:ext cx="50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5 sprints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256032" y="320040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4B0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4B00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256032" y="338328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Domain APIs + Zero Trust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987552" y="3310128"/>
            <a:ext cx="3986700" cy="2013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987552" y="3310128"/>
            <a:ext cx="490500" cy="201300"/>
          </a:xfrm>
          <a:prstGeom prst="rect">
            <a:avLst/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1477969" y="3310128"/>
            <a:ext cx="245100" cy="201300"/>
          </a:xfrm>
          <a:prstGeom prst="rect">
            <a:avLst/>
          </a:prstGeom>
          <a:solidFill>
            <a:srgbClr val="C84B00"/>
          </a:solidFill>
          <a:ln cap="flat" cmpd="sng" w="12700">
            <a:solidFill>
              <a:srgbClr val="C84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1778041" y="3310128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4B0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4B00"/>
                </a:solidFill>
                <a:latin typeface="Calibri"/>
                <a:ea typeface="Calibri"/>
                <a:cs typeface="Calibri"/>
                <a:sym typeface="Calibri"/>
              </a:rPr>
              <a:t>123 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1778041" y="3493008"/>
            <a:ext cx="50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3 sprints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256032" y="374904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695567" y="4072197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Mobile Platform + Passport Decom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987550" y="3858775"/>
            <a:ext cx="3520200" cy="2010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742344" y="3858768"/>
            <a:ext cx="396900" cy="201300"/>
          </a:xfrm>
          <a:prstGeom prst="rect">
            <a:avLst/>
          </a:prstGeom>
          <a:solidFill>
            <a:srgbClr val="37474F"/>
          </a:solidFill>
          <a:ln cap="flat" cmpd="sng" w="12700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1802080" y="3858768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13 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194212" y="4041648"/>
            <a:ext cx="50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1 sprint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4572000" y="1828800"/>
            <a:ext cx="4297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SPRINT PLAN AT 40 SP VELOCITY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4572000" y="2084832"/>
            <a:ext cx="310800" cy="1830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4608576" y="2084832"/>
            <a:ext cx="25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4882896" y="2084832"/>
            <a:ext cx="255900" cy="1830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919472" y="2084832"/>
            <a:ext cx="201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5138928" y="2084832"/>
            <a:ext cx="1572900" cy="1830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5175504" y="2084832"/>
            <a:ext cx="151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Items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6711696" y="2084832"/>
            <a:ext cx="1572900" cy="1830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8284464" y="2084832"/>
            <a:ext cx="384000" cy="183000"/>
          </a:xfrm>
          <a:prstGeom prst="rect">
            <a:avLst/>
          </a:prstGeom>
          <a:solidFill>
            <a:srgbClr val="050E1F"/>
          </a:solidFill>
          <a:ln cap="flat" cmpd="sng" w="12700">
            <a:solidFill>
              <a:srgbClr val="050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8321040" y="2084832"/>
            <a:ext cx="32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Story Points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4572000" y="2267712"/>
            <a:ext cx="4096500" cy="25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4599432" y="2267712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4901184" y="2331720"/>
            <a:ext cx="219600" cy="128100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4901184" y="2331720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5175504" y="2267712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Shell + MFE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6748272" y="2267712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Build (5)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8321040" y="2267712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4572000" y="2523744"/>
            <a:ext cx="4096500" cy="2559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4599432" y="2523744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4901184" y="2587752"/>
            <a:ext cx="219600" cy="128100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4901184" y="2587752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5175504" y="2523744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Pwd and Account 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6748272" y="2523744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1 &amp;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8321040" y="2523744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4572000" y="2779776"/>
            <a:ext cx="4096500" cy="25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4599432" y="2779776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4901184" y="2843784"/>
            <a:ext cx="219600" cy="128100"/>
          </a:xfrm>
          <a:prstGeom prst="rect">
            <a:avLst/>
          </a:prstGeom>
          <a:solidFill>
            <a:srgbClr val="7B4F9E"/>
          </a:solidFill>
          <a:ln cap="flat" cmpd="sng" w="12700">
            <a:solidFill>
              <a:srgbClr val="7B4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4901184" y="2843784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5175504" y="2779776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and SSO module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6748272" y="2779776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3 &amp; 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8321040" y="2779776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4572000" y="3035808"/>
            <a:ext cx="4096500" cy="2559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4599432" y="3035808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4901184" y="3099816"/>
            <a:ext cx="219600" cy="128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901184" y="309981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5175504" y="3035808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NiFi Design + Schema (21)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6748272" y="3035808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cluster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8321040" y="3035808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4572000" y="3291840"/>
            <a:ext cx="4096500" cy="25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599432" y="3291840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4901184" y="3355848"/>
            <a:ext cx="219600" cy="128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4901184" y="3355848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5175504" y="3291840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API Arch (14)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6748272" y="3291840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8321040" y="3291840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4572000" y="3547872"/>
            <a:ext cx="4096500" cy="2559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4599432" y="3547872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4901184" y="3611880"/>
            <a:ext cx="219600" cy="128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4901184" y="3611880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5175504" y="3547872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API Writes (21)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6748272" y="3547872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 write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8321040" y="3547872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572000" y="3803904"/>
            <a:ext cx="4096500" cy="25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4599432" y="3803904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4901184" y="3867912"/>
            <a:ext cx="219600" cy="128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4901184" y="3867912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5175504" y="3803904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Validation (21)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6748272" y="3803904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8321040" y="3803904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4572000" y="4059936"/>
            <a:ext cx="4096500" cy="2559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599432" y="4059936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901184" y="4123944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5175504" y="4059936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 (21)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6748272" y="4059936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8321040" y="4059936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4572000" y="4315968"/>
            <a:ext cx="4096500" cy="25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599432" y="4315968"/>
            <a:ext cx="26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901184" y="437997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P3/4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5175504" y="4315968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Beta + iOS (26)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6748272" y="4315968"/>
            <a:ext cx="151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8321040" y="4315968"/>
            <a:ext cx="32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alibri"/>
              <a:buNone/>
            </a:pPr>
            <a:r>
              <a:rPr b="1" i="0" lang="en" sz="7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256032" y="4681728"/>
            <a:ext cx="8631900" cy="23760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6912864" y="87782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8 SP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6912864" y="1261872"/>
            <a:ext cx="160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A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Mobile Track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6912864" y="1463040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iOS + Android · 1 Sprint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4901184" y="4123944"/>
            <a:ext cx="219600" cy="1281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4901184" y="4379976"/>
            <a:ext cx="219600" cy="128100"/>
          </a:xfrm>
          <a:prstGeom prst="rect">
            <a:avLst/>
          </a:prstGeom>
          <a:solidFill>
            <a:srgbClr val="823278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256032" y="4707082"/>
            <a:ext cx="8686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⚠ RISK: 40 SP velocity per sprint is a critical assumption. Any velocity drop below 40 SP will extend programme timeline.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/>
          <p:nvPr/>
        </p:nvSpPr>
        <p:spPr>
          <a:xfrm>
            <a:off x="5943600" y="-731520"/>
            <a:ext cx="4572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E3D"/>
              </a:buClr>
              <a:buSzPts val="42000"/>
              <a:buFont typeface="Calibri"/>
              <a:buNone/>
            </a:pPr>
            <a:r>
              <a:rPr b="1" i="0" lang="en" sz="42000" u="none" cap="none" strike="noStrike">
                <a:solidFill>
                  <a:srgbClr val="1218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411480" y="32004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AIRBUS  · IAM Convergence PROGRAMME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411480" y="1938528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A8D4"/>
              </a:buClr>
              <a:buSzPts val="2800"/>
              <a:buFont typeface="Calibri"/>
              <a:buNone/>
            </a:pPr>
            <a:r>
              <a:rPr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11480" y="2633472"/>
            <a:ext cx="2011800" cy="32100"/>
          </a:xfrm>
          <a:prstGeom prst="rect">
            <a:avLst/>
          </a:prstGeom>
          <a:solidFill>
            <a:srgbClr val="0052CC"/>
          </a:solidFill>
          <a:ln cap="flat" cmpd="sng" w="1270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0" y="4882896"/>
            <a:ext cx="9144000" cy="260700"/>
          </a:xfrm>
          <a:prstGeom prst="rect">
            <a:avLst/>
          </a:prstGeom>
          <a:solidFill>
            <a:srgbClr val="030A14"/>
          </a:solidFill>
          <a:ln cap="flat" cmpd="sng" w="12700">
            <a:solidFill>
              <a:srgbClr val="03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411480" y="4892040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07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Airbus Commercial  ·  IIDIA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