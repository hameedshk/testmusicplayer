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" name="Google Shape;30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9" name="Google Shape;35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5" name="Google Shape;42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5" name="Google Shape;45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8" name="Google Shape;47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05B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E450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6492240" y="80534"/>
            <a:ext cx="2194500" cy="2194500"/>
          </a:xfrm>
          <a:prstGeom prst="ellipse">
            <a:avLst/>
          </a:prstGeom>
          <a:solidFill>
            <a:srgbClr val="1A3A6B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7132320" y="3352765"/>
            <a:ext cx="1645800" cy="1645800"/>
          </a:xfrm>
          <a:prstGeom prst="ellipse">
            <a:avLst/>
          </a:prstGeom>
          <a:solidFill>
            <a:srgbClr val="1A2640">
              <a:alpha val="7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457200" y="640080"/>
            <a:ext cx="5486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mbria"/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AI Token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mbria"/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Estimation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457200" y="256032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5011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MyIAM Platform Migration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457200" y="3063240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.NET → Python  |  Angular → React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6355080" y="871092"/>
            <a:ext cx="26517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~$7.7K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6355080" y="1529460"/>
            <a:ext cx="2651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DDECE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DDECE"/>
                </a:solidFill>
                <a:latin typeface="Arial"/>
                <a:ea typeface="Arial"/>
                <a:cs typeface="Arial"/>
                <a:sym typeface="Arial"/>
              </a:rPr>
              <a:t>Expected Cost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6355080" y="2313474"/>
            <a:ext cx="26517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800M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6355080" y="2979707"/>
            <a:ext cx="2651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DDECE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DDECE"/>
                </a:solidFill>
                <a:latin typeface="Arial"/>
                <a:ea typeface="Arial"/>
                <a:cs typeface="Arial"/>
                <a:sym typeface="Arial"/>
              </a:rPr>
              <a:t>Total Tokens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6638208" y="3535645"/>
            <a:ext cx="26517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 Devs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6449456" y="4194013"/>
            <a:ext cx="2651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DDECE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DDECE"/>
                </a:solidFill>
                <a:latin typeface="Arial"/>
                <a:ea typeface="Arial"/>
                <a:cs typeface="Arial"/>
                <a:sym typeface="Arial"/>
              </a:rPr>
              <a:t>6 Months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Prepared for Management | Airbus India | FY26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457200" y="0"/>
            <a:ext cx="6400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Project Assumptions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6583680" y="0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4501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Updated Values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57200" y="105156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BASELINE PARAMETERS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457200" y="1417320"/>
            <a:ext cx="3931920" cy="621792"/>
          </a:xfrm>
          <a:prstGeom prst="roundRect">
            <a:avLst>
              <a:gd fmla="val 8824" name="adj"/>
            </a:avLst>
          </a:prstGeom>
          <a:solidFill>
            <a:srgbClr val="F4F6FA"/>
          </a:solidFill>
          <a:ln>
            <a:noFill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685800" y="145389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Total LOC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685800" y="169164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395,000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457200" y="2167128"/>
            <a:ext cx="3931920" cy="621792"/>
          </a:xfrm>
          <a:prstGeom prst="roundRect">
            <a:avLst>
              <a:gd fmla="val 8824" name="adj"/>
            </a:avLst>
          </a:prstGeom>
          <a:solidFill>
            <a:srgbClr val="F4F6FA"/>
          </a:solidFill>
          <a:ln>
            <a:noFill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685800" y="2203704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Developers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685800" y="2441448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6 Full-time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457200" y="2916936"/>
            <a:ext cx="3931920" cy="621792"/>
          </a:xfrm>
          <a:prstGeom prst="roundRect">
            <a:avLst>
              <a:gd fmla="val 8824" name="adj"/>
            </a:avLst>
          </a:prstGeom>
          <a:solidFill>
            <a:srgbClr val="F4F6FA"/>
          </a:solidFill>
          <a:ln>
            <a:noFill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685800" y="295351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Duration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685800" y="3191256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6 Months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57200" y="3666744"/>
            <a:ext cx="3931920" cy="621792"/>
          </a:xfrm>
          <a:prstGeom prst="roundRect">
            <a:avLst>
              <a:gd fmla="val 8824" name="adj"/>
            </a:avLst>
          </a:prstGeom>
          <a:solidFill>
            <a:srgbClr val="F4F6FA"/>
          </a:solidFill>
          <a:ln>
            <a:noFill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685800" y="3703320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Migration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685800" y="3941064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.NET → Python, Angular → React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4754880" y="105156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501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UPDATED PARAMETERS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754880" y="1417320"/>
            <a:ext cx="3931920" cy="621792"/>
          </a:xfrm>
          <a:prstGeom prst="roundRect">
            <a:avLst>
              <a:gd fmla="val 8824" name="adj"/>
            </a:avLst>
          </a:prstGeom>
          <a:solidFill>
            <a:srgbClr val="FDF0EA"/>
          </a:solidFill>
          <a:ln cap="flat" cmpd="sng" w="9525">
            <a:solidFill>
              <a:srgbClr val="E45011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4983480" y="1453896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Tokens per LOC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4983480" y="169164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5011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7223760" y="169164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↑ from 10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4754880" y="2167128"/>
            <a:ext cx="3931920" cy="621792"/>
          </a:xfrm>
          <a:prstGeom prst="roundRect">
            <a:avLst>
              <a:gd fmla="val 8824" name="adj"/>
            </a:avLst>
          </a:prstGeom>
          <a:solidFill>
            <a:srgbClr val="FDF0EA"/>
          </a:solidFill>
          <a:ln cap="flat" cmpd="sng" w="9525">
            <a:solidFill>
              <a:srgbClr val="E45011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4"/>
          <p:cNvSpPr/>
          <p:nvPr/>
        </p:nvSpPr>
        <p:spPr>
          <a:xfrm>
            <a:off x="4983480" y="2203704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Migration Passes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4983480" y="2441448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5011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7223760" y="24414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↓ from 22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4754880" y="2916936"/>
            <a:ext cx="3931920" cy="621792"/>
          </a:xfrm>
          <a:prstGeom prst="roundRect">
            <a:avLst>
              <a:gd fmla="val 8824" name="adj"/>
            </a:avLst>
          </a:prstGeom>
          <a:solidFill>
            <a:srgbClr val="FDF0EA"/>
          </a:solidFill>
          <a:ln cap="flat" cmpd="sng" w="9525">
            <a:solidFill>
              <a:srgbClr val="E45011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4"/>
          <p:cNvSpPr/>
          <p:nvPr/>
        </p:nvSpPr>
        <p:spPr>
          <a:xfrm>
            <a:off x="4983480" y="2953512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Context Multiplier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4983480" y="3191256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5011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3.0×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7223760" y="319125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↑ from 2.5×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4754880" y="3666744"/>
            <a:ext cx="3931920" cy="621792"/>
          </a:xfrm>
          <a:prstGeom prst="roundRect">
            <a:avLst>
              <a:gd fmla="val 8824" name="adj"/>
            </a:avLst>
          </a:prstGeom>
          <a:solidFill>
            <a:srgbClr val="FDF0EA"/>
          </a:solidFill>
          <a:ln cap="flat" cmpd="sng" w="9525">
            <a:solidFill>
              <a:srgbClr val="E45011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4"/>
          <p:cNvSpPr/>
          <p:nvPr/>
        </p:nvSpPr>
        <p:spPr>
          <a:xfrm>
            <a:off x="4983480" y="370332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Output Ratio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4983480" y="394106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5011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125%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7223760" y="394106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↑ from 100%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Highlighted values updated from original estimate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FF8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"/>
          <p:cNvSpPr/>
          <p:nvPr/>
        </p:nvSpPr>
        <p:spPr>
          <a:xfrm>
            <a:off x="0" y="3474720"/>
            <a:ext cx="9144000" cy="1673352"/>
          </a:xfrm>
          <a:prstGeom prst="rect">
            <a:avLst/>
          </a:prstGeom>
          <a:solidFill>
            <a:srgbClr val="D0DE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365760" y="109728"/>
            <a:ext cx="6858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00205B"/>
                </a:solidFill>
                <a:latin typeface="Cambria"/>
                <a:ea typeface="Cambria"/>
                <a:cs typeface="Cambria"/>
                <a:sym typeface="Cambria"/>
              </a:rPr>
              <a:t>MyX Project Codebase</a:t>
            </a:r>
            <a:endParaRPr/>
          </a:p>
        </p:txBody>
      </p:sp>
      <p:sp>
        <p:nvSpPr>
          <p:cNvPr id="74" name="Google Shape;74;p5"/>
          <p:cNvSpPr txBox="1"/>
          <p:nvPr/>
        </p:nvSpPr>
        <p:spPr>
          <a:xfrm>
            <a:off x="6949440" y="109728"/>
            <a:ext cx="2011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Updated Values</a:t>
            </a:r>
            <a:endParaRPr/>
          </a:p>
        </p:txBody>
      </p:sp>
      <p:sp>
        <p:nvSpPr>
          <p:cNvPr id="75" name="Google Shape;75;p5"/>
          <p:cNvSpPr/>
          <p:nvPr/>
        </p:nvSpPr>
        <p:spPr>
          <a:xfrm>
            <a:off x="347472" y="914400"/>
            <a:ext cx="3977639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CD8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347472" y="914400"/>
            <a:ext cx="3977639" cy="32004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347472" y="914400"/>
            <a:ext cx="3977639" cy="374904"/>
          </a:xfrm>
          <a:prstGeom prst="roundRect">
            <a:avLst>
              <a:gd fmla="val 16667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347472" y="1115568"/>
            <a:ext cx="3977639" cy="155448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 txBox="1"/>
          <p:nvPr/>
        </p:nvSpPr>
        <p:spPr>
          <a:xfrm>
            <a:off x="512064" y="941832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Core API</a:t>
            </a:r>
            <a:endParaRPr/>
          </a:p>
        </p:txBody>
      </p:sp>
      <p:sp>
        <p:nvSpPr>
          <p:cNvPr id="80" name="Google Shape;80;p5"/>
          <p:cNvSpPr txBox="1"/>
          <p:nvPr/>
        </p:nvSpPr>
        <p:spPr>
          <a:xfrm>
            <a:off x="512064" y="1261872"/>
            <a:ext cx="3703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55CC"/>
                </a:solidFill>
                <a:latin typeface="Cambria"/>
                <a:ea typeface="Cambria"/>
                <a:cs typeface="Cambria"/>
                <a:sym typeface="Cambria"/>
              </a:rPr>
              <a:t>57,000</a:t>
            </a:r>
            <a:endParaRPr/>
          </a:p>
        </p:txBody>
      </p:sp>
      <p:sp>
        <p:nvSpPr>
          <p:cNvPr id="81" name="Google Shape;81;p5"/>
          <p:cNvSpPr/>
          <p:nvPr/>
        </p:nvSpPr>
        <p:spPr>
          <a:xfrm>
            <a:off x="4818888" y="914400"/>
            <a:ext cx="3977639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CD8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4818888" y="914400"/>
            <a:ext cx="3977639" cy="32004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4818888" y="914400"/>
            <a:ext cx="3977639" cy="374904"/>
          </a:xfrm>
          <a:prstGeom prst="roundRect">
            <a:avLst>
              <a:gd fmla="val 16667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4818888" y="1115568"/>
            <a:ext cx="3977639" cy="155448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 txBox="1"/>
          <p:nvPr/>
        </p:nvSpPr>
        <p:spPr>
          <a:xfrm>
            <a:off x="4983479" y="941832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MyPassword UI</a:t>
            </a:r>
            <a:endParaRPr/>
          </a:p>
        </p:txBody>
      </p:sp>
      <p:sp>
        <p:nvSpPr>
          <p:cNvPr id="86" name="Google Shape;86;p5"/>
          <p:cNvSpPr txBox="1"/>
          <p:nvPr/>
        </p:nvSpPr>
        <p:spPr>
          <a:xfrm>
            <a:off x="4983479" y="1261872"/>
            <a:ext cx="3703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55CC"/>
                </a:solidFill>
                <a:latin typeface="Cambria"/>
                <a:ea typeface="Cambria"/>
                <a:cs typeface="Cambria"/>
                <a:sym typeface="Cambria"/>
              </a:rPr>
              <a:t>16,000</a:t>
            </a:r>
            <a:endParaRPr/>
          </a:p>
        </p:txBody>
      </p:sp>
      <p:sp>
        <p:nvSpPr>
          <p:cNvPr id="87" name="Google Shape;87;p5"/>
          <p:cNvSpPr/>
          <p:nvPr/>
        </p:nvSpPr>
        <p:spPr>
          <a:xfrm>
            <a:off x="347472" y="1810512"/>
            <a:ext cx="3977639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CD8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347472" y="1810512"/>
            <a:ext cx="3977639" cy="32004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47472" y="1810512"/>
            <a:ext cx="3977639" cy="374904"/>
          </a:xfrm>
          <a:prstGeom prst="roundRect">
            <a:avLst>
              <a:gd fmla="val 16667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347472" y="2011680"/>
            <a:ext cx="3977639" cy="155448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512064" y="1837943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 Collection</a:t>
            </a:r>
            <a:endParaRPr/>
          </a:p>
        </p:txBody>
      </p:sp>
      <p:sp>
        <p:nvSpPr>
          <p:cNvPr id="92" name="Google Shape;92;p5"/>
          <p:cNvSpPr txBox="1"/>
          <p:nvPr/>
        </p:nvSpPr>
        <p:spPr>
          <a:xfrm>
            <a:off x="512064" y="2157984"/>
            <a:ext cx="3703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55CC"/>
                </a:solidFill>
                <a:latin typeface="Cambria"/>
                <a:ea typeface="Cambria"/>
                <a:cs typeface="Cambria"/>
                <a:sym typeface="Cambria"/>
              </a:rPr>
              <a:t>30,000</a:t>
            </a:r>
            <a:endParaRPr/>
          </a:p>
        </p:txBody>
      </p:sp>
      <p:sp>
        <p:nvSpPr>
          <p:cNvPr id="93" name="Google Shape;93;p5"/>
          <p:cNvSpPr/>
          <p:nvPr/>
        </p:nvSpPr>
        <p:spPr>
          <a:xfrm>
            <a:off x="4818888" y="1810512"/>
            <a:ext cx="3977639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CD8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4818888" y="1810512"/>
            <a:ext cx="3977639" cy="32004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4818888" y="1810512"/>
            <a:ext cx="3977639" cy="374904"/>
          </a:xfrm>
          <a:prstGeom prst="roundRect">
            <a:avLst>
              <a:gd fmla="val 16667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4818888" y="2011680"/>
            <a:ext cx="3977639" cy="155448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 txBox="1"/>
          <p:nvPr/>
        </p:nvSpPr>
        <p:spPr>
          <a:xfrm>
            <a:off x="4983479" y="1837943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MyAccess UI</a:t>
            </a:r>
            <a:endParaRPr/>
          </a:p>
        </p:txBody>
      </p:sp>
      <p:sp>
        <p:nvSpPr>
          <p:cNvPr id="98" name="Google Shape;98;p5"/>
          <p:cNvSpPr txBox="1"/>
          <p:nvPr/>
        </p:nvSpPr>
        <p:spPr>
          <a:xfrm>
            <a:off x="4983479" y="2157984"/>
            <a:ext cx="3703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55CC"/>
                </a:solidFill>
                <a:latin typeface="Cambria"/>
                <a:ea typeface="Cambria"/>
                <a:cs typeface="Cambria"/>
                <a:sym typeface="Cambria"/>
              </a:rPr>
              <a:t>99,000</a:t>
            </a:r>
            <a:endParaRPr/>
          </a:p>
        </p:txBody>
      </p:sp>
      <p:sp>
        <p:nvSpPr>
          <p:cNvPr id="99" name="Google Shape;99;p5"/>
          <p:cNvSpPr/>
          <p:nvPr/>
        </p:nvSpPr>
        <p:spPr>
          <a:xfrm>
            <a:off x="347472" y="2706624"/>
            <a:ext cx="3977639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CD8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347472" y="2706624"/>
            <a:ext cx="3977639" cy="32004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347472" y="2706624"/>
            <a:ext cx="3977639" cy="374904"/>
          </a:xfrm>
          <a:prstGeom prst="roundRect">
            <a:avLst>
              <a:gd fmla="val 16667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347472" y="2907792"/>
            <a:ext cx="3977639" cy="155448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 txBox="1"/>
          <p:nvPr/>
        </p:nvSpPr>
        <p:spPr>
          <a:xfrm>
            <a:off x="512064" y="2734056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Database</a:t>
            </a:r>
            <a:endParaRPr/>
          </a:p>
        </p:txBody>
      </p:sp>
      <p:sp>
        <p:nvSpPr>
          <p:cNvPr id="104" name="Google Shape;104;p5"/>
          <p:cNvSpPr txBox="1"/>
          <p:nvPr/>
        </p:nvSpPr>
        <p:spPr>
          <a:xfrm>
            <a:off x="512064" y="3054096"/>
            <a:ext cx="3703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55CC"/>
                </a:solidFill>
                <a:latin typeface="Cambria"/>
                <a:ea typeface="Cambria"/>
                <a:cs typeface="Cambria"/>
                <a:sym typeface="Cambria"/>
              </a:rPr>
              <a:t>36,000</a:t>
            </a:r>
            <a:endParaRPr/>
          </a:p>
        </p:txBody>
      </p:sp>
      <p:sp>
        <p:nvSpPr>
          <p:cNvPr id="105" name="Google Shape;105;p5"/>
          <p:cNvSpPr/>
          <p:nvPr/>
        </p:nvSpPr>
        <p:spPr>
          <a:xfrm>
            <a:off x="4818888" y="2706624"/>
            <a:ext cx="3977639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CD8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4818888" y="2706624"/>
            <a:ext cx="3977639" cy="32004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4818888" y="2706624"/>
            <a:ext cx="3977639" cy="374904"/>
          </a:xfrm>
          <a:prstGeom prst="roundRect">
            <a:avLst>
              <a:gd fmla="val 16667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4818888" y="2907792"/>
            <a:ext cx="3977639" cy="155448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 txBox="1"/>
          <p:nvPr/>
        </p:nvSpPr>
        <p:spPr>
          <a:xfrm>
            <a:off x="4983479" y="2734056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MyAccess API</a:t>
            </a:r>
            <a:endParaRPr/>
          </a:p>
        </p:txBody>
      </p:sp>
      <p:sp>
        <p:nvSpPr>
          <p:cNvPr id="110" name="Google Shape;110;p5"/>
          <p:cNvSpPr txBox="1"/>
          <p:nvPr/>
        </p:nvSpPr>
        <p:spPr>
          <a:xfrm>
            <a:off x="4983479" y="3054096"/>
            <a:ext cx="3703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55CC"/>
                </a:solidFill>
                <a:latin typeface="Cambria"/>
                <a:ea typeface="Cambria"/>
                <a:cs typeface="Cambria"/>
                <a:sym typeface="Cambria"/>
              </a:rPr>
              <a:t>22,000</a:t>
            </a:r>
            <a:endParaRPr/>
          </a:p>
        </p:txBody>
      </p:sp>
      <p:sp>
        <p:nvSpPr>
          <p:cNvPr id="111" name="Google Shape;111;p5"/>
          <p:cNvSpPr/>
          <p:nvPr/>
        </p:nvSpPr>
        <p:spPr>
          <a:xfrm>
            <a:off x="347472" y="3602736"/>
            <a:ext cx="3977639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CD8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347472" y="3602736"/>
            <a:ext cx="3977639" cy="32004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347472" y="3602736"/>
            <a:ext cx="3977639" cy="374904"/>
          </a:xfrm>
          <a:prstGeom prst="roundRect">
            <a:avLst>
              <a:gd fmla="val 16667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347472" y="3803904"/>
            <a:ext cx="3977639" cy="155448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 txBox="1"/>
          <p:nvPr/>
        </p:nvSpPr>
        <p:spPr>
          <a:xfrm>
            <a:off x="512064" y="3630168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MyAccount UI</a:t>
            </a:r>
            <a:endParaRPr/>
          </a:p>
        </p:txBody>
      </p:sp>
      <p:sp>
        <p:nvSpPr>
          <p:cNvPr id="116" name="Google Shape;116;p5"/>
          <p:cNvSpPr txBox="1"/>
          <p:nvPr/>
        </p:nvSpPr>
        <p:spPr>
          <a:xfrm>
            <a:off x="512064" y="3950208"/>
            <a:ext cx="3703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55CC"/>
                </a:solidFill>
                <a:latin typeface="Cambria"/>
                <a:ea typeface="Cambria"/>
                <a:cs typeface="Cambria"/>
                <a:sym typeface="Cambria"/>
              </a:rPr>
              <a:t>72,000</a:t>
            </a:r>
            <a:endParaRPr/>
          </a:p>
        </p:txBody>
      </p:sp>
      <p:sp>
        <p:nvSpPr>
          <p:cNvPr id="117" name="Google Shape;117;p5"/>
          <p:cNvSpPr/>
          <p:nvPr/>
        </p:nvSpPr>
        <p:spPr>
          <a:xfrm>
            <a:off x="4818888" y="3602736"/>
            <a:ext cx="3977639" cy="7498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CD8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4818888" y="3602736"/>
            <a:ext cx="3977639" cy="32004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4818888" y="3602736"/>
            <a:ext cx="3977639" cy="374904"/>
          </a:xfrm>
          <a:prstGeom prst="roundRect">
            <a:avLst>
              <a:gd fmla="val 16667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4818888" y="3803904"/>
            <a:ext cx="3977639" cy="155448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 txBox="1"/>
          <p:nvPr/>
        </p:nvSpPr>
        <p:spPr>
          <a:xfrm>
            <a:off x="4983479" y="3630168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MyAppConnect API</a:t>
            </a:r>
            <a:endParaRPr/>
          </a:p>
        </p:txBody>
      </p:sp>
      <p:sp>
        <p:nvSpPr>
          <p:cNvPr id="122" name="Google Shape;122;p5"/>
          <p:cNvSpPr txBox="1"/>
          <p:nvPr/>
        </p:nvSpPr>
        <p:spPr>
          <a:xfrm>
            <a:off x="4983479" y="3950208"/>
            <a:ext cx="3703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A55CC"/>
                </a:solidFill>
                <a:latin typeface="Cambria"/>
                <a:ea typeface="Cambria"/>
                <a:cs typeface="Cambria"/>
                <a:sym typeface="Cambria"/>
              </a:rPr>
              <a:t>60,000</a:t>
            </a:r>
            <a:endParaRPr/>
          </a:p>
        </p:txBody>
      </p:sp>
      <p:sp>
        <p:nvSpPr>
          <p:cNvPr id="123" name="Google Shape;123;p5"/>
          <p:cNvSpPr txBox="1"/>
          <p:nvPr/>
        </p:nvSpPr>
        <p:spPr>
          <a:xfrm>
            <a:off x="365760" y="477316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Highlighted values updated from original estimate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457200" y="0"/>
            <a:ext cx="6858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Codebase Breakdown – Lines of Code by Component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6858000" y="0"/>
            <a:ext cx="2103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45011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Total: 470,000 LOC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320040" y="1005840"/>
            <a:ext cx="1874520" cy="292608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374904" y="1005840"/>
            <a:ext cx="1783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Component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2194560" y="1005840"/>
            <a:ext cx="749808" cy="292608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6"/>
          <p:cNvSpPr/>
          <p:nvPr/>
        </p:nvSpPr>
        <p:spPr>
          <a:xfrm>
            <a:off x="2249424" y="1005840"/>
            <a:ext cx="65836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Type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2944368" y="1005840"/>
            <a:ext cx="749808" cy="292608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6"/>
          <p:cNvSpPr/>
          <p:nvPr/>
        </p:nvSpPr>
        <p:spPr>
          <a:xfrm>
            <a:off x="2999232" y="1005840"/>
            <a:ext cx="65836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3694176" y="1005840"/>
            <a:ext cx="530352" cy="292608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"/>
          <p:cNvSpPr/>
          <p:nvPr/>
        </p:nvSpPr>
        <p:spPr>
          <a:xfrm>
            <a:off x="3749040" y="1005840"/>
            <a:ext cx="4389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4224528" y="1005840"/>
            <a:ext cx="3986784" cy="292608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6"/>
          <p:cNvSpPr/>
          <p:nvPr/>
        </p:nvSpPr>
        <p:spPr>
          <a:xfrm>
            <a:off x="4279392" y="1005840"/>
            <a:ext cx="389534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Distribution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320040" y="1298448"/>
            <a:ext cx="1874520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6"/>
          <p:cNvSpPr/>
          <p:nvPr/>
        </p:nvSpPr>
        <p:spPr>
          <a:xfrm>
            <a:off x="2194560" y="1298448"/>
            <a:ext cx="749808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"/>
          <p:cNvSpPr/>
          <p:nvPr/>
        </p:nvSpPr>
        <p:spPr>
          <a:xfrm>
            <a:off x="2944368" y="1298448"/>
            <a:ext cx="749808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6"/>
          <p:cNvSpPr/>
          <p:nvPr/>
        </p:nvSpPr>
        <p:spPr>
          <a:xfrm>
            <a:off x="3694176" y="1298448"/>
            <a:ext cx="530352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"/>
          <p:cNvSpPr/>
          <p:nvPr/>
        </p:nvSpPr>
        <p:spPr>
          <a:xfrm>
            <a:off x="4224528" y="1298448"/>
            <a:ext cx="3986784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6"/>
          <p:cNvSpPr/>
          <p:nvPr/>
        </p:nvSpPr>
        <p:spPr>
          <a:xfrm>
            <a:off x="411480" y="1298448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MyAccess UI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2249424" y="1371600"/>
            <a:ext cx="640080" cy="219456"/>
          </a:xfrm>
          <a:prstGeom prst="roundRect">
            <a:avLst>
              <a:gd fmla="val 16667" name="adj"/>
            </a:avLst>
          </a:prstGeom>
          <a:solidFill>
            <a:srgbClr val="E450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2249424" y="1371600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/>
          <p:nvPr/>
        </p:nvSpPr>
        <p:spPr>
          <a:xfrm>
            <a:off x="2990088" y="1298448"/>
            <a:ext cx="65836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99,000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/>
          <p:nvPr/>
        </p:nvSpPr>
        <p:spPr>
          <a:xfrm>
            <a:off x="3730752" y="129844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21.1%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4297680" y="1389888"/>
            <a:ext cx="3749040" cy="182880"/>
          </a:xfrm>
          <a:prstGeom prst="roundRect">
            <a:avLst>
              <a:gd fmla="val 20000" name="adj"/>
            </a:avLst>
          </a:prstGeom>
          <a:solidFill>
            <a:srgbClr val="E8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6"/>
          <p:cNvSpPr/>
          <p:nvPr/>
        </p:nvSpPr>
        <p:spPr>
          <a:xfrm>
            <a:off x="4297680" y="1389888"/>
            <a:ext cx="3749040" cy="182880"/>
          </a:xfrm>
          <a:prstGeom prst="roundRect">
            <a:avLst>
              <a:gd fmla="val 20000" name="adj"/>
            </a:avLst>
          </a:prstGeom>
          <a:solidFill>
            <a:srgbClr val="E450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6"/>
          <p:cNvSpPr/>
          <p:nvPr/>
        </p:nvSpPr>
        <p:spPr>
          <a:xfrm>
            <a:off x="320040" y="1664208"/>
            <a:ext cx="1874520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6"/>
          <p:cNvSpPr/>
          <p:nvPr/>
        </p:nvSpPr>
        <p:spPr>
          <a:xfrm>
            <a:off x="2194560" y="1664208"/>
            <a:ext cx="749808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6"/>
          <p:cNvSpPr/>
          <p:nvPr/>
        </p:nvSpPr>
        <p:spPr>
          <a:xfrm>
            <a:off x="2944368" y="1664208"/>
            <a:ext cx="749808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6"/>
          <p:cNvSpPr/>
          <p:nvPr/>
        </p:nvSpPr>
        <p:spPr>
          <a:xfrm>
            <a:off x="3694176" y="1664208"/>
            <a:ext cx="530352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6"/>
          <p:cNvSpPr/>
          <p:nvPr/>
        </p:nvSpPr>
        <p:spPr>
          <a:xfrm>
            <a:off x="4224528" y="1664208"/>
            <a:ext cx="3986784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6"/>
          <p:cNvSpPr/>
          <p:nvPr/>
        </p:nvSpPr>
        <p:spPr>
          <a:xfrm>
            <a:off x="411480" y="1664208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MyAccount UI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2249424" y="1737360"/>
            <a:ext cx="640080" cy="219456"/>
          </a:xfrm>
          <a:prstGeom prst="roundRect">
            <a:avLst>
              <a:gd fmla="val 16667" name="adj"/>
            </a:avLst>
          </a:prstGeom>
          <a:solidFill>
            <a:srgbClr val="E450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6"/>
          <p:cNvSpPr/>
          <p:nvPr/>
        </p:nvSpPr>
        <p:spPr>
          <a:xfrm>
            <a:off x="2249424" y="1737360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2990088" y="1664208"/>
            <a:ext cx="65836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72,000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3730752" y="166420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15.3%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4297680" y="1755648"/>
            <a:ext cx="3749040" cy="182880"/>
          </a:xfrm>
          <a:prstGeom prst="roundRect">
            <a:avLst>
              <a:gd fmla="val 20000" name="adj"/>
            </a:avLst>
          </a:prstGeom>
          <a:solidFill>
            <a:srgbClr val="E8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6"/>
          <p:cNvSpPr/>
          <p:nvPr/>
        </p:nvSpPr>
        <p:spPr>
          <a:xfrm>
            <a:off x="4297680" y="1755648"/>
            <a:ext cx="2701636" cy="182880"/>
          </a:xfrm>
          <a:prstGeom prst="roundRect">
            <a:avLst>
              <a:gd fmla="val 20000" name="adj"/>
            </a:avLst>
          </a:prstGeom>
          <a:solidFill>
            <a:srgbClr val="E450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6"/>
          <p:cNvSpPr/>
          <p:nvPr/>
        </p:nvSpPr>
        <p:spPr>
          <a:xfrm>
            <a:off x="320040" y="2029968"/>
            <a:ext cx="1874520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6"/>
          <p:cNvSpPr/>
          <p:nvPr/>
        </p:nvSpPr>
        <p:spPr>
          <a:xfrm>
            <a:off x="2194560" y="2029968"/>
            <a:ext cx="749808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6"/>
          <p:cNvSpPr/>
          <p:nvPr/>
        </p:nvSpPr>
        <p:spPr>
          <a:xfrm>
            <a:off x="2944368" y="2029968"/>
            <a:ext cx="749808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6"/>
          <p:cNvSpPr/>
          <p:nvPr/>
        </p:nvSpPr>
        <p:spPr>
          <a:xfrm>
            <a:off x="3694176" y="2029968"/>
            <a:ext cx="530352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6"/>
          <p:cNvSpPr/>
          <p:nvPr/>
        </p:nvSpPr>
        <p:spPr>
          <a:xfrm>
            <a:off x="4224528" y="2029968"/>
            <a:ext cx="3986784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6"/>
          <p:cNvSpPr/>
          <p:nvPr/>
        </p:nvSpPr>
        <p:spPr>
          <a:xfrm>
            <a:off x="411480" y="2029968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MyAppConnect UI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2249424" y="2103120"/>
            <a:ext cx="640080" cy="219456"/>
          </a:xfrm>
          <a:prstGeom prst="roundRect">
            <a:avLst>
              <a:gd fmla="val 16667" name="adj"/>
            </a:avLst>
          </a:prstGeom>
          <a:solidFill>
            <a:srgbClr val="E450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6"/>
          <p:cNvSpPr/>
          <p:nvPr/>
        </p:nvSpPr>
        <p:spPr>
          <a:xfrm>
            <a:off x="2249424" y="2103120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2990088" y="2029968"/>
            <a:ext cx="65836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60,000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3730752" y="202996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12.8%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4297680" y="2121408"/>
            <a:ext cx="3749040" cy="182880"/>
          </a:xfrm>
          <a:prstGeom prst="roundRect">
            <a:avLst>
              <a:gd fmla="val 20000" name="adj"/>
            </a:avLst>
          </a:prstGeom>
          <a:solidFill>
            <a:srgbClr val="E8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6"/>
          <p:cNvSpPr/>
          <p:nvPr/>
        </p:nvSpPr>
        <p:spPr>
          <a:xfrm>
            <a:off x="4297680" y="2121408"/>
            <a:ext cx="2236124" cy="182880"/>
          </a:xfrm>
          <a:prstGeom prst="roundRect">
            <a:avLst>
              <a:gd fmla="val 20000" name="adj"/>
            </a:avLst>
          </a:prstGeom>
          <a:solidFill>
            <a:srgbClr val="E450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6"/>
          <p:cNvSpPr/>
          <p:nvPr/>
        </p:nvSpPr>
        <p:spPr>
          <a:xfrm>
            <a:off x="320040" y="2395728"/>
            <a:ext cx="1874520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6"/>
          <p:cNvSpPr/>
          <p:nvPr/>
        </p:nvSpPr>
        <p:spPr>
          <a:xfrm>
            <a:off x="2194560" y="2395728"/>
            <a:ext cx="749808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6"/>
          <p:cNvSpPr/>
          <p:nvPr/>
        </p:nvSpPr>
        <p:spPr>
          <a:xfrm>
            <a:off x="2944368" y="2395728"/>
            <a:ext cx="749808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6"/>
          <p:cNvSpPr/>
          <p:nvPr/>
        </p:nvSpPr>
        <p:spPr>
          <a:xfrm>
            <a:off x="3694176" y="2395728"/>
            <a:ext cx="530352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6"/>
          <p:cNvSpPr/>
          <p:nvPr/>
        </p:nvSpPr>
        <p:spPr>
          <a:xfrm>
            <a:off x="4224528" y="2395728"/>
            <a:ext cx="3986784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6"/>
          <p:cNvSpPr/>
          <p:nvPr/>
        </p:nvSpPr>
        <p:spPr>
          <a:xfrm>
            <a:off x="411480" y="2395728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MyAppConnect API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2249424" y="2468880"/>
            <a:ext cx="640080" cy="219456"/>
          </a:xfrm>
          <a:prstGeom prst="roundRect">
            <a:avLst>
              <a:gd fmla="val 16667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6"/>
          <p:cNvSpPr/>
          <p:nvPr/>
        </p:nvSpPr>
        <p:spPr>
          <a:xfrm>
            <a:off x="2249424" y="2468880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2990088" y="2395728"/>
            <a:ext cx="65836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60,000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3730752" y="239572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12.8%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4297680" y="2487168"/>
            <a:ext cx="3749040" cy="182880"/>
          </a:xfrm>
          <a:prstGeom prst="roundRect">
            <a:avLst>
              <a:gd fmla="val 20000" name="adj"/>
            </a:avLst>
          </a:prstGeom>
          <a:solidFill>
            <a:srgbClr val="E8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6"/>
          <p:cNvSpPr/>
          <p:nvPr/>
        </p:nvSpPr>
        <p:spPr>
          <a:xfrm>
            <a:off x="4297680" y="2487168"/>
            <a:ext cx="2236124" cy="182880"/>
          </a:xfrm>
          <a:prstGeom prst="roundRect">
            <a:avLst>
              <a:gd fmla="val 20000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6"/>
          <p:cNvSpPr/>
          <p:nvPr/>
        </p:nvSpPr>
        <p:spPr>
          <a:xfrm>
            <a:off x="320040" y="2761488"/>
            <a:ext cx="1874520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6"/>
          <p:cNvSpPr/>
          <p:nvPr/>
        </p:nvSpPr>
        <p:spPr>
          <a:xfrm>
            <a:off x="2194560" y="2761488"/>
            <a:ext cx="749808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6"/>
          <p:cNvSpPr/>
          <p:nvPr/>
        </p:nvSpPr>
        <p:spPr>
          <a:xfrm>
            <a:off x="2944368" y="2761488"/>
            <a:ext cx="749808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6"/>
          <p:cNvSpPr/>
          <p:nvPr/>
        </p:nvSpPr>
        <p:spPr>
          <a:xfrm>
            <a:off x="3694176" y="2761488"/>
            <a:ext cx="530352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6"/>
          <p:cNvSpPr/>
          <p:nvPr/>
        </p:nvSpPr>
        <p:spPr>
          <a:xfrm>
            <a:off x="4224528" y="2761488"/>
            <a:ext cx="3986784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6"/>
          <p:cNvSpPr/>
          <p:nvPr/>
        </p:nvSpPr>
        <p:spPr>
          <a:xfrm>
            <a:off x="411480" y="2761488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Core API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2249424" y="2834640"/>
            <a:ext cx="640080" cy="219456"/>
          </a:xfrm>
          <a:prstGeom prst="roundRect">
            <a:avLst>
              <a:gd fmla="val 16667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6"/>
          <p:cNvSpPr/>
          <p:nvPr/>
        </p:nvSpPr>
        <p:spPr>
          <a:xfrm>
            <a:off x="2249424" y="2834640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2990088" y="2761488"/>
            <a:ext cx="65836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57,000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3730752" y="276148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12.1%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/>
          <p:nvPr/>
        </p:nvSpPr>
        <p:spPr>
          <a:xfrm>
            <a:off x="4297680" y="2852928"/>
            <a:ext cx="3749040" cy="182880"/>
          </a:xfrm>
          <a:prstGeom prst="roundRect">
            <a:avLst>
              <a:gd fmla="val 20000" name="adj"/>
            </a:avLst>
          </a:prstGeom>
          <a:solidFill>
            <a:srgbClr val="E8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6"/>
          <p:cNvSpPr/>
          <p:nvPr/>
        </p:nvSpPr>
        <p:spPr>
          <a:xfrm>
            <a:off x="4297680" y="2852928"/>
            <a:ext cx="2119745" cy="182880"/>
          </a:xfrm>
          <a:prstGeom prst="roundRect">
            <a:avLst>
              <a:gd fmla="val 20000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6"/>
          <p:cNvSpPr/>
          <p:nvPr/>
        </p:nvSpPr>
        <p:spPr>
          <a:xfrm>
            <a:off x="320040" y="3127248"/>
            <a:ext cx="1874520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6"/>
          <p:cNvSpPr/>
          <p:nvPr/>
        </p:nvSpPr>
        <p:spPr>
          <a:xfrm>
            <a:off x="2194560" y="3127248"/>
            <a:ext cx="749808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6"/>
          <p:cNvSpPr/>
          <p:nvPr/>
        </p:nvSpPr>
        <p:spPr>
          <a:xfrm>
            <a:off x="2944368" y="3127248"/>
            <a:ext cx="749808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6"/>
          <p:cNvSpPr/>
          <p:nvPr/>
        </p:nvSpPr>
        <p:spPr>
          <a:xfrm>
            <a:off x="3694176" y="3127248"/>
            <a:ext cx="530352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6"/>
          <p:cNvSpPr/>
          <p:nvPr/>
        </p:nvSpPr>
        <p:spPr>
          <a:xfrm>
            <a:off x="4224528" y="3127248"/>
            <a:ext cx="3986784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6"/>
          <p:cNvSpPr/>
          <p:nvPr/>
        </p:nvSpPr>
        <p:spPr>
          <a:xfrm>
            <a:off x="411480" y="3127248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Database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2249424" y="3200400"/>
            <a:ext cx="640080" cy="219456"/>
          </a:xfrm>
          <a:prstGeom prst="roundRect">
            <a:avLst>
              <a:gd fmla="val 16667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6"/>
          <p:cNvSpPr/>
          <p:nvPr/>
        </p:nvSpPr>
        <p:spPr>
          <a:xfrm>
            <a:off x="2249424" y="3200400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2990088" y="3127248"/>
            <a:ext cx="65836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36,000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3730752" y="312724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7.7%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4297680" y="3218688"/>
            <a:ext cx="3749040" cy="182880"/>
          </a:xfrm>
          <a:prstGeom prst="roundRect">
            <a:avLst>
              <a:gd fmla="val 20000" name="adj"/>
            </a:avLst>
          </a:prstGeom>
          <a:solidFill>
            <a:srgbClr val="E8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6"/>
          <p:cNvSpPr/>
          <p:nvPr/>
        </p:nvSpPr>
        <p:spPr>
          <a:xfrm>
            <a:off x="4297680" y="3218688"/>
            <a:ext cx="1305098" cy="182880"/>
          </a:xfrm>
          <a:prstGeom prst="roundRect">
            <a:avLst>
              <a:gd fmla="val 20000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6"/>
          <p:cNvSpPr/>
          <p:nvPr/>
        </p:nvSpPr>
        <p:spPr>
          <a:xfrm>
            <a:off x="320040" y="3493008"/>
            <a:ext cx="1874520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6"/>
          <p:cNvSpPr/>
          <p:nvPr/>
        </p:nvSpPr>
        <p:spPr>
          <a:xfrm>
            <a:off x="2194560" y="3493008"/>
            <a:ext cx="749808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6"/>
          <p:cNvSpPr/>
          <p:nvPr/>
        </p:nvSpPr>
        <p:spPr>
          <a:xfrm>
            <a:off x="2944368" y="3493008"/>
            <a:ext cx="749808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6"/>
          <p:cNvSpPr/>
          <p:nvPr/>
        </p:nvSpPr>
        <p:spPr>
          <a:xfrm>
            <a:off x="3694176" y="3493008"/>
            <a:ext cx="530352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6"/>
          <p:cNvSpPr/>
          <p:nvPr/>
        </p:nvSpPr>
        <p:spPr>
          <a:xfrm>
            <a:off x="4224528" y="3493008"/>
            <a:ext cx="3986784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6"/>
          <p:cNvSpPr/>
          <p:nvPr/>
        </p:nvSpPr>
        <p:spPr>
          <a:xfrm>
            <a:off x="411480" y="3493008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Data Collection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2249424" y="3566160"/>
            <a:ext cx="640080" cy="219456"/>
          </a:xfrm>
          <a:prstGeom prst="roundRect">
            <a:avLst>
              <a:gd fmla="val 16667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6"/>
          <p:cNvSpPr/>
          <p:nvPr/>
        </p:nvSpPr>
        <p:spPr>
          <a:xfrm>
            <a:off x="2249424" y="3566160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6"/>
          <p:cNvSpPr/>
          <p:nvPr/>
        </p:nvSpPr>
        <p:spPr>
          <a:xfrm>
            <a:off x="2990088" y="3493008"/>
            <a:ext cx="65836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30,000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6"/>
          <p:cNvSpPr/>
          <p:nvPr/>
        </p:nvSpPr>
        <p:spPr>
          <a:xfrm>
            <a:off x="3730752" y="349300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6.4%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6"/>
          <p:cNvSpPr/>
          <p:nvPr/>
        </p:nvSpPr>
        <p:spPr>
          <a:xfrm>
            <a:off x="4297680" y="3584448"/>
            <a:ext cx="3749040" cy="182880"/>
          </a:xfrm>
          <a:prstGeom prst="roundRect">
            <a:avLst>
              <a:gd fmla="val 20000" name="adj"/>
            </a:avLst>
          </a:prstGeom>
          <a:solidFill>
            <a:srgbClr val="E8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4297680" y="3584448"/>
            <a:ext cx="1072342" cy="182880"/>
          </a:xfrm>
          <a:prstGeom prst="roundRect">
            <a:avLst>
              <a:gd fmla="val 20000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6"/>
          <p:cNvSpPr/>
          <p:nvPr/>
        </p:nvSpPr>
        <p:spPr>
          <a:xfrm>
            <a:off x="320040" y="3858768"/>
            <a:ext cx="1874520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2194560" y="3858768"/>
            <a:ext cx="749808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2944368" y="3858768"/>
            <a:ext cx="749808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3694176" y="3858768"/>
            <a:ext cx="530352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6"/>
          <p:cNvSpPr/>
          <p:nvPr/>
        </p:nvSpPr>
        <p:spPr>
          <a:xfrm>
            <a:off x="4224528" y="3858768"/>
            <a:ext cx="3986784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6"/>
          <p:cNvSpPr/>
          <p:nvPr/>
        </p:nvSpPr>
        <p:spPr>
          <a:xfrm>
            <a:off x="411480" y="3858768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MyAccess API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6"/>
          <p:cNvSpPr/>
          <p:nvPr/>
        </p:nvSpPr>
        <p:spPr>
          <a:xfrm>
            <a:off x="2249424" y="3931920"/>
            <a:ext cx="640080" cy="219456"/>
          </a:xfrm>
          <a:prstGeom prst="roundRect">
            <a:avLst>
              <a:gd fmla="val 16667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2249424" y="3931920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2990088" y="3858768"/>
            <a:ext cx="65836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22,000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/>
          <p:nvPr/>
        </p:nvSpPr>
        <p:spPr>
          <a:xfrm>
            <a:off x="3730752" y="385876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4.7%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4297680" y="3950208"/>
            <a:ext cx="3749040" cy="182880"/>
          </a:xfrm>
          <a:prstGeom prst="roundRect">
            <a:avLst>
              <a:gd fmla="val 20000" name="adj"/>
            </a:avLst>
          </a:prstGeom>
          <a:solidFill>
            <a:srgbClr val="E8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4297680" y="3950208"/>
            <a:ext cx="762000" cy="182880"/>
          </a:xfrm>
          <a:prstGeom prst="roundRect">
            <a:avLst>
              <a:gd fmla="val 20000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6"/>
          <p:cNvSpPr/>
          <p:nvPr/>
        </p:nvSpPr>
        <p:spPr>
          <a:xfrm>
            <a:off x="320040" y="4224528"/>
            <a:ext cx="1874520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2194560" y="4224528"/>
            <a:ext cx="749808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2944368" y="4224528"/>
            <a:ext cx="749808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3694176" y="4224528"/>
            <a:ext cx="530352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4224528" y="4224528"/>
            <a:ext cx="3986784" cy="36576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411480" y="4224528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MyAccount API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6"/>
          <p:cNvSpPr/>
          <p:nvPr/>
        </p:nvSpPr>
        <p:spPr>
          <a:xfrm>
            <a:off x="2249424" y="4297680"/>
            <a:ext cx="640080" cy="219456"/>
          </a:xfrm>
          <a:prstGeom prst="roundRect">
            <a:avLst>
              <a:gd fmla="val 16667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6"/>
          <p:cNvSpPr/>
          <p:nvPr/>
        </p:nvSpPr>
        <p:spPr>
          <a:xfrm>
            <a:off x="2249424" y="4297680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6"/>
          <p:cNvSpPr/>
          <p:nvPr/>
        </p:nvSpPr>
        <p:spPr>
          <a:xfrm>
            <a:off x="2990088" y="4224528"/>
            <a:ext cx="65836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18,000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6"/>
          <p:cNvSpPr/>
          <p:nvPr/>
        </p:nvSpPr>
        <p:spPr>
          <a:xfrm>
            <a:off x="3730752" y="422452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3.8%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6"/>
          <p:cNvSpPr/>
          <p:nvPr/>
        </p:nvSpPr>
        <p:spPr>
          <a:xfrm>
            <a:off x="4297680" y="4315968"/>
            <a:ext cx="3749040" cy="182880"/>
          </a:xfrm>
          <a:prstGeom prst="roundRect">
            <a:avLst>
              <a:gd fmla="val 20000" name="adj"/>
            </a:avLst>
          </a:prstGeom>
          <a:solidFill>
            <a:srgbClr val="E8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6"/>
          <p:cNvSpPr/>
          <p:nvPr/>
        </p:nvSpPr>
        <p:spPr>
          <a:xfrm>
            <a:off x="4297680" y="4315968"/>
            <a:ext cx="606829" cy="182880"/>
          </a:xfrm>
          <a:prstGeom prst="roundRect">
            <a:avLst>
              <a:gd fmla="val 20000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6"/>
          <p:cNvSpPr/>
          <p:nvPr/>
        </p:nvSpPr>
        <p:spPr>
          <a:xfrm>
            <a:off x="320040" y="4590288"/>
            <a:ext cx="1874520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6"/>
          <p:cNvSpPr/>
          <p:nvPr/>
        </p:nvSpPr>
        <p:spPr>
          <a:xfrm>
            <a:off x="2194560" y="4590288"/>
            <a:ext cx="749808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6"/>
          <p:cNvSpPr/>
          <p:nvPr/>
        </p:nvSpPr>
        <p:spPr>
          <a:xfrm>
            <a:off x="2944368" y="4590288"/>
            <a:ext cx="749808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6"/>
          <p:cNvSpPr/>
          <p:nvPr/>
        </p:nvSpPr>
        <p:spPr>
          <a:xfrm>
            <a:off x="3694176" y="4590288"/>
            <a:ext cx="530352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6"/>
          <p:cNvSpPr/>
          <p:nvPr/>
        </p:nvSpPr>
        <p:spPr>
          <a:xfrm>
            <a:off x="4224528" y="4590288"/>
            <a:ext cx="3986784" cy="365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6"/>
          <p:cNvSpPr/>
          <p:nvPr/>
        </p:nvSpPr>
        <p:spPr>
          <a:xfrm>
            <a:off x="411480" y="4590288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MyPassword UI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6"/>
          <p:cNvSpPr/>
          <p:nvPr/>
        </p:nvSpPr>
        <p:spPr>
          <a:xfrm>
            <a:off x="2249424" y="4663440"/>
            <a:ext cx="640080" cy="219456"/>
          </a:xfrm>
          <a:prstGeom prst="roundRect">
            <a:avLst>
              <a:gd fmla="val 16667" name="adj"/>
            </a:avLst>
          </a:prstGeom>
          <a:solidFill>
            <a:srgbClr val="E450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6"/>
          <p:cNvSpPr/>
          <p:nvPr/>
        </p:nvSpPr>
        <p:spPr>
          <a:xfrm>
            <a:off x="2249424" y="4663440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6"/>
          <p:cNvSpPr/>
          <p:nvPr/>
        </p:nvSpPr>
        <p:spPr>
          <a:xfrm>
            <a:off x="2990088" y="4590288"/>
            <a:ext cx="65836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16,000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6"/>
          <p:cNvSpPr/>
          <p:nvPr/>
        </p:nvSpPr>
        <p:spPr>
          <a:xfrm>
            <a:off x="3730752" y="459028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3.4%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6"/>
          <p:cNvSpPr/>
          <p:nvPr/>
        </p:nvSpPr>
        <p:spPr>
          <a:xfrm>
            <a:off x="4297680" y="4681728"/>
            <a:ext cx="3749040" cy="182880"/>
          </a:xfrm>
          <a:prstGeom prst="roundRect">
            <a:avLst>
              <a:gd fmla="val 20000" name="adj"/>
            </a:avLst>
          </a:prstGeom>
          <a:solidFill>
            <a:srgbClr val="E8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6"/>
          <p:cNvSpPr/>
          <p:nvPr/>
        </p:nvSpPr>
        <p:spPr>
          <a:xfrm>
            <a:off x="4297680" y="4681728"/>
            <a:ext cx="529244" cy="182880"/>
          </a:xfrm>
          <a:prstGeom prst="roundRect">
            <a:avLst>
              <a:gd fmla="val 20000" name="adj"/>
            </a:avLst>
          </a:prstGeom>
          <a:solidFill>
            <a:srgbClr val="E450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6"/>
          <p:cNvSpPr/>
          <p:nvPr/>
        </p:nvSpPr>
        <p:spPr>
          <a:xfrm>
            <a:off x="457200" y="4773168"/>
            <a:ext cx="201168" cy="201168"/>
          </a:xfrm>
          <a:prstGeom prst="roundRect">
            <a:avLst>
              <a:gd fmla="val 18182" name="adj"/>
            </a:avLst>
          </a:prstGeom>
          <a:solidFill>
            <a:srgbClr val="E450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6"/>
          <p:cNvSpPr/>
          <p:nvPr/>
        </p:nvSpPr>
        <p:spPr>
          <a:xfrm>
            <a:off x="713232" y="477316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6"/>
          <p:cNvSpPr/>
          <p:nvPr/>
        </p:nvSpPr>
        <p:spPr>
          <a:xfrm>
            <a:off x="1828800" y="4773168"/>
            <a:ext cx="201168" cy="201168"/>
          </a:xfrm>
          <a:prstGeom prst="roundRect">
            <a:avLst>
              <a:gd fmla="val 18182" name="adj"/>
            </a:avLst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6"/>
          <p:cNvSpPr/>
          <p:nvPr/>
        </p:nvSpPr>
        <p:spPr>
          <a:xfrm>
            <a:off x="2084832" y="477316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Backend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6"/>
          <p:cNvSpPr/>
          <p:nvPr/>
        </p:nvSpPr>
        <p:spPr>
          <a:xfrm>
            <a:off x="3200400" y="4773168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Frontend: 247,000 LOC  ·  Backend: 223,000 LOC  ·  Total: 470,000 LOC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7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Estimation Model – How We Arrive at Total Tokens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7"/>
          <p:cNvSpPr/>
          <p:nvPr/>
        </p:nvSpPr>
        <p:spPr>
          <a:xfrm>
            <a:off x="274320" y="1234440"/>
            <a:ext cx="1463040" cy="2286000"/>
          </a:xfrm>
          <a:prstGeom prst="roundRect">
            <a:avLst>
              <a:gd fmla="val 6250" name="adj"/>
            </a:avLst>
          </a:prstGeom>
          <a:solidFill>
            <a:srgbClr val="00205B"/>
          </a:solidFill>
          <a:ln>
            <a:noFill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5" name="Google Shape;27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240" y="139903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7"/>
          <p:cNvSpPr/>
          <p:nvPr/>
        </p:nvSpPr>
        <p:spPr>
          <a:xfrm>
            <a:off x="320040" y="1947672"/>
            <a:ext cx="1371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Repository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Size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7"/>
          <p:cNvSpPr/>
          <p:nvPr/>
        </p:nvSpPr>
        <p:spPr>
          <a:xfrm>
            <a:off x="320040" y="26974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CADCFC"/>
                </a:solidFill>
                <a:latin typeface="Cambria"/>
                <a:ea typeface="Cambria"/>
                <a:cs typeface="Cambria"/>
                <a:sym typeface="Cambria"/>
              </a:rPr>
              <a:t>395K LOC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7"/>
          <p:cNvSpPr/>
          <p:nvPr/>
        </p:nvSpPr>
        <p:spPr>
          <a:xfrm>
            <a:off x="1737360" y="2057400"/>
            <a:ext cx="31089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2048256" y="1234440"/>
            <a:ext cx="1463040" cy="2286000"/>
          </a:xfrm>
          <a:prstGeom prst="roundRect">
            <a:avLst>
              <a:gd fmla="val 6250" name="adj"/>
            </a:avLst>
          </a:prstGeom>
          <a:solidFill>
            <a:srgbClr val="00205B"/>
          </a:solidFill>
          <a:ln>
            <a:noFill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80" name="Google Shape;28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551176" y="139903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7"/>
          <p:cNvSpPr/>
          <p:nvPr/>
        </p:nvSpPr>
        <p:spPr>
          <a:xfrm>
            <a:off x="2093976" y="1947672"/>
            <a:ext cx="1371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× Tokens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 LOC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7"/>
          <p:cNvSpPr/>
          <p:nvPr/>
        </p:nvSpPr>
        <p:spPr>
          <a:xfrm>
            <a:off x="2093976" y="26974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CADCFC"/>
                </a:solidFill>
                <a:latin typeface="Cambria"/>
                <a:ea typeface="Cambria"/>
                <a:cs typeface="Cambria"/>
                <a:sym typeface="Cambria"/>
              </a:rPr>
              <a:t>× 15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7"/>
          <p:cNvSpPr/>
          <p:nvPr/>
        </p:nvSpPr>
        <p:spPr>
          <a:xfrm>
            <a:off x="3511296" y="2057400"/>
            <a:ext cx="31089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7"/>
          <p:cNvSpPr/>
          <p:nvPr/>
        </p:nvSpPr>
        <p:spPr>
          <a:xfrm>
            <a:off x="3822192" y="1234440"/>
            <a:ext cx="1463040" cy="2286000"/>
          </a:xfrm>
          <a:prstGeom prst="roundRect">
            <a:avLst>
              <a:gd fmla="val 6250" name="adj"/>
            </a:avLst>
          </a:prstGeom>
          <a:solidFill>
            <a:srgbClr val="00205B"/>
          </a:solidFill>
          <a:ln>
            <a:noFill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85" name="Google Shape;285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25112" y="139903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7"/>
          <p:cNvSpPr/>
          <p:nvPr/>
        </p:nvSpPr>
        <p:spPr>
          <a:xfrm>
            <a:off x="3867912" y="1947672"/>
            <a:ext cx="1371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× Migration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Passes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3867912" y="26974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CADCFC"/>
                </a:solidFill>
                <a:latin typeface="Cambria"/>
                <a:ea typeface="Cambria"/>
                <a:cs typeface="Cambria"/>
                <a:sym typeface="Cambria"/>
              </a:rPr>
              <a:t>× 20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7"/>
          <p:cNvSpPr/>
          <p:nvPr/>
        </p:nvSpPr>
        <p:spPr>
          <a:xfrm>
            <a:off x="5285232" y="2057400"/>
            <a:ext cx="31089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7"/>
          <p:cNvSpPr/>
          <p:nvPr/>
        </p:nvSpPr>
        <p:spPr>
          <a:xfrm>
            <a:off x="5596128" y="1234440"/>
            <a:ext cx="1463040" cy="2286000"/>
          </a:xfrm>
          <a:prstGeom prst="roundRect">
            <a:avLst>
              <a:gd fmla="val 6250" name="adj"/>
            </a:avLst>
          </a:prstGeom>
          <a:solidFill>
            <a:srgbClr val="00205B"/>
          </a:solidFill>
          <a:ln>
            <a:noFill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0" name="Google Shape;290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99048" y="139903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"/>
          <p:cNvSpPr/>
          <p:nvPr/>
        </p:nvSpPr>
        <p:spPr>
          <a:xfrm>
            <a:off x="5641848" y="1947672"/>
            <a:ext cx="1371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× Context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Overhead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"/>
          <p:cNvSpPr/>
          <p:nvPr/>
        </p:nvSpPr>
        <p:spPr>
          <a:xfrm>
            <a:off x="5641848" y="26974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CADCFC"/>
                </a:solidFill>
                <a:latin typeface="Cambria"/>
                <a:ea typeface="Cambria"/>
                <a:cs typeface="Cambria"/>
                <a:sym typeface="Cambria"/>
              </a:rPr>
              <a:t>× 3.0×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7"/>
          <p:cNvSpPr/>
          <p:nvPr/>
        </p:nvSpPr>
        <p:spPr>
          <a:xfrm>
            <a:off x="7059168" y="2057400"/>
            <a:ext cx="31089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7"/>
          <p:cNvSpPr/>
          <p:nvPr/>
        </p:nvSpPr>
        <p:spPr>
          <a:xfrm>
            <a:off x="7370064" y="1234440"/>
            <a:ext cx="1463040" cy="2286000"/>
          </a:xfrm>
          <a:prstGeom prst="roundRect">
            <a:avLst>
              <a:gd fmla="val 6250" name="adj"/>
            </a:avLst>
          </a:prstGeom>
          <a:solidFill>
            <a:srgbClr val="E45011"/>
          </a:solidFill>
          <a:ln>
            <a:noFill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5" name="Google Shape;295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872984" y="139903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7"/>
          <p:cNvSpPr/>
          <p:nvPr/>
        </p:nvSpPr>
        <p:spPr>
          <a:xfrm>
            <a:off x="7415784" y="1947672"/>
            <a:ext cx="1371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= Total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Tokens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7"/>
          <p:cNvSpPr/>
          <p:nvPr/>
        </p:nvSpPr>
        <p:spPr>
          <a:xfrm>
            <a:off x="7415784" y="26974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1A2640"/>
                </a:solidFill>
                <a:latin typeface="Cambria"/>
                <a:ea typeface="Cambria"/>
                <a:cs typeface="Cambria"/>
                <a:sym typeface="Cambria"/>
              </a:rPr>
              <a:t>~800M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7"/>
          <p:cNvSpPr/>
          <p:nvPr/>
        </p:nvSpPr>
        <p:spPr>
          <a:xfrm>
            <a:off x="457200" y="3749040"/>
            <a:ext cx="8229600" cy="1005840"/>
          </a:xfrm>
          <a:prstGeom prst="roundRect">
            <a:avLst>
              <a:gd fmla="val 7273" name="adj"/>
            </a:avLst>
          </a:prstGeom>
          <a:solidFill>
            <a:srgbClr val="F4F6FA"/>
          </a:solidFill>
          <a:ln cap="flat" cmpd="sng" w="9525">
            <a:solidFill>
              <a:srgbClr val="0020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7"/>
          <p:cNvSpPr/>
          <p:nvPr/>
        </p:nvSpPr>
        <p:spPr>
          <a:xfrm>
            <a:off x="548640" y="374904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205B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00205B"/>
                </a:solidFill>
                <a:latin typeface="Cambria"/>
                <a:ea typeface="Cambria"/>
                <a:cs typeface="Cambria"/>
                <a:sym typeface="Cambria"/>
              </a:rPr>
              <a:t>Total Tokens  =  (LOC × 15 tokens/LOC) × 20 passes × 3.0× context × (1 + 1.25 output)  =  799.9M tokens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8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8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mbria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Step-by-Step Token Calculation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365760" y="1051560"/>
            <a:ext cx="2468880" cy="530352"/>
          </a:xfrm>
          <a:prstGeom prst="rect">
            <a:avLst/>
          </a:prstGeom>
          <a:solidFill>
            <a:srgbClr val="00205B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8"/>
          <p:cNvSpPr/>
          <p:nvPr/>
        </p:nvSpPr>
        <p:spPr>
          <a:xfrm>
            <a:off x="475488" y="1051560"/>
            <a:ext cx="22860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2834640" y="1051560"/>
            <a:ext cx="2926080" cy="530352"/>
          </a:xfrm>
          <a:prstGeom prst="rect">
            <a:avLst/>
          </a:prstGeom>
          <a:solidFill>
            <a:srgbClr val="00205B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8"/>
          <p:cNvSpPr/>
          <p:nvPr/>
        </p:nvSpPr>
        <p:spPr>
          <a:xfrm>
            <a:off x="2944368" y="1051560"/>
            <a:ext cx="27432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Formula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5760720" y="1051560"/>
            <a:ext cx="2103120" cy="530352"/>
          </a:xfrm>
          <a:prstGeom prst="rect">
            <a:avLst/>
          </a:prstGeom>
          <a:solidFill>
            <a:srgbClr val="00205B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8"/>
          <p:cNvSpPr/>
          <p:nvPr/>
        </p:nvSpPr>
        <p:spPr>
          <a:xfrm>
            <a:off x="5870448" y="1051560"/>
            <a:ext cx="19202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Result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7863840" y="1051560"/>
            <a:ext cx="1188720" cy="530352"/>
          </a:xfrm>
          <a:prstGeom prst="rect">
            <a:avLst/>
          </a:prstGeom>
          <a:solidFill>
            <a:srgbClr val="00205B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8"/>
          <p:cNvSpPr/>
          <p:nvPr/>
        </p:nvSpPr>
        <p:spPr>
          <a:xfrm>
            <a:off x="7973568" y="1051560"/>
            <a:ext cx="1005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Type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65760" y="1581912"/>
            <a:ext cx="246888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8"/>
          <p:cNvSpPr/>
          <p:nvPr/>
        </p:nvSpPr>
        <p:spPr>
          <a:xfrm>
            <a:off x="475488" y="1581912"/>
            <a:ext cx="22860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1. Repository Tokens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2834640" y="1581912"/>
            <a:ext cx="292608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8"/>
          <p:cNvSpPr/>
          <p:nvPr/>
        </p:nvSpPr>
        <p:spPr>
          <a:xfrm>
            <a:off x="2944368" y="1581912"/>
            <a:ext cx="27432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395,000 LOC × 15 tokens/LOC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8"/>
          <p:cNvSpPr/>
          <p:nvPr/>
        </p:nvSpPr>
        <p:spPr>
          <a:xfrm>
            <a:off x="5760720" y="1581912"/>
            <a:ext cx="21031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5870448" y="1581912"/>
            <a:ext cx="19202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5.925M tokens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8"/>
          <p:cNvSpPr/>
          <p:nvPr/>
        </p:nvSpPr>
        <p:spPr>
          <a:xfrm>
            <a:off x="7863840" y="1581912"/>
            <a:ext cx="11887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7973568" y="1581912"/>
            <a:ext cx="1005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"/>
          <p:cNvSpPr/>
          <p:nvPr/>
        </p:nvSpPr>
        <p:spPr>
          <a:xfrm>
            <a:off x="365760" y="2112264"/>
            <a:ext cx="2468880" cy="530352"/>
          </a:xfrm>
          <a:prstGeom prst="rect">
            <a:avLst/>
          </a:prstGeom>
          <a:solidFill>
            <a:srgbClr val="EEF2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8"/>
          <p:cNvSpPr/>
          <p:nvPr/>
        </p:nvSpPr>
        <p:spPr>
          <a:xfrm>
            <a:off x="475488" y="2112264"/>
            <a:ext cx="22860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2. Pass Volume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8"/>
          <p:cNvSpPr/>
          <p:nvPr/>
        </p:nvSpPr>
        <p:spPr>
          <a:xfrm>
            <a:off x="2834640" y="2112264"/>
            <a:ext cx="2926080" cy="530352"/>
          </a:xfrm>
          <a:prstGeom prst="rect">
            <a:avLst/>
          </a:prstGeom>
          <a:solidFill>
            <a:srgbClr val="EEF2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2944368" y="2112264"/>
            <a:ext cx="27432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5.925M × 20 passes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8"/>
          <p:cNvSpPr/>
          <p:nvPr/>
        </p:nvSpPr>
        <p:spPr>
          <a:xfrm>
            <a:off x="5760720" y="2112264"/>
            <a:ext cx="2103120" cy="530352"/>
          </a:xfrm>
          <a:prstGeom prst="rect">
            <a:avLst/>
          </a:prstGeom>
          <a:solidFill>
            <a:srgbClr val="EEF2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8"/>
          <p:cNvSpPr/>
          <p:nvPr/>
        </p:nvSpPr>
        <p:spPr>
          <a:xfrm>
            <a:off x="5870448" y="2112264"/>
            <a:ext cx="19202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118.5M tokens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"/>
          <p:cNvSpPr/>
          <p:nvPr/>
        </p:nvSpPr>
        <p:spPr>
          <a:xfrm>
            <a:off x="7863840" y="2112264"/>
            <a:ext cx="1188720" cy="530352"/>
          </a:xfrm>
          <a:prstGeom prst="rect">
            <a:avLst/>
          </a:prstGeom>
          <a:solidFill>
            <a:srgbClr val="EEF2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7973568" y="2112264"/>
            <a:ext cx="1005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Cumulative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8"/>
          <p:cNvSpPr/>
          <p:nvPr/>
        </p:nvSpPr>
        <p:spPr>
          <a:xfrm>
            <a:off x="365760" y="2642616"/>
            <a:ext cx="246888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475488" y="2642616"/>
            <a:ext cx="22860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3. Context Overhead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8"/>
          <p:cNvSpPr/>
          <p:nvPr/>
        </p:nvSpPr>
        <p:spPr>
          <a:xfrm>
            <a:off x="2834640" y="2642616"/>
            <a:ext cx="292608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8"/>
          <p:cNvSpPr/>
          <p:nvPr/>
        </p:nvSpPr>
        <p:spPr>
          <a:xfrm>
            <a:off x="2944368" y="2642616"/>
            <a:ext cx="27432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118.5M × 3.0× multiplier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8"/>
          <p:cNvSpPr/>
          <p:nvPr/>
        </p:nvSpPr>
        <p:spPr>
          <a:xfrm>
            <a:off x="5760720" y="2642616"/>
            <a:ext cx="21031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5870448" y="2642616"/>
            <a:ext cx="19202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355.5M tokens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"/>
          <p:cNvSpPr/>
          <p:nvPr/>
        </p:nvSpPr>
        <p:spPr>
          <a:xfrm>
            <a:off x="7863840" y="2642616"/>
            <a:ext cx="11887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7973568" y="2642616"/>
            <a:ext cx="1005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Input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"/>
          <p:cNvSpPr/>
          <p:nvPr/>
        </p:nvSpPr>
        <p:spPr>
          <a:xfrm>
            <a:off x="365760" y="3172968"/>
            <a:ext cx="2468880" cy="530352"/>
          </a:xfrm>
          <a:prstGeom prst="rect">
            <a:avLst/>
          </a:prstGeom>
          <a:solidFill>
            <a:srgbClr val="EEF2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475488" y="3172968"/>
            <a:ext cx="22860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4. Generated Output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8"/>
          <p:cNvSpPr/>
          <p:nvPr/>
        </p:nvSpPr>
        <p:spPr>
          <a:xfrm>
            <a:off x="2834640" y="3172968"/>
            <a:ext cx="2926080" cy="530352"/>
          </a:xfrm>
          <a:prstGeom prst="rect">
            <a:avLst/>
          </a:prstGeom>
          <a:solidFill>
            <a:srgbClr val="EEF2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8"/>
          <p:cNvSpPr/>
          <p:nvPr/>
        </p:nvSpPr>
        <p:spPr>
          <a:xfrm>
            <a:off x="2944368" y="3172968"/>
            <a:ext cx="27432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355.5M × 125% output ratio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8"/>
          <p:cNvSpPr/>
          <p:nvPr/>
        </p:nvSpPr>
        <p:spPr>
          <a:xfrm>
            <a:off x="5760720" y="3172968"/>
            <a:ext cx="2103120" cy="530352"/>
          </a:xfrm>
          <a:prstGeom prst="rect">
            <a:avLst/>
          </a:prstGeom>
          <a:solidFill>
            <a:srgbClr val="EEF2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8"/>
          <p:cNvSpPr/>
          <p:nvPr/>
        </p:nvSpPr>
        <p:spPr>
          <a:xfrm>
            <a:off x="5870448" y="3172968"/>
            <a:ext cx="19202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444.375M tokens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"/>
          <p:cNvSpPr/>
          <p:nvPr/>
        </p:nvSpPr>
        <p:spPr>
          <a:xfrm>
            <a:off x="7863840" y="3172968"/>
            <a:ext cx="1188720" cy="530352"/>
          </a:xfrm>
          <a:prstGeom prst="rect">
            <a:avLst/>
          </a:prstGeom>
          <a:solidFill>
            <a:srgbClr val="EEF2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8"/>
          <p:cNvSpPr/>
          <p:nvPr/>
        </p:nvSpPr>
        <p:spPr>
          <a:xfrm>
            <a:off x="7973568" y="3172968"/>
            <a:ext cx="1005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8"/>
          <p:cNvSpPr/>
          <p:nvPr/>
        </p:nvSpPr>
        <p:spPr>
          <a:xfrm>
            <a:off x="365760" y="3703320"/>
            <a:ext cx="2468880" cy="530352"/>
          </a:xfrm>
          <a:prstGeom prst="rect">
            <a:avLst/>
          </a:prstGeom>
          <a:solidFill>
            <a:srgbClr val="E45011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8"/>
          <p:cNvSpPr/>
          <p:nvPr/>
        </p:nvSpPr>
        <p:spPr>
          <a:xfrm>
            <a:off x="475488" y="3703320"/>
            <a:ext cx="22860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5. TOTAL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8"/>
          <p:cNvSpPr/>
          <p:nvPr/>
        </p:nvSpPr>
        <p:spPr>
          <a:xfrm>
            <a:off x="2834640" y="3703320"/>
            <a:ext cx="2926080" cy="530352"/>
          </a:xfrm>
          <a:prstGeom prst="rect">
            <a:avLst/>
          </a:prstGeom>
          <a:solidFill>
            <a:srgbClr val="E45011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8"/>
          <p:cNvSpPr/>
          <p:nvPr/>
        </p:nvSpPr>
        <p:spPr>
          <a:xfrm>
            <a:off x="2944368" y="3703320"/>
            <a:ext cx="27432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Input + Output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8"/>
          <p:cNvSpPr/>
          <p:nvPr/>
        </p:nvSpPr>
        <p:spPr>
          <a:xfrm>
            <a:off x="5760720" y="3703320"/>
            <a:ext cx="2103120" cy="530352"/>
          </a:xfrm>
          <a:prstGeom prst="rect">
            <a:avLst/>
          </a:prstGeom>
          <a:solidFill>
            <a:srgbClr val="E45011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8"/>
          <p:cNvSpPr/>
          <p:nvPr/>
        </p:nvSpPr>
        <p:spPr>
          <a:xfrm>
            <a:off x="5870448" y="3703320"/>
            <a:ext cx="19202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799.875M tokens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8"/>
          <p:cNvSpPr/>
          <p:nvPr/>
        </p:nvSpPr>
        <p:spPr>
          <a:xfrm>
            <a:off x="7863840" y="3703320"/>
            <a:ext cx="1188720" cy="530352"/>
          </a:xfrm>
          <a:prstGeom prst="rect">
            <a:avLst/>
          </a:prstGeom>
          <a:solidFill>
            <a:srgbClr val="E45011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8"/>
          <p:cNvSpPr/>
          <p:nvPr/>
        </p:nvSpPr>
        <p:spPr>
          <a:xfrm>
            <a:off x="7973568" y="3703320"/>
            <a:ext cx="1005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8"/>
          <p:cNvSpPr/>
          <p:nvPr/>
        </p:nvSpPr>
        <p:spPr>
          <a:xfrm>
            <a:off x="365760" y="4434840"/>
            <a:ext cx="8412480" cy="502920"/>
          </a:xfrm>
          <a:prstGeom prst="roundRect">
            <a:avLst>
              <a:gd fmla="val 10909" name="adj"/>
            </a:avLst>
          </a:prstGeom>
          <a:solidFill>
            <a:srgbClr val="FDF0EA"/>
          </a:solidFill>
          <a:ln cap="flat" cmpd="sng" w="9525">
            <a:solidFill>
              <a:srgbClr val="E450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8"/>
          <p:cNvSpPr/>
          <p:nvPr/>
        </p:nvSpPr>
        <p:spPr>
          <a:xfrm>
            <a:off x="548640" y="443484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📌  Input tokens dominate cost — reducing context multiplier or passes has the highest ROI for cost optimisation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9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mbria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Sensitivity Analysis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4" name="Google Shape;36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005840"/>
            <a:ext cx="4937760" cy="3200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9"/>
          <p:cNvSpPr/>
          <p:nvPr/>
        </p:nvSpPr>
        <p:spPr>
          <a:xfrm>
            <a:off x="5486400" y="1143000"/>
            <a:ext cx="1417320" cy="36576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9"/>
          <p:cNvSpPr/>
          <p:nvPr/>
        </p:nvSpPr>
        <p:spPr>
          <a:xfrm>
            <a:off x="5532120" y="1143000"/>
            <a:ext cx="1325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Scenario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"/>
          <p:cNvSpPr/>
          <p:nvPr/>
        </p:nvSpPr>
        <p:spPr>
          <a:xfrm>
            <a:off x="6903720" y="1143000"/>
            <a:ext cx="502920" cy="36576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6949440" y="1143000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Passes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9"/>
          <p:cNvSpPr/>
          <p:nvPr/>
        </p:nvSpPr>
        <p:spPr>
          <a:xfrm>
            <a:off x="7406640" y="1143000"/>
            <a:ext cx="548640" cy="36576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7452360" y="114300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Context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7955280" y="1143000"/>
            <a:ext cx="502920" cy="36576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8001000" y="1143000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9"/>
          <p:cNvSpPr/>
          <p:nvPr/>
        </p:nvSpPr>
        <p:spPr>
          <a:xfrm>
            <a:off x="8458200" y="1143000"/>
            <a:ext cx="777240" cy="36576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8503920" y="1143000"/>
            <a:ext cx="685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Tokens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235440" y="1143000"/>
            <a:ext cx="685800" cy="36576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9281160" y="1143000"/>
            <a:ext cx="594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Cost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9"/>
          <p:cNvSpPr/>
          <p:nvPr/>
        </p:nvSpPr>
        <p:spPr>
          <a:xfrm>
            <a:off x="5486400" y="1508760"/>
            <a:ext cx="1417320" cy="438912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5522976" y="1508760"/>
            <a:ext cx="134416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Conservative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903720" y="1508760"/>
            <a:ext cx="502920" cy="438912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6940296" y="1508760"/>
            <a:ext cx="42976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9"/>
          <p:cNvSpPr/>
          <p:nvPr/>
        </p:nvSpPr>
        <p:spPr>
          <a:xfrm>
            <a:off x="7406640" y="1508760"/>
            <a:ext cx="548640" cy="438912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7443216" y="1508760"/>
            <a:ext cx="47548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2.5×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9"/>
          <p:cNvSpPr/>
          <p:nvPr/>
        </p:nvSpPr>
        <p:spPr>
          <a:xfrm>
            <a:off x="7955280" y="1508760"/>
            <a:ext cx="502920" cy="438912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7991856" y="1508760"/>
            <a:ext cx="42976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120%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9"/>
          <p:cNvSpPr/>
          <p:nvPr/>
        </p:nvSpPr>
        <p:spPr>
          <a:xfrm>
            <a:off x="8458200" y="1508760"/>
            <a:ext cx="777240" cy="438912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9"/>
          <p:cNvSpPr/>
          <p:nvPr/>
        </p:nvSpPr>
        <p:spPr>
          <a:xfrm>
            <a:off x="8494776" y="1508760"/>
            <a:ext cx="70408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488.8M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9"/>
          <p:cNvSpPr/>
          <p:nvPr/>
        </p:nvSpPr>
        <p:spPr>
          <a:xfrm>
            <a:off x="9235440" y="1508760"/>
            <a:ext cx="685800" cy="438912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9"/>
          <p:cNvSpPr/>
          <p:nvPr/>
        </p:nvSpPr>
        <p:spPr>
          <a:xfrm>
            <a:off x="9272016" y="1508760"/>
            <a:ext cx="61264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$4,666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9"/>
          <p:cNvSpPr/>
          <p:nvPr/>
        </p:nvSpPr>
        <p:spPr>
          <a:xfrm>
            <a:off x="5486400" y="1947672"/>
            <a:ext cx="1417320" cy="438912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450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9"/>
          <p:cNvSpPr/>
          <p:nvPr/>
        </p:nvSpPr>
        <p:spPr>
          <a:xfrm>
            <a:off x="5522976" y="1947672"/>
            <a:ext cx="134416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Expected ★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9"/>
          <p:cNvSpPr/>
          <p:nvPr/>
        </p:nvSpPr>
        <p:spPr>
          <a:xfrm>
            <a:off x="6903720" y="1947672"/>
            <a:ext cx="502920" cy="438912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450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9"/>
          <p:cNvSpPr/>
          <p:nvPr/>
        </p:nvSpPr>
        <p:spPr>
          <a:xfrm>
            <a:off x="6940296" y="1947672"/>
            <a:ext cx="42976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9"/>
          <p:cNvSpPr/>
          <p:nvPr/>
        </p:nvSpPr>
        <p:spPr>
          <a:xfrm>
            <a:off x="7406640" y="1947672"/>
            <a:ext cx="548640" cy="438912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450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9"/>
          <p:cNvSpPr/>
          <p:nvPr/>
        </p:nvSpPr>
        <p:spPr>
          <a:xfrm>
            <a:off x="7443216" y="1947672"/>
            <a:ext cx="47548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3.0×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9"/>
          <p:cNvSpPr/>
          <p:nvPr/>
        </p:nvSpPr>
        <p:spPr>
          <a:xfrm>
            <a:off x="7955280" y="1947672"/>
            <a:ext cx="502920" cy="438912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450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9"/>
          <p:cNvSpPr/>
          <p:nvPr/>
        </p:nvSpPr>
        <p:spPr>
          <a:xfrm>
            <a:off x="7991856" y="1947672"/>
            <a:ext cx="42976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125%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9"/>
          <p:cNvSpPr/>
          <p:nvPr/>
        </p:nvSpPr>
        <p:spPr>
          <a:xfrm>
            <a:off x="8458200" y="1947672"/>
            <a:ext cx="777240" cy="438912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450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9"/>
          <p:cNvSpPr/>
          <p:nvPr/>
        </p:nvSpPr>
        <p:spPr>
          <a:xfrm>
            <a:off x="8494776" y="1947672"/>
            <a:ext cx="70408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799.9M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9"/>
          <p:cNvSpPr/>
          <p:nvPr/>
        </p:nvSpPr>
        <p:spPr>
          <a:xfrm>
            <a:off x="9235440" y="1947672"/>
            <a:ext cx="685800" cy="438912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450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9"/>
          <p:cNvSpPr/>
          <p:nvPr/>
        </p:nvSpPr>
        <p:spPr>
          <a:xfrm>
            <a:off x="9272016" y="1947672"/>
            <a:ext cx="61264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4501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$7,732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9"/>
          <p:cNvSpPr/>
          <p:nvPr/>
        </p:nvSpPr>
        <p:spPr>
          <a:xfrm>
            <a:off x="5486400" y="2386584"/>
            <a:ext cx="1417320" cy="438912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9"/>
          <p:cNvSpPr/>
          <p:nvPr/>
        </p:nvSpPr>
        <p:spPr>
          <a:xfrm>
            <a:off x="5522976" y="2386584"/>
            <a:ext cx="134416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Heavy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9"/>
          <p:cNvSpPr/>
          <p:nvPr/>
        </p:nvSpPr>
        <p:spPr>
          <a:xfrm>
            <a:off x="6903720" y="2386584"/>
            <a:ext cx="502920" cy="438912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9"/>
          <p:cNvSpPr/>
          <p:nvPr/>
        </p:nvSpPr>
        <p:spPr>
          <a:xfrm>
            <a:off x="6940296" y="2386584"/>
            <a:ext cx="42976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9"/>
          <p:cNvSpPr/>
          <p:nvPr/>
        </p:nvSpPr>
        <p:spPr>
          <a:xfrm>
            <a:off x="7406640" y="2386584"/>
            <a:ext cx="548640" cy="438912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9"/>
          <p:cNvSpPr/>
          <p:nvPr/>
        </p:nvSpPr>
        <p:spPr>
          <a:xfrm>
            <a:off x="7443216" y="2386584"/>
            <a:ext cx="47548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3.5×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9"/>
          <p:cNvSpPr/>
          <p:nvPr/>
        </p:nvSpPr>
        <p:spPr>
          <a:xfrm>
            <a:off x="7955280" y="2386584"/>
            <a:ext cx="502920" cy="438912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9"/>
          <p:cNvSpPr/>
          <p:nvPr/>
        </p:nvSpPr>
        <p:spPr>
          <a:xfrm>
            <a:off x="7991856" y="2386584"/>
            <a:ext cx="42976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130%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9"/>
          <p:cNvSpPr/>
          <p:nvPr/>
        </p:nvSpPr>
        <p:spPr>
          <a:xfrm>
            <a:off x="8458200" y="2386584"/>
            <a:ext cx="777240" cy="438912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9"/>
          <p:cNvSpPr/>
          <p:nvPr/>
        </p:nvSpPr>
        <p:spPr>
          <a:xfrm>
            <a:off x="8494776" y="2386584"/>
            <a:ext cx="70408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1,192.4M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9"/>
          <p:cNvSpPr/>
          <p:nvPr/>
        </p:nvSpPr>
        <p:spPr>
          <a:xfrm>
            <a:off x="9235440" y="2386584"/>
            <a:ext cx="685800" cy="438912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9"/>
          <p:cNvSpPr/>
          <p:nvPr/>
        </p:nvSpPr>
        <p:spPr>
          <a:xfrm>
            <a:off x="9272016" y="2386584"/>
            <a:ext cx="61264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$11,665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9"/>
          <p:cNvSpPr/>
          <p:nvPr/>
        </p:nvSpPr>
        <p:spPr>
          <a:xfrm>
            <a:off x="5486400" y="3108960"/>
            <a:ext cx="1170432" cy="822960"/>
          </a:xfrm>
          <a:prstGeom prst="roundRect">
            <a:avLst>
              <a:gd fmla="val 8889" name="adj"/>
            </a:avLst>
          </a:prstGeom>
          <a:solidFill>
            <a:srgbClr val="00205B"/>
          </a:solidFill>
          <a:ln>
            <a:noFill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9"/>
          <p:cNvSpPr/>
          <p:nvPr/>
        </p:nvSpPr>
        <p:spPr>
          <a:xfrm>
            <a:off x="5486400" y="3127248"/>
            <a:ext cx="117043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$4,666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9"/>
          <p:cNvSpPr/>
          <p:nvPr/>
        </p:nvSpPr>
        <p:spPr>
          <a:xfrm>
            <a:off x="5486400" y="3547872"/>
            <a:ext cx="11704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Conservative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9"/>
          <p:cNvSpPr/>
          <p:nvPr/>
        </p:nvSpPr>
        <p:spPr>
          <a:xfrm>
            <a:off x="6720840" y="3108960"/>
            <a:ext cx="1170432" cy="822960"/>
          </a:xfrm>
          <a:prstGeom prst="roundRect">
            <a:avLst>
              <a:gd fmla="val 8889" name="adj"/>
            </a:avLst>
          </a:prstGeom>
          <a:solidFill>
            <a:srgbClr val="E45011"/>
          </a:solidFill>
          <a:ln>
            <a:noFill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9"/>
          <p:cNvSpPr/>
          <p:nvPr/>
        </p:nvSpPr>
        <p:spPr>
          <a:xfrm>
            <a:off x="6720840" y="3127248"/>
            <a:ext cx="117043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$7,732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9"/>
          <p:cNvSpPr/>
          <p:nvPr/>
        </p:nvSpPr>
        <p:spPr>
          <a:xfrm>
            <a:off x="6720840" y="3547872"/>
            <a:ext cx="11704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Expected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9"/>
          <p:cNvSpPr/>
          <p:nvPr/>
        </p:nvSpPr>
        <p:spPr>
          <a:xfrm>
            <a:off x="7955280" y="3108960"/>
            <a:ext cx="1170432" cy="822960"/>
          </a:xfrm>
          <a:prstGeom prst="roundRect">
            <a:avLst>
              <a:gd fmla="val 8889" name="adj"/>
            </a:avLst>
          </a:prstGeom>
          <a:solidFill>
            <a:srgbClr val="1A2640"/>
          </a:solidFill>
          <a:ln>
            <a:noFill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9"/>
          <p:cNvSpPr/>
          <p:nvPr/>
        </p:nvSpPr>
        <p:spPr>
          <a:xfrm>
            <a:off x="7955280" y="3127248"/>
            <a:ext cx="117043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$11,665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9"/>
          <p:cNvSpPr/>
          <p:nvPr/>
        </p:nvSpPr>
        <p:spPr>
          <a:xfrm>
            <a:off x="7955280" y="3547872"/>
            <a:ext cx="11704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Heavy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9"/>
          <p:cNvSpPr/>
          <p:nvPr/>
        </p:nvSpPr>
        <p:spPr>
          <a:xfrm>
            <a:off x="5486400" y="4114800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★ = Recommended planning figure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1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Claude Sonnet API Cost – Expected Scenario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0"/>
          <p:cNvSpPr/>
          <p:nvPr/>
        </p:nvSpPr>
        <p:spPr>
          <a:xfrm>
            <a:off x="365760" y="1051560"/>
            <a:ext cx="2743200" cy="2377440"/>
          </a:xfrm>
          <a:prstGeom prst="roundRect">
            <a:avLst>
              <a:gd fmla="val 3846" name="adj"/>
            </a:avLst>
          </a:prstGeom>
          <a:solidFill>
            <a:srgbClr val="00205B"/>
          </a:solidFill>
          <a:ln>
            <a:noFill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10"/>
          <p:cNvSpPr/>
          <p:nvPr/>
        </p:nvSpPr>
        <p:spPr>
          <a:xfrm>
            <a:off x="457200" y="118872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Input Tokens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0"/>
          <p:cNvSpPr/>
          <p:nvPr/>
        </p:nvSpPr>
        <p:spPr>
          <a:xfrm>
            <a:off x="457200" y="1600200"/>
            <a:ext cx="25603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355.5M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0"/>
          <p:cNvSpPr/>
          <p:nvPr/>
        </p:nvSpPr>
        <p:spPr>
          <a:xfrm>
            <a:off x="457200" y="224028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$3 / 1M tokens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0"/>
          <p:cNvSpPr/>
          <p:nvPr/>
        </p:nvSpPr>
        <p:spPr>
          <a:xfrm>
            <a:off x="457200" y="2651760"/>
            <a:ext cx="2560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DF0EA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FDF0EA"/>
                </a:solidFill>
                <a:latin typeface="Cambria"/>
                <a:ea typeface="Cambria"/>
                <a:cs typeface="Cambria"/>
                <a:sym typeface="Cambria"/>
              </a:rPr>
              <a:t>$1,067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0"/>
          <p:cNvSpPr/>
          <p:nvPr/>
        </p:nvSpPr>
        <p:spPr>
          <a:xfrm>
            <a:off x="3291840" y="1051560"/>
            <a:ext cx="2743200" cy="2377440"/>
          </a:xfrm>
          <a:prstGeom prst="roundRect">
            <a:avLst>
              <a:gd fmla="val 3846" name="adj"/>
            </a:avLst>
          </a:prstGeom>
          <a:solidFill>
            <a:srgbClr val="E45011"/>
          </a:solidFill>
          <a:ln>
            <a:noFill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10"/>
          <p:cNvSpPr/>
          <p:nvPr/>
        </p:nvSpPr>
        <p:spPr>
          <a:xfrm>
            <a:off x="3383280" y="118872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Output Tokens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0"/>
          <p:cNvSpPr/>
          <p:nvPr/>
        </p:nvSpPr>
        <p:spPr>
          <a:xfrm>
            <a:off x="3383280" y="1600200"/>
            <a:ext cx="25603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444.4M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0"/>
          <p:cNvSpPr/>
          <p:nvPr/>
        </p:nvSpPr>
        <p:spPr>
          <a:xfrm>
            <a:off x="3383280" y="224028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$15 / 1M tokens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0"/>
          <p:cNvSpPr/>
          <p:nvPr/>
        </p:nvSpPr>
        <p:spPr>
          <a:xfrm>
            <a:off x="3383280" y="2651760"/>
            <a:ext cx="2560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DF0EA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FDF0EA"/>
                </a:solidFill>
                <a:latin typeface="Cambria"/>
                <a:ea typeface="Cambria"/>
                <a:cs typeface="Cambria"/>
                <a:sym typeface="Cambria"/>
              </a:rPr>
              <a:t>$6,665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0"/>
          <p:cNvSpPr/>
          <p:nvPr/>
        </p:nvSpPr>
        <p:spPr>
          <a:xfrm>
            <a:off x="6217920" y="1051560"/>
            <a:ext cx="2743200" cy="2377440"/>
          </a:xfrm>
          <a:prstGeom prst="roundRect">
            <a:avLst>
              <a:gd fmla="val 3846" name="adj"/>
            </a:avLst>
          </a:prstGeom>
          <a:solidFill>
            <a:srgbClr val="1A2640"/>
          </a:solidFill>
          <a:ln>
            <a:noFill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0"/>
          <p:cNvSpPr/>
          <p:nvPr/>
        </p:nvSpPr>
        <p:spPr>
          <a:xfrm>
            <a:off x="6309360" y="118872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Total Tokens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0"/>
          <p:cNvSpPr/>
          <p:nvPr/>
        </p:nvSpPr>
        <p:spPr>
          <a:xfrm>
            <a:off x="6309360" y="1600200"/>
            <a:ext cx="25603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799.9M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0"/>
          <p:cNvSpPr/>
          <p:nvPr/>
        </p:nvSpPr>
        <p:spPr>
          <a:xfrm>
            <a:off x="6309360" y="224028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Combined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0"/>
          <p:cNvSpPr/>
          <p:nvPr/>
        </p:nvSpPr>
        <p:spPr>
          <a:xfrm>
            <a:off x="6309360" y="2651760"/>
            <a:ext cx="2560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DF0EA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FDF0EA"/>
                </a:solidFill>
                <a:latin typeface="Cambria"/>
                <a:ea typeface="Cambria"/>
                <a:cs typeface="Cambria"/>
                <a:sym typeface="Cambria"/>
              </a:rPr>
              <a:t>$7,732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0"/>
          <p:cNvSpPr/>
          <p:nvPr/>
        </p:nvSpPr>
        <p:spPr>
          <a:xfrm>
            <a:off x="365760" y="3657600"/>
            <a:ext cx="5303520" cy="1188720"/>
          </a:xfrm>
          <a:prstGeom prst="roundRect">
            <a:avLst>
              <a:gd fmla="val 6154" name="adj"/>
            </a:avLst>
          </a:prstGeom>
          <a:solidFill>
            <a:srgbClr val="F4F6FA"/>
          </a:solidFill>
          <a:ln cap="flat" cmpd="sng" w="9525">
            <a:solidFill>
              <a:srgbClr val="0020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10"/>
          <p:cNvSpPr/>
          <p:nvPr/>
        </p:nvSpPr>
        <p:spPr>
          <a:xfrm>
            <a:off x="548640" y="3712464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05B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205B"/>
                </a:solidFill>
                <a:latin typeface="Arial"/>
                <a:ea typeface="Arial"/>
                <a:cs typeface="Arial"/>
                <a:sym typeface="Arial"/>
              </a:rPr>
              <a:t>Anthropic Standard Pricing (Sonnet)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0"/>
          <p:cNvSpPr/>
          <p:nvPr/>
        </p:nvSpPr>
        <p:spPr>
          <a:xfrm>
            <a:off x="548640" y="4069080"/>
            <a:ext cx="4937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Input:</a:t>
            </a:r>
            <a:r>
              <a:rPr b="0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  $3.00 per 1M tokens   </a:t>
            </a:r>
            <a:r>
              <a:rPr b="1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Output:</a:t>
            </a:r>
            <a:r>
              <a:rPr b="0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  $15.00 per 1M tokens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Split: 70% input / 30% output applied across scenarios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0"/>
          <p:cNvSpPr/>
          <p:nvPr/>
        </p:nvSpPr>
        <p:spPr>
          <a:xfrm>
            <a:off x="5852160" y="3657600"/>
            <a:ext cx="2926080" cy="1188720"/>
          </a:xfrm>
          <a:prstGeom prst="roundRect">
            <a:avLst>
              <a:gd fmla="val 6154" name="adj"/>
            </a:avLst>
          </a:prstGeom>
          <a:solidFill>
            <a:srgbClr val="FDF0EA"/>
          </a:solidFill>
          <a:ln cap="flat" cmpd="sng" w="9525">
            <a:solidFill>
              <a:srgbClr val="E450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10"/>
          <p:cNvSpPr/>
          <p:nvPr/>
        </p:nvSpPr>
        <p:spPr>
          <a:xfrm>
            <a:off x="5989320" y="3712464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5011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Model Cost Comparison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0"/>
          <p:cNvSpPr/>
          <p:nvPr/>
        </p:nvSpPr>
        <p:spPr>
          <a:xfrm>
            <a:off x="6035040" y="4059936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Haiku  ~$2.3K  (70% cheaper)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0"/>
          <p:cNvSpPr/>
          <p:nvPr/>
        </p:nvSpPr>
        <p:spPr>
          <a:xfrm>
            <a:off x="6035040" y="4334256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Sonnet ★  ~$7.7K  (Baseline)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0"/>
          <p:cNvSpPr/>
          <p:nvPr/>
        </p:nvSpPr>
        <p:spPr>
          <a:xfrm>
            <a:off x="6035040" y="4608576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Opus  ~$23K  (3× pricier)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E450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457200" y="0"/>
            <a:ext cx="8412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⚠  Important Caveats Before Presenting to Management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1"/>
          <p:cNvSpPr/>
          <p:nvPr/>
        </p:nvSpPr>
        <p:spPr>
          <a:xfrm>
            <a:off x="365760" y="1051560"/>
            <a:ext cx="4114800" cy="1828800"/>
          </a:xfrm>
          <a:prstGeom prst="roundRect">
            <a:avLst>
              <a:gd fmla="val 5000" name="adj"/>
            </a:avLst>
          </a:prstGeom>
          <a:solidFill>
            <a:srgbClr val="F4F6FA"/>
          </a:solidFill>
          <a:ln>
            <a:noFill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61" name="Google Shape;46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52" y="1216152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11"/>
          <p:cNvSpPr/>
          <p:nvPr/>
        </p:nvSpPr>
        <p:spPr>
          <a:xfrm>
            <a:off x="1024128" y="1188720"/>
            <a:ext cx="32918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05B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205B"/>
                </a:solidFill>
                <a:latin typeface="Arial"/>
                <a:ea typeface="Arial"/>
                <a:cs typeface="Arial"/>
                <a:sym typeface="Arial"/>
              </a:rPr>
              <a:t>Inference Cost Only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1"/>
          <p:cNvSpPr/>
          <p:nvPr/>
        </p:nvSpPr>
        <p:spPr>
          <a:xfrm>
            <a:off x="530352" y="1673352"/>
            <a:ext cx="37947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This estimate covers LLM API calls only. Total project cost (engineering time, CI/CD, infrastructure) is estimated at ₹35–60L. AI inference is &lt;0.5% of that.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4754880" y="1051560"/>
            <a:ext cx="4114800" cy="1828800"/>
          </a:xfrm>
          <a:prstGeom prst="roundRect">
            <a:avLst>
              <a:gd fmla="val 5000" name="adj"/>
            </a:avLst>
          </a:prstGeom>
          <a:solidFill>
            <a:srgbClr val="F4F6FA"/>
          </a:solidFill>
          <a:ln>
            <a:noFill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65" name="Google Shape;465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19472" y="1216152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11"/>
          <p:cNvSpPr/>
          <p:nvPr/>
        </p:nvSpPr>
        <p:spPr>
          <a:xfrm>
            <a:off x="5413248" y="1188720"/>
            <a:ext cx="32918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05B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205B"/>
                </a:solidFill>
                <a:latin typeface="Arial"/>
                <a:ea typeface="Arial"/>
                <a:cs typeface="Arial"/>
                <a:sym typeface="Arial"/>
              </a:rPr>
              <a:t>Validate 15 Tokens/LOC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1"/>
          <p:cNvSpPr/>
          <p:nvPr/>
        </p:nvSpPr>
        <p:spPr>
          <a:xfrm>
            <a:off x="4919472" y="1673352"/>
            <a:ext cx="37947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The most sensitive assumption. Sample 10K lines from the actual codebase using the Anthropic tokenizer before finalising. A shift to 12 or 18 tokens/LOC moves the estimate ±20–30%.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1"/>
          <p:cNvSpPr/>
          <p:nvPr/>
        </p:nvSpPr>
        <p:spPr>
          <a:xfrm>
            <a:off x="365760" y="3063240"/>
            <a:ext cx="4114800" cy="1828800"/>
          </a:xfrm>
          <a:prstGeom prst="roundRect">
            <a:avLst>
              <a:gd fmla="val 5000" name="adj"/>
            </a:avLst>
          </a:prstGeom>
          <a:solidFill>
            <a:srgbClr val="F4F6FA"/>
          </a:solidFill>
          <a:ln>
            <a:noFill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69" name="Google Shape;469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0352" y="3227832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11"/>
          <p:cNvSpPr/>
          <p:nvPr/>
        </p:nvSpPr>
        <p:spPr>
          <a:xfrm>
            <a:off x="1024128" y="3200400"/>
            <a:ext cx="32918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05B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205B"/>
                </a:solidFill>
                <a:latin typeface="Arial"/>
                <a:ea typeface="Arial"/>
                <a:cs typeface="Arial"/>
                <a:sym typeface="Arial"/>
              </a:rPr>
              <a:t>Model Selection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1"/>
          <p:cNvSpPr/>
          <p:nvPr/>
        </p:nvSpPr>
        <p:spPr>
          <a:xfrm>
            <a:off x="530352" y="3685032"/>
            <a:ext cx="37947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Prices assume Sonnet. Mixing Haiku for simple boilerplate passes and Opus for complex refactoring/review passes can reduce cost while improving quality where it matters.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1"/>
          <p:cNvSpPr/>
          <p:nvPr/>
        </p:nvSpPr>
        <p:spPr>
          <a:xfrm>
            <a:off x="4754880" y="3063240"/>
            <a:ext cx="4114800" cy="1828800"/>
          </a:xfrm>
          <a:prstGeom prst="roundRect">
            <a:avLst>
              <a:gd fmla="val 5000" name="adj"/>
            </a:avLst>
          </a:prstGeom>
          <a:solidFill>
            <a:srgbClr val="F4F6FA"/>
          </a:solidFill>
          <a:ln>
            <a:noFill/>
          </a:ln>
          <a:effectLst>
            <a:outerShdw blurRad="101600" rotWithShape="0" algn="bl" dir="27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73" name="Google Shape;473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19472" y="3227832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474" name="Google Shape;474;p11"/>
          <p:cNvSpPr/>
          <p:nvPr/>
        </p:nvSpPr>
        <p:spPr>
          <a:xfrm>
            <a:off x="5413248" y="3200400"/>
            <a:ext cx="32918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05B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205B"/>
                </a:solidFill>
                <a:latin typeface="Arial"/>
                <a:ea typeface="Arial"/>
                <a:cs typeface="Arial"/>
                <a:sym typeface="Arial"/>
              </a:rPr>
              <a:t>Gate Sequencing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1"/>
          <p:cNvSpPr/>
          <p:nvPr/>
        </p:nvSpPr>
        <p:spPr>
          <a:xfrm>
            <a:off x="4919472" y="3685032"/>
            <a:ext cx="37947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4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Tech-stack migration (React/Python) fits best after Gate 3. The current Angular/.NET stack protects G1–G2 sign-off. Confirm with Abhishek Reddy before factoring AI migration costs into gate milestones.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05B"/>
        </a:solidFill>
      </p:bgPr>
    </p:bg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12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E450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12"/>
          <p:cNvSpPr/>
          <p:nvPr/>
        </p:nvSpPr>
        <p:spPr>
          <a:xfrm>
            <a:off x="457200" y="45720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Summary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2"/>
          <p:cNvSpPr/>
          <p:nvPr/>
        </p:nvSpPr>
        <p:spPr>
          <a:xfrm>
            <a:off x="457200" y="132588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  Expected AI inference: ~$7,732 (Sonnet)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2"/>
          <p:cNvSpPr/>
          <p:nvPr/>
        </p:nvSpPr>
        <p:spPr>
          <a:xfrm>
            <a:off x="457200" y="1856232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  Planning range: $4,700 – $11,700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2"/>
          <p:cNvSpPr/>
          <p:nvPr/>
        </p:nvSpPr>
        <p:spPr>
          <a:xfrm>
            <a:off x="457200" y="2386584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  Input/Output: 355.5M / 444.4M tokens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457200" y="2916936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✓  AI cost is &lt;0.5% of total project spend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457200" y="3447288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✓  Validate tokens/LOC before board sign-off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457200" y="397764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✓  Optimise with prompt caching + model mixing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6080760" y="320040"/>
            <a:ext cx="2834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Next Steps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6080760" y="914400"/>
            <a:ext cx="2834640" cy="621792"/>
          </a:xfrm>
          <a:prstGeom prst="roundRect">
            <a:avLst>
              <a:gd fmla="val 8824" name="adj"/>
            </a:avLst>
          </a:prstGeom>
          <a:solidFill>
            <a:srgbClr val="1A2640">
              <a:alpha val="7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12"/>
          <p:cNvSpPr/>
          <p:nvPr/>
        </p:nvSpPr>
        <p:spPr>
          <a:xfrm>
            <a:off x="6172200" y="914400"/>
            <a:ext cx="2697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  Sample codebase for token/LOC validation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6080760" y="1691640"/>
            <a:ext cx="2834640" cy="621792"/>
          </a:xfrm>
          <a:prstGeom prst="roundRect">
            <a:avLst>
              <a:gd fmla="val 8824" name="adj"/>
            </a:avLst>
          </a:prstGeom>
          <a:solidFill>
            <a:srgbClr val="1A2640">
              <a:alpha val="7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2"/>
          <p:cNvSpPr/>
          <p:nvPr/>
        </p:nvSpPr>
        <p:spPr>
          <a:xfrm>
            <a:off x="6172200" y="1691640"/>
            <a:ext cx="2697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  Gate 3 alignment with Abhishek Reddy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6080760" y="2468880"/>
            <a:ext cx="2834640" cy="621792"/>
          </a:xfrm>
          <a:prstGeom prst="roundRect">
            <a:avLst>
              <a:gd fmla="val 8824" name="adj"/>
            </a:avLst>
          </a:prstGeom>
          <a:solidFill>
            <a:srgbClr val="1A2640">
              <a:alpha val="7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12"/>
          <p:cNvSpPr/>
          <p:nvPr/>
        </p:nvSpPr>
        <p:spPr>
          <a:xfrm>
            <a:off x="6172200" y="2468880"/>
            <a:ext cx="2697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  Enable prompt caching in API config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6080760" y="3246120"/>
            <a:ext cx="2834640" cy="621792"/>
          </a:xfrm>
          <a:prstGeom prst="roundRect">
            <a:avLst>
              <a:gd fmla="val 8824" name="adj"/>
            </a:avLst>
          </a:prstGeom>
          <a:solidFill>
            <a:srgbClr val="1A2640">
              <a:alpha val="7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12"/>
          <p:cNvSpPr/>
          <p:nvPr/>
        </p:nvSpPr>
        <p:spPr>
          <a:xfrm>
            <a:off x="6172200" y="3246120"/>
            <a:ext cx="2697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  Confirm Sonnet vs Haiku task split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2"/>
          <p:cNvSpPr/>
          <p:nvPr/>
        </p:nvSpPr>
        <p:spPr>
          <a:xfrm>
            <a:off x="6080760" y="4023360"/>
            <a:ext cx="2834640" cy="621792"/>
          </a:xfrm>
          <a:prstGeom prst="roundRect">
            <a:avLst>
              <a:gd fmla="val 8824" name="adj"/>
            </a:avLst>
          </a:prstGeom>
          <a:solidFill>
            <a:srgbClr val="1A2640">
              <a:alpha val="7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2"/>
          <p:cNvSpPr/>
          <p:nvPr/>
        </p:nvSpPr>
        <p:spPr>
          <a:xfrm>
            <a:off x="6172200" y="4023360"/>
            <a:ext cx="2697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  Monthly token burn tracking dashboard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457200" y="4754880"/>
            <a:ext cx="5303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Airbus India  |  MyIAM Programme  |  FY26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1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3"/>
          <p:cNvSpPr txBox="1"/>
          <p:nvPr/>
        </p:nvSpPr>
        <p:spPr>
          <a:xfrm>
            <a:off x="411480" y="73152"/>
            <a:ext cx="67665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Per-Developer Token &amp; Cost Summary</a:t>
            </a:r>
            <a:endParaRPr/>
          </a:p>
        </p:txBody>
      </p:sp>
      <p:sp>
        <p:nvSpPr>
          <p:cNvPr id="507" name="Google Shape;507;p13"/>
          <p:cNvSpPr txBox="1"/>
          <p:nvPr/>
        </p:nvSpPr>
        <p:spPr>
          <a:xfrm>
            <a:off x="6812280" y="73152"/>
            <a:ext cx="2148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6 Devs · 6 Months</a:t>
            </a:r>
            <a:endParaRPr/>
          </a:p>
        </p:txBody>
      </p:sp>
      <p:sp>
        <p:nvSpPr>
          <p:cNvPr id="508" name="Google Shape;508;p13"/>
          <p:cNvSpPr/>
          <p:nvPr/>
        </p:nvSpPr>
        <p:spPr>
          <a:xfrm>
            <a:off x="365760" y="1024128"/>
            <a:ext cx="2697480" cy="2103120"/>
          </a:xfrm>
          <a:prstGeom prst="rect">
            <a:avLst/>
          </a:prstGeom>
          <a:solidFill>
            <a:srgbClr val="1A26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3"/>
          <p:cNvSpPr txBox="1"/>
          <p:nvPr/>
        </p:nvSpPr>
        <p:spPr>
          <a:xfrm>
            <a:off x="457200" y="1115568"/>
            <a:ext cx="253288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Total Project</a:t>
            </a:r>
            <a:endParaRPr/>
          </a:p>
        </p:txBody>
      </p:sp>
      <p:sp>
        <p:nvSpPr>
          <p:cNvPr id="510" name="Google Shape;510;p13"/>
          <p:cNvSpPr txBox="1"/>
          <p:nvPr/>
        </p:nvSpPr>
        <p:spPr>
          <a:xfrm>
            <a:off x="457200" y="1463040"/>
            <a:ext cx="253288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799.9M</a:t>
            </a:r>
            <a:endParaRPr/>
          </a:p>
        </p:txBody>
      </p:sp>
      <p:sp>
        <p:nvSpPr>
          <p:cNvPr id="511" name="Google Shape;511;p13"/>
          <p:cNvSpPr txBox="1"/>
          <p:nvPr/>
        </p:nvSpPr>
        <p:spPr>
          <a:xfrm>
            <a:off x="457200" y="2029968"/>
            <a:ext cx="2532888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tokens</a:t>
            </a:r>
            <a:endParaRPr/>
          </a:p>
        </p:txBody>
      </p:sp>
      <p:sp>
        <p:nvSpPr>
          <p:cNvPr id="512" name="Google Shape;512;p13"/>
          <p:cNvSpPr txBox="1"/>
          <p:nvPr/>
        </p:nvSpPr>
        <p:spPr>
          <a:xfrm>
            <a:off x="457200" y="2286000"/>
            <a:ext cx="2532888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DF0EA"/>
                </a:solidFill>
                <a:latin typeface="Cambria"/>
                <a:ea typeface="Cambria"/>
                <a:cs typeface="Cambria"/>
                <a:sym typeface="Cambria"/>
              </a:rPr>
              <a:t>$7,732</a:t>
            </a:r>
            <a:endParaRPr/>
          </a:p>
        </p:txBody>
      </p:sp>
      <p:sp>
        <p:nvSpPr>
          <p:cNvPr id="513" name="Google Shape;513;p13"/>
          <p:cNvSpPr txBox="1"/>
          <p:nvPr/>
        </p:nvSpPr>
        <p:spPr>
          <a:xfrm>
            <a:off x="457200" y="2743200"/>
            <a:ext cx="253288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All 6 devs · 6 months</a:t>
            </a:r>
            <a:endParaRPr/>
          </a:p>
        </p:txBody>
      </p:sp>
      <p:sp>
        <p:nvSpPr>
          <p:cNvPr id="514" name="Google Shape;514;p13"/>
          <p:cNvSpPr/>
          <p:nvPr/>
        </p:nvSpPr>
        <p:spPr>
          <a:xfrm>
            <a:off x="3502152" y="1024128"/>
            <a:ext cx="2697480" cy="210312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3"/>
          <p:cNvSpPr txBox="1"/>
          <p:nvPr/>
        </p:nvSpPr>
        <p:spPr>
          <a:xfrm>
            <a:off x="3593592" y="1115568"/>
            <a:ext cx="253288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 Developer</a:t>
            </a:r>
            <a:endParaRPr/>
          </a:p>
        </p:txBody>
      </p:sp>
      <p:sp>
        <p:nvSpPr>
          <p:cNvPr id="516" name="Google Shape;516;p13"/>
          <p:cNvSpPr txBox="1"/>
          <p:nvPr/>
        </p:nvSpPr>
        <p:spPr>
          <a:xfrm>
            <a:off x="3593592" y="1463040"/>
            <a:ext cx="253288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133.3M</a:t>
            </a:r>
            <a:endParaRPr/>
          </a:p>
        </p:txBody>
      </p:sp>
      <p:sp>
        <p:nvSpPr>
          <p:cNvPr id="517" name="Google Shape;517;p13"/>
          <p:cNvSpPr txBox="1"/>
          <p:nvPr/>
        </p:nvSpPr>
        <p:spPr>
          <a:xfrm>
            <a:off x="3593592" y="2029968"/>
            <a:ext cx="2532888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tokens</a:t>
            </a:r>
            <a:endParaRPr/>
          </a:p>
        </p:txBody>
      </p:sp>
      <p:sp>
        <p:nvSpPr>
          <p:cNvPr id="518" name="Google Shape;518;p13"/>
          <p:cNvSpPr txBox="1"/>
          <p:nvPr/>
        </p:nvSpPr>
        <p:spPr>
          <a:xfrm>
            <a:off x="3593592" y="2286000"/>
            <a:ext cx="2532888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DF0EA"/>
                </a:solidFill>
                <a:latin typeface="Cambria"/>
                <a:ea typeface="Cambria"/>
                <a:cs typeface="Cambria"/>
                <a:sym typeface="Cambria"/>
              </a:rPr>
              <a:t>$1,289</a:t>
            </a:r>
            <a:endParaRPr/>
          </a:p>
        </p:txBody>
      </p:sp>
      <p:sp>
        <p:nvSpPr>
          <p:cNvPr id="519" name="Google Shape;519;p13"/>
          <p:cNvSpPr txBox="1"/>
          <p:nvPr/>
        </p:nvSpPr>
        <p:spPr>
          <a:xfrm>
            <a:off x="3593592" y="2743200"/>
            <a:ext cx="253288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Each dev · 6 months</a:t>
            </a:r>
            <a:endParaRPr/>
          </a:p>
        </p:txBody>
      </p:sp>
      <p:sp>
        <p:nvSpPr>
          <p:cNvPr id="520" name="Google Shape;520;p13"/>
          <p:cNvSpPr/>
          <p:nvPr/>
        </p:nvSpPr>
        <p:spPr>
          <a:xfrm>
            <a:off x="6638544" y="1024128"/>
            <a:ext cx="2697480" cy="2103120"/>
          </a:xfrm>
          <a:prstGeom prst="rect">
            <a:avLst/>
          </a:prstGeom>
          <a:solidFill>
            <a:srgbClr val="E450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3"/>
          <p:cNvSpPr txBox="1"/>
          <p:nvPr/>
        </p:nvSpPr>
        <p:spPr>
          <a:xfrm>
            <a:off x="6729984" y="1115568"/>
            <a:ext cx="253288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 Month</a:t>
            </a:r>
            <a:endParaRPr/>
          </a:p>
        </p:txBody>
      </p:sp>
      <p:sp>
        <p:nvSpPr>
          <p:cNvPr id="522" name="Google Shape;522;p13"/>
          <p:cNvSpPr txBox="1"/>
          <p:nvPr/>
        </p:nvSpPr>
        <p:spPr>
          <a:xfrm>
            <a:off x="6729984" y="1463040"/>
            <a:ext cx="2532888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133.3M</a:t>
            </a:r>
            <a:endParaRPr/>
          </a:p>
        </p:txBody>
      </p:sp>
      <p:sp>
        <p:nvSpPr>
          <p:cNvPr id="523" name="Google Shape;523;p13"/>
          <p:cNvSpPr txBox="1"/>
          <p:nvPr/>
        </p:nvSpPr>
        <p:spPr>
          <a:xfrm>
            <a:off x="6729984" y="2029968"/>
            <a:ext cx="2532888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tokens</a:t>
            </a:r>
            <a:endParaRPr/>
          </a:p>
        </p:txBody>
      </p:sp>
      <p:sp>
        <p:nvSpPr>
          <p:cNvPr id="524" name="Google Shape;524;p13"/>
          <p:cNvSpPr txBox="1"/>
          <p:nvPr/>
        </p:nvSpPr>
        <p:spPr>
          <a:xfrm>
            <a:off x="6729984" y="2286000"/>
            <a:ext cx="2532888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DF0EA"/>
                </a:solidFill>
                <a:latin typeface="Cambria"/>
                <a:ea typeface="Cambria"/>
                <a:cs typeface="Cambria"/>
                <a:sym typeface="Cambria"/>
              </a:rPr>
              <a:t>$1,289</a:t>
            </a:r>
            <a:endParaRPr/>
          </a:p>
        </p:txBody>
      </p:sp>
      <p:sp>
        <p:nvSpPr>
          <p:cNvPr id="525" name="Google Shape;525;p13"/>
          <p:cNvSpPr txBox="1"/>
          <p:nvPr/>
        </p:nvSpPr>
        <p:spPr>
          <a:xfrm>
            <a:off x="6729984" y="2743200"/>
            <a:ext cx="253288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All 6 devs · 1 month</a:t>
            </a:r>
            <a:endParaRPr/>
          </a:p>
        </p:txBody>
      </p:sp>
      <p:sp>
        <p:nvSpPr>
          <p:cNvPr id="526" name="Google Shape;526;p13"/>
          <p:cNvSpPr/>
          <p:nvPr/>
        </p:nvSpPr>
        <p:spPr>
          <a:xfrm>
            <a:off x="365760" y="3291840"/>
            <a:ext cx="1417320" cy="27432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3"/>
          <p:cNvSpPr txBox="1"/>
          <p:nvPr/>
        </p:nvSpPr>
        <p:spPr>
          <a:xfrm>
            <a:off x="411480" y="3291840"/>
            <a:ext cx="13441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3"/>
          <p:cNvSpPr/>
          <p:nvPr/>
        </p:nvSpPr>
        <p:spPr>
          <a:xfrm>
            <a:off x="1783080" y="3291840"/>
            <a:ext cx="1280160" cy="27432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3"/>
          <p:cNvSpPr txBox="1"/>
          <p:nvPr/>
        </p:nvSpPr>
        <p:spPr>
          <a:xfrm>
            <a:off x="1828800" y="3291840"/>
            <a:ext cx="120700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Dev 1</a:t>
            </a:r>
            <a:endParaRPr/>
          </a:p>
        </p:txBody>
      </p:sp>
      <p:sp>
        <p:nvSpPr>
          <p:cNvPr id="530" name="Google Shape;530;p13"/>
          <p:cNvSpPr/>
          <p:nvPr/>
        </p:nvSpPr>
        <p:spPr>
          <a:xfrm>
            <a:off x="3063240" y="3291840"/>
            <a:ext cx="1280160" cy="27432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3"/>
          <p:cNvSpPr txBox="1"/>
          <p:nvPr/>
        </p:nvSpPr>
        <p:spPr>
          <a:xfrm>
            <a:off x="3108960" y="3291840"/>
            <a:ext cx="120700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Dev 2</a:t>
            </a:r>
            <a:endParaRPr/>
          </a:p>
        </p:txBody>
      </p:sp>
      <p:sp>
        <p:nvSpPr>
          <p:cNvPr id="532" name="Google Shape;532;p13"/>
          <p:cNvSpPr/>
          <p:nvPr/>
        </p:nvSpPr>
        <p:spPr>
          <a:xfrm>
            <a:off x="4343400" y="3291840"/>
            <a:ext cx="1280160" cy="27432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3"/>
          <p:cNvSpPr txBox="1"/>
          <p:nvPr/>
        </p:nvSpPr>
        <p:spPr>
          <a:xfrm>
            <a:off x="4389120" y="3291840"/>
            <a:ext cx="120700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Dev 3</a:t>
            </a:r>
            <a:endParaRPr/>
          </a:p>
        </p:txBody>
      </p:sp>
      <p:sp>
        <p:nvSpPr>
          <p:cNvPr id="534" name="Google Shape;534;p13"/>
          <p:cNvSpPr/>
          <p:nvPr/>
        </p:nvSpPr>
        <p:spPr>
          <a:xfrm>
            <a:off x="5623560" y="3291840"/>
            <a:ext cx="1280160" cy="27432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3"/>
          <p:cNvSpPr txBox="1"/>
          <p:nvPr/>
        </p:nvSpPr>
        <p:spPr>
          <a:xfrm>
            <a:off x="5669280" y="3291840"/>
            <a:ext cx="120700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Dev 4</a:t>
            </a:r>
            <a:endParaRPr/>
          </a:p>
        </p:txBody>
      </p:sp>
      <p:sp>
        <p:nvSpPr>
          <p:cNvPr id="536" name="Google Shape;536;p13"/>
          <p:cNvSpPr/>
          <p:nvPr/>
        </p:nvSpPr>
        <p:spPr>
          <a:xfrm>
            <a:off x="6903720" y="3291840"/>
            <a:ext cx="1280160" cy="27432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3"/>
          <p:cNvSpPr txBox="1"/>
          <p:nvPr/>
        </p:nvSpPr>
        <p:spPr>
          <a:xfrm>
            <a:off x="6949440" y="3291840"/>
            <a:ext cx="120700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Dev 5</a:t>
            </a:r>
            <a:endParaRPr/>
          </a:p>
        </p:txBody>
      </p:sp>
      <p:sp>
        <p:nvSpPr>
          <p:cNvPr id="538" name="Google Shape;538;p13"/>
          <p:cNvSpPr/>
          <p:nvPr/>
        </p:nvSpPr>
        <p:spPr>
          <a:xfrm>
            <a:off x="8183880" y="3291840"/>
            <a:ext cx="1280160" cy="274320"/>
          </a:xfrm>
          <a:prstGeom prst="rect">
            <a:avLst/>
          </a:prstGeom>
          <a:solidFill>
            <a:srgbClr val="00205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3"/>
          <p:cNvSpPr txBox="1"/>
          <p:nvPr/>
        </p:nvSpPr>
        <p:spPr>
          <a:xfrm>
            <a:off x="8229600" y="3291840"/>
            <a:ext cx="120700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Dev 6</a:t>
            </a:r>
            <a:endParaRPr/>
          </a:p>
        </p:txBody>
      </p:sp>
      <p:sp>
        <p:nvSpPr>
          <p:cNvPr id="540" name="Google Shape;540;p13"/>
          <p:cNvSpPr/>
          <p:nvPr/>
        </p:nvSpPr>
        <p:spPr>
          <a:xfrm>
            <a:off x="365760" y="3566160"/>
            <a:ext cx="1417320" cy="27432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3"/>
          <p:cNvSpPr txBox="1"/>
          <p:nvPr/>
        </p:nvSpPr>
        <p:spPr>
          <a:xfrm>
            <a:off x="429768" y="3566160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Tokens (6 months)</a:t>
            </a:r>
            <a:endParaRPr/>
          </a:p>
        </p:txBody>
      </p:sp>
      <p:sp>
        <p:nvSpPr>
          <p:cNvPr id="542" name="Google Shape;542;p13"/>
          <p:cNvSpPr/>
          <p:nvPr/>
        </p:nvSpPr>
        <p:spPr>
          <a:xfrm>
            <a:off x="1783080" y="3566160"/>
            <a:ext cx="1280160" cy="27432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3"/>
          <p:cNvSpPr txBox="1"/>
          <p:nvPr/>
        </p:nvSpPr>
        <p:spPr>
          <a:xfrm>
            <a:off x="1847088" y="356616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133.3M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3063240" y="3566160"/>
            <a:ext cx="1280160" cy="27432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3"/>
          <p:cNvSpPr txBox="1"/>
          <p:nvPr/>
        </p:nvSpPr>
        <p:spPr>
          <a:xfrm>
            <a:off x="3127248" y="356616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133.3M</a:t>
            </a:r>
            <a:endParaRPr/>
          </a:p>
        </p:txBody>
      </p:sp>
      <p:sp>
        <p:nvSpPr>
          <p:cNvPr id="546" name="Google Shape;546;p13"/>
          <p:cNvSpPr/>
          <p:nvPr/>
        </p:nvSpPr>
        <p:spPr>
          <a:xfrm>
            <a:off x="4343400" y="3566160"/>
            <a:ext cx="1280160" cy="27432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13"/>
          <p:cNvSpPr txBox="1"/>
          <p:nvPr/>
        </p:nvSpPr>
        <p:spPr>
          <a:xfrm>
            <a:off x="4407408" y="356616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133.3M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5623560" y="3566160"/>
            <a:ext cx="1280160" cy="27432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3"/>
          <p:cNvSpPr txBox="1"/>
          <p:nvPr/>
        </p:nvSpPr>
        <p:spPr>
          <a:xfrm>
            <a:off x="5687568" y="356616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133.3M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903720" y="3566160"/>
            <a:ext cx="1280160" cy="27432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3"/>
          <p:cNvSpPr txBox="1"/>
          <p:nvPr/>
        </p:nvSpPr>
        <p:spPr>
          <a:xfrm>
            <a:off x="6967728" y="356616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133.3M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8183880" y="3566160"/>
            <a:ext cx="1280160" cy="274320"/>
          </a:xfrm>
          <a:prstGeom prst="rect">
            <a:avLst/>
          </a:prstGeom>
          <a:solidFill>
            <a:srgbClr val="F4F6F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3"/>
          <p:cNvSpPr txBox="1"/>
          <p:nvPr/>
        </p:nvSpPr>
        <p:spPr>
          <a:xfrm>
            <a:off x="8247888" y="356616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133.3M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365760" y="3840480"/>
            <a:ext cx="1417320" cy="2743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3"/>
          <p:cNvSpPr txBox="1"/>
          <p:nvPr/>
        </p:nvSpPr>
        <p:spPr>
          <a:xfrm>
            <a:off x="429768" y="3840480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Tokens / month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783080" y="3840480"/>
            <a:ext cx="1280160" cy="2743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3"/>
          <p:cNvSpPr txBox="1"/>
          <p:nvPr/>
        </p:nvSpPr>
        <p:spPr>
          <a:xfrm>
            <a:off x="1847088" y="384048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22.2M</a:t>
            </a:r>
            <a:endParaRPr/>
          </a:p>
        </p:txBody>
      </p:sp>
      <p:sp>
        <p:nvSpPr>
          <p:cNvPr id="558" name="Google Shape;558;p13"/>
          <p:cNvSpPr/>
          <p:nvPr/>
        </p:nvSpPr>
        <p:spPr>
          <a:xfrm>
            <a:off x="3063240" y="3840480"/>
            <a:ext cx="1280160" cy="2743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3"/>
          <p:cNvSpPr txBox="1"/>
          <p:nvPr/>
        </p:nvSpPr>
        <p:spPr>
          <a:xfrm>
            <a:off x="3127248" y="384048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22.2M</a:t>
            </a:r>
            <a:endParaRPr/>
          </a:p>
        </p:txBody>
      </p:sp>
      <p:sp>
        <p:nvSpPr>
          <p:cNvPr id="560" name="Google Shape;560;p13"/>
          <p:cNvSpPr/>
          <p:nvPr/>
        </p:nvSpPr>
        <p:spPr>
          <a:xfrm>
            <a:off x="4343400" y="3840480"/>
            <a:ext cx="1280160" cy="2743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3"/>
          <p:cNvSpPr txBox="1"/>
          <p:nvPr/>
        </p:nvSpPr>
        <p:spPr>
          <a:xfrm>
            <a:off x="4407408" y="384048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22.2M</a:t>
            </a:r>
            <a:endParaRPr/>
          </a:p>
        </p:txBody>
      </p:sp>
      <p:sp>
        <p:nvSpPr>
          <p:cNvPr id="562" name="Google Shape;562;p13"/>
          <p:cNvSpPr/>
          <p:nvPr/>
        </p:nvSpPr>
        <p:spPr>
          <a:xfrm>
            <a:off x="5623560" y="3840480"/>
            <a:ext cx="1280160" cy="2743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13"/>
          <p:cNvSpPr txBox="1"/>
          <p:nvPr/>
        </p:nvSpPr>
        <p:spPr>
          <a:xfrm>
            <a:off x="5687568" y="384048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22.2M</a:t>
            </a:r>
            <a:endParaRPr/>
          </a:p>
        </p:txBody>
      </p:sp>
      <p:sp>
        <p:nvSpPr>
          <p:cNvPr id="564" name="Google Shape;564;p13"/>
          <p:cNvSpPr/>
          <p:nvPr/>
        </p:nvSpPr>
        <p:spPr>
          <a:xfrm>
            <a:off x="6903720" y="3840480"/>
            <a:ext cx="1280160" cy="2743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3"/>
          <p:cNvSpPr txBox="1"/>
          <p:nvPr/>
        </p:nvSpPr>
        <p:spPr>
          <a:xfrm>
            <a:off x="6967728" y="384048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22.2M</a:t>
            </a:r>
            <a:endParaRPr/>
          </a:p>
        </p:txBody>
      </p:sp>
      <p:sp>
        <p:nvSpPr>
          <p:cNvPr id="566" name="Google Shape;566;p13"/>
          <p:cNvSpPr/>
          <p:nvPr/>
        </p:nvSpPr>
        <p:spPr>
          <a:xfrm>
            <a:off x="8183880" y="3840480"/>
            <a:ext cx="1280160" cy="2743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13"/>
          <p:cNvSpPr txBox="1"/>
          <p:nvPr/>
        </p:nvSpPr>
        <p:spPr>
          <a:xfrm>
            <a:off x="8247888" y="384048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22.2M</a:t>
            </a:r>
            <a:endParaRPr/>
          </a:p>
        </p:txBody>
      </p:sp>
      <p:sp>
        <p:nvSpPr>
          <p:cNvPr id="568" name="Google Shape;568;p13"/>
          <p:cNvSpPr/>
          <p:nvPr/>
        </p:nvSpPr>
        <p:spPr>
          <a:xfrm>
            <a:off x="365760" y="4114800"/>
            <a:ext cx="1417320" cy="274320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3"/>
          <p:cNvSpPr txBox="1"/>
          <p:nvPr/>
        </p:nvSpPr>
        <p:spPr>
          <a:xfrm>
            <a:off x="429768" y="4114800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Cost (6 months)</a:t>
            </a:r>
            <a:endParaRPr/>
          </a:p>
        </p:txBody>
      </p:sp>
      <p:sp>
        <p:nvSpPr>
          <p:cNvPr id="570" name="Google Shape;570;p13"/>
          <p:cNvSpPr/>
          <p:nvPr/>
        </p:nvSpPr>
        <p:spPr>
          <a:xfrm>
            <a:off x="1783080" y="4114800"/>
            <a:ext cx="1280160" cy="274320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3"/>
          <p:cNvSpPr txBox="1"/>
          <p:nvPr/>
        </p:nvSpPr>
        <p:spPr>
          <a:xfrm>
            <a:off x="1847088" y="411480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$1,289</a:t>
            </a:r>
            <a:endParaRPr/>
          </a:p>
        </p:txBody>
      </p:sp>
      <p:sp>
        <p:nvSpPr>
          <p:cNvPr id="572" name="Google Shape;572;p13"/>
          <p:cNvSpPr/>
          <p:nvPr/>
        </p:nvSpPr>
        <p:spPr>
          <a:xfrm>
            <a:off x="3063240" y="4114800"/>
            <a:ext cx="1280160" cy="274320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3"/>
          <p:cNvSpPr txBox="1"/>
          <p:nvPr/>
        </p:nvSpPr>
        <p:spPr>
          <a:xfrm>
            <a:off x="3127248" y="411480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$1,289</a:t>
            </a:r>
            <a:endParaRPr/>
          </a:p>
        </p:txBody>
      </p:sp>
      <p:sp>
        <p:nvSpPr>
          <p:cNvPr id="574" name="Google Shape;574;p13"/>
          <p:cNvSpPr/>
          <p:nvPr/>
        </p:nvSpPr>
        <p:spPr>
          <a:xfrm>
            <a:off x="4343400" y="4114800"/>
            <a:ext cx="1280160" cy="274320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3"/>
          <p:cNvSpPr txBox="1"/>
          <p:nvPr/>
        </p:nvSpPr>
        <p:spPr>
          <a:xfrm>
            <a:off x="4407408" y="411480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$1,289</a:t>
            </a:r>
            <a:endParaRPr/>
          </a:p>
        </p:txBody>
      </p:sp>
      <p:sp>
        <p:nvSpPr>
          <p:cNvPr id="576" name="Google Shape;576;p13"/>
          <p:cNvSpPr/>
          <p:nvPr/>
        </p:nvSpPr>
        <p:spPr>
          <a:xfrm>
            <a:off x="5623560" y="4114800"/>
            <a:ext cx="1280160" cy="274320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3"/>
          <p:cNvSpPr txBox="1"/>
          <p:nvPr/>
        </p:nvSpPr>
        <p:spPr>
          <a:xfrm>
            <a:off x="5687568" y="411480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$1,289</a:t>
            </a:r>
            <a:endParaRPr/>
          </a:p>
        </p:txBody>
      </p:sp>
      <p:sp>
        <p:nvSpPr>
          <p:cNvPr id="578" name="Google Shape;578;p13"/>
          <p:cNvSpPr/>
          <p:nvPr/>
        </p:nvSpPr>
        <p:spPr>
          <a:xfrm>
            <a:off x="6903720" y="4114800"/>
            <a:ext cx="1280160" cy="274320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3"/>
          <p:cNvSpPr txBox="1"/>
          <p:nvPr/>
        </p:nvSpPr>
        <p:spPr>
          <a:xfrm>
            <a:off x="6967728" y="411480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$1,289</a:t>
            </a:r>
            <a:endParaRPr/>
          </a:p>
        </p:txBody>
      </p:sp>
      <p:sp>
        <p:nvSpPr>
          <p:cNvPr id="580" name="Google Shape;580;p13"/>
          <p:cNvSpPr/>
          <p:nvPr/>
        </p:nvSpPr>
        <p:spPr>
          <a:xfrm>
            <a:off x="8183880" y="4114800"/>
            <a:ext cx="1280160" cy="274320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3"/>
          <p:cNvSpPr txBox="1"/>
          <p:nvPr/>
        </p:nvSpPr>
        <p:spPr>
          <a:xfrm>
            <a:off x="8247888" y="411480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$1,289</a:t>
            </a:r>
            <a:endParaRPr/>
          </a:p>
        </p:txBody>
      </p:sp>
      <p:sp>
        <p:nvSpPr>
          <p:cNvPr id="582" name="Google Shape;582;p13"/>
          <p:cNvSpPr/>
          <p:nvPr/>
        </p:nvSpPr>
        <p:spPr>
          <a:xfrm>
            <a:off x="365760" y="4389120"/>
            <a:ext cx="1417320" cy="274320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3"/>
          <p:cNvSpPr txBox="1"/>
          <p:nvPr/>
        </p:nvSpPr>
        <p:spPr>
          <a:xfrm>
            <a:off x="429768" y="4389120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1A2640"/>
                </a:solidFill>
                <a:latin typeface="Arial"/>
                <a:ea typeface="Arial"/>
                <a:cs typeface="Arial"/>
                <a:sym typeface="Arial"/>
              </a:rPr>
              <a:t>Monthly cost</a:t>
            </a:r>
            <a:endParaRPr/>
          </a:p>
        </p:txBody>
      </p:sp>
      <p:sp>
        <p:nvSpPr>
          <p:cNvPr id="584" name="Google Shape;584;p13"/>
          <p:cNvSpPr/>
          <p:nvPr/>
        </p:nvSpPr>
        <p:spPr>
          <a:xfrm>
            <a:off x="1783080" y="4389120"/>
            <a:ext cx="1280160" cy="274320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3"/>
          <p:cNvSpPr txBox="1"/>
          <p:nvPr/>
        </p:nvSpPr>
        <p:spPr>
          <a:xfrm>
            <a:off x="1847088" y="438912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$215</a:t>
            </a:r>
            <a:endParaRPr/>
          </a:p>
        </p:txBody>
      </p:sp>
      <p:sp>
        <p:nvSpPr>
          <p:cNvPr id="586" name="Google Shape;586;p13"/>
          <p:cNvSpPr/>
          <p:nvPr/>
        </p:nvSpPr>
        <p:spPr>
          <a:xfrm>
            <a:off x="3063240" y="4389120"/>
            <a:ext cx="1280160" cy="274320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3"/>
          <p:cNvSpPr txBox="1"/>
          <p:nvPr/>
        </p:nvSpPr>
        <p:spPr>
          <a:xfrm>
            <a:off x="3127248" y="438912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$215</a:t>
            </a:r>
            <a:endParaRPr/>
          </a:p>
        </p:txBody>
      </p:sp>
      <p:sp>
        <p:nvSpPr>
          <p:cNvPr id="588" name="Google Shape;588;p13"/>
          <p:cNvSpPr/>
          <p:nvPr/>
        </p:nvSpPr>
        <p:spPr>
          <a:xfrm>
            <a:off x="4343400" y="4389120"/>
            <a:ext cx="1280160" cy="274320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3"/>
          <p:cNvSpPr txBox="1"/>
          <p:nvPr/>
        </p:nvSpPr>
        <p:spPr>
          <a:xfrm>
            <a:off x="4407408" y="438912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$215</a:t>
            </a:r>
            <a:endParaRPr/>
          </a:p>
        </p:txBody>
      </p:sp>
      <p:sp>
        <p:nvSpPr>
          <p:cNvPr id="590" name="Google Shape;590;p13"/>
          <p:cNvSpPr/>
          <p:nvPr/>
        </p:nvSpPr>
        <p:spPr>
          <a:xfrm>
            <a:off x="5623560" y="4389120"/>
            <a:ext cx="1280160" cy="274320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3"/>
          <p:cNvSpPr txBox="1"/>
          <p:nvPr/>
        </p:nvSpPr>
        <p:spPr>
          <a:xfrm>
            <a:off x="5687568" y="438912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$215</a:t>
            </a:r>
            <a:endParaRPr/>
          </a:p>
        </p:txBody>
      </p:sp>
      <p:sp>
        <p:nvSpPr>
          <p:cNvPr id="592" name="Google Shape;592;p13"/>
          <p:cNvSpPr/>
          <p:nvPr/>
        </p:nvSpPr>
        <p:spPr>
          <a:xfrm>
            <a:off x="6903720" y="4389120"/>
            <a:ext cx="1280160" cy="274320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3"/>
          <p:cNvSpPr txBox="1"/>
          <p:nvPr/>
        </p:nvSpPr>
        <p:spPr>
          <a:xfrm>
            <a:off x="6967728" y="438912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$215</a:t>
            </a:r>
            <a:endParaRPr/>
          </a:p>
        </p:txBody>
      </p:sp>
      <p:sp>
        <p:nvSpPr>
          <p:cNvPr id="594" name="Google Shape;594;p13"/>
          <p:cNvSpPr/>
          <p:nvPr/>
        </p:nvSpPr>
        <p:spPr>
          <a:xfrm>
            <a:off x="8183880" y="4389120"/>
            <a:ext cx="1280160" cy="274320"/>
          </a:xfrm>
          <a:prstGeom prst="rect">
            <a:avLst/>
          </a:prstGeom>
          <a:solidFill>
            <a:srgbClr val="FDF0EA"/>
          </a:solidFill>
          <a:ln cap="flat" cmpd="sng" w="9525">
            <a:solidFill>
              <a:srgbClr val="E2E8F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3"/>
          <p:cNvSpPr txBox="1"/>
          <p:nvPr/>
        </p:nvSpPr>
        <p:spPr>
          <a:xfrm>
            <a:off x="8247888" y="4389120"/>
            <a:ext cx="11887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45011"/>
                </a:solidFill>
                <a:latin typeface="Arial"/>
                <a:ea typeface="Arial"/>
                <a:cs typeface="Arial"/>
                <a:sym typeface="Arial"/>
              </a:rPr>
              <a:t>$215</a:t>
            </a:r>
            <a:endParaRPr/>
          </a:p>
        </p:txBody>
      </p:sp>
      <p:sp>
        <p:nvSpPr>
          <p:cNvPr id="596" name="Google Shape;596;p13"/>
          <p:cNvSpPr txBox="1"/>
          <p:nvPr/>
        </p:nvSpPr>
        <p:spPr>
          <a:xfrm>
            <a:off x="365760" y="4773168"/>
            <a:ext cx="8412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⚡  Tokens are shared API infrastructure — each developer draws from the same pool. Per-developer figures assume equal usage distribution across the team.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