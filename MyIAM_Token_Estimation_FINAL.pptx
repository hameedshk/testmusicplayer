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8"/>
    <p:sldId id="267" r:id="rId19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0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0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205B"/>
                </a:solidFill>
                <a:latin typeface="Arial"/>
              </a:rPr>
              <a:t>Token Volume by Scenario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(M)</c:v>
                </c:pt>
              </c:strCache>
            </c:strRef>
          </c:tx>
          <c:spPr>
            <a:solidFill>
              <a:srgbClr val="002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Expected</c:v>
                  </c:pt>
                  <c:pt idx="2">
                    <c:v>Heavy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222.2</c:v>
                </c:pt>
                <c:pt idx="1">
                  <c:v>355.5</c:v>
                </c:pt>
                <c:pt idx="2">
                  <c:v>518.4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 Tokens (M)</c:v>
                </c:pt>
              </c:strCache>
            </c:strRef>
          </c:tx>
          <c:spPr>
            <a:solidFill>
              <a:srgbClr val="E45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Expected</c:v>
                  </c:pt>
                  <c:pt idx="2">
                    <c:v>Heavy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266.6</c:v>
                </c:pt>
                <c:pt idx="1">
                  <c:v>444.4</c:v>
                </c:pt>
                <c:pt idx="2">
                  <c:v>674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-548640"/>
            <a:ext cx="2194560" cy="2194560"/>
          </a:xfrm>
          <a:prstGeom prst="ellipse">
            <a:avLst/>
          </a:prstGeom>
          <a:solidFill>
            <a:srgbClr val="1A3A6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108960"/>
            <a:ext cx="1645920" cy="1645920"/>
          </a:xfrm>
          <a:prstGeom prst="ellipse">
            <a:avLst/>
          </a:prstGeom>
          <a:solidFill>
            <a:srgbClr val="1A2640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Token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MyIAM Platform Migration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→ Python  |  Angular → React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548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~$7.7K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55080" y="12070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55080" y="25786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Devs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3950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Management | Airbus India | FY26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Assumptions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Values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PARAMETERS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53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395,000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Full-time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53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941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→ Python, Angular → React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PARAMETERS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453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LOC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from 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167128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203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441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4414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from 22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16936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2953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Multiplier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1912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from 2.5×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66744"/>
            <a:ext cx="3931920" cy="621792"/>
          </a:xfrm>
          <a:prstGeom prst="roundRect">
            <a:avLst>
              <a:gd name="adj" fmla="val 8824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Ratio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941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3941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from 100%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values updated from original estimate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Codebase Breakdown – Lines of Code by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45011"/>
                </a:solidFill>
                <a:latin typeface="Arial"/>
              </a:rPr>
              <a:t>Total: 470,000 LOC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4114800" cy="29260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24128"/>
            <a:ext cx="1463040" cy="29260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024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24128"/>
            <a:ext cx="3017520" cy="29260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024128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16736"/>
            <a:ext cx="411480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316736"/>
            <a:ext cx="146304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316736"/>
            <a:ext cx="301752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316736"/>
            <a:ext cx="54864" cy="347472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316736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MyAccess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1380744"/>
            <a:ext cx="1060704" cy="219456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380744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131673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99,000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64208"/>
            <a:ext cx="4114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664208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664208"/>
            <a:ext cx="3017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664208"/>
            <a:ext cx="54864" cy="347472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664208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MyAccount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1728216"/>
            <a:ext cx="1060704" cy="219456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2821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166420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72,000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11680"/>
            <a:ext cx="411480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011680"/>
            <a:ext cx="146304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2011680"/>
            <a:ext cx="3017520" cy="347472"/>
          </a:xfrm>
          <a:prstGeom prst="rect">
            <a:avLst/>
          </a:prstGeom>
          <a:solidFill>
            <a:srgbClr val="FFF3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011680"/>
            <a:ext cx="54864" cy="347472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2011680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MyAppConnect 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2075688"/>
            <a:ext cx="1060704" cy="219456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207568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9" y="201168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60,000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359152"/>
            <a:ext cx="4114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2359152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359152"/>
            <a:ext cx="3017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2359152"/>
            <a:ext cx="54864" cy="347472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359152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MyPassword 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73168" y="2423160"/>
            <a:ext cx="1060704" cy="219456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242316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235915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16,000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706624"/>
            <a:ext cx="411480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2706624"/>
            <a:ext cx="146304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706624"/>
            <a:ext cx="301752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706624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2706624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MyAppConnect 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73168" y="2770632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73168" y="277063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79" y="270662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60,000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054096"/>
            <a:ext cx="4114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3054096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054096"/>
            <a:ext cx="3017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3054096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054096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Core API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73168" y="3118103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73168" y="3118103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79" y="305409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57,000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01568"/>
            <a:ext cx="411480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3401568"/>
            <a:ext cx="146304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5040" y="3401568"/>
            <a:ext cx="301752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3401568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401568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Database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73168" y="3465576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73168" y="3465576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79" y="340156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36,000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40"/>
            <a:ext cx="4114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72000" y="3749040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35040" y="3749040"/>
            <a:ext cx="3017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3749040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3749040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Data Collection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73168" y="3813048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73168" y="381304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79" y="374904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30,000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96512"/>
            <a:ext cx="411480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0" y="4096512"/>
            <a:ext cx="146304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35040" y="4096512"/>
            <a:ext cx="3017520" cy="347472"/>
          </a:xfrm>
          <a:prstGeom prst="rect">
            <a:avLst/>
          </a:prstGeom>
          <a:solidFill>
            <a:srgbClr val="EEF2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096512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" y="4096512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MyAccess API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73168" y="4160520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73168" y="4160520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79" y="409651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22,000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443984"/>
            <a:ext cx="41148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72000" y="4443984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35040" y="4443984"/>
            <a:ext cx="30175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7200" y="4443984"/>
            <a:ext cx="54864" cy="347472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" y="4443984"/>
            <a:ext cx="3858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640"/>
                </a:solidFill>
                <a:latin typeface="Arial"/>
              </a:rPr>
              <a:t>MyAccount API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73168" y="4507992"/>
            <a:ext cx="1060704" cy="21945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73168" y="4507992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79" y="444398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640"/>
                </a:solidFill>
                <a:latin typeface="Arial"/>
              </a:rPr>
              <a:t>18,000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2679192"/>
            <a:ext cx="8595360" cy="27432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" y="1316736"/>
            <a:ext cx="3200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45011"/>
                </a:solidFill>
                <a:latin typeface="Arial"/>
              </a:rPr>
              <a:t>FRONTEND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" y="2706624"/>
            <a:ext cx="32004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205B"/>
                </a:solidFill>
                <a:latin typeface="Arial"/>
              </a:rPr>
              <a:t>BACKEND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773168"/>
            <a:ext cx="182880" cy="182880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" y="4773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Frontend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20240" y="4773168"/>
            <a:ext cx="182880" cy="18288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57984" y="4773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Backend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74720" y="47731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Arial"/>
              </a:rPr>
              <a:t>Frontend: 247,000  ·  Backend: 223,000  ·  Total: 470,000 LOC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Model – How We Arrive at Total Tokens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990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395K LOC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057400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048256" y="123444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399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93976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Tokens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LOC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093976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15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11296" y="2057400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822192" y="123444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3990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67912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Migration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867912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20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285232" y="2057400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596128" y="123444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39903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41848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41848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3.0×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059168" y="2057400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370064" y="123444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E4501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39903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15784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415784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~800M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Tokens  =  (LOC × 15 tokens/LOC) × 20 passes × 3.0× context × (1 + 1.25 output)  =  799.9M tokens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Token Calculation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468880" cy="530352"/>
          </a:xfrm>
          <a:prstGeom prst="rect">
            <a:avLst/>
          </a:prstGeom>
          <a:solidFill>
            <a:srgbClr val="00205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51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051560"/>
            <a:ext cx="2926080" cy="530352"/>
          </a:xfrm>
          <a:prstGeom prst="rect">
            <a:avLst/>
          </a:prstGeom>
          <a:solidFill>
            <a:srgbClr val="00205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51560"/>
            <a:ext cx="2103120" cy="530352"/>
          </a:xfrm>
          <a:prstGeom prst="rect">
            <a:avLst/>
          </a:prstGeom>
          <a:solidFill>
            <a:srgbClr val="00205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0515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051560"/>
            <a:ext cx="1188720" cy="530352"/>
          </a:xfrm>
          <a:prstGeom prst="rect">
            <a:avLst/>
          </a:prstGeom>
          <a:solidFill>
            <a:srgbClr val="00205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10515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81912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81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Repository Tokens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581912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15819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395,000 LOC × 15 tokens/LOC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581912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5819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5.925M tokens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158191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15819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112264"/>
            <a:ext cx="246888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1122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Pass Volume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2112264"/>
            <a:ext cx="292608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21122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5.925M × 20 passes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2112264"/>
            <a:ext cx="210312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2112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118.5M tokens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2112264"/>
            <a:ext cx="118872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21122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642616"/>
            <a:ext cx="2468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6426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Context Overhead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34640" y="2642616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26426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118.5M × 3.0× multiplier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2642616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64261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355.5M tokens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63840" y="2642616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26426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172968"/>
            <a:ext cx="246888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1729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Generated Output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4640" y="3172968"/>
            <a:ext cx="292608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44368" y="31729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355.5M × 125% output ratio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60720" y="3172968"/>
            <a:ext cx="210312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31729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444.375M tokens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63840" y="3172968"/>
            <a:ext cx="118872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31729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703320"/>
            <a:ext cx="2468880" cy="530352"/>
          </a:xfrm>
          <a:prstGeom prst="rect">
            <a:avLst/>
          </a:prstGeom>
          <a:solidFill>
            <a:srgbClr val="E45011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TOTAL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834640" y="3703320"/>
            <a:ext cx="2926080" cy="530352"/>
          </a:xfrm>
          <a:prstGeom prst="rect">
            <a:avLst/>
          </a:prstGeom>
          <a:solidFill>
            <a:srgbClr val="E45011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44368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+ Output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760720" y="3703320"/>
            <a:ext cx="2103120" cy="530352"/>
          </a:xfrm>
          <a:prstGeom prst="rect">
            <a:avLst/>
          </a:prstGeom>
          <a:solidFill>
            <a:srgbClr val="E45011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7033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799.875M tokens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63840" y="3703320"/>
            <a:ext cx="1188720" cy="530352"/>
          </a:xfrm>
          <a:prstGeom prst="rect">
            <a:avLst/>
          </a:prstGeom>
          <a:solidFill>
            <a:srgbClr val="E45011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73568" y="37033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Input tokens dominate cost — reducing context multiplier or passes has the highest ROI for cost optimisation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143000"/>
            <a:ext cx="141732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6" name="Text 3"/>
          <p:cNvSpPr/>
          <p:nvPr/>
        </p:nvSpPr>
        <p:spPr>
          <a:xfrm>
            <a:off x="5532120" y="1143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903720" y="1143000"/>
            <a:ext cx="50292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06640" y="1143000"/>
            <a:ext cx="54864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55280" y="1143000"/>
            <a:ext cx="50292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458200" y="1143000"/>
            <a:ext cx="77724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11430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235440" y="1143000"/>
            <a:ext cx="685800" cy="36576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6" name="Text 13"/>
          <p:cNvSpPr/>
          <p:nvPr/>
        </p:nvSpPr>
        <p:spPr>
          <a:xfrm>
            <a:off x="9281160" y="1143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1508760"/>
            <a:ext cx="14173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2976" y="1508760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1508760"/>
            <a:ext cx="5029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0296" y="1508760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06640" y="1508760"/>
            <a:ext cx="5486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43216" y="15087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55280" y="1508760"/>
            <a:ext cx="5029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91856" y="1508760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458200" y="1508760"/>
            <a:ext cx="7772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94776" y="1508760"/>
            <a:ext cx="704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488.8M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235440" y="1508760"/>
            <a:ext cx="68580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72016" y="1508760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$4,666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947672"/>
            <a:ext cx="141732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22976" y="1947672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★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03720" y="1947672"/>
            <a:ext cx="50292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40296" y="1947672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6640" y="1947672"/>
            <a:ext cx="54864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43216" y="1947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3.0×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1947672"/>
            <a:ext cx="50292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91856" y="1947672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458200" y="1947672"/>
            <a:ext cx="77724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94776" y="1947672"/>
            <a:ext cx="704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799.9M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235440" y="1947672"/>
            <a:ext cx="685800" cy="438912"/>
          </a:xfrm>
          <a:prstGeom prst="rect">
            <a:avLst/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72016" y="1947672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$7,732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2386584"/>
            <a:ext cx="14173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22976" y="2386584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903720" y="2386584"/>
            <a:ext cx="5029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40296" y="2386584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406640" y="2386584"/>
            <a:ext cx="5486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43216" y="238658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3.5×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955280" y="2386584"/>
            <a:ext cx="50292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91856" y="2386584"/>
            <a:ext cx="429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130%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458200" y="2386584"/>
            <a:ext cx="77724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494776" y="2386584"/>
            <a:ext cx="704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1,192.4M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235440" y="2386584"/>
            <a:ext cx="685800" cy="438912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272016" y="2386584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$11,665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3108960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00205B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5486400" y="312724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$4,666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486400" y="354787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720840" y="3108960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E45011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6720840" y="312724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$7,732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720840" y="354787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955280" y="3108960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1A2640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7955280" y="312724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$11,665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955280" y="354787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486400" y="4114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Recommended planning figure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Sonnet API Cost – Expected Scenario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0205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Tokens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355.5M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 / 1M tokens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$1,067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E4501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444.4M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 / 1M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$6,665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A26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799.9M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$7,732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124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Standard Pricing (Sonnet)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$3.00 per 1M tokens   </a:t>
            </a:r>
            <a:pPr algn="l" indent="0" marL="0">
              <a:buNone/>
            </a:pPr>
            <a:r>
              <a:rPr lang="en-US" sz="11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$15.00 per 1M tokens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70% input / 30% output applied across scenarios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36576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DF0EA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7124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Cost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40599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 ~$2.3K  (70% cheaper)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4334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★  ~$7.7K  (Baseline)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4608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 ~$23K  (3× pricier)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Important Caveats Before Presenting to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Cost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167335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estimate covers LLM API calls only. Total project cost (engineering time, CI/CD, infrastructure) is estimated at ₹35–60L. AI inference is &lt;0.5% of that.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2161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15 Tokens/LOC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9472" y="167335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sensitive assumption. Sample 10K lines from the actual codebase using the Anthropic tokenizer before finalising. A shift to 12 or 18 tokens/LOC moves the estimate ±20–30%.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2783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200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0352" y="368503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assume Sonnet. Mixing Haiku for simple boilerplate passes and Opus for complex refactoring/review passes can reduce cost while improving quality where it matters.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2783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3200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Sequencing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9472" y="368503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Tech-stack migration (React/Python) fits best after Gate 3. The current Angular/.NET stack protects G1–G2 sign-off. Confirm with Abhishek Reddy before factoring AI migration costs into gate milestones.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Expected AI inference: ~$7,732 (Sonnet)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5623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Planning range: $4,700 – $11,700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865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Input/Output: 355.5M / 444.4M tokens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169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cost is &lt;0.5% of total project spend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472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Validate tokens/LOC before board sign-off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Optimise with prompt caching + model mixing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320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91440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A2640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9144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Sample codebase for token/LOC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A2640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69164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Gate 3 alignment with Abhishek Reddy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46888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A264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46888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Enable prompt caching in API config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324612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A264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24612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Confirm Sonnet vs Haiku task split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402336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A2640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233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Monthly token burn tracking dashboard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Airbus India  |  MyIAM Programme  |  FY26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Per-Developer Token &amp;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2280" y="7315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45011"/>
                </a:solidFill>
                <a:latin typeface="Arial"/>
              </a:rPr>
              <a:t>6 Devs ·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2697480" cy="21031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Total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799.9M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2532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532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DF0EA"/>
                </a:solidFill>
                <a:latin typeface="Cambria"/>
              </a:rPr>
              <a:t>$7,732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532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All 6 devs · 6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1024128"/>
            <a:ext cx="2697480" cy="21031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1155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Per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463040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133.3M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29968"/>
            <a:ext cx="2532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86000"/>
            <a:ext cx="2532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DF0EA"/>
                </a:solidFill>
                <a:latin typeface="Cambria"/>
              </a:rPr>
              <a:t>$1,289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43200"/>
            <a:ext cx="2532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Each dev · 6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38544" y="1024128"/>
            <a:ext cx="2697480" cy="2103120"/>
          </a:xfrm>
          <a:prstGeom prst="rect">
            <a:avLst/>
          </a:prstGeom>
          <a:solidFill>
            <a:srgbClr val="E45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4" y="11155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1463040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133.3M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2029968"/>
            <a:ext cx="2532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286000"/>
            <a:ext cx="2532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DF0EA"/>
                </a:solidFill>
                <a:latin typeface="Cambria"/>
              </a:rPr>
              <a:t>$1,289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2743200"/>
            <a:ext cx="2532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ADCFC"/>
                </a:solidFill>
                <a:latin typeface="Arial"/>
              </a:rPr>
              <a:t>All 6 devs · 1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91840"/>
            <a:ext cx="141732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29184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80" y="3291840"/>
            <a:ext cx="1280160" cy="27432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29184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Dev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66160"/>
            <a:ext cx="141732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640"/>
                </a:solidFill>
                <a:latin typeface="Arial"/>
              </a:rPr>
              <a:t>Tokens (6 months)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8308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4708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2724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80" y="3566160"/>
            <a:ext cx="1280160" cy="274320"/>
          </a:xfrm>
          <a:prstGeom prst="rect">
            <a:avLst/>
          </a:prstGeom>
          <a:solidFill>
            <a:srgbClr val="F4F6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3566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133.3M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40480"/>
            <a:ext cx="141732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3840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640"/>
                </a:solidFill>
                <a:latin typeface="Arial"/>
              </a:rPr>
              <a:t>Tokens / month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8308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4708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2724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0740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8756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80" y="3840480"/>
            <a:ext cx="1280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7888" y="38404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640"/>
                </a:solidFill>
                <a:latin typeface="Arial"/>
              </a:rPr>
              <a:t>22.2M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114800"/>
            <a:ext cx="141732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" y="41148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640"/>
                </a:solidFill>
                <a:latin typeface="Arial"/>
              </a:rPr>
              <a:t>Cost (6 months)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8308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4708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6324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2724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0740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8756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6772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80" y="411480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47888" y="41148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$1,289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389120"/>
            <a:ext cx="141732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640"/>
                </a:solidFill>
                <a:latin typeface="Arial"/>
              </a:rPr>
              <a:t>Monthly cost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8308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4708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2724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4340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0740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2356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8756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0372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6772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83880" y="4389120"/>
            <a:ext cx="1280160" cy="274320"/>
          </a:xfrm>
          <a:prstGeom prst="rect">
            <a:avLst/>
          </a:prstGeom>
          <a:solidFill>
            <a:srgbClr val="FDF0E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47888" y="43891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45011"/>
                </a:solidFill>
                <a:latin typeface="Arial"/>
              </a:rPr>
              <a:t>$215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rial"/>
              </a:rPr>
              <a:t>⚡  Tokens are shared API infrastructure — each developer draws from the same pool. Per-developer figures assume equal usage distribution across the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D0D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205B"/>
                </a:solidFill>
                <a:latin typeface="Cambria"/>
              </a:rPr>
              <a:t>MyX Project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097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45011"/>
                </a:solidFill>
                <a:latin typeface="Arial"/>
              </a:rPr>
              <a:t>Updated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14400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914400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" y="914400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115568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Core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261872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57,000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914400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18888" y="914400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18888" y="914400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18888" y="1115568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941832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MyPassword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1261872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16,000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1810512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1810512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" y="1810512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2011680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1837943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Data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2157984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30,000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8888" y="1810512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18888" y="1810512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18888" y="1810512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18888" y="2011680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1837943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MyAccess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2157984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99,000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2706624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2706624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" y="2706624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" y="2907792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2734056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3054096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36,000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18888" y="2706624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18888" y="2706624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18888" y="2706624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18888" y="2907792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79" y="2734056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MyAccess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79" y="3054096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22,000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3602736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" y="3602736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" y="3602736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" y="3803904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" y="3630168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MyAccount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" y="39502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72,000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18888" y="3602736"/>
            <a:ext cx="3977639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18888" y="3602736"/>
            <a:ext cx="3977639" cy="3200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818888" y="3602736"/>
            <a:ext cx="3977639" cy="374904"/>
          </a:xfrm>
          <a:prstGeom prst="round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18888" y="3803904"/>
            <a:ext cx="3977639" cy="15544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79" y="3630168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MyAppConnect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79" y="39502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5CC"/>
                </a:solidFill>
                <a:latin typeface="Cambria"/>
              </a:rPr>
              <a:t>60,000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Arial"/>
              </a:rPr>
              <a:t>Highlighted values updated from original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Token Estimation – MyIAM Migration</dc:title>
  <dc:subject>PptxGenJS Presentation</dc:subject>
  <dc:creator>Airbus India</dc:creator>
  <cp:lastModifiedBy>Airbus India</cp:lastModifiedBy>
  <cp:revision>1</cp:revision>
  <dcterms:created xsi:type="dcterms:W3CDTF">2026-07-07T18:17:00Z</dcterms:created>
  <dcterms:modified xsi:type="dcterms:W3CDTF">2026-07-07T18:17:00Z</dcterms:modified>
</cp:coreProperties>
</file>