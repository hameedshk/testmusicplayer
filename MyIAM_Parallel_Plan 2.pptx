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365760"/>
            <a:ext cx="4114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0" b="1" dirty="0">
                <a:solidFill>
                  <a:srgbClr val="0B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502920" cy="73152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MyIAM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Delivery Model — Revised Plan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– Apr 2028  ·  4 Concurrent Workstreams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06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5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parallel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4206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5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4983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206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5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130K+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5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4983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Commercial  ·  IIDIA  ·  Internal – v1.0  ·  Sep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MyIAM Runs as Four Concurrent Workstreams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workstream waits for another to finish. Delivery risk is continuous, not concentrated at a single cutover.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724912" cy="443484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2724912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202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48716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Consolidation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30632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5/6 DONE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5204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complete for Solutions, Identity, Context, Groups, Password. MyAppConnect UX not started.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5074920"/>
            <a:ext cx="2322576" cy="0"/>
          </a:xfrm>
          <a:prstGeom prst="line">
            <a:avLst/>
          </a:prstGeom>
          <a:noFill/>
          <a:ln w="12700">
            <a:solidFill>
              <a:srgbClr val="E9EB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519379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MyAppConnect is the one gap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38144" y="1600200"/>
            <a:ext cx="2724912" cy="443484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38144" y="1600200"/>
            <a:ext cx="2724912" cy="109728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17" name="Shape 15"/>
          <p:cNvSpPr/>
          <p:nvPr/>
        </p:nvSpPr>
        <p:spPr>
          <a:xfrm>
            <a:off x="3639312" y="1920240"/>
            <a:ext cx="457200" cy="45720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3931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39312" y="248716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Development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39312" y="30632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E7D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39312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5/6 DONE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639312" y="35204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APIs live for Solutions, Context, Groups, Password, Identity. Accounts has no API yet.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39312" y="5074920"/>
            <a:ext cx="2322576" cy="0"/>
          </a:xfrm>
          <a:prstGeom prst="line">
            <a:avLst/>
          </a:prstGeom>
          <a:noFill/>
          <a:ln w="12700">
            <a:solidFill>
              <a:srgbClr val="E9EB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39312" y="519379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is the one gap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27648" y="1600200"/>
            <a:ext cx="2724912" cy="443484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7648" y="1600200"/>
            <a:ext cx="2724912" cy="109728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27" name="Shape 25"/>
          <p:cNvSpPr/>
          <p:nvPr/>
        </p:nvSpPr>
        <p:spPr>
          <a:xfrm>
            <a:off x="6528816" y="1920240"/>
            <a:ext cx="457200" cy="457200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2881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528816" y="248716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 (Prefect)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28816" y="30632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4501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28816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28816" y="35204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hosting complete; now integrating additional data sources beyond AD into the shared DB.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28816" y="5074920"/>
            <a:ext cx="2322576" cy="0"/>
          </a:xfrm>
          <a:prstGeom prst="line">
            <a:avLst/>
          </a:prstGeom>
          <a:noFill/>
          <a:ln w="12700">
            <a:solidFill>
              <a:srgbClr val="E9EB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28816" y="519379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Prefect, not Apache NiFi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217152" y="1600200"/>
            <a:ext cx="2724912" cy="443484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17152" y="1600200"/>
            <a:ext cx="2724912" cy="1097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418320" y="192024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418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418320" y="248716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Write Consolidation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418320" y="30632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C000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418320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418320" y="35204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authorised write path to AD yet. Read-only today — this is the critical path.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418320" y="5074920"/>
            <a:ext cx="2322576" cy="0"/>
          </a:xfrm>
          <a:prstGeom prst="line">
            <a:avLst/>
          </a:prstGeom>
          <a:noFill/>
          <a:ln w="12700">
            <a:solidFill>
              <a:srgbClr val="E9EBE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418320" y="519379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write path to AD — pending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10819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shift from the phased Roadmap v3: </a:t>
            </a:r>
            <a:pPr indent="0" marL="0"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Write Consolidation is not gated behind the other three — it runs alongside them and is now the single workstream that determines overall programme completion.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Workstream View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MyIAM · Beta Feb 2027 → Production Apr 2027 → Access Entitlement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606040" y="786384"/>
            <a:ext cx="3497580" cy="219456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606040" y="786384"/>
            <a:ext cx="3497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03620" y="786384"/>
            <a:ext cx="4663440" cy="219456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03620" y="7863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67060" y="786384"/>
            <a:ext cx="1165860" cy="219456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67060" y="786384"/>
            <a:ext cx="1165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165860" cy="274320"/>
          </a:xfrm>
          <a:prstGeom prst="rect">
            <a:avLst/>
          </a:prstGeom>
          <a:solidFill>
            <a:srgbClr val="1233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02412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1152144"/>
            <a:ext cx="11658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771900" y="1005840"/>
            <a:ext cx="1165860" cy="274320"/>
          </a:xfrm>
          <a:prstGeom prst="rect">
            <a:avLst/>
          </a:prstGeom>
          <a:solidFill>
            <a:srgbClr val="1233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71900" y="102412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771900" y="1152144"/>
            <a:ext cx="11658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Aug–Oct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937760" y="1005840"/>
            <a:ext cx="1165860" cy="274320"/>
          </a:xfrm>
          <a:prstGeom prst="rect">
            <a:avLst/>
          </a:prstGeom>
          <a:solidFill>
            <a:srgbClr val="1233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102412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1152144"/>
            <a:ext cx="11658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Nov–Jan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6103620" y="1005840"/>
            <a:ext cx="1165860" cy="274320"/>
          </a:xfrm>
          <a:prstGeom prst="rect">
            <a:avLst/>
          </a:prstGeom>
          <a:solidFill>
            <a:srgbClr val="8A3B0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03620" y="102412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103620" y="1152144"/>
            <a:ext cx="11658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Feb–Apr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269480" y="1005840"/>
            <a:ext cx="1165860" cy="274320"/>
          </a:xfrm>
          <a:prstGeom prst="rect">
            <a:avLst/>
          </a:prstGeom>
          <a:solidFill>
            <a:srgbClr val="1233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102412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1152144"/>
            <a:ext cx="11658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8435340" y="1005840"/>
            <a:ext cx="1165860" cy="274320"/>
          </a:xfrm>
          <a:prstGeom prst="rect">
            <a:avLst/>
          </a:prstGeom>
          <a:solidFill>
            <a:srgbClr val="1233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35340" y="102412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8435340" y="1152144"/>
            <a:ext cx="11658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Aug–Oct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9601200" y="1005840"/>
            <a:ext cx="1165860" cy="274320"/>
          </a:xfrm>
          <a:prstGeom prst="rect">
            <a:avLst/>
          </a:prstGeom>
          <a:solidFill>
            <a:srgbClr val="1233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0" y="102412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0" y="1152144"/>
            <a:ext cx="11658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Nov–Jan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10767060" y="1005840"/>
            <a:ext cx="1165860" cy="274320"/>
          </a:xfrm>
          <a:prstGeom prst="rect">
            <a:avLst/>
          </a:prstGeom>
          <a:solidFill>
            <a:srgbClr val="12336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767060" y="102412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2028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0767060" y="1152144"/>
            <a:ext cx="11658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Feb–Apr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5829300" y="859536"/>
            <a:ext cx="1714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→ PRODUCTION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0" y="1280160"/>
            <a:ext cx="2560320" cy="4572000"/>
          </a:xfrm>
          <a:prstGeom prst="rect">
            <a:avLst/>
          </a:prstGeom>
          <a:solidFill>
            <a:srgbClr val="0B2A63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1280160"/>
            <a:ext cx="685800" cy="1828800"/>
          </a:xfrm>
          <a:prstGeom prst="rect">
            <a:avLst/>
          </a:prstGeom>
          <a:solidFill>
            <a:srgbClr val="0E7C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" y="1280160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Build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3108960"/>
            <a:ext cx="685800" cy="914400"/>
          </a:xfrm>
          <a:prstGeom prst="rect">
            <a:avLst/>
          </a:prstGeom>
          <a:solidFill>
            <a:srgbClr val="6A4C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" y="31089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023360"/>
            <a:ext cx="685800" cy="9144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720" y="40233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685800" cy="914400"/>
          </a:xfrm>
          <a:prstGeom prst="rect">
            <a:avLst/>
          </a:prstGeom>
          <a:solidFill>
            <a:srgbClr val="146C9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720" y="49377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95528" y="137160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Consolidation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95528" y="166420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 shell · 5 of 6 assets’ UX done · MyAppConnect pending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795528" y="2157984"/>
            <a:ext cx="1655064" cy="0"/>
          </a:xfrm>
          <a:prstGeom prst="line">
            <a:avLst/>
          </a:prstGeom>
          <a:noFill/>
          <a:ln w="9525">
            <a:solidFill>
              <a:srgbClr val="1D3D7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06040" y="12801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71900" y="12801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37760" y="12801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03620" y="1280160"/>
            <a:ext cx="1165860" cy="914400"/>
          </a:xfrm>
          <a:prstGeom prst="rect">
            <a:avLst/>
          </a:prstGeom>
          <a:solidFill>
            <a:srgbClr val="FDF1E7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69480" y="12801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35340" y="12801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01200" y="12801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767060" y="12801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42616" y="1371600"/>
            <a:ext cx="3424428" cy="384048"/>
          </a:xfrm>
          <a:prstGeom prst="homePlate">
            <a:avLst/>
          </a:prstGeom>
          <a:solidFill>
            <a:srgbClr val="0E7C8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2734056" y="1371600"/>
            <a:ext cx="3040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MyAccess UI · 5 Assets Live · MyAppConnect Pending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40196" y="1486814"/>
            <a:ext cx="5756148" cy="153619"/>
          </a:xfrm>
          <a:prstGeom prst="rect">
            <a:avLst/>
          </a:prstGeom>
          <a:solidFill>
            <a:srgbClr val="0E7C86">
              <a:alpha val="3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966460" y="1426464"/>
            <a:ext cx="274320" cy="274320"/>
          </a:xfrm>
          <a:prstGeom prst="diamond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21324" y="1481328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249924" y="1353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live</a:t>
            </a:r>
            <a:endParaRPr lang="en-US" sz="650" dirty="0"/>
          </a:p>
        </p:txBody>
      </p:sp>
      <p:sp>
        <p:nvSpPr>
          <p:cNvPr id="61" name="Text 59"/>
          <p:cNvSpPr txBox="1"/>
          <p:nvPr/>
        </p:nvSpPr>
        <p:spPr>
          <a:xfrm>
            <a:off x="3072384" y="18105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4471416" y="18105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5987034" y="18105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Beta Ready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795528" y="228600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Development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795528" y="257860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APIs · 5 of 6 assets built · Accounts pending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795528" y="3072384"/>
            <a:ext cx="1655064" cy="0"/>
          </a:xfrm>
          <a:prstGeom prst="line">
            <a:avLst/>
          </a:prstGeom>
          <a:noFill/>
          <a:ln w="9525">
            <a:solidFill>
              <a:srgbClr val="1D3D7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06040" y="21945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71900" y="21945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937760" y="21945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03620" y="2194560"/>
            <a:ext cx="1165860" cy="914400"/>
          </a:xfrm>
          <a:prstGeom prst="rect">
            <a:avLst/>
          </a:prstGeom>
          <a:solidFill>
            <a:srgbClr val="FDF1E7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269480" y="21945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35340" y="21945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21945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767060" y="21945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42616" y="2286000"/>
            <a:ext cx="3424428" cy="384048"/>
          </a:xfrm>
          <a:prstGeom prst="homePlate">
            <a:avLst/>
          </a:prstGeom>
          <a:solidFill>
            <a:srgbClr val="E45011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2734056" y="2286000"/>
            <a:ext cx="3040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APIs · Solutions + Context + Groups + Password + Identity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140196" y="2401214"/>
            <a:ext cx="5756148" cy="153619"/>
          </a:xfrm>
          <a:prstGeom prst="rect">
            <a:avLst/>
          </a:prstGeom>
          <a:solidFill>
            <a:srgbClr val="E45011">
              <a:alpha val="3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5966460" y="2340864"/>
            <a:ext cx="274320" cy="274320"/>
          </a:xfrm>
          <a:prstGeom prst="diamond">
            <a:avLst/>
          </a:prstGeom>
          <a:solidFill>
            <a:srgbClr val="E45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21324" y="2395728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249924" y="22677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pending</a:t>
            </a:r>
            <a:endParaRPr lang="en-US" sz="650" dirty="0"/>
          </a:p>
        </p:txBody>
      </p:sp>
      <p:sp>
        <p:nvSpPr>
          <p:cNvPr id="81" name="Text 79"/>
          <p:cNvSpPr txBox="1"/>
          <p:nvPr/>
        </p:nvSpPr>
        <p:spPr>
          <a:xfrm>
            <a:off x="3072384" y="27249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Build</a:t>
            </a:r>
            <a:endParaRPr lang="en-US" sz="750" dirty="0"/>
          </a:p>
        </p:txBody>
      </p:sp>
      <p:sp>
        <p:nvSpPr>
          <p:cNvPr id="82" name="Text 80"/>
          <p:cNvSpPr txBox="1"/>
          <p:nvPr/>
        </p:nvSpPr>
        <p:spPr>
          <a:xfrm>
            <a:off x="4471416" y="27249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750" dirty="0"/>
          </a:p>
        </p:txBody>
      </p:sp>
      <p:sp>
        <p:nvSpPr>
          <p:cNvPr id="83" name="Text 81"/>
          <p:cNvSpPr txBox="1"/>
          <p:nvPr/>
        </p:nvSpPr>
        <p:spPr>
          <a:xfrm>
            <a:off x="5987034" y="27249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Beta Ready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795528" y="320040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 (Prefect)</a:t>
            </a:r>
            <a:endParaRPr lang="en-US" sz="1150" dirty="0"/>
          </a:p>
        </p:txBody>
      </p:sp>
      <p:sp>
        <p:nvSpPr>
          <p:cNvPr id="85" name="Text 83"/>
          <p:cNvSpPr txBox="1"/>
          <p:nvPr/>
        </p:nvSpPr>
        <p:spPr>
          <a:xfrm>
            <a:off x="795528" y="349300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Config-over-code · Multi-source integration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795528" y="3986784"/>
            <a:ext cx="1655064" cy="0"/>
          </a:xfrm>
          <a:prstGeom prst="line">
            <a:avLst/>
          </a:prstGeom>
          <a:noFill/>
          <a:ln w="9525">
            <a:solidFill>
              <a:srgbClr val="1D3D7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606040" y="31089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771900" y="31089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937760" y="31089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103620" y="3108960"/>
            <a:ext cx="1165860" cy="914400"/>
          </a:xfrm>
          <a:prstGeom prst="rect">
            <a:avLst/>
          </a:prstGeom>
          <a:solidFill>
            <a:srgbClr val="FDF1E7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31089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435340" y="31089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601200" y="31089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767060" y="31089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642616" y="3200400"/>
            <a:ext cx="2258568" cy="384048"/>
          </a:xfrm>
          <a:prstGeom prst="homePlate">
            <a:avLst/>
          </a:prstGeom>
          <a:solidFill>
            <a:srgbClr val="6A4C93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2734056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Pipelines · AD → MyIAM DB · Multi-Source Sync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974336" y="3315614"/>
            <a:ext cx="6922008" cy="153619"/>
          </a:xfrm>
          <a:prstGeom prst="rect">
            <a:avLst/>
          </a:prstGeom>
          <a:solidFill>
            <a:srgbClr val="6A4C93">
              <a:alpha val="35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4800600" y="3255264"/>
            <a:ext cx="274320" cy="274320"/>
          </a:xfrm>
          <a:prstGeom prst="diamond">
            <a:avLst/>
          </a:prstGeom>
          <a:solidFill>
            <a:srgbClr val="6A4C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855464" y="3310128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084064" y="3182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complete</a:t>
            </a:r>
            <a:endParaRPr lang="en-US" sz="650" dirty="0"/>
          </a:p>
        </p:txBody>
      </p:sp>
      <p:sp>
        <p:nvSpPr>
          <p:cNvPr id="101" name="Text 99"/>
          <p:cNvSpPr txBox="1"/>
          <p:nvPr/>
        </p:nvSpPr>
        <p:spPr>
          <a:xfrm>
            <a:off x="3072384" y="3639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Build</a:t>
            </a:r>
            <a:endParaRPr lang="en-US" sz="750" dirty="0"/>
          </a:p>
        </p:txBody>
      </p:sp>
      <p:sp>
        <p:nvSpPr>
          <p:cNvPr id="102" name="Text 100"/>
          <p:cNvSpPr txBox="1"/>
          <p:nvPr/>
        </p:nvSpPr>
        <p:spPr>
          <a:xfrm>
            <a:off x="4354830" y="3639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Sync Live</a:t>
            </a:r>
            <a:endParaRPr lang="en-US" sz="750" dirty="0"/>
          </a:p>
        </p:txBody>
      </p:sp>
      <p:sp>
        <p:nvSpPr>
          <p:cNvPr id="103" name="Text 101"/>
          <p:cNvSpPr txBox="1"/>
          <p:nvPr/>
        </p:nvSpPr>
        <p:spPr>
          <a:xfrm>
            <a:off x="795528" y="411480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Write Consolidation</a:t>
            </a:r>
            <a:endParaRPr lang="en-US" sz="1150" dirty="0"/>
          </a:p>
        </p:txBody>
      </p:sp>
      <p:sp>
        <p:nvSpPr>
          <p:cNvPr id="104" name="Text 102"/>
          <p:cNvSpPr txBox="1"/>
          <p:nvPr/>
        </p:nvSpPr>
        <p:spPr>
          <a:xfrm>
            <a:off x="795528" y="440740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write authority · Dual-write / rollback safety</a:t>
            </a:r>
            <a:endParaRPr lang="en-US" sz="780" dirty="0"/>
          </a:p>
        </p:txBody>
      </p:sp>
      <p:sp>
        <p:nvSpPr>
          <p:cNvPr id="105" name="Shape 103"/>
          <p:cNvSpPr/>
          <p:nvPr/>
        </p:nvSpPr>
        <p:spPr>
          <a:xfrm>
            <a:off x="795528" y="4901184"/>
            <a:ext cx="1655064" cy="0"/>
          </a:xfrm>
          <a:prstGeom prst="line">
            <a:avLst/>
          </a:prstGeom>
          <a:noFill/>
          <a:ln w="9525">
            <a:solidFill>
              <a:srgbClr val="1D3D7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606040" y="40233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771900" y="40233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937760" y="40233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103620" y="4023360"/>
            <a:ext cx="1165860" cy="914400"/>
          </a:xfrm>
          <a:prstGeom prst="rect">
            <a:avLst/>
          </a:prstGeom>
          <a:solidFill>
            <a:srgbClr val="FDF1E7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269480" y="40233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435340" y="40233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601200" y="40233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767060" y="40233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642616" y="4114800"/>
            <a:ext cx="1092708" cy="384048"/>
          </a:xfrm>
          <a:prstGeom prst="rect">
            <a:avLst/>
          </a:prstGeom>
          <a:solidFill>
            <a:srgbClr val="C9CDD6"/>
          </a:solidFill>
          <a:ln/>
        </p:spPr>
      </p:sp>
      <p:sp>
        <p:nvSpPr>
          <p:cNvPr id="115" name="Shape 113"/>
          <p:cNvSpPr/>
          <p:nvPr/>
        </p:nvSpPr>
        <p:spPr>
          <a:xfrm>
            <a:off x="2780919" y="4096512"/>
            <a:ext cx="816102" cy="274320"/>
          </a:xfrm>
          <a:prstGeom prst="rect">
            <a:avLst/>
          </a:prstGeom>
          <a:solidFill>
            <a:srgbClr val="0B2A63"/>
          </a:solidFill>
          <a:ln w="12700">
            <a:solidFill>
              <a:srgbClr val="0E7C86"/>
            </a:solidFill>
            <a:prstDash val="dash"/>
          </a:ln>
        </p:spPr>
      </p:sp>
      <p:sp>
        <p:nvSpPr>
          <p:cNvPr id="116" name="Text 114"/>
          <p:cNvSpPr txBox="1"/>
          <p:nvPr/>
        </p:nvSpPr>
        <p:spPr>
          <a:xfrm>
            <a:off x="2817495" y="4069080"/>
            <a:ext cx="7429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PROTOTYPE</a:t>
            </a:r>
            <a:endParaRPr lang="en-US" sz="600" dirty="0"/>
          </a:p>
        </p:txBody>
      </p:sp>
      <p:sp>
        <p:nvSpPr>
          <p:cNvPr id="117" name="Text 115"/>
          <p:cNvSpPr txBox="1"/>
          <p:nvPr/>
        </p:nvSpPr>
        <p:spPr>
          <a:xfrm>
            <a:off x="2817495" y="4187952"/>
            <a:ext cx="7429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D8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Write Arch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3808476" y="4114800"/>
            <a:ext cx="3424428" cy="384048"/>
          </a:xfrm>
          <a:prstGeom prst="homePlate">
            <a:avLst/>
          </a:prstGeom>
          <a:solidFill>
            <a:srgbClr val="C00000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3899916" y="4114800"/>
            <a:ext cx="3040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 · Domain Write Ops · AD Write Authority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7306056" y="4230014"/>
            <a:ext cx="4590288" cy="153619"/>
          </a:xfrm>
          <a:prstGeom prst="rect">
            <a:avLst/>
          </a:prstGeom>
          <a:solidFill>
            <a:srgbClr val="C00000">
              <a:alpha val="35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7132320" y="4169664"/>
            <a:ext cx="274320" cy="274320"/>
          </a:xfrm>
          <a:prstGeom prst="diamond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187184" y="4224528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7415784" y="40965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write path live</a:t>
            </a:r>
            <a:endParaRPr lang="en-US" sz="650" dirty="0"/>
          </a:p>
        </p:txBody>
      </p:sp>
      <p:sp>
        <p:nvSpPr>
          <p:cNvPr id="124" name="Text 122"/>
          <p:cNvSpPr txBox="1"/>
          <p:nvPr/>
        </p:nvSpPr>
        <p:spPr>
          <a:xfrm>
            <a:off x="4121658" y="45537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50" dirty="0"/>
          </a:p>
        </p:txBody>
      </p:sp>
      <p:sp>
        <p:nvSpPr>
          <p:cNvPr id="125" name="Text 123"/>
          <p:cNvSpPr txBox="1"/>
          <p:nvPr/>
        </p:nvSpPr>
        <p:spPr>
          <a:xfrm>
            <a:off x="5520690" y="45537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Write Path</a:t>
            </a:r>
            <a:endParaRPr lang="en-US" sz="750" dirty="0"/>
          </a:p>
        </p:txBody>
      </p:sp>
      <p:sp>
        <p:nvSpPr>
          <p:cNvPr id="126" name="Text 124"/>
          <p:cNvSpPr txBox="1"/>
          <p:nvPr/>
        </p:nvSpPr>
        <p:spPr>
          <a:xfrm>
            <a:off x="6803136" y="45537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(G2)</a:t>
            </a:r>
            <a:endParaRPr lang="en-US" sz="750" dirty="0"/>
          </a:p>
        </p:txBody>
      </p:sp>
      <p:sp>
        <p:nvSpPr>
          <p:cNvPr id="127" name="Text 125"/>
          <p:cNvSpPr txBox="1"/>
          <p:nvPr/>
        </p:nvSpPr>
        <p:spPr>
          <a:xfrm>
            <a:off x="795528" y="502920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Entitlement Mgmt</a:t>
            </a:r>
            <a:endParaRPr lang="en-US" sz="1150" dirty="0"/>
          </a:p>
        </p:txBody>
      </p:sp>
      <p:sp>
        <p:nvSpPr>
          <p:cNvPr id="128" name="Text 126"/>
          <p:cNvSpPr txBox="1"/>
          <p:nvPr/>
        </p:nvSpPr>
        <p:spPr>
          <a:xfrm>
            <a:off x="795528" y="532180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first — workflow unproven · catalog + fulfillment via AD write (G2)</a:t>
            </a:r>
            <a:endParaRPr lang="en-US" sz="780" dirty="0"/>
          </a:p>
        </p:txBody>
      </p:sp>
      <p:sp>
        <p:nvSpPr>
          <p:cNvPr id="129" name="Shape 127"/>
          <p:cNvSpPr/>
          <p:nvPr/>
        </p:nvSpPr>
        <p:spPr>
          <a:xfrm>
            <a:off x="795528" y="5815584"/>
            <a:ext cx="1655064" cy="0"/>
          </a:xfrm>
          <a:prstGeom prst="line">
            <a:avLst/>
          </a:prstGeom>
          <a:noFill/>
          <a:ln w="9525">
            <a:solidFill>
              <a:srgbClr val="1D3D7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606040" y="49377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771900" y="49377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937760" y="49377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103620" y="4937760"/>
            <a:ext cx="1165860" cy="914400"/>
          </a:xfrm>
          <a:prstGeom prst="rect">
            <a:avLst/>
          </a:prstGeom>
          <a:solidFill>
            <a:srgbClr val="FDF1E7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269480" y="49377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435340" y="49377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601200" y="4937760"/>
            <a:ext cx="1165860" cy="914400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767060" y="4937760"/>
            <a:ext cx="11658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808476" y="5029200"/>
            <a:ext cx="2258568" cy="384048"/>
          </a:xfrm>
          <a:prstGeom prst="rect">
            <a:avLst/>
          </a:prstGeom>
          <a:solidFill>
            <a:srgbClr val="8A8F98"/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139" name="Text 137"/>
          <p:cNvSpPr txBox="1"/>
          <p:nvPr/>
        </p:nvSpPr>
        <p:spPr>
          <a:xfrm>
            <a:off x="3899916" y="502920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Brainstorming &amp; Requirements Gathering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5993892" y="5111496"/>
            <a:ext cx="219456" cy="219456"/>
          </a:xfrm>
          <a:prstGeom prst="diamond">
            <a:avLst/>
          </a:prstGeom>
          <a:solidFill>
            <a:srgbClr val="8A8F9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039612" y="5157216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278499" y="5010912"/>
            <a:ext cx="874395" cy="274320"/>
          </a:xfrm>
          <a:prstGeom prst="rect">
            <a:avLst/>
          </a:prstGeom>
          <a:solidFill>
            <a:srgbClr val="0B2A63"/>
          </a:solidFill>
          <a:ln w="12700">
            <a:solidFill>
              <a:srgbClr val="0E7C86"/>
            </a:solidFill>
            <a:prstDash val="dash"/>
          </a:ln>
        </p:spPr>
      </p:sp>
      <p:sp>
        <p:nvSpPr>
          <p:cNvPr id="143" name="Text 141"/>
          <p:cNvSpPr txBox="1"/>
          <p:nvPr/>
        </p:nvSpPr>
        <p:spPr>
          <a:xfrm>
            <a:off x="6315075" y="4983480"/>
            <a:ext cx="8012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PROTOTYPE</a:t>
            </a:r>
            <a:endParaRPr lang="en-US" sz="600" dirty="0"/>
          </a:p>
        </p:txBody>
      </p:sp>
      <p:sp>
        <p:nvSpPr>
          <p:cNvPr id="144" name="Text 142"/>
          <p:cNvSpPr txBox="1"/>
          <p:nvPr/>
        </p:nvSpPr>
        <p:spPr>
          <a:xfrm>
            <a:off x="6315075" y="5102352"/>
            <a:ext cx="8012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D8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Design</a:t>
            </a:r>
            <a:endParaRPr lang="en-US" sz="650" dirty="0"/>
          </a:p>
        </p:txBody>
      </p:sp>
      <p:sp>
        <p:nvSpPr>
          <p:cNvPr id="145" name="Shape 143"/>
          <p:cNvSpPr/>
          <p:nvPr/>
        </p:nvSpPr>
        <p:spPr>
          <a:xfrm>
            <a:off x="7306056" y="5029200"/>
            <a:ext cx="2258568" cy="384048"/>
          </a:xfrm>
          <a:prstGeom prst="homePlate">
            <a:avLst/>
          </a:prstGeom>
          <a:solidFill>
            <a:srgbClr val="146C94"/>
          </a:solidFill>
          <a:ln/>
        </p:spPr>
      </p:sp>
      <p:sp>
        <p:nvSpPr>
          <p:cNvPr id="146" name="Text 144"/>
          <p:cNvSpPr txBox="1"/>
          <p:nvPr/>
        </p:nvSpPr>
        <p:spPr>
          <a:xfrm>
            <a:off x="7397496" y="5029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Packages · Catalog &amp; Approval · Auto-Fulfillment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9637776" y="5144414"/>
            <a:ext cx="2258568" cy="153619"/>
          </a:xfrm>
          <a:prstGeom prst="rect">
            <a:avLst/>
          </a:prstGeom>
          <a:solidFill>
            <a:srgbClr val="146C94">
              <a:alpha val="35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9464040" y="5084064"/>
            <a:ext cx="274320" cy="274320"/>
          </a:xfrm>
          <a:prstGeom prst="diamond">
            <a:avLst/>
          </a:prstGeom>
          <a:solidFill>
            <a:srgbClr val="146C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518904" y="5138928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9747504" y="50109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Live</a:t>
            </a:r>
            <a:endParaRPr lang="en-US" sz="650" dirty="0"/>
          </a:p>
        </p:txBody>
      </p:sp>
      <p:sp>
        <p:nvSpPr>
          <p:cNvPr id="151" name="Text 149"/>
          <p:cNvSpPr txBox="1"/>
          <p:nvPr/>
        </p:nvSpPr>
        <p:spPr>
          <a:xfrm>
            <a:off x="4354830" y="5468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Workshops</a:t>
            </a:r>
            <a:endParaRPr lang="en-US" sz="750" dirty="0"/>
          </a:p>
        </p:txBody>
      </p:sp>
      <p:sp>
        <p:nvSpPr>
          <p:cNvPr id="152" name="Text 150"/>
          <p:cNvSpPr txBox="1"/>
          <p:nvPr/>
        </p:nvSpPr>
        <p:spPr>
          <a:xfrm>
            <a:off x="5258943" y="5468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Entitlement Model &amp; Workflow Spec</a:t>
            </a:r>
            <a:endParaRPr lang="en-US" sz="650" dirty="0"/>
          </a:p>
        </p:txBody>
      </p:sp>
      <p:sp>
        <p:nvSpPr>
          <p:cNvPr id="153" name="Text 151"/>
          <p:cNvSpPr txBox="1"/>
          <p:nvPr/>
        </p:nvSpPr>
        <p:spPr>
          <a:xfrm>
            <a:off x="7735824" y="5468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Design</a:t>
            </a:r>
            <a:endParaRPr lang="en-US" sz="750" dirty="0"/>
          </a:p>
        </p:txBody>
      </p:sp>
      <p:sp>
        <p:nvSpPr>
          <p:cNvPr id="154" name="Text 152"/>
          <p:cNvSpPr txBox="1"/>
          <p:nvPr/>
        </p:nvSpPr>
        <p:spPr>
          <a:xfrm>
            <a:off x="8668512" y="5468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Build</a:t>
            </a:r>
            <a:endParaRPr lang="en-US" sz="750" dirty="0"/>
          </a:p>
        </p:txBody>
      </p:sp>
      <p:sp>
        <p:nvSpPr>
          <p:cNvPr id="155" name="Text 153"/>
          <p:cNvSpPr txBox="1"/>
          <p:nvPr/>
        </p:nvSpPr>
        <p:spPr>
          <a:xfrm>
            <a:off x="9484614" y="5468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Entitlement Live</a:t>
            </a:r>
            <a:endParaRPr lang="en-US" sz="750" dirty="0"/>
          </a:p>
        </p:txBody>
      </p:sp>
      <p:sp>
        <p:nvSpPr>
          <p:cNvPr id="156" name="Text 154"/>
          <p:cNvSpPr txBox="1"/>
          <p:nvPr/>
        </p:nvSpPr>
        <p:spPr>
          <a:xfrm>
            <a:off x="9950958" y="5010912"/>
            <a:ext cx="19819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— Persona-Aware Access →</a:t>
            </a:r>
            <a:endParaRPr lang="en-US" sz="650" dirty="0"/>
          </a:p>
        </p:txBody>
      </p:sp>
      <p:sp>
        <p:nvSpPr>
          <p:cNvPr id="157" name="Text 155"/>
          <p:cNvSpPr txBox="1"/>
          <p:nvPr/>
        </p:nvSpPr>
        <p:spPr>
          <a:xfrm>
            <a:off x="137160" y="59984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Reddy  ·  Programme Lead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2606040" y="5998464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2788920" y="5961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850" dirty="0"/>
          </a:p>
        </p:txBody>
      </p:sp>
      <p:sp>
        <p:nvSpPr>
          <p:cNvPr id="160" name="Shape 158"/>
          <p:cNvSpPr/>
          <p:nvPr/>
        </p:nvSpPr>
        <p:spPr>
          <a:xfrm>
            <a:off x="3840480" y="5998464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61" name="Text 159"/>
          <p:cNvSpPr txBox="1"/>
          <p:nvPr/>
        </p:nvSpPr>
        <p:spPr>
          <a:xfrm>
            <a:off x="4023360" y="5961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5074920" y="5980176"/>
            <a:ext cx="164592" cy="164592"/>
          </a:xfrm>
          <a:prstGeom prst="diamond">
            <a:avLst/>
          </a:prstGeom>
          <a:solidFill>
            <a:srgbClr val="6A4C93"/>
          </a:solidFill>
          <a:ln/>
        </p:spPr>
      </p:sp>
      <p:sp>
        <p:nvSpPr>
          <p:cNvPr id="163" name="Text 161"/>
          <p:cNvSpPr txBox="1"/>
          <p:nvPr/>
        </p:nvSpPr>
        <p:spPr>
          <a:xfrm>
            <a:off x="5303520" y="59618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 · Sign-off required</a:t>
            </a:r>
            <a:endParaRPr lang="en-US" sz="850" dirty="0"/>
          </a:p>
        </p:txBody>
      </p:sp>
      <p:sp>
        <p:nvSpPr>
          <p:cNvPr id="164" name="Text 16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165" name="Text 163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166" name="Text 164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MyIAM Actually Stands Today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4183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status as of September 2026, asset by asset — replaces the Roadmap v3 phase-exit assumptions.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176272" cy="41605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576" y="1536192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79576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19456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" y="26974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 ASSETS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3108960"/>
            <a:ext cx="1883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Solutions, Identity, Context, Groups, Password done. MyAppConnect UX not started — carries connector + scope management complexity.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70048" y="1325880"/>
            <a:ext cx="2176272" cy="41605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3864" y="1536192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83864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807208" y="219456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072384" y="26974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72384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 ASSETS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816352" y="3108960"/>
            <a:ext cx="1883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APIs live for Solutions, Context, Groups, Password, Identity. Accounts has no API or schema yet.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74336" y="1325880"/>
            <a:ext cx="2176272" cy="41605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88152" y="1536192"/>
            <a:ext cx="548640" cy="54864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88152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111496" y="219456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/ LPA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376672" y="26974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E450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76672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 ASSETS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3108960"/>
            <a:ext cx="1883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LPA-designed schema built from scratch for the same 5 assets. Accounts is the one gap — and it underpins AD write design.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78624" y="1325880"/>
            <a:ext cx="2176272" cy="41605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1536192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92440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415784" y="219456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680960" y="26974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8096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424928" y="3108960"/>
            <a:ext cx="1883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hosting complete; now integrating additional data sources beyond AD into the shared DB.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582912" y="1325880"/>
            <a:ext cx="2176272" cy="41605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96728" y="1536192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396728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9720072" y="219456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Write Path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985248" y="26974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985248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729216" y="3108960"/>
            <a:ext cx="1883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 access today is read-only. No authorised single write path exists yet — the critical path to completion.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5623560"/>
            <a:ext cx="11430000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2920" y="56235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true today:  </a:t>
            </a:r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MyIAM is hosted in lower environment only — nothing above is at production scale yet. CI/CD pipelines for both API and UI are complete, which de-risks the eventual prod promotion and the Accounts/MyAppConnect build-out still ahead.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Snapshot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PHILOSOPHY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Configuration-over-Code, Across UI, API &amp; Data Sync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engineering choice, made independently in three places: build one engine, drive behaviour from configuration rather than per-asset code.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75888" cy="9601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9601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1907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metadata-driven UI engine renders list/detail screens per asset from config — not one hand-built screen per asset.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61104" y="1371600"/>
            <a:ext cx="3675888" cy="9601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1104" y="1371600"/>
            <a:ext cx="73152" cy="960120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43984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43984" y="171907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 layer is config-driven, not hard-coded per asset — new fields/rules ship as config changes.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65008" y="1371600"/>
            <a:ext cx="3675888" cy="9601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1371600"/>
            <a:ext cx="73152" cy="960120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47888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171907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flows are configuration-over-code by design — pipelines defined declaratively, not scripted per source.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5440680" cy="3566160"/>
          </a:xfrm>
          <a:prstGeom prst="rect">
            <a:avLst/>
          </a:prstGeom>
          <a:solidFill>
            <a:srgbClr val="EAF6E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14600"/>
            <a:ext cx="544068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25146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3099816"/>
            <a:ext cx="82296" cy="822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299008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to build/test/secure instead of six-plus per-asset implementations — Accounts and MyAppConnect inherit it once built, rather than starting from zero.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3849624"/>
            <a:ext cx="82296" cy="822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" y="373989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by construction: every asset gets the same LPA, audit, and validation behaviour automatically — no per-asset drift.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4599432"/>
            <a:ext cx="82296" cy="822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" y="448970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iteration once the engine is stable — new fields or asset variants ship as config, not a code + redeploy cycle.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" y="5349240"/>
            <a:ext cx="82296" cy="822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1248" y="5239512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long-term maintenance surface: one codebase to patch and review, not N near-duplicate ones.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2514600"/>
            <a:ext cx="5440680" cy="3566160"/>
          </a:xfrm>
          <a:prstGeom prst="rect">
            <a:avLst/>
          </a:prstGeom>
          <a:solidFill>
            <a:srgbClr val="FDECE3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2514600"/>
            <a:ext cx="5440680" cy="384048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25146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64808" y="3099816"/>
            <a:ext cx="82296" cy="82296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47688" y="299008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is harder — failures surface inside the config-interpretation layer, one step removed from a stack trace tied to a specific asset.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64808" y="3849624"/>
            <a:ext cx="82296" cy="82296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47688" y="373989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strain the model: unusual approval workflows (e.g. MyAppConnect's cross-context scope approval) may not fit generic config cleanly.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64808" y="4599432"/>
            <a:ext cx="82296" cy="82296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47688" y="448970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risk is real for IAM specifically: config changes need the same review/audit rigour as code changes, or they become an ungoverned back door.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64808" y="5349240"/>
            <a:ext cx="82296" cy="82296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647688" y="5239512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Concentrates critical knowledge in whoever built the engine — reinforces the single-point-of-failure capacity risk already on the register (R6).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Configuration-over-Code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RISK REGISTER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Risks &amp; Mitigations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risks tracked  ·  1 carried unmitigated  ·  1 new critical risk (AD write path)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724912" cy="4480560"/>
          </a:xfrm>
          <a:prstGeom prst="rect">
            <a:avLst/>
          </a:prstGeom>
          <a:solidFill>
            <a:srgbClr val="0B2A63"/>
          </a:solidFill>
          <a:ln w="12700">
            <a:solidFill>
              <a:srgbClr val="1D3D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724912" cy="91440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299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359152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MyAccess UI Consolidation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99923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20040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3-app merge (MyAccount, MyPassword, MyAppConnect) carries real refactor complexity.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420624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4407408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consolidation first; full UX redesign deferred to a later iteration.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64992" y="1508760"/>
            <a:ext cx="2724912" cy="4480560"/>
          </a:xfrm>
          <a:prstGeom prst="rect">
            <a:avLst/>
          </a:prstGeom>
          <a:solidFill>
            <a:srgbClr val="0B2A63"/>
          </a:solidFill>
          <a:ln w="12700">
            <a:solidFill>
              <a:srgbClr val="1D3D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08760"/>
            <a:ext cx="2724912" cy="914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29584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R9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29584" y="20299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NEW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529584" y="2359152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Write Path Not Yet Built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529584" y="299923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529584" y="320040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authorised write path to AD exists. This is now the single gate the whole programme depends on.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529584" y="420624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529584" y="4407408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dual-write/rollback safety before any write capability ships; treat as top priority.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72784" y="1508760"/>
            <a:ext cx="2724912" cy="4480560"/>
          </a:xfrm>
          <a:prstGeom prst="rect">
            <a:avLst/>
          </a:prstGeom>
          <a:solidFill>
            <a:srgbClr val="0B2A63"/>
          </a:solidFill>
          <a:ln w="12700">
            <a:solidFill>
              <a:srgbClr val="1D3D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1508760"/>
            <a:ext cx="2724912" cy="91440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37376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20299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37376" y="2359152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Freeze Boundary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37376" y="299923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437376" y="320040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Post-freeze feature additions create scope gaps against the locked baseline.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437376" y="420624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437376" y="4407408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owns freeze sign-off with each product team; scheduled re-adjustment sprints.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80576" y="1508760"/>
            <a:ext cx="2724912" cy="4480560"/>
          </a:xfrm>
          <a:prstGeom prst="rect">
            <a:avLst/>
          </a:prstGeom>
          <a:solidFill>
            <a:srgbClr val="0B2A63"/>
          </a:solidFill>
          <a:ln w="12700">
            <a:solidFill>
              <a:srgbClr val="1D3D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80576" y="1508760"/>
            <a:ext cx="2724912" cy="91440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345168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R10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345168" y="20299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· NEW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345168" y="2359152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Fragmentation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345168" y="299923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345168" y="320040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database, but schema still separate per source — not yet unified.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345168" y="420624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9345168" y="4407408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schema unification as an explicit backlog item toward G3, not an assumed byproduct.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· Delivery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RISK REGISTER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&amp; External Dependencies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46304" cy="146304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9692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Constraint — accepted, no mitigation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53328" y="9692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Dependency — requires executive commitment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11274552" cy="2331720"/>
          </a:xfrm>
          <a:prstGeom prst="rect">
            <a:avLst/>
          </a:prstGeom>
          <a:solidFill>
            <a:srgbClr val="0B2A63"/>
          </a:solidFill>
          <a:ln w="12700">
            <a:solidFill>
              <a:srgbClr val="1D3D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91440" cy="2331720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6733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R6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CONSTRAINT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1673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Availability — Team Capacity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05740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throughout all four workstreams  ·  May 2026 – Apr 2028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4231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 at capacity across UI, API, Data Sync and AD Write workstreams running concurrently, plus live support. Contractor availability not guaranteed. Key architects are single points of failure.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108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9A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MITIGATION PLANNED — ACCEPTED CONSTRAINT. If capacity is exceeded, escalate to reprioritisation, not schedule compression across workstreams.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11274552" cy="2331720"/>
          </a:xfrm>
          <a:prstGeom prst="rect">
            <a:avLst/>
          </a:prstGeom>
          <a:solidFill>
            <a:srgbClr val="0B2A63"/>
          </a:solidFill>
          <a:ln w="12700">
            <a:solidFill>
              <a:srgbClr val="1D3D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23360"/>
            <a:ext cx="91440" cy="2331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1879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FE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R7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E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DEPENDENCY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41879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AD/LDAP Team Support — Now the Critical Path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457200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 ·  required to start AD Write Consolidation workstream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9377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Write Consolidation cannot begin design in earnest without a dedicated AD/LDAP liaison. Since this workstream is no longer gated behind others, delay here delays the whole programme's end date, not just one phase.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6235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FE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MITIGATION POSSIBLE — EXTERNAL DEPENDENCY. Requires: dedicated AD liaison assigned now; joint working session with AD lead; escalation to Abhishek Reddy if capacity is withdrawn.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· Constraints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G4 — Abstracting IAM Away From the User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further gates, sequenced deliberately after the plumbing (G2 AD write, G3 schema) is trustworthy.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0" cy="411480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0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9164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G5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7099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Package Management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0299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Management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423160"/>
            <a:ext cx="5084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Business-meaningful bundles (“GIS Engineer — PLMDoc Contributor”) replace raw Groups/Scopes/Contexts as the unit end users request. One line, tied to employee ID.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361188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2E7D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36118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START NOW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6118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request/approval workflow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411480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E45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41148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ON G2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41148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fulfillment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5486400" cy="411480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417320"/>
            <a:ext cx="5486400" cy="91440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7648" y="1691640"/>
            <a:ext cx="548640" cy="548640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2764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17099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Persona-Aware Intelligent Access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20299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/ Agentic Layer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327648" y="2423160"/>
            <a:ext cx="5084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interface per persona — end users, architects, IAM admins — built on the existing agentic assistant work (LangGraph, RAG, tool-calling).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7648" y="361188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2E7D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27648" y="36118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START NOW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36118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prototyping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27648" y="411480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C000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27648" y="41148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ON G2 + G3 + G5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41148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on the user's behalf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5715000"/>
            <a:ext cx="11274552" cy="566928"/>
          </a:xfrm>
          <a:prstGeom prst="rect">
            <a:avLst/>
          </a:prstGeom>
          <a:solidFill>
            <a:srgbClr val="EAF1F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571500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Sequencing:  </a:t>
            </a:r>
            <a:pPr indent="0" marL="0"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(Schema Unified)  →  G5 catalog &amp; workflow (parallel-buildable now)  →  G2 unlocks G5 fulfillment  →  G6 agent layer builds on a mature G5.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Request, Six Assets Provisioned Behind It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sees: “GIS Engineer — PLMDoc Contributor” — view &amp; upload GIS project documents in PLMDoc.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035040" cy="36576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Behind the Scenes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554480" cy="530352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7830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11680" y="1783080"/>
            <a:ext cx="4480560" cy="530352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48840" y="1783080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(TA), tied to employee ID, end-dated to contract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1554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3134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0" y="2313432"/>
            <a:ext cx="4480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48840" y="2313432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via self-service activation on first login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1554480" cy="530352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84378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11680" y="2843784"/>
            <a:ext cx="4480560" cy="530352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48840" y="2843784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GRP_STC_EU_1Z60-LICENSEE-...-GIS-UEA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1554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37413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0" y="3374136"/>
            <a:ext cx="4480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48840" y="3374136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CX_APP_EU_1Z60_1Z60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904488"/>
            <a:ext cx="1554480" cy="530352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90448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11680" y="3904488"/>
            <a:ext cx="4480560" cy="530352"/>
          </a:xfrm>
          <a:prstGeom prst="rect">
            <a:avLst/>
          </a:prstGeom>
          <a:solidFill>
            <a:srgbClr val="F5F6F8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48840" y="3904488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PUBLI_READ, PUBLI_CREATE, DMS_READ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1554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44348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11680" y="4434840"/>
            <a:ext cx="4480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BE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48840" y="4434840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grant activating login to PLMDoc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20840" y="1417320"/>
            <a:ext cx="5029200" cy="365760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30568" y="1856232"/>
            <a:ext cx="365760" cy="36576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30568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0" y="1801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searches the catalog by role/task, not by scope code.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30568" y="2478024"/>
            <a:ext cx="365760" cy="36576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30568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0" y="24231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0" y="2679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owner approves; sensitive packages can require two-step sign-off.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30568" y="3099816"/>
            <a:ext cx="365760" cy="36576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830568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315200" y="30449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33009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→ Group → Context/Scope → Connector, provisioned in dependency order.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30568" y="3721608"/>
            <a:ext cx="365760" cy="36576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830568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7315200" y="36667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315200" y="39227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now have PLMDoc Contributor access” — no group/scope jargon.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30568" y="4343400"/>
            <a:ext cx="365760" cy="36576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830568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315200" y="42885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Recertification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0" y="4544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packages auto-expire at contract end; others recertify periodically.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5715000"/>
            <a:ext cx="11274552" cy="566928"/>
          </a:xfrm>
          <a:prstGeom prst="rect">
            <a:avLst/>
          </a:prstGeom>
          <a:solidFill>
            <a:srgbClr val="FDECE3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94360" y="571500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note:  </a:t>
            </a:r>
            <a:pPr indent="0" marL="0"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that make access easy to get must also make it easy to revoke — recertification is not optional, it's what keeps this from becoming an audit finding.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Worked Example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FOR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00" cy="356616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1783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Escalation Path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at capacity across all four concurrent workstreams. No mitigation exists today — if delivery is squeezed further, we need PM &amp; HO backing to prioritise scope, not compress workstreams against each other.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4937760" cy="822960"/>
          </a:xfrm>
          <a:prstGeom prst="rect">
            <a:avLst/>
          </a:prstGeom>
          <a:solidFill>
            <a:srgbClr val="6A4C93">
              <a:alpha val="12000"/>
            </a:srgbClr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18795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 escalation path: capacity issues go to reprioritisation, not timeline compression.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486400" cy="356616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0" y="1783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AD/LDAP Team Commitment — Now Urgent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2316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Write Consolidation is the workstream every other gate ultimately depends on, and it hasn't started. This is an external dependency we cannot mitigate alone — it needs executive commitment now, not after Gate 3.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4114800"/>
            <a:ext cx="4937760" cy="822960"/>
          </a:xfrm>
          <a:prstGeom prst="rect">
            <a:avLst/>
          </a:prstGeom>
          <a:solidFill>
            <a:srgbClr val="0E7C86">
              <a:alpha val="12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418795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 dedicated AD liaison for MyIAM immediately, with an early joint working session.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FDECE3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flagged for awareness:  </a:t>
            </a:r>
            <a:pPr indent="0" marL="0"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Platform + Passport Decommission scope remains pending and is not yet on a workstream — a decision is needed once AD Write Consolidation reaches design maturity.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 Action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365760"/>
            <a:ext cx="4114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0" b="1" dirty="0">
                <a:solidFill>
                  <a:srgbClr val="0B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502920" cy="73152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34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1750">
            <a:solidFill>
              <a:srgbClr val="E450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MyIAM  ·  4 Workstreams  ·  1 Platform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