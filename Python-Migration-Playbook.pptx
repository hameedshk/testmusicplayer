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Lines of code</c:v>
                </c:pt>
              </c:strCache>
            </c:strRef>
          </c:tx>
          <c:spPr>
            <a:solidFill>
              <a:srgbClr val="173A7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8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73A7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73A7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4501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45011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Capacity (low)</c:v>
                  </c:pt>
                  <c:pt idx="1">
                    <c:v>Capacity (high)</c:v>
                  </c:pt>
                  <c:pt idx="2">
                    <c:v>Scope A (APIs)</c:v>
                  </c:pt>
                  <c:pt idx="3">
                    <c:v>Scope B (everything)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117000</c:v>
                </c:pt>
                <c:pt idx="1">
                  <c:v>312000</c:v>
                </c:pt>
                <c:pt idx="2">
                  <c:v>105000</c:v>
                </c:pt>
                <c:pt idx="3">
                  <c:v>400000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228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0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MYIAM  ·  TECH STACK EVOLUTION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.NET → Python Migration Playbook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51460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team-enablement roadmap for a six-developer, six-month backend rewrite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554480" y="3429000"/>
            <a:ext cx="548640" cy="548640"/>
          </a:xfrm>
          <a:prstGeom prst="ellipse">
            <a:avLst/>
          </a:prstGeom>
          <a:solidFill>
            <a:srgbClr val="13306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8099" y="358261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40690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105K+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4572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AE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 LOC — Scope A APIs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89120" y="3429000"/>
            <a:ext cx="548640" cy="548640"/>
          </a:xfrm>
          <a:prstGeom prst="ellipse">
            <a:avLst/>
          </a:prstGeom>
          <a:solidFill>
            <a:srgbClr val="13306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2739" y="3582619"/>
            <a:ext cx="241402" cy="2414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83280" y="40690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3383280" y="4572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AE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Developers — .NET background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7223760" y="3429000"/>
            <a:ext cx="548640" cy="548640"/>
          </a:xfrm>
          <a:prstGeom prst="ellipse">
            <a:avLst/>
          </a:prstGeom>
          <a:solidFill>
            <a:srgbClr val="13306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7379" y="3582619"/>
            <a:ext cx="241402" cy="24140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17920" y="40690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mo</a:t>
            </a:r>
            <a:endParaRPr lang="en-US" sz="2600" dirty="0"/>
          </a:p>
        </p:txBody>
      </p:sp>
      <p:sp>
        <p:nvSpPr>
          <p:cNvPr id="16" name="Text 11"/>
          <p:cNvSpPr/>
          <p:nvPr/>
        </p:nvSpPr>
        <p:spPr>
          <a:xfrm>
            <a:off x="6217920" y="4572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AE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window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developers. Zero Python experience. Six months.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constraint that decides whether this is achievable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30352" y="1737360"/>
            <a:ext cx="2514600" cy="27432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A2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21892" y="1965960"/>
            <a:ext cx="731520" cy="731520"/>
          </a:xfrm>
          <a:prstGeom prst="ellipse">
            <a:avLst/>
          </a:prstGeom>
          <a:solidFill>
            <a:srgbClr val="EEF1F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6718" y="2170786"/>
            <a:ext cx="321869" cy="3218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7512" y="27889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105K+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67512" y="33375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 lines of code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13232" y="36576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A: Core, MyAccount, MyAccess, MyPassword APIs — excludes Angular UI (→ React) and AppConnect (still open)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300984" y="1737360"/>
            <a:ext cx="2514600" cy="27432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A2E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192524" y="1965960"/>
            <a:ext cx="731520" cy="731520"/>
          </a:xfrm>
          <a:prstGeom prst="ellipse">
            <a:avLst/>
          </a:prstGeom>
          <a:solidFill>
            <a:srgbClr val="EEF1F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7350" y="2170786"/>
            <a:ext cx="321869" cy="3218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38144" y="27889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3438144" y="33375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Developers assigned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3483864" y="36576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.NET background — none have production Python experience today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071616" y="1737360"/>
            <a:ext cx="2514600" cy="27432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A2E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963156" y="1965960"/>
            <a:ext cx="731520" cy="731520"/>
          </a:xfrm>
          <a:prstGeom prst="ellipse">
            <a:avLst/>
          </a:prstGeom>
          <a:solidFill>
            <a:srgbClr val="EEF1F8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7982" y="2170786"/>
            <a:ext cx="321869" cy="32186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08776" y="27889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mo</a:t>
            </a:r>
            <a:endParaRPr lang="en-US" sz="3000" dirty="0"/>
          </a:p>
        </p:txBody>
      </p:sp>
      <p:sp>
        <p:nvSpPr>
          <p:cNvPr id="20" name="Text 15"/>
          <p:cNvSpPr/>
          <p:nvPr/>
        </p:nvSpPr>
        <p:spPr>
          <a:xfrm>
            <a:off x="6208776" y="33375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window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6254496" y="36576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780 developer-days total capacity across the team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vs. scope — the real constraint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developers × ~130 working days, at realistic verified-output throughput for a team new to Python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804672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5262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A already sits close to low-end team capacity — before AppConnect's API is even added.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E4501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600200" y="457200"/>
            <a:ext cx="5760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on MyPassword First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7635240" y="502920"/>
            <a:ext cx="822960" cy="822960"/>
          </a:xfrm>
          <a:prstGeom prst="ellipse">
            <a:avLst/>
          </a:prstGeom>
          <a:solidFill>
            <a:srgbClr val="EEF1F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5669" y="733349"/>
            <a:ext cx="362102" cy="3621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6002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2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Smallest, most isolated module (8,000 LOC) — the right instrument, not the easy deliverable</a:t>
            </a:r>
            <a:endParaRPr lang="en-US" sz="155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2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standalone with 2 developers — not in parallel with any other module</a:t>
            </a:r>
            <a:endParaRPr lang="en-US" sz="155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2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 1: real throughput data, replacing assumptions with your team's actual LOC/day</a:t>
            </a:r>
            <a:endParaRPr lang="en-US" sz="155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2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 2: a translation playbook — how exceptions, DI, and test structure map from C# to Python</a:t>
            </a:r>
            <a:endParaRPr lang="en-US" sz="155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2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 3: a review checklist a .NET developer can run without needing Python fluency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E4501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600200" y="457200"/>
            <a:ext cx="5760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the Pilot into a Go/No-Go Threshold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7635240" y="502920"/>
            <a:ext cx="822960" cy="822960"/>
          </a:xfrm>
          <a:prstGeom prst="ellipse">
            <a:avLst/>
          </a:prstGeom>
          <a:solidFill>
            <a:srgbClr val="EEF1F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5669" y="733349"/>
            <a:ext cx="362102" cy="3621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55448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2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~135–155 verified LOC/developer/day — 105K LOC ÷ 780 developer-days, with almost no slack</a:t>
            </a:r>
            <a:endParaRPr lang="en-US" sz="15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2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the pilot: verified LOC delivered ÷ developer-days spent by the 2 pilot developers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30352" y="2880360"/>
            <a:ext cx="2514600" cy="1874520"/>
          </a:xfrm>
          <a:prstGeom prst="roundRect">
            <a:avLst>
              <a:gd name="adj" fmla="val 3902"/>
            </a:avLst>
          </a:prstGeom>
          <a:solidFill>
            <a:srgbClr val="EEF1F8"/>
          </a:solidFill>
          <a:ln/>
          <a:effectLst>
            <a:outerShdw sx="100000" sy="100000" kx="0" ky="0" algn="bl" rotWithShape="0" blurRad="101600" dist="38100" dir="5400000">
              <a:srgbClr val="1A1A2E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13232" y="30632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155 / day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13232" y="361188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to full team as planned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00984" y="2880360"/>
            <a:ext cx="2514600" cy="1874520"/>
          </a:xfrm>
          <a:prstGeom prst="roundRect">
            <a:avLst>
              <a:gd name="adj" fmla="val 3902"/>
            </a:avLst>
          </a:prstGeom>
          <a:solidFill>
            <a:srgbClr val="FDF3EC"/>
          </a:solidFill>
          <a:ln/>
          <a:effectLst>
            <a:outerShdw sx="100000" sy="100000" kx="0" ky="0" algn="bl" rotWithShape="0" blurRad="101600" dist="38100" dir="5400000">
              <a:srgbClr val="1A1A2E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483864" y="30632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110–155 / day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483864" y="361188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Proceed — flag timeline risk, recheck after next module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071616" y="2880360"/>
            <a:ext cx="2514600" cy="1874520"/>
          </a:xfrm>
          <a:prstGeom prst="roundRect">
            <a:avLst>
              <a:gd name="adj" fmla="val 3902"/>
            </a:avLst>
          </a:prstGeom>
          <a:solidFill>
            <a:srgbClr val="FBE4D5"/>
          </a:solidFill>
          <a:ln/>
          <a:effectLst>
            <a:outerShdw sx="100000" sy="100000" kx="0" ky="0" algn="bl" rotWithShape="0" blurRad="101600" dist="38100" dir="5400000">
              <a:srgbClr val="1A1A2E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254496" y="30632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110 / day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254496" y="361188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 scaling — renegotiate scope or timeline now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E4501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600200" y="457200"/>
            <a:ext cx="5760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by Risk, Stagger the Team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7635240" y="502920"/>
            <a:ext cx="822960" cy="822960"/>
          </a:xfrm>
          <a:prstGeom prst="ellipse">
            <a:avLst/>
          </a:prstGeom>
          <a:solidFill>
            <a:srgbClr val="EEF1F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5669" y="733349"/>
            <a:ext cx="362102" cy="3621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554480"/>
            <a:ext cx="8046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2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each pilot developer with 1–2 new joiners per module — transfers judgment, not just notes</a:t>
            </a:r>
            <a:endParaRPr lang="en-US" sz="15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2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Re-run the go/no-go math at every module boundary, not just once after the pilot</a:t>
            </a:r>
            <a:endParaRPr lang="en-US" sz="15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2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 a part-time Python-fluent reviewer for Core API specifically — your highest concentration of risk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3246120"/>
            <a:ext cx="2331720" cy="1600200"/>
          </a:xfrm>
          <a:prstGeom prst="roundRect">
            <a:avLst>
              <a:gd name="adj" fmla="val 4571"/>
            </a:avLst>
          </a:prstGeom>
          <a:solidFill>
            <a:srgbClr val="EEF1F8"/>
          </a:solidFill>
          <a:ln/>
          <a:effectLst>
            <a:outerShdw sx="100000" sy="100000" kx="0" ky="0" algn="bl" rotWithShape="0" blurRad="101600" dist="38100" dir="5400000">
              <a:srgbClr val="1A1A2E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13232" y="3364992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MyAccount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13232" y="3703320"/>
            <a:ext cx="2002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5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18,000 LOC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13232" y="4023360"/>
            <a:ext cx="2002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— team still forming judgment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880360" y="356616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45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3200400" y="3246120"/>
            <a:ext cx="2331720" cy="1600200"/>
          </a:xfrm>
          <a:prstGeom prst="roundRect">
            <a:avLst>
              <a:gd name="adj" fmla="val 4571"/>
            </a:avLst>
          </a:prstGeom>
          <a:solidFill>
            <a:srgbClr val="EEF1F8"/>
          </a:solidFill>
          <a:ln/>
          <a:effectLst>
            <a:outerShdw sx="100000" sy="100000" kx="0" ky="0" algn="bl" rotWithShape="0" blurRad="101600" dist="38100" dir="5400000">
              <a:srgbClr val="1A1A2E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364992" y="3364992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MyAccess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364992" y="3703320"/>
            <a:ext cx="2002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5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22,000 LOC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364992" y="4023360"/>
            <a:ext cx="2002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— confirm throughput holds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532120" y="356616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45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5852160" y="3246120"/>
            <a:ext cx="2331720" cy="1600200"/>
          </a:xfrm>
          <a:prstGeom prst="roundRect">
            <a:avLst>
              <a:gd name="adj" fmla="val 4571"/>
            </a:avLst>
          </a:prstGeom>
          <a:solidFill>
            <a:srgbClr val="EEF1F8"/>
          </a:solidFill>
          <a:ln/>
          <a:effectLst>
            <a:outerShdw sx="100000" sy="100000" kx="0" ky="0" algn="bl" rotWithShape="0" blurRad="101600" dist="38100" dir="5400000">
              <a:srgbClr val="1A1A2E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016752" y="3364992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API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016752" y="3703320"/>
            <a:ext cx="2002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5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57,000 LOC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016752" y="4023360"/>
            <a:ext cx="2002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— highest complexity &amp; integration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E4501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600200" y="457200"/>
            <a:ext cx="5760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 Automated Parity-Test Harness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7635240" y="502920"/>
            <a:ext cx="822960" cy="822960"/>
          </a:xfrm>
          <a:prstGeom prst="ellipse">
            <a:avLst/>
          </a:prstGeom>
          <a:solidFill>
            <a:srgbClr val="EEF1F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5669" y="733349"/>
            <a:ext cx="362102" cy="3621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6002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2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judgment-based review with characterization testing: same input → same output as the old .NET service = pass</a:t>
            </a:r>
            <a:endParaRPr lang="en-US" sz="15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2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real request/response pairs per module; weight denial and error cases as heavily as the happy path</a:t>
            </a:r>
            <a:endParaRPr lang="en-US" sz="15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2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it the actual merge gate — not a manually-ticked checklist item</a:t>
            </a:r>
            <a:endParaRPr lang="en-US" sz="15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2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AI-suggested test inputs are fine; AI-predicted expected outputs are not — always validate against the live old system</a:t>
            </a:r>
            <a:endParaRPr lang="en-US" sz="15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2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for existing OpenAPI specs before hand-building contract-level tests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E4501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600200" y="457200"/>
            <a:ext cx="5760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Over Module-by-Module with Shadow Traffic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7635240" y="502920"/>
            <a:ext cx="822960" cy="822960"/>
          </a:xfrm>
          <a:prstGeom prst="ellipse">
            <a:avLst/>
          </a:prstGeom>
          <a:solidFill>
            <a:srgbClr val="EEF1F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5669" y="733349"/>
            <a:ext cx="362102" cy="3621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554480"/>
            <a:ext cx="8046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2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run: old and new both process live traffic; only the old service serves users</a:t>
            </a:r>
            <a:endParaRPr lang="en-US" sz="15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2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over read/check calls before write calls within each module</a:t>
            </a:r>
            <a:endParaRPr lang="en-US" sz="15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2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instant rollback (flag or router switch) live for 2–4 weeks after each cutover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3246120"/>
            <a:ext cx="3794760" cy="1600200"/>
          </a:xfrm>
          <a:prstGeom prst="roundRect">
            <a:avLst>
              <a:gd name="adj" fmla="val 4571"/>
            </a:avLst>
          </a:prstGeom>
          <a:solidFill>
            <a:srgbClr val="FBE4D5"/>
          </a:solidFill>
          <a:ln/>
          <a:effectLst>
            <a:outerShdw sx="100000" sy="100000" kx="0" ky="0" algn="bl" rotWithShape="0" blurRad="101600" dist="38100" dir="5400000">
              <a:srgbClr val="1A1A2E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7240" y="340156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grant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77240" y="384048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allows what .NET denies — security incident. Hard-blocks cutover, regardless of overall mismatch rate.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800600" y="3246120"/>
            <a:ext cx="3794760" cy="1600200"/>
          </a:xfrm>
          <a:prstGeom prst="roundRect">
            <a:avLst>
              <a:gd name="adj" fmla="val 4571"/>
            </a:avLst>
          </a:prstGeom>
          <a:solidFill>
            <a:srgbClr val="EEF1F8"/>
          </a:solidFill>
          <a:ln/>
          <a:effectLst>
            <a:outerShdw sx="100000" sy="100000" kx="0" ky="0" algn="bl" rotWithShape="0" blurRad="101600" dist="38100" dir="5400000">
              <a:srgbClr val="1A1A2E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029200" y="340156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deny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5029200" y="384048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denies what .NET allows — a support ticket. Doesn't block cutover on its own.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E4501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600200" y="457200"/>
            <a:ext cx="5760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Decommission the Old Service, Per Module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7635240" y="502920"/>
            <a:ext cx="822960" cy="822960"/>
          </a:xfrm>
          <a:prstGeom prst="ellipse">
            <a:avLst/>
          </a:prstGeom>
          <a:solidFill>
            <a:srgbClr val="EEF1F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5669" y="733349"/>
            <a:ext cx="362102" cy="3621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6002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2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Burn in at 100% Python traffic for 2–4 weeks before decommissioning starts — cutover confidence ≠ decommission confidence</a:t>
            </a:r>
            <a:endParaRPr lang="en-US" sz="155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2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gateway/DNS logs for hidden dependents (batch jobs, reports, other services) before pulling anything down</a:t>
            </a:r>
            <a:endParaRPr lang="en-US" sz="155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2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Archive, don't delete — IAM data carries its own retention requirements</a:t>
            </a:r>
            <a:endParaRPr lang="en-US" sz="155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2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the loop: actual LOC/day vs. the ~135–155 target, actual spend vs. the token estimate, dual-run cost eliminated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20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Cycle, Repeated Per Module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lessons compound as the team scales into each larger module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68680" y="2857500"/>
            <a:ext cx="7406640" cy="0"/>
          </a:xfrm>
          <a:prstGeom prst="line">
            <a:avLst/>
          </a:prstGeom>
          <a:noFill/>
          <a:ln w="25400">
            <a:solidFill>
              <a:srgbClr val="3B4F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7220" y="2606040"/>
            <a:ext cx="502920" cy="502920"/>
          </a:xfrm>
          <a:prstGeom prst="ellipse">
            <a:avLst/>
          </a:prstGeom>
          <a:solidFill>
            <a:srgbClr val="E45011"/>
          </a:solidFill>
          <a:ln/>
        </p:spPr>
      </p:sp>
      <p:sp>
        <p:nvSpPr>
          <p:cNvPr id="6" name="Text 4"/>
          <p:cNvSpPr/>
          <p:nvPr/>
        </p:nvSpPr>
        <p:spPr>
          <a:xfrm>
            <a:off x="61722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32461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98548" y="2606040"/>
            <a:ext cx="502920" cy="502920"/>
          </a:xfrm>
          <a:prstGeom prst="ellipse">
            <a:avLst/>
          </a:prstGeom>
          <a:solidFill>
            <a:srgbClr val="E45011"/>
          </a:solidFill>
          <a:ln/>
        </p:spPr>
      </p:sp>
      <p:sp>
        <p:nvSpPr>
          <p:cNvPr id="9" name="Text 7"/>
          <p:cNvSpPr/>
          <p:nvPr/>
        </p:nvSpPr>
        <p:spPr>
          <a:xfrm>
            <a:off x="2098548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09928" y="32461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79876" y="2606040"/>
            <a:ext cx="502920" cy="502920"/>
          </a:xfrm>
          <a:prstGeom prst="ellipse">
            <a:avLst/>
          </a:prstGeom>
          <a:solidFill>
            <a:srgbClr val="E45011"/>
          </a:solidFill>
          <a:ln/>
        </p:spPr>
      </p:sp>
      <p:sp>
        <p:nvSpPr>
          <p:cNvPr id="12" name="Text 10"/>
          <p:cNvSpPr/>
          <p:nvPr/>
        </p:nvSpPr>
        <p:spPr>
          <a:xfrm>
            <a:off x="3579876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191256" y="32461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61204" y="2606040"/>
            <a:ext cx="502920" cy="502920"/>
          </a:xfrm>
          <a:prstGeom prst="ellipse">
            <a:avLst/>
          </a:prstGeom>
          <a:solidFill>
            <a:srgbClr val="E45011"/>
          </a:solidFill>
          <a:ln/>
        </p:spPr>
      </p:sp>
      <p:sp>
        <p:nvSpPr>
          <p:cNvPr id="15" name="Text 13"/>
          <p:cNvSpPr/>
          <p:nvPr/>
        </p:nvSpPr>
        <p:spPr>
          <a:xfrm>
            <a:off x="5061204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72584" y="32461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42532" y="2606040"/>
            <a:ext cx="502920" cy="502920"/>
          </a:xfrm>
          <a:prstGeom prst="ellipse">
            <a:avLst/>
          </a:prstGeom>
          <a:solidFill>
            <a:srgbClr val="E45011"/>
          </a:solidFill>
          <a:ln/>
        </p:spPr>
      </p:sp>
      <p:sp>
        <p:nvSpPr>
          <p:cNvPr id="18" name="Text 16"/>
          <p:cNvSpPr/>
          <p:nvPr/>
        </p:nvSpPr>
        <p:spPr>
          <a:xfrm>
            <a:off x="6542532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53912" y="32461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Cutover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23860" y="2606040"/>
            <a:ext cx="502920" cy="502920"/>
          </a:xfrm>
          <a:prstGeom prst="ellipse">
            <a:avLst/>
          </a:prstGeom>
          <a:solidFill>
            <a:srgbClr val="E45011"/>
          </a:solidFill>
          <a:ln/>
        </p:spPr>
      </p:sp>
      <p:sp>
        <p:nvSpPr>
          <p:cNvPr id="21" name="Text 19"/>
          <p:cNvSpPr/>
          <p:nvPr/>
        </p:nvSpPr>
        <p:spPr>
          <a:xfrm>
            <a:off x="802386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35240" y="32461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Decommission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45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pass gets faster — the playbook, the harness, and the throughput data all carry forward.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.NET to Python Migration Playbook</dc:title>
  <dc:subject>PptxGenJS Presentation</dc:subject>
  <dc:creator>Shk</dc:creator>
  <cp:lastModifiedBy>Shk</cp:lastModifiedBy>
  <cp:revision>1</cp:revision>
  <dcterms:created xsi:type="dcterms:W3CDTF">2026-07-07T11:38:09Z</dcterms:created>
  <dcterms:modified xsi:type="dcterms:W3CDTF">2026-07-07T11:38:09Z</dcterms:modified>
</cp:coreProperties>
</file>