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  <p:sldMasterId id="214748366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4097a5d30f7_0_519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g4097a5d30f7_0_519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55" name="Google Shape;55;g4097a5d30f7_0_519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4097a5d30f7_0_54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g4097a5d30f7_0_541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78" name="Google Shape;78;g4097a5d30f7_0_541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4097a5d30f7_0_758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9" name="Google Shape;169;g4097a5d30f7_0_758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4097a5d30f7_0_671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0" name="Google Shape;320;g4097a5d30f7_0_671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1" name="Google Shape;321;g4097a5d30f7_0_671:notes"/>
          <p:cNvSpPr txBox="1"/>
          <p:nvPr>
            <p:ph idx="12" type="sldNum"/>
          </p:nvPr>
        </p:nvSpPr>
        <p:spPr>
          <a:xfrm>
            <a:off x="3884613" y="6513910"/>
            <a:ext cx="29721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4097a5d30f7_0_730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90" name="Google Shape;390;g4097a5d30f7_0_730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4097c841502_0_0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9" name="Google Shape;419;g4097c841502_0_0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g4097c841502_0_0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4097a5d30f7_0_1069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5" name="Google Shape;445;g4097a5d30f7_0_1069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46" name="Google Shape;446;g4097a5d30f7_0_1069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E1F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/>
          <p:nvPr/>
        </p:nvSpPr>
        <p:spPr>
          <a:xfrm>
            <a:off x="5943600" y="-731520"/>
            <a:ext cx="4572000" cy="594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E3D"/>
              </a:buClr>
              <a:buSzPts val="42000"/>
              <a:buFont typeface="Calibri"/>
              <a:buNone/>
            </a:pPr>
            <a:r>
              <a:rPr b="1" i="0" lang="en" sz="42000" u="none" cap="none" strike="noStrike">
                <a:solidFill>
                  <a:srgbClr val="12183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4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5"/>
          <p:cNvSpPr/>
          <p:nvPr/>
        </p:nvSpPr>
        <p:spPr>
          <a:xfrm>
            <a:off x="0" y="0"/>
            <a:ext cx="54900" cy="5143500"/>
          </a:xfrm>
          <a:prstGeom prst="rect">
            <a:avLst/>
          </a:prstGeom>
          <a:solidFill>
            <a:srgbClr val="0052CC"/>
          </a:solidFill>
          <a:ln cap="flat" cmpd="sng" w="12700">
            <a:solidFill>
              <a:srgbClr val="0052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5"/>
          <p:cNvSpPr/>
          <p:nvPr/>
        </p:nvSpPr>
        <p:spPr>
          <a:xfrm>
            <a:off x="411480" y="320040"/>
            <a:ext cx="6400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608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AIRBUS  · IAM Convergence PROGRAMME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5"/>
          <p:cNvSpPr/>
          <p:nvPr/>
        </p:nvSpPr>
        <p:spPr>
          <a:xfrm>
            <a:off x="384048" y="658368"/>
            <a:ext cx="8229600" cy="132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800"/>
              <a:buFont typeface="Calibri"/>
              <a:buNone/>
            </a:pPr>
            <a:r>
              <a:rPr b="1" i="0" lang="en" sz="8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MyIAM</a:t>
            </a:r>
            <a:endParaRPr b="0" i="0" sz="8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5"/>
          <p:cNvSpPr/>
          <p:nvPr/>
        </p:nvSpPr>
        <p:spPr>
          <a:xfrm>
            <a:off x="411480" y="1938528"/>
            <a:ext cx="82296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BA8D4"/>
              </a:buClr>
              <a:buSzPts val="2800"/>
              <a:buFont typeface="Calibri"/>
              <a:buNone/>
            </a:pPr>
            <a:r>
              <a:rPr b="0" i="0" lang="en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Foundational Journey - Draft 2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15"/>
          <p:cNvSpPr/>
          <p:nvPr/>
        </p:nvSpPr>
        <p:spPr>
          <a:xfrm>
            <a:off x="411480" y="2633472"/>
            <a:ext cx="2011800" cy="32100"/>
          </a:xfrm>
          <a:prstGeom prst="rect">
            <a:avLst/>
          </a:prstGeom>
          <a:solidFill>
            <a:srgbClr val="0052CC"/>
          </a:solidFill>
          <a:ln cap="flat" cmpd="sng" w="12700">
            <a:solidFill>
              <a:srgbClr val="0052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5"/>
          <p:cNvSpPr/>
          <p:nvPr/>
        </p:nvSpPr>
        <p:spPr>
          <a:xfrm>
            <a:off x="411480" y="2761488"/>
            <a:ext cx="73152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6080"/>
              </a:buClr>
              <a:buSzPts val="1100"/>
              <a:buFont typeface="Calibri"/>
              <a:buNone/>
            </a:pPr>
            <a:r>
              <a:rPr lang="en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June </a:t>
            </a:r>
            <a:r>
              <a:rPr b="0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2026 – Apr 2028  ·  4 Phases 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5"/>
          <p:cNvSpPr/>
          <p:nvPr/>
        </p:nvSpPr>
        <p:spPr>
          <a:xfrm>
            <a:off x="411480" y="3383280"/>
            <a:ext cx="20118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4→1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/>
          <p:nvPr/>
        </p:nvSpPr>
        <p:spPr>
          <a:xfrm>
            <a:off x="411480" y="4041648"/>
            <a:ext cx="20118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60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IAM Self service  tools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5"/>
          <p:cNvSpPr/>
          <p:nvPr/>
        </p:nvSpPr>
        <p:spPr>
          <a:xfrm>
            <a:off x="2560320" y="3383280"/>
            <a:ext cx="20118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 Url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/>
          <p:nvPr/>
        </p:nvSpPr>
        <p:spPr>
          <a:xfrm>
            <a:off x="2560320" y="4041648"/>
            <a:ext cx="20118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60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One experience for ~100k Users 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/>
          <p:nvPr/>
        </p:nvSpPr>
        <p:spPr>
          <a:xfrm>
            <a:off x="4709160" y="3383280"/>
            <a:ext cx="20118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100%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15"/>
          <p:cNvSpPr/>
          <p:nvPr/>
        </p:nvSpPr>
        <p:spPr>
          <a:xfrm>
            <a:off x="4709160" y="4041648"/>
            <a:ext cx="20118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60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Modernized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5"/>
          <p:cNvSpPr/>
          <p:nvPr/>
        </p:nvSpPr>
        <p:spPr>
          <a:xfrm>
            <a:off x="6858000" y="4041648"/>
            <a:ext cx="20118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15"/>
          <p:cNvSpPr/>
          <p:nvPr/>
        </p:nvSpPr>
        <p:spPr>
          <a:xfrm>
            <a:off x="0" y="4882896"/>
            <a:ext cx="9144000" cy="260700"/>
          </a:xfrm>
          <a:prstGeom prst="rect">
            <a:avLst/>
          </a:prstGeom>
          <a:solidFill>
            <a:srgbClr val="030A14"/>
          </a:solidFill>
          <a:ln cap="flat" cmpd="sng" w="12700">
            <a:solidFill>
              <a:srgbClr val="030A1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5"/>
          <p:cNvSpPr/>
          <p:nvPr/>
        </p:nvSpPr>
        <p:spPr>
          <a:xfrm>
            <a:off x="411480" y="4892040"/>
            <a:ext cx="82296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A507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Airbus Commercial  ·  IIDIA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15"/>
          <p:cNvSpPr/>
          <p:nvPr/>
        </p:nvSpPr>
        <p:spPr>
          <a:xfrm>
            <a:off x="6479425" y="3386050"/>
            <a:ext cx="2264400" cy="640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Mobile App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5"/>
          <p:cNvSpPr/>
          <p:nvPr/>
        </p:nvSpPr>
        <p:spPr>
          <a:xfrm>
            <a:off x="6479424" y="4044419"/>
            <a:ext cx="2011800" cy="201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60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iOS+Android MyIAM App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C"/>
        </a:solid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/>
          <p:nvPr/>
        </p:nvSpPr>
        <p:spPr>
          <a:xfrm>
            <a:off x="0" y="0"/>
            <a:ext cx="9144000" cy="749700"/>
          </a:xfrm>
          <a:prstGeom prst="rect">
            <a:avLst/>
          </a:prstGeom>
          <a:solidFill>
            <a:srgbClr val="050E1F"/>
          </a:solidFill>
          <a:ln cap="flat" cmpd="sng" w="12700">
            <a:solidFill>
              <a:srgbClr val="050E1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6"/>
          <p:cNvSpPr/>
          <p:nvPr/>
        </p:nvSpPr>
        <p:spPr>
          <a:xfrm>
            <a:off x="384048" y="91440"/>
            <a:ext cx="54864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6080"/>
              </a:buClr>
              <a:buSzPts val="750"/>
              <a:buFont typeface="Calibri"/>
              <a:buNone/>
            </a:pPr>
            <a:r>
              <a:rPr b="0" i="0" lang="en" sz="750" u="none" cap="none" strike="noStrike">
                <a:solidFill>
                  <a:srgbClr val="4A6080"/>
                </a:solidFill>
                <a:latin typeface="Calibri"/>
                <a:ea typeface="Calibri"/>
                <a:cs typeface="Calibri"/>
                <a:sym typeface="Calibri"/>
              </a:rPr>
              <a:t>STRATEGIC PHASE VIEW  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6"/>
          <p:cNvSpPr/>
          <p:nvPr/>
        </p:nvSpPr>
        <p:spPr>
          <a:xfrm>
            <a:off x="384048" y="274320"/>
            <a:ext cx="68580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MyIAM Foundational Journey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6"/>
          <p:cNvSpPr/>
          <p:nvPr/>
        </p:nvSpPr>
        <p:spPr>
          <a:xfrm>
            <a:off x="7207135" y="274320"/>
            <a:ext cx="1828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6080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4A6080"/>
                </a:solidFill>
                <a:latin typeface="Calibri"/>
                <a:ea typeface="Calibri"/>
                <a:cs typeface="Calibri"/>
                <a:sym typeface="Calibri"/>
              </a:rPr>
              <a:t>May 2026 → Apr 2028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6"/>
          <p:cNvSpPr/>
          <p:nvPr/>
        </p:nvSpPr>
        <p:spPr>
          <a:xfrm>
            <a:off x="201168" y="822960"/>
            <a:ext cx="2148900" cy="164700"/>
          </a:xfrm>
          <a:prstGeom prst="rect">
            <a:avLst/>
          </a:prstGeom>
          <a:solidFill>
            <a:srgbClr val="00796B"/>
          </a:solidFill>
          <a:ln cap="flat" cmpd="sng" w="12700">
            <a:solidFill>
              <a:srgbClr val="0079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6"/>
          <p:cNvSpPr/>
          <p:nvPr/>
        </p:nvSpPr>
        <p:spPr>
          <a:xfrm>
            <a:off x="256032" y="822960"/>
            <a:ext cx="20757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i="0" lang="en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1  ·  MFE Consolidation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6"/>
          <p:cNvSpPr/>
          <p:nvPr/>
        </p:nvSpPr>
        <p:spPr>
          <a:xfrm>
            <a:off x="2395728" y="822960"/>
            <a:ext cx="2148900" cy="164700"/>
          </a:xfrm>
          <a:prstGeom prst="rect">
            <a:avLst/>
          </a:prstGeom>
          <a:solidFill>
            <a:srgbClr val="0052CC"/>
          </a:solidFill>
          <a:ln cap="flat" cmpd="sng" w="12700">
            <a:solidFill>
              <a:srgbClr val="0052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2450592" y="822960"/>
            <a:ext cx="20757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i="0" lang="en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2  ·  Core Backend &amp; Integration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6"/>
          <p:cNvSpPr/>
          <p:nvPr/>
        </p:nvSpPr>
        <p:spPr>
          <a:xfrm>
            <a:off x="4590300" y="822950"/>
            <a:ext cx="2084700" cy="164700"/>
          </a:xfrm>
          <a:prstGeom prst="rect">
            <a:avLst/>
          </a:prstGeom>
          <a:solidFill>
            <a:srgbClr val="E65100"/>
          </a:solidFill>
          <a:ln cap="flat" cmpd="sng" w="12700">
            <a:solidFill>
              <a:srgbClr val="E651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6"/>
          <p:cNvSpPr/>
          <p:nvPr/>
        </p:nvSpPr>
        <p:spPr>
          <a:xfrm>
            <a:off x="4645150" y="822950"/>
            <a:ext cx="20301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i="0" lang="en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3  ·  </a:t>
            </a:r>
            <a:r>
              <a:rPr b="1" lang="en" sz="7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MyX </a:t>
            </a:r>
            <a:r>
              <a:rPr b="1" i="0" lang="en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APIs </a:t>
            </a:r>
            <a:r>
              <a:rPr b="1" lang="en" sz="7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+ DevOps + </a:t>
            </a:r>
            <a:r>
              <a:rPr b="1" lang="en" sz="75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Security 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6"/>
          <p:cNvSpPr/>
          <p:nvPr/>
        </p:nvSpPr>
        <p:spPr>
          <a:xfrm>
            <a:off x="6784848" y="822960"/>
            <a:ext cx="2148900" cy="164700"/>
          </a:xfrm>
          <a:prstGeom prst="rect">
            <a:avLst/>
          </a:prstGeom>
          <a:solidFill>
            <a:srgbClr val="888888"/>
          </a:solidFill>
          <a:ln cap="flat" cmpd="sng" w="12700">
            <a:solidFill>
              <a:srgbClr val="4527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6"/>
          <p:cNvSpPr/>
          <p:nvPr/>
        </p:nvSpPr>
        <p:spPr>
          <a:xfrm>
            <a:off x="6839700" y="786249"/>
            <a:ext cx="2075700" cy="2013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i="0" lang="en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4  ·  Mobile Platform + Passport Decom </a:t>
            </a:r>
            <a:endParaRPr b="1" i="0" sz="75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lang="en" sz="75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SCOPE TBD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6"/>
          <p:cNvSpPr/>
          <p:nvPr/>
        </p:nvSpPr>
        <p:spPr>
          <a:xfrm>
            <a:off x="201168" y="813816"/>
            <a:ext cx="22800" cy="183000"/>
          </a:xfrm>
          <a:prstGeom prst="rect">
            <a:avLst/>
          </a:prstGeom>
          <a:solidFill>
            <a:srgbClr val="334466"/>
          </a:solidFill>
          <a:ln cap="flat" cmpd="sng" w="12700">
            <a:solidFill>
              <a:srgbClr val="3344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6"/>
          <p:cNvSpPr/>
          <p:nvPr/>
        </p:nvSpPr>
        <p:spPr>
          <a:xfrm>
            <a:off x="-54864" y="585216"/>
            <a:ext cx="6585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07080"/>
              </a:buClr>
              <a:buSzPts val="700"/>
              <a:buFont typeface="Calibri"/>
              <a:buNone/>
            </a:pPr>
            <a:r>
              <a:rPr b="0" i="0" lang="en" sz="700" u="none" cap="none" strike="noStrike">
                <a:solidFill>
                  <a:srgbClr val="607080"/>
                </a:solidFill>
                <a:latin typeface="Calibri"/>
                <a:ea typeface="Calibri"/>
                <a:cs typeface="Calibri"/>
                <a:sym typeface="Calibri"/>
              </a:rPr>
              <a:t>May 2026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2350008" y="813816"/>
            <a:ext cx="22800" cy="183000"/>
          </a:xfrm>
          <a:prstGeom prst="rect">
            <a:avLst/>
          </a:prstGeom>
          <a:solidFill>
            <a:srgbClr val="334466"/>
          </a:solidFill>
          <a:ln cap="flat" cmpd="sng" w="12700">
            <a:solidFill>
              <a:srgbClr val="3344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6"/>
          <p:cNvSpPr/>
          <p:nvPr/>
        </p:nvSpPr>
        <p:spPr>
          <a:xfrm>
            <a:off x="2093976" y="585216"/>
            <a:ext cx="6585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07080"/>
              </a:buClr>
              <a:buSzPts val="700"/>
              <a:buFont typeface="Calibri"/>
              <a:buNone/>
            </a:pPr>
            <a:r>
              <a:rPr lang="en" sz="700">
                <a:solidFill>
                  <a:srgbClr val="607080"/>
                </a:solidFill>
                <a:latin typeface="Calibri"/>
                <a:ea typeface="Calibri"/>
                <a:cs typeface="Calibri"/>
                <a:sym typeface="Calibri"/>
              </a:rPr>
              <a:t>March </a:t>
            </a:r>
            <a:r>
              <a:rPr b="0" i="0" lang="en" sz="700" u="none" cap="none" strike="noStrike">
                <a:solidFill>
                  <a:srgbClr val="607080"/>
                </a:solidFill>
                <a:latin typeface="Calibri"/>
                <a:ea typeface="Calibri"/>
                <a:cs typeface="Calibri"/>
                <a:sym typeface="Calibri"/>
              </a:rPr>
              <a:t>2026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6"/>
          <p:cNvSpPr/>
          <p:nvPr/>
        </p:nvSpPr>
        <p:spPr>
          <a:xfrm>
            <a:off x="4498848" y="813816"/>
            <a:ext cx="22800" cy="183000"/>
          </a:xfrm>
          <a:prstGeom prst="rect">
            <a:avLst/>
          </a:prstGeom>
          <a:solidFill>
            <a:srgbClr val="334466"/>
          </a:solidFill>
          <a:ln cap="flat" cmpd="sng" w="12700">
            <a:solidFill>
              <a:srgbClr val="3344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6"/>
          <p:cNvSpPr/>
          <p:nvPr/>
        </p:nvSpPr>
        <p:spPr>
          <a:xfrm>
            <a:off x="4242816" y="585216"/>
            <a:ext cx="6585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07080"/>
              </a:buClr>
              <a:buSzPts val="700"/>
              <a:buFont typeface="Calibri"/>
              <a:buNone/>
            </a:pPr>
            <a:r>
              <a:rPr lang="en" sz="700">
                <a:solidFill>
                  <a:srgbClr val="607080"/>
                </a:solidFill>
                <a:latin typeface="Calibri"/>
                <a:ea typeface="Calibri"/>
                <a:cs typeface="Calibri"/>
                <a:sym typeface="Calibri"/>
              </a:rPr>
              <a:t>Oct </a:t>
            </a:r>
            <a:r>
              <a:rPr b="0" i="0" lang="en" sz="700" u="none" cap="none" strike="noStrike">
                <a:solidFill>
                  <a:srgbClr val="607080"/>
                </a:solidFill>
                <a:latin typeface="Calibri"/>
                <a:ea typeface="Calibri"/>
                <a:cs typeface="Calibri"/>
                <a:sym typeface="Calibri"/>
              </a:rPr>
              <a:t>2027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6"/>
          <p:cNvSpPr/>
          <p:nvPr/>
        </p:nvSpPr>
        <p:spPr>
          <a:xfrm>
            <a:off x="6647688" y="813816"/>
            <a:ext cx="22800" cy="183000"/>
          </a:xfrm>
          <a:prstGeom prst="rect">
            <a:avLst/>
          </a:prstGeom>
          <a:solidFill>
            <a:srgbClr val="334466"/>
          </a:solidFill>
          <a:ln cap="flat" cmpd="sng" w="12700">
            <a:solidFill>
              <a:srgbClr val="3344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6"/>
          <p:cNvSpPr/>
          <p:nvPr/>
        </p:nvSpPr>
        <p:spPr>
          <a:xfrm>
            <a:off x="6391656" y="585216"/>
            <a:ext cx="6585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07080"/>
              </a:buClr>
              <a:buSzPts val="700"/>
              <a:buFont typeface="Calibri"/>
              <a:buNone/>
            </a:pPr>
            <a:r>
              <a:rPr lang="en" sz="700">
                <a:solidFill>
                  <a:srgbClr val="607080"/>
                </a:solidFill>
                <a:latin typeface="Calibri"/>
                <a:ea typeface="Calibri"/>
                <a:cs typeface="Calibri"/>
                <a:sym typeface="Calibri"/>
              </a:rPr>
              <a:t>April </a:t>
            </a:r>
            <a:r>
              <a:rPr b="0" i="0" lang="en" sz="700" u="none" cap="none" strike="noStrike">
                <a:solidFill>
                  <a:srgbClr val="607080"/>
                </a:solidFill>
                <a:latin typeface="Calibri"/>
                <a:ea typeface="Calibri"/>
                <a:cs typeface="Calibri"/>
                <a:sym typeface="Calibri"/>
              </a:rPr>
              <a:t>202</a:t>
            </a:r>
            <a:r>
              <a:rPr lang="en" sz="700">
                <a:solidFill>
                  <a:srgbClr val="607080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6"/>
          <p:cNvSpPr/>
          <p:nvPr/>
        </p:nvSpPr>
        <p:spPr>
          <a:xfrm>
            <a:off x="8873401" y="813816"/>
            <a:ext cx="22800" cy="183000"/>
          </a:xfrm>
          <a:prstGeom prst="rect">
            <a:avLst/>
          </a:prstGeom>
          <a:solidFill>
            <a:srgbClr val="334466"/>
          </a:solidFill>
          <a:ln cap="flat" cmpd="sng" w="12700">
            <a:solidFill>
              <a:srgbClr val="33446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6"/>
          <p:cNvSpPr/>
          <p:nvPr/>
        </p:nvSpPr>
        <p:spPr>
          <a:xfrm>
            <a:off x="201168" y="1060704"/>
            <a:ext cx="2084700" cy="382230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00796B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000000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292608" y="1133856"/>
            <a:ext cx="5028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96B"/>
              </a:buClr>
              <a:buSzPts val="3400"/>
              <a:buFont typeface="Calibri"/>
              <a:buNone/>
            </a:pPr>
            <a:r>
              <a:rPr b="1" i="0" lang="en" sz="3400" u="none" cap="none" strike="noStrike">
                <a:solidFill>
                  <a:srgbClr val="00796B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6"/>
          <p:cNvSpPr/>
          <p:nvPr/>
        </p:nvSpPr>
        <p:spPr>
          <a:xfrm>
            <a:off x="822960" y="1188720"/>
            <a:ext cx="13533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96B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00796B"/>
                </a:solidFill>
                <a:latin typeface="Calibri"/>
                <a:ea typeface="Calibri"/>
                <a:cs typeface="Calibri"/>
                <a:sym typeface="Calibri"/>
              </a:rPr>
              <a:t>MFE CONSOLIDATION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6"/>
          <p:cNvSpPr/>
          <p:nvPr/>
        </p:nvSpPr>
        <p:spPr>
          <a:xfrm>
            <a:off x="292608" y="1627632"/>
            <a:ext cx="1902000" cy="16500"/>
          </a:xfrm>
          <a:prstGeom prst="rect">
            <a:avLst/>
          </a:prstGeom>
          <a:solidFill>
            <a:srgbClr val="D0D8E8"/>
          </a:solidFill>
          <a:ln cap="flat" cmpd="sng" w="127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6"/>
          <p:cNvSpPr/>
          <p:nvPr/>
        </p:nvSpPr>
        <p:spPr>
          <a:xfrm>
            <a:off x="292608" y="1700784"/>
            <a:ext cx="19020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A4A"/>
              </a:buClr>
              <a:buSzPts val="1300"/>
              <a:buFont typeface="Calibri"/>
              <a:buNone/>
            </a:pPr>
            <a:r>
              <a:rPr b="1" i="0" lang="en" sz="1100" u="none" cap="none" strike="noStrike">
                <a:solidFill>
                  <a:srgbClr val="1A2A4A"/>
                </a:solidFill>
                <a:latin typeface="Calibri"/>
                <a:ea typeface="Calibri"/>
                <a:cs typeface="Calibri"/>
                <a:sym typeface="Calibri"/>
              </a:rPr>
              <a:t>Unified Cockpit Live </a:t>
            </a:r>
            <a:r>
              <a:rPr b="1" lang="en" sz="1100">
                <a:solidFill>
                  <a:srgbClr val="1A2A4A"/>
                </a:solidFill>
                <a:latin typeface="Calibri"/>
                <a:ea typeface="Calibri"/>
                <a:cs typeface="Calibri"/>
                <a:sym typeface="Calibri"/>
              </a:rPr>
              <a:t>March 2027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6"/>
          <p:cNvSpPr/>
          <p:nvPr/>
        </p:nvSpPr>
        <p:spPr>
          <a:xfrm>
            <a:off x="292608" y="2066544"/>
            <a:ext cx="190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07080"/>
              </a:buClr>
              <a:buSzPts val="900"/>
              <a:buFont typeface="Calibri"/>
              <a:buNone/>
            </a:pPr>
            <a:r>
              <a:t/>
            </a:r>
            <a:endParaRPr i="1" sz="800">
              <a:solidFill>
                <a:srgbClr val="60708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07080"/>
              </a:buClr>
              <a:buSzPts val="900"/>
              <a:buFont typeface="Calibri"/>
              <a:buNone/>
            </a:pPr>
            <a:r>
              <a:rPr i="1" lang="en" sz="800">
                <a:solidFill>
                  <a:srgbClr val="607080"/>
                </a:solidFill>
                <a:latin typeface="Calibri"/>
                <a:ea typeface="Calibri"/>
                <a:cs typeface="Calibri"/>
                <a:sym typeface="Calibri"/>
              </a:rPr>
              <a:t>Release 1: MyAccess UI Convergence (technical merge) </a:t>
            </a:r>
            <a:endParaRPr i="1" sz="800">
              <a:solidFill>
                <a:srgbClr val="60708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07080"/>
              </a:buClr>
              <a:buSzPts val="900"/>
              <a:buFont typeface="Calibri"/>
              <a:buNone/>
            </a:pPr>
            <a:r>
              <a:rPr i="1" lang="en" sz="800">
                <a:solidFill>
                  <a:srgbClr val="607080"/>
                </a:solidFill>
                <a:latin typeface="Calibri"/>
                <a:ea typeface="Calibri"/>
                <a:cs typeface="Calibri"/>
                <a:sym typeface="Calibri"/>
              </a:rPr>
              <a:t>· Release 2: MFE Shell (refined UX) · April 2028</a:t>
            </a:r>
            <a:endParaRPr i="1" sz="800">
              <a:solidFill>
                <a:srgbClr val="60708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07080"/>
              </a:buClr>
              <a:buSzPts val="900"/>
              <a:buFont typeface="Calibri"/>
              <a:buNone/>
            </a:pPr>
            <a:r>
              <a:t/>
            </a:r>
            <a:endParaRPr i="1" sz="800">
              <a:solidFill>
                <a:srgbClr val="6070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6"/>
          <p:cNvSpPr/>
          <p:nvPr/>
        </p:nvSpPr>
        <p:spPr>
          <a:xfrm>
            <a:off x="292608" y="2569464"/>
            <a:ext cx="19020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96B"/>
              </a:buClr>
              <a:buSzPts val="650"/>
              <a:buFont typeface="Calibri"/>
              <a:buNone/>
            </a:pPr>
            <a:r>
              <a:rPr b="1" i="0" lang="en" sz="650" u="none" cap="none" strike="noStrike">
                <a:solidFill>
                  <a:srgbClr val="00796B"/>
                </a:solidFill>
                <a:latin typeface="Calibri"/>
                <a:ea typeface="Calibri"/>
                <a:cs typeface="Calibri"/>
                <a:sym typeface="Calibri"/>
              </a:rPr>
              <a:t>KEY METRICS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6"/>
          <p:cNvSpPr/>
          <p:nvPr/>
        </p:nvSpPr>
        <p:spPr>
          <a:xfrm>
            <a:off x="292608" y="2734056"/>
            <a:ext cx="164700" cy="16500"/>
          </a:xfrm>
          <a:prstGeom prst="rect">
            <a:avLst/>
          </a:prstGeom>
          <a:solidFill>
            <a:srgbClr val="00796B"/>
          </a:solidFill>
          <a:ln cap="flat" cmpd="sng" w="12700">
            <a:solidFill>
              <a:srgbClr val="0079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6"/>
          <p:cNvSpPr/>
          <p:nvPr/>
        </p:nvSpPr>
        <p:spPr>
          <a:xfrm>
            <a:off x="292608" y="2779776"/>
            <a:ext cx="19020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A4A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A2A4A"/>
                </a:solidFill>
                <a:latin typeface="Calibri"/>
                <a:ea typeface="Calibri"/>
                <a:cs typeface="Calibri"/>
                <a:sym typeface="Calibri"/>
              </a:rPr>
              <a:t>- One identity experience for 1</a:t>
            </a:r>
            <a:r>
              <a:rPr lang="en" sz="800">
                <a:solidFill>
                  <a:srgbClr val="1A2A4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b="0" i="0" lang="en" sz="800" u="none" cap="none" strike="noStrike">
                <a:solidFill>
                  <a:srgbClr val="1A2A4A"/>
                </a:solidFill>
                <a:latin typeface="Calibri"/>
                <a:ea typeface="Calibri"/>
                <a:cs typeface="Calibri"/>
                <a:sym typeface="Calibri"/>
              </a:rPr>
              <a:t>0K+ Airbus users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6"/>
          <p:cNvSpPr/>
          <p:nvPr/>
        </p:nvSpPr>
        <p:spPr>
          <a:xfrm>
            <a:off x="292608" y="2999232"/>
            <a:ext cx="19020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A4A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A2A4A"/>
                </a:solidFill>
                <a:latin typeface="Calibri"/>
                <a:ea typeface="Calibri"/>
                <a:cs typeface="Calibri"/>
                <a:sym typeface="Calibri"/>
              </a:rPr>
              <a:t>-  4 </a:t>
            </a:r>
            <a:r>
              <a:rPr lang="en" sz="800">
                <a:solidFill>
                  <a:srgbClr val="1A2A4A"/>
                </a:solidFill>
                <a:latin typeface="Calibri"/>
                <a:ea typeface="Calibri"/>
                <a:cs typeface="Calibri"/>
                <a:sym typeface="Calibri"/>
              </a:rPr>
              <a:t>applications </a:t>
            </a:r>
            <a:r>
              <a:rPr b="0" i="0" lang="en" sz="800" u="none" cap="none" strike="noStrike">
                <a:solidFill>
                  <a:srgbClr val="1A2A4A"/>
                </a:solidFill>
                <a:latin typeface="Calibri"/>
                <a:ea typeface="Calibri"/>
                <a:cs typeface="Calibri"/>
                <a:sym typeface="Calibri"/>
              </a:rPr>
              <a:t>converged into 1 unified platform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6"/>
          <p:cNvSpPr/>
          <p:nvPr/>
        </p:nvSpPr>
        <p:spPr>
          <a:xfrm>
            <a:off x="292608" y="3465576"/>
            <a:ext cx="1902000" cy="16500"/>
          </a:xfrm>
          <a:prstGeom prst="rect">
            <a:avLst/>
          </a:prstGeom>
          <a:solidFill>
            <a:srgbClr val="D0D8E8"/>
          </a:solidFill>
          <a:ln cap="flat" cmpd="sng" w="127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16"/>
          <p:cNvSpPr/>
          <p:nvPr/>
        </p:nvSpPr>
        <p:spPr>
          <a:xfrm>
            <a:off x="292608" y="3511296"/>
            <a:ext cx="19020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07080"/>
              </a:buClr>
              <a:buSzPts val="650"/>
              <a:buFont typeface="Calibri"/>
              <a:buNone/>
            </a:pPr>
            <a:r>
              <a:rPr b="1" i="0" lang="en" sz="650" u="none" cap="none" strike="noStrike">
                <a:solidFill>
                  <a:srgbClr val="607080"/>
                </a:solidFill>
                <a:latin typeface="Calibri"/>
                <a:ea typeface="Calibri"/>
                <a:cs typeface="Calibri"/>
                <a:sym typeface="Calibri"/>
              </a:rPr>
              <a:t>PROGRAMME DELIVERS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6"/>
          <p:cNvSpPr/>
          <p:nvPr/>
        </p:nvSpPr>
        <p:spPr>
          <a:xfrm>
            <a:off x="292608" y="3694176"/>
            <a:ext cx="19020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07080"/>
              </a:buClr>
              <a:buSzPts val="750"/>
              <a:buFont typeface="Calibri"/>
              <a:buNone/>
            </a:pPr>
            <a:r>
              <a:rPr b="0" i="0" lang="en" sz="750" u="none" cap="none" strike="noStrike">
                <a:solidFill>
                  <a:srgbClr val="607080"/>
                </a:solidFill>
                <a:latin typeface="Calibri"/>
                <a:ea typeface="Calibri"/>
                <a:cs typeface="Calibri"/>
                <a:sym typeface="Calibri"/>
              </a:rPr>
              <a:t>MFE Shell ·  Kendo · 4 MFE Modules · Legacy UIs Retired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6"/>
          <p:cNvSpPr/>
          <p:nvPr/>
        </p:nvSpPr>
        <p:spPr>
          <a:xfrm>
            <a:off x="201168" y="4425696"/>
            <a:ext cx="2084700" cy="457200"/>
          </a:xfrm>
          <a:prstGeom prst="rect">
            <a:avLst/>
          </a:prstGeom>
          <a:solidFill>
            <a:srgbClr val="00796B"/>
          </a:solidFill>
          <a:ln cap="flat" cmpd="sng" w="12700">
            <a:solidFill>
              <a:srgbClr val="00796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16"/>
          <p:cNvSpPr/>
          <p:nvPr/>
        </p:nvSpPr>
        <p:spPr>
          <a:xfrm>
            <a:off x="292608" y="4443984"/>
            <a:ext cx="19476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⬥  G1: Unified cockpit live · 1</a:t>
            </a:r>
            <a:r>
              <a:rPr b="1" lang="en" sz="7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b="1" i="0" lang="en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0K+ users onboarded · Adoption ≥80%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2395728" y="1060704"/>
            <a:ext cx="2084700" cy="382230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0052CC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000000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16"/>
          <p:cNvSpPr/>
          <p:nvPr/>
        </p:nvSpPr>
        <p:spPr>
          <a:xfrm>
            <a:off x="2487168" y="1133856"/>
            <a:ext cx="5028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52CC"/>
              </a:buClr>
              <a:buSzPts val="3400"/>
              <a:buFont typeface="Calibri"/>
              <a:buNone/>
            </a:pPr>
            <a:r>
              <a:rPr b="1" i="0" lang="en" sz="3400" u="none" cap="none" strike="noStrike">
                <a:solidFill>
                  <a:srgbClr val="0052CC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3017520" y="1188720"/>
            <a:ext cx="13533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52CC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0052CC"/>
                </a:solidFill>
                <a:latin typeface="Calibri"/>
                <a:ea typeface="Calibri"/>
                <a:cs typeface="Calibri"/>
                <a:sym typeface="Calibri"/>
              </a:rPr>
              <a:t>CORE BACKEND &amp; INTEGRATION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/>
          <p:nvPr/>
        </p:nvSpPr>
        <p:spPr>
          <a:xfrm>
            <a:off x="2487168" y="1627632"/>
            <a:ext cx="1902000" cy="16500"/>
          </a:xfrm>
          <a:prstGeom prst="rect">
            <a:avLst/>
          </a:prstGeom>
          <a:solidFill>
            <a:srgbClr val="D0D8E8"/>
          </a:solidFill>
          <a:ln cap="flat" cmpd="sng" w="127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16"/>
          <p:cNvSpPr/>
          <p:nvPr/>
        </p:nvSpPr>
        <p:spPr>
          <a:xfrm>
            <a:off x="2487168" y="1700784"/>
            <a:ext cx="19020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A4A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1A2A4A"/>
                </a:solidFill>
                <a:latin typeface="Calibri"/>
                <a:ea typeface="Calibri"/>
                <a:cs typeface="Calibri"/>
                <a:sym typeface="Calibri"/>
              </a:rPr>
              <a:t>Secure Foundation Live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6"/>
          <p:cNvSpPr/>
          <p:nvPr/>
        </p:nvSpPr>
        <p:spPr>
          <a:xfrm>
            <a:off x="2487168" y="2066544"/>
            <a:ext cx="190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07080"/>
              </a:buClr>
              <a:buSzPts val="900"/>
              <a:buFont typeface="Calibri"/>
              <a:buNone/>
            </a:pPr>
            <a:r>
              <a:rPr b="0" i="1" lang="en" sz="900" u="none" cap="none" strike="noStrike">
                <a:solidFill>
                  <a:srgbClr val="607080"/>
                </a:solidFill>
                <a:latin typeface="Calibri"/>
                <a:ea typeface="Calibri"/>
                <a:cs typeface="Calibri"/>
                <a:sym typeface="Calibri"/>
              </a:rPr>
              <a:t>Secure data foundation - one pipeline in, one authorised write path out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6"/>
          <p:cNvSpPr/>
          <p:nvPr/>
        </p:nvSpPr>
        <p:spPr>
          <a:xfrm>
            <a:off x="2487168" y="2569464"/>
            <a:ext cx="19020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52CC"/>
              </a:buClr>
              <a:buSzPts val="650"/>
              <a:buFont typeface="Calibri"/>
              <a:buNone/>
            </a:pPr>
            <a:r>
              <a:rPr b="1" i="0" lang="en" sz="650" u="none" cap="none" strike="noStrike">
                <a:solidFill>
                  <a:srgbClr val="0052CC"/>
                </a:solidFill>
                <a:latin typeface="Calibri"/>
                <a:ea typeface="Calibri"/>
                <a:cs typeface="Calibri"/>
                <a:sym typeface="Calibri"/>
              </a:rPr>
              <a:t>KEY METRICS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2487168" y="2734056"/>
            <a:ext cx="164700" cy="16500"/>
          </a:xfrm>
          <a:prstGeom prst="rect">
            <a:avLst/>
          </a:prstGeom>
          <a:solidFill>
            <a:srgbClr val="0052CC"/>
          </a:solidFill>
          <a:ln cap="flat" cmpd="sng" w="12700">
            <a:solidFill>
              <a:srgbClr val="0052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6"/>
          <p:cNvSpPr/>
          <p:nvPr/>
        </p:nvSpPr>
        <p:spPr>
          <a:xfrm>
            <a:off x="2487168" y="2779776"/>
            <a:ext cx="19020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A4A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A2A4A"/>
                </a:solidFill>
                <a:latin typeface="Calibri"/>
                <a:ea typeface="Calibri"/>
                <a:cs typeface="Calibri"/>
                <a:sym typeface="Calibri"/>
              </a:rPr>
              <a:t>-  Single authorised write path to Active Directory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6"/>
          <p:cNvSpPr/>
          <p:nvPr/>
        </p:nvSpPr>
        <p:spPr>
          <a:xfrm>
            <a:off x="2487168" y="2999232"/>
            <a:ext cx="19020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A4A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A2A4A"/>
                </a:solidFill>
                <a:latin typeface="Calibri"/>
                <a:ea typeface="Calibri"/>
                <a:cs typeface="Calibri"/>
                <a:sym typeface="Calibri"/>
              </a:rPr>
              <a:t>- All IAM 	sources unified into one secure data layer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6"/>
          <p:cNvSpPr/>
          <p:nvPr/>
        </p:nvSpPr>
        <p:spPr>
          <a:xfrm>
            <a:off x="2487168" y="3218688"/>
            <a:ext cx="19020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A4A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A2A4A"/>
                </a:solidFill>
                <a:latin typeface="Calibri"/>
                <a:ea typeface="Calibri"/>
                <a:cs typeface="Calibri"/>
                <a:sym typeface="Calibri"/>
              </a:rPr>
              <a:t>-  Full auditability enforced from day one · Zero data loss validated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6"/>
          <p:cNvSpPr/>
          <p:nvPr/>
        </p:nvSpPr>
        <p:spPr>
          <a:xfrm>
            <a:off x="2487168" y="3465576"/>
            <a:ext cx="1902000" cy="16500"/>
          </a:xfrm>
          <a:prstGeom prst="rect">
            <a:avLst/>
          </a:prstGeom>
          <a:solidFill>
            <a:srgbClr val="D0D8E8"/>
          </a:solidFill>
          <a:ln cap="flat" cmpd="sng" w="127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6"/>
          <p:cNvSpPr/>
          <p:nvPr/>
        </p:nvSpPr>
        <p:spPr>
          <a:xfrm>
            <a:off x="2487168" y="3511296"/>
            <a:ext cx="19020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07080"/>
              </a:buClr>
              <a:buSzPts val="650"/>
              <a:buFont typeface="Calibri"/>
              <a:buNone/>
            </a:pPr>
            <a:r>
              <a:rPr b="1" i="0" lang="en" sz="650" u="none" cap="none" strike="noStrike">
                <a:solidFill>
                  <a:srgbClr val="607080"/>
                </a:solidFill>
                <a:latin typeface="Calibri"/>
                <a:ea typeface="Calibri"/>
                <a:cs typeface="Calibri"/>
                <a:sym typeface="Calibri"/>
              </a:rPr>
              <a:t>PROGRAMME DELIVERS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6"/>
          <p:cNvSpPr/>
          <p:nvPr/>
        </p:nvSpPr>
        <p:spPr>
          <a:xfrm>
            <a:off x="2487168" y="3694176"/>
            <a:ext cx="19020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07080"/>
              </a:buClr>
              <a:buSzPts val="750"/>
              <a:buFont typeface="Calibri"/>
              <a:buNone/>
            </a:pPr>
            <a:r>
              <a:rPr b="0" i="0" lang="en" sz="750" u="none" cap="none" strike="noStrike">
                <a:solidFill>
                  <a:srgbClr val="607080"/>
                </a:solidFill>
                <a:latin typeface="Calibri"/>
                <a:ea typeface="Calibri"/>
                <a:cs typeface="Calibri"/>
                <a:sym typeface="Calibri"/>
              </a:rPr>
              <a:t>Apache NiFi · MyX DB Cluster · Core API · Schema Unification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6"/>
          <p:cNvSpPr/>
          <p:nvPr/>
        </p:nvSpPr>
        <p:spPr>
          <a:xfrm>
            <a:off x="2395728" y="4425696"/>
            <a:ext cx="2084700" cy="457200"/>
          </a:xfrm>
          <a:prstGeom prst="rect">
            <a:avLst/>
          </a:prstGeom>
          <a:solidFill>
            <a:srgbClr val="0052CC"/>
          </a:solidFill>
          <a:ln cap="flat" cmpd="sng" w="12700">
            <a:solidFill>
              <a:srgbClr val="0052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6"/>
          <p:cNvSpPr/>
          <p:nvPr/>
        </p:nvSpPr>
        <p:spPr>
          <a:xfrm>
            <a:off x="2487168" y="4443984"/>
            <a:ext cx="19476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⬥  G2: Secure foundation live · Single write path validated · Zero data loss confirmed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6"/>
          <p:cNvSpPr/>
          <p:nvPr/>
        </p:nvSpPr>
        <p:spPr>
          <a:xfrm>
            <a:off x="4590288" y="1060704"/>
            <a:ext cx="2084700" cy="3822300"/>
          </a:xfrm>
          <a:prstGeom prst="rect">
            <a:avLst/>
          </a:prstGeom>
          <a:solidFill>
            <a:srgbClr val="FFFFFF"/>
          </a:solidFill>
          <a:ln cap="flat" cmpd="sng" w="15225">
            <a:solidFill>
              <a:srgbClr val="E6510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000000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6"/>
          <p:cNvSpPr/>
          <p:nvPr/>
        </p:nvSpPr>
        <p:spPr>
          <a:xfrm>
            <a:off x="4681728" y="1133856"/>
            <a:ext cx="5028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5100"/>
              </a:buClr>
              <a:buSzPts val="3400"/>
              <a:buFont typeface="Calibri"/>
              <a:buNone/>
            </a:pPr>
            <a:r>
              <a:rPr b="1" i="0" lang="en" sz="3400" u="none" cap="none" strike="noStrike">
                <a:solidFill>
                  <a:srgbClr val="E65100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6"/>
          <p:cNvSpPr/>
          <p:nvPr/>
        </p:nvSpPr>
        <p:spPr>
          <a:xfrm>
            <a:off x="5212080" y="1188720"/>
            <a:ext cx="13533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5100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E65100"/>
                </a:solidFill>
                <a:latin typeface="Calibri"/>
                <a:ea typeface="Calibri"/>
                <a:cs typeface="Calibri"/>
                <a:sym typeface="Calibri"/>
              </a:rPr>
              <a:t>DOMAIN APIS + ZERO TRUST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6"/>
          <p:cNvSpPr/>
          <p:nvPr/>
        </p:nvSpPr>
        <p:spPr>
          <a:xfrm>
            <a:off x="4681728" y="1627632"/>
            <a:ext cx="1902000" cy="16500"/>
          </a:xfrm>
          <a:prstGeom prst="rect">
            <a:avLst/>
          </a:prstGeom>
          <a:solidFill>
            <a:srgbClr val="D0D8E8"/>
          </a:solidFill>
          <a:ln cap="flat" cmpd="sng" w="127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6"/>
          <p:cNvSpPr/>
          <p:nvPr/>
        </p:nvSpPr>
        <p:spPr>
          <a:xfrm>
            <a:off x="4681728" y="1700784"/>
            <a:ext cx="19020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A4A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1A2A4A"/>
                </a:solidFill>
                <a:latin typeface="Calibri"/>
                <a:ea typeface="Calibri"/>
                <a:cs typeface="Calibri"/>
                <a:sym typeface="Calibri"/>
              </a:rPr>
              <a:t>Platform Backbone Live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6"/>
          <p:cNvSpPr/>
          <p:nvPr/>
        </p:nvSpPr>
        <p:spPr>
          <a:xfrm>
            <a:off x="4681728" y="2066544"/>
            <a:ext cx="190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07080"/>
              </a:buClr>
              <a:buSzPts val="900"/>
              <a:buFont typeface="Calibri"/>
              <a:buNone/>
            </a:pPr>
            <a:r>
              <a:rPr b="0" i="1" lang="en" sz="900" u="none" cap="none" strike="noStrike">
                <a:solidFill>
                  <a:srgbClr val="607080"/>
                </a:solidFill>
                <a:latin typeface="Calibri"/>
                <a:ea typeface="Calibri"/>
                <a:cs typeface="Calibri"/>
                <a:sym typeface="Calibri"/>
              </a:rPr>
              <a:t>Platform backbone live - scalable, resilient, Zero Trust enforced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6"/>
          <p:cNvSpPr/>
          <p:nvPr/>
        </p:nvSpPr>
        <p:spPr>
          <a:xfrm>
            <a:off x="4681728" y="2466594"/>
            <a:ext cx="19020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65100"/>
              </a:buClr>
              <a:buSzPts val="650"/>
              <a:buFont typeface="Calibri"/>
              <a:buNone/>
            </a:pPr>
            <a:r>
              <a:rPr b="1" i="0" lang="en" sz="650" u="none" cap="none" strike="noStrike">
                <a:solidFill>
                  <a:srgbClr val="E65100"/>
                </a:solidFill>
                <a:latin typeface="Calibri"/>
                <a:ea typeface="Calibri"/>
                <a:cs typeface="Calibri"/>
                <a:sym typeface="Calibri"/>
              </a:rPr>
              <a:t>KEY METRICS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6"/>
          <p:cNvSpPr/>
          <p:nvPr/>
        </p:nvSpPr>
        <p:spPr>
          <a:xfrm>
            <a:off x="4681728" y="2640538"/>
            <a:ext cx="164700" cy="16500"/>
          </a:xfrm>
          <a:prstGeom prst="rect">
            <a:avLst/>
          </a:prstGeom>
          <a:solidFill>
            <a:srgbClr val="E65100"/>
          </a:solidFill>
          <a:ln cap="flat" cmpd="sng" w="12700">
            <a:solidFill>
              <a:srgbClr val="E651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16"/>
          <p:cNvSpPr/>
          <p:nvPr/>
        </p:nvSpPr>
        <p:spPr>
          <a:xfrm>
            <a:off x="4681728" y="2952473"/>
            <a:ext cx="19020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A4A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A2A4A"/>
                </a:solidFill>
                <a:latin typeface="Calibri"/>
                <a:ea typeface="Calibri"/>
                <a:cs typeface="Calibri"/>
                <a:sym typeface="Calibri"/>
              </a:rPr>
              <a:t>-  Legacy systems fully marked for  decommissioned ·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6"/>
          <p:cNvSpPr/>
          <p:nvPr/>
        </p:nvSpPr>
        <p:spPr>
          <a:xfrm>
            <a:off x="4681728" y="3218688"/>
            <a:ext cx="19020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A4A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A2A4A"/>
                </a:solidFill>
                <a:latin typeface="Calibri"/>
                <a:ea typeface="Calibri"/>
                <a:cs typeface="Calibri"/>
                <a:sym typeface="Calibri"/>
              </a:rPr>
              <a:t>- Security posture elevated , Zero Trust enforced across all IAM self ser operations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6"/>
          <p:cNvSpPr/>
          <p:nvPr/>
        </p:nvSpPr>
        <p:spPr>
          <a:xfrm>
            <a:off x="4681728" y="3465576"/>
            <a:ext cx="1902000" cy="16500"/>
          </a:xfrm>
          <a:prstGeom prst="rect">
            <a:avLst/>
          </a:prstGeom>
          <a:solidFill>
            <a:srgbClr val="D0D8E8"/>
          </a:solidFill>
          <a:ln cap="flat" cmpd="sng" w="127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16"/>
          <p:cNvSpPr/>
          <p:nvPr/>
        </p:nvSpPr>
        <p:spPr>
          <a:xfrm>
            <a:off x="4681728" y="3511296"/>
            <a:ext cx="19020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07080"/>
              </a:buClr>
              <a:buSzPts val="650"/>
              <a:buFont typeface="Calibri"/>
              <a:buNone/>
            </a:pPr>
            <a:r>
              <a:rPr b="1" i="0" lang="en" sz="650" u="none" cap="none" strike="noStrike">
                <a:solidFill>
                  <a:srgbClr val="607080"/>
                </a:solidFill>
                <a:latin typeface="Calibri"/>
                <a:ea typeface="Calibri"/>
                <a:cs typeface="Calibri"/>
                <a:sym typeface="Calibri"/>
              </a:rPr>
              <a:t>PROGRAMME DELIVERS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6"/>
          <p:cNvSpPr/>
          <p:nvPr/>
        </p:nvSpPr>
        <p:spPr>
          <a:xfrm>
            <a:off x="4681728" y="3694176"/>
            <a:ext cx="19020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07080"/>
              </a:buClr>
              <a:buSzPts val="750"/>
              <a:buFont typeface="Calibri"/>
              <a:buNone/>
            </a:pPr>
            <a:r>
              <a:rPr b="0" i="0" lang="en" sz="750" u="none" cap="none" strike="noStrike">
                <a:solidFill>
                  <a:srgbClr val="607080"/>
                </a:solidFill>
                <a:latin typeface="Calibri"/>
                <a:ea typeface="Calibri"/>
                <a:cs typeface="Calibri"/>
                <a:sym typeface="Calibri"/>
              </a:rPr>
              <a:t>API Gateway · 4 Module APIs · Business Logic Migrated · APIs marked for retirement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6"/>
          <p:cNvSpPr/>
          <p:nvPr/>
        </p:nvSpPr>
        <p:spPr>
          <a:xfrm>
            <a:off x="4590288" y="4425696"/>
            <a:ext cx="2084700" cy="457200"/>
          </a:xfrm>
          <a:prstGeom prst="rect">
            <a:avLst/>
          </a:prstGeom>
          <a:solidFill>
            <a:srgbClr val="E65100"/>
          </a:solidFill>
          <a:ln cap="flat" cmpd="sng" w="12700">
            <a:solidFill>
              <a:srgbClr val="E651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6"/>
          <p:cNvSpPr/>
          <p:nvPr/>
        </p:nvSpPr>
        <p:spPr>
          <a:xfrm>
            <a:off x="4681728" y="4443984"/>
            <a:ext cx="1947600" cy="42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⬥  G3: Platform backbone live · Ready for Legacy decommissioned · Zero Trust enforced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6"/>
          <p:cNvSpPr/>
          <p:nvPr/>
        </p:nvSpPr>
        <p:spPr>
          <a:xfrm>
            <a:off x="6784848" y="1060704"/>
            <a:ext cx="2084700" cy="3822300"/>
          </a:xfrm>
          <a:prstGeom prst="rect">
            <a:avLst/>
          </a:prstGeom>
          <a:solidFill>
            <a:schemeClr val="lt2"/>
          </a:solidFill>
          <a:ln cap="flat" cmpd="sng" w="152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8100000" dist="38100">
              <a:srgbClr val="000000">
                <a:alpha val="102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16"/>
          <p:cNvSpPr/>
          <p:nvPr/>
        </p:nvSpPr>
        <p:spPr>
          <a:xfrm>
            <a:off x="6876288" y="1133856"/>
            <a:ext cx="5028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27A0"/>
              </a:buClr>
              <a:buSzPts val="3400"/>
              <a:buFont typeface="Calibri"/>
              <a:buNone/>
            </a:pPr>
            <a:r>
              <a:rPr b="1" i="0" lang="en" sz="34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3400" u="none" cap="none" strike="noStrik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6"/>
          <p:cNvSpPr/>
          <p:nvPr/>
        </p:nvSpPr>
        <p:spPr>
          <a:xfrm>
            <a:off x="7406640" y="1188720"/>
            <a:ext cx="13533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27A0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MOBILE PLATFORM + PASSPORT DECOM</a:t>
            </a:r>
            <a:endParaRPr b="0" i="0" sz="700" u="none" cap="none" strike="noStrik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6"/>
          <p:cNvSpPr/>
          <p:nvPr/>
        </p:nvSpPr>
        <p:spPr>
          <a:xfrm>
            <a:off x="6876288" y="1627632"/>
            <a:ext cx="1902000" cy="16500"/>
          </a:xfrm>
          <a:prstGeom prst="rect">
            <a:avLst/>
          </a:prstGeom>
          <a:solidFill>
            <a:srgbClr val="D0D8E8"/>
          </a:solidFill>
          <a:ln cap="flat" cmpd="sng" w="127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6"/>
          <p:cNvSpPr/>
          <p:nvPr/>
        </p:nvSpPr>
        <p:spPr>
          <a:xfrm>
            <a:off x="6876288" y="1700784"/>
            <a:ext cx="19020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A4A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MyIAM Mobile Platform</a:t>
            </a:r>
            <a:endParaRPr b="0" i="0" sz="1300" u="none" cap="none" strike="noStrik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6"/>
          <p:cNvSpPr/>
          <p:nvPr/>
        </p:nvSpPr>
        <p:spPr>
          <a:xfrm>
            <a:off x="6876288" y="2066544"/>
            <a:ext cx="190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07080"/>
              </a:buClr>
              <a:buSzPts val="900"/>
              <a:buFont typeface="Calibri"/>
              <a:buNone/>
            </a:pPr>
            <a:r>
              <a:rPr b="0" i="1" lang="en" sz="900" u="none" cap="none" strike="noStrike">
                <a:solidFill>
                  <a:srgbClr val="607080"/>
                </a:solidFill>
                <a:latin typeface="Calibri"/>
                <a:ea typeface="Calibri"/>
                <a:cs typeface="Calibri"/>
                <a:sym typeface="Calibri"/>
              </a:rPr>
              <a:t>One MyIAM platform across all channels · Web · Mobile · Airbus Passport decommissioned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6"/>
          <p:cNvSpPr/>
          <p:nvPr/>
        </p:nvSpPr>
        <p:spPr>
          <a:xfrm>
            <a:off x="6876288" y="2569464"/>
            <a:ext cx="19020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27A0"/>
              </a:buClr>
              <a:buSzPts val="650"/>
              <a:buFont typeface="Calibri"/>
              <a:buNone/>
            </a:pPr>
            <a:r>
              <a:rPr b="1" i="0" lang="en" sz="65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KEY METRICS</a:t>
            </a:r>
            <a:endParaRPr b="0" i="0" sz="650" u="none" cap="none" strike="noStrik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6"/>
          <p:cNvSpPr/>
          <p:nvPr/>
        </p:nvSpPr>
        <p:spPr>
          <a:xfrm>
            <a:off x="6876288" y="2734056"/>
            <a:ext cx="164700" cy="16500"/>
          </a:xfrm>
          <a:prstGeom prst="rect">
            <a:avLst/>
          </a:prstGeom>
          <a:solidFill>
            <a:srgbClr val="4527A0"/>
          </a:solidFill>
          <a:ln cap="flat" cmpd="sng" w="12700">
            <a:solidFill>
              <a:srgbClr val="4527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6"/>
          <p:cNvSpPr/>
          <p:nvPr/>
        </p:nvSpPr>
        <p:spPr>
          <a:xfrm>
            <a:off x="6876288" y="2779776"/>
            <a:ext cx="19020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A4A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A2A4A"/>
                </a:solidFill>
                <a:latin typeface="Calibri"/>
                <a:ea typeface="Calibri"/>
                <a:cs typeface="Calibri"/>
                <a:sym typeface="Calibri"/>
              </a:rPr>
              <a:t>-  MyIAM accessible on iOS and Android , full self-service on mobile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6"/>
          <p:cNvSpPr/>
          <p:nvPr/>
        </p:nvSpPr>
        <p:spPr>
          <a:xfrm>
            <a:off x="6876288" y="2999232"/>
            <a:ext cx="19020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A4A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A2A4A"/>
                </a:solidFill>
                <a:latin typeface="Calibri"/>
                <a:ea typeface="Calibri"/>
                <a:cs typeface="Calibri"/>
                <a:sym typeface="Calibri"/>
              </a:rPr>
              <a:t>-  Airbus Passport functionality absorbed into MyIAM cockpit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6"/>
          <p:cNvSpPr/>
          <p:nvPr/>
        </p:nvSpPr>
        <p:spPr>
          <a:xfrm>
            <a:off x="6876288" y="3218688"/>
            <a:ext cx="19020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A4A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A2A4A"/>
                </a:solidFill>
                <a:latin typeface="Calibri"/>
                <a:ea typeface="Calibri"/>
                <a:cs typeface="Calibri"/>
                <a:sym typeface="Calibri"/>
              </a:rPr>
              <a:t>-  Airbus Passport formally marked for decommission at Gate 4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6"/>
          <p:cNvSpPr/>
          <p:nvPr/>
        </p:nvSpPr>
        <p:spPr>
          <a:xfrm>
            <a:off x="6876288" y="3465576"/>
            <a:ext cx="1902000" cy="16500"/>
          </a:xfrm>
          <a:prstGeom prst="rect">
            <a:avLst/>
          </a:prstGeom>
          <a:solidFill>
            <a:srgbClr val="D0D8E8"/>
          </a:solidFill>
          <a:ln cap="flat" cmpd="sng" w="12700">
            <a:solidFill>
              <a:srgbClr val="D0D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16"/>
          <p:cNvSpPr/>
          <p:nvPr/>
        </p:nvSpPr>
        <p:spPr>
          <a:xfrm>
            <a:off x="6876288" y="3511296"/>
            <a:ext cx="19020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07080"/>
              </a:buClr>
              <a:buSzPts val="650"/>
              <a:buFont typeface="Calibri"/>
              <a:buNone/>
            </a:pPr>
            <a:r>
              <a:rPr b="1" i="0" lang="en" sz="650" u="none" cap="none" strike="noStrike">
                <a:solidFill>
                  <a:srgbClr val="607080"/>
                </a:solidFill>
                <a:latin typeface="Calibri"/>
                <a:ea typeface="Calibri"/>
                <a:cs typeface="Calibri"/>
                <a:sym typeface="Calibri"/>
              </a:rPr>
              <a:t>PROGRAMME DELIVERS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6"/>
          <p:cNvSpPr/>
          <p:nvPr/>
        </p:nvSpPr>
        <p:spPr>
          <a:xfrm>
            <a:off x="6876288" y="3694176"/>
            <a:ext cx="1902000" cy="40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07080"/>
              </a:buClr>
              <a:buSzPts val="750"/>
              <a:buFont typeface="Calibri"/>
              <a:buNone/>
            </a:pPr>
            <a:r>
              <a:rPr b="0" i="0" lang="en" sz="750" u="none" cap="none" strike="noStrike">
                <a:solidFill>
                  <a:srgbClr val="607080"/>
                </a:solidFill>
                <a:latin typeface="Calibri"/>
                <a:ea typeface="Calibri"/>
                <a:cs typeface="Calibri"/>
                <a:sym typeface="Calibri"/>
              </a:rPr>
              <a:t>iOS + Android - MyIAM Mob EIS  · Airbus Passport Decom starts 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6"/>
          <p:cNvSpPr/>
          <p:nvPr/>
        </p:nvSpPr>
        <p:spPr>
          <a:xfrm>
            <a:off x="6784848" y="4425696"/>
            <a:ext cx="2084700" cy="457200"/>
          </a:xfrm>
          <a:prstGeom prst="rect">
            <a:avLst/>
          </a:prstGeom>
          <a:solidFill>
            <a:srgbClr val="888888"/>
          </a:solidFill>
          <a:ln cap="flat" cmpd="sng" w="12700">
            <a:solidFill>
              <a:srgbClr val="4527A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6"/>
          <p:cNvSpPr/>
          <p:nvPr/>
        </p:nvSpPr>
        <p:spPr>
          <a:xfrm>
            <a:off x="6876288" y="4443984"/>
            <a:ext cx="1947600" cy="4206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⬥  G4: MyIAM Mobile live · Airbus Passport marked for decom 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6"/>
          <p:cNvSpPr/>
          <p:nvPr/>
        </p:nvSpPr>
        <p:spPr>
          <a:xfrm>
            <a:off x="201168" y="4965192"/>
            <a:ext cx="64008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07080"/>
              </a:buClr>
              <a:buSzPts val="750"/>
              <a:buFont typeface="Calibri"/>
              <a:buNone/>
            </a:pPr>
            <a:r>
              <a:rPr b="0" i="1" lang="en" sz="750" u="none" cap="none" strike="noStrike">
                <a:solidFill>
                  <a:srgbClr val="607080"/>
                </a:solidFill>
                <a:latin typeface="Calibri"/>
                <a:ea typeface="Calibri"/>
                <a:cs typeface="Calibri"/>
                <a:sym typeface="Calibri"/>
              </a:rPr>
              <a:t>⬥  </a:t>
            </a:r>
            <a:r>
              <a:rPr i="1" lang="en" sz="750">
                <a:solidFill>
                  <a:srgbClr val="607080"/>
                </a:solidFill>
                <a:latin typeface="Calibri"/>
                <a:ea typeface="Calibri"/>
                <a:cs typeface="Calibri"/>
                <a:sym typeface="Calibri"/>
              </a:rPr>
              <a:t>Out of scope  -1.  IAM Copilot  2. Decommission of MyX Applications planning  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6"/>
          <p:cNvSpPr/>
          <p:nvPr/>
        </p:nvSpPr>
        <p:spPr>
          <a:xfrm>
            <a:off x="4681728" y="2676906"/>
            <a:ext cx="19020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2A4A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1A2A4A"/>
                </a:solidFill>
                <a:latin typeface="Calibri"/>
                <a:ea typeface="Calibri"/>
                <a:cs typeface="Calibri"/>
                <a:sym typeface="Calibri"/>
              </a:rPr>
              <a:t>-  Resilient microservice architecture , no single point of failure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6"/>
          <p:cNvSpPr/>
          <p:nvPr/>
        </p:nvSpPr>
        <p:spPr>
          <a:xfrm>
            <a:off x="6784848" y="3435132"/>
            <a:ext cx="2359200" cy="457200"/>
          </a:xfrm>
          <a:prstGeom prst="rect">
            <a:avLst/>
          </a:prstGeom>
          <a:solidFill>
            <a:srgbClr val="DDDDDD"/>
          </a:solidFill>
          <a:ln cap="flat" cmpd="sng" w="19050">
            <a:solidFill>
              <a:srgbClr val="AAAAAA"/>
            </a:solidFill>
            <a:prstDash val="lg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SCOPE TBD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None/>
            </a:pPr>
            <a:r>
              <a:rPr b="0" i="1" lang="en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Pending G</a:t>
            </a:r>
            <a:r>
              <a:rPr i="1" lang="en" sz="7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66" name="Google Shape;166;p16"/>
          <p:cNvSpPr/>
          <p:nvPr/>
        </p:nvSpPr>
        <p:spPr>
          <a:xfrm>
            <a:off x="6720775" y="1099375"/>
            <a:ext cx="2148900" cy="3440700"/>
          </a:xfrm>
          <a:prstGeom prst="rect">
            <a:avLst/>
          </a:prstGeom>
          <a:solidFill>
            <a:srgbClr val="F5F5F5">
              <a:alpha val="20000"/>
            </a:srgbClr>
          </a:solidFill>
          <a:ln cap="flat" cmpd="sng" w="22850">
            <a:solidFill>
              <a:srgbClr val="AAAAAA"/>
            </a:solidFill>
            <a:prstDash val="lgDash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4F7FC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7"/>
          <p:cNvSpPr/>
          <p:nvPr/>
        </p:nvSpPr>
        <p:spPr>
          <a:xfrm>
            <a:off x="2176272" y="457200"/>
            <a:ext cx="6912900" cy="723000"/>
          </a:xfrm>
          <a:prstGeom prst="rect">
            <a:avLst/>
          </a:prstGeom>
          <a:solidFill>
            <a:srgbClr val="ECF0F7"/>
          </a:solidFill>
          <a:ln cap="flat" cmpd="sng" w="9525">
            <a:solidFill>
              <a:srgbClr val="D8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17"/>
          <p:cNvSpPr/>
          <p:nvPr/>
        </p:nvSpPr>
        <p:spPr>
          <a:xfrm>
            <a:off x="2176272" y="1209599"/>
            <a:ext cx="6912900" cy="723000"/>
          </a:xfrm>
          <a:prstGeom prst="rect">
            <a:avLst/>
          </a:prstGeom>
          <a:solidFill>
            <a:srgbClr val="F4F7FC"/>
          </a:solidFill>
          <a:ln cap="flat" cmpd="sng" w="9525">
            <a:solidFill>
              <a:srgbClr val="D8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7"/>
          <p:cNvSpPr/>
          <p:nvPr/>
        </p:nvSpPr>
        <p:spPr>
          <a:xfrm>
            <a:off x="2176272" y="1961998"/>
            <a:ext cx="6912900" cy="723000"/>
          </a:xfrm>
          <a:prstGeom prst="rect">
            <a:avLst/>
          </a:prstGeom>
          <a:solidFill>
            <a:srgbClr val="ECF0F7"/>
          </a:solidFill>
          <a:ln cap="flat" cmpd="sng" w="9525">
            <a:solidFill>
              <a:srgbClr val="D8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17"/>
          <p:cNvSpPr/>
          <p:nvPr/>
        </p:nvSpPr>
        <p:spPr>
          <a:xfrm>
            <a:off x="2176272" y="2714396"/>
            <a:ext cx="6912900" cy="723000"/>
          </a:xfrm>
          <a:prstGeom prst="rect">
            <a:avLst/>
          </a:prstGeom>
          <a:solidFill>
            <a:srgbClr val="F4F7FC"/>
          </a:solidFill>
          <a:ln cap="flat" cmpd="sng" w="9525">
            <a:solidFill>
              <a:srgbClr val="D8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17"/>
          <p:cNvSpPr/>
          <p:nvPr/>
        </p:nvSpPr>
        <p:spPr>
          <a:xfrm>
            <a:off x="2176272" y="3466795"/>
            <a:ext cx="6912900" cy="723000"/>
          </a:xfrm>
          <a:prstGeom prst="rect">
            <a:avLst/>
          </a:prstGeom>
          <a:solidFill>
            <a:srgbClr val="ECF0F7"/>
          </a:solidFill>
          <a:ln cap="flat" cmpd="sng" w="9525">
            <a:solidFill>
              <a:srgbClr val="D8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7"/>
          <p:cNvSpPr/>
          <p:nvPr/>
        </p:nvSpPr>
        <p:spPr>
          <a:xfrm>
            <a:off x="2176272" y="4219194"/>
            <a:ext cx="6912900" cy="723000"/>
          </a:xfrm>
          <a:prstGeom prst="rect">
            <a:avLst/>
          </a:prstGeom>
          <a:solidFill>
            <a:srgbClr val="F4F7FC"/>
          </a:solidFill>
          <a:ln cap="flat" cmpd="sng" w="9525">
            <a:solidFill>
              <a:srgbClr val="D8E0E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7"/>
          <p:cNvSpPr/>
          <p:nvPr/>
        </p:nvSpPr>
        <p:spPr>
          <a:xfrm>
            <a:off x="2176272" y="0"/>
            <a:ext cx="2592300" cy="201300"/>
          </a:xfrm>
          <a:prstGeom prst="rect">
            <a:avLst/>
          </a:prstGeom>
          <a:solidFill>
            <a:srgbClr val="1A2A4A"/>
          </a:solidFill>
          <a:ln cap="flat" cmpd="sng" w="9525">
            <a:solidFill>
              <a:srgbClr val="2A3F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17"/>
          <p:cNvSpPr/>
          <p:nvPr/>
        </p:nvSpPr>
        <p:spPr>
          <a:xfrm>
            <a:off x="2176272" y="0"/>
            <a:ext cx="25923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7"/>
          <p:cNvSpPr/>
          <p:nvPr/>
        </p:nvSpPr>
        <p:spPr>
          <a:xfrm>
            <a:off x="4768596" y="0"/>
            <a:ext cx="3456300" cy="201300"/>
          </a:xfrm>
          <a:prstGeom prst="rect">
            <a:avLst/>
          </a:prstGeom>
          <a:solidFill>
            <a:srgbClr val="1A2A4A"/>
          </a:solidFill>
          <a:ln cap="flat" cmpd="sng" w="9525">
            <a:solidFill>
              <a:srgbClr val="2A3F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17"/>
          <p:cNvSpPr/>
          <p:nvPr/>
        </p:nvSpPr>
        <p:spPr>
          <a:xfrm>
            <a:off x="4768596" y="0"/>
            <a:ext cx="34563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2027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7"/>
          <p:cNvSpPr/>
          <p:nvPr/>
        </p:nvSpPr>
        <p:spPr>
          <a:xfrm>
            <a:off x="8225028" y="0"/>
            <a:ext cx="864000" cy="201300"/>
          </a:xfrm>
          <a:prstGeom prst="rect">
            <a:avLst/>
          </a:prstGeom>
          <a:solidFill>
            <a:srgbClr val="1A2A4A"/>
          </a:solidFill>
          <a:ln cap="flat" cmpd="sng" w="9525">
            <a:solidFill>
              <a:srgbClr val="2A3F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7"/>
          <p:cNvSpPr/>
          <p:nvPr/>
        </p:nvSpPr>
        <p:spPr>
          <a:xfrm>
            <a:off x="8225028" y="0"/>
            <a:ext cx="8640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2028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7"/>
          <p:cNvSpPr/>
          <p:nvPr/>
        </p:nvSpPr>
        <p:spPr>
          <a:xfrm>
            <a:off x="2176272" y="201168"/>
            <a:ext cx="864000" cy="255900"/>
          </a:xfrm>
          <a:prstGeom prst="rect">
            <a:avLst/>
          </a:prstGeom>
          <a:solidFill>
            <a:srgbClr val="1E3055"/>
          </a:solidFill>
          <a:ln cap="flat" cmpd="sng" w="9525">
            <a:solidFill>
              <a:srgbClr val="2A3F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7"/>
          <p:cNvSpPr/>
          <p:nvPr/>
        </p:nvSpPr>
        <p:spPr>
          <a:xfrm>
            <a:off x="2176272" y="201168"/>
            <a:ext cx="8640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Q2 2026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7"/>
          <p:cNvSpPr/>
          <p:nvPr/>
        </p:nvSpPr>
        <p:spPr>
          <a:xfrm>
            <a:off x="2176272" y="329184"/>
            <a:ext cx="864000" cy="11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AAC8"/>
              </a:buClr>
              <a:buSzPts val="550"/>
              <a:buFont typeface="Calibri"/>
              <a:buNone/>
            </a:pPr>
            <a:r>
              <a:rPr b="0" i="0" lang="en" sz="550" u="none" cap="none" strike="noStrike">
                <a:solidFill>
                  <a:srgbClr val="8AAAC8"/>
                </a:solidFill>
                <a:latin typeface="Calibri"/>
                <a:ea typeface="Calibri"/>
                <a:cs typeface="Calibri"/>
                <a:sym typeface="Calibri"/>
              </a:rPr>
              <a:t>May–Jul</a:t>
            </a:r>
            <a:endParaRPr b="0" i="0" sz="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7"/>
          <p:cNvSpPr/>
          <p:nvPr/>
        </p:nvSpPr>
        <p:spPr>
          <a:xfrm>
            <a:off x="3040380" y="201168"/>
            <a:ext cx="864000" cy="255900"/>
          </a:xfrm>
          <a:prstGeom prst="rect">
            <a:avLst/>
          </a:prstGeom>
          <a:solidFill>
            <a:srgbClr val="253760"/>
          </a:solidFill>
          <a:ln cap="flat" cmpd="sng" w="9525">
            <a:solidFill>
              <a:srgbClr val="2A3F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7"/>
          <p:cNvSpPr/>
          <p:nvPr/>
        </p:nvSpPr>
        <p:spPr>
          <a:xfrm>
            <a:off x="3040380" y="201168"/>
            <a:ext cx="8640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Q3 2026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7"/>
          <p:cNvSpPr/>
          <p:nvPr/>
        </p:nvSpPr>
        <p:spPr>
          <a:xfrm>
            <a:off x="3040380" y="329184"/>
            <a:ext cx="864000" cy="11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AAC8"/>
              </a:buClr>
              <a:buSzPts val="550"/>
              <a:buFont typeface="Calibri"/>
              <a:buNone/>
            </a:pPr>
            <a:r>
              <a:rPr b="0" i="0" lang="en" sz="550" u="none" cap="none" strike="noStrike">
                <a:solidFill>
                  <a:srgbClr val="8AAAC8"/>
                </a:solidFill>
                <a:latin typeface="Calibri"/>
                <a:ea typeface="Calibri"/>
                <a:cs typeface="Calibri"/>
                <a:sym typeface="Calibri"/>
              </a:rPr>
              <a:t>Aug–Oct</a:t>
            </a:r>
            <a:endParaRPr b="0" i="0" sz="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7"/>
          <p:cNvSpPr/>
          <p:nvPr/>
        </p:nvSpPr>
        <p:spPr>
          <a:xfrm>
            <a:off x="3904488" y="201168"/>
            <a:ext cx="864000" cy="255900"/>
          </a:xfrm>
          <a:prstGeom prst="rect">
            <a:avLst/>
          </a:prstGeom>
          <a:solidFill>
            <a:srgbClr val="1E3055"/>
          </a:solidFill>
          <a:ln cap="flat" cmpd="sng" w="9525">
            <a:solidFill>
              <a:srgbClr val="2A3F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7"/>
          <p:cNvSpPr/>
          <p:nvPr/>
        </p:nvSpPr>
        <p:spPr>
          <a:xfrm>
            <a:off x="3904488" y="201168"/>
            <a:ext cx="8640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Q4 2026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7"/>
          <p:cNvSpPr/>
          <p:nvPr/>
        </p:nvSpPr>
        <p:spPr>
          <a:xfrm>
            <a:off x="3904488" y="329184"/>
            <a:ext cx="864000" cy="11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AAC8"/>
              </a:buClr>
              <a:buSzPts val="550"/>
              <a:buFont typeface="Calibri"/>
              <a:buNone/>
            </a:pPr>
            <a:r>
              <a:rPr b="0" i="0" lang="en" sz="550" u="none" cap="none" strike="noStrike">
                <a:solidFill>
                  <a:srgbClr val="8AAAC8"/>
                </a:solidFill>
                <a:latin typeface="Calibri"/>
                <a:ea typeface="Calibri"/>
                <a:cs typeface="Calibri"/>
                <a:sym typeface="Calibri"/>
              </a:rPr>
              <a:t>Nov–Jan</a:t>
            </a:r>
            <a:endParaRPr b="0" i="0" sz="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7"/>
          <p:cNvSpPr/>
          <p:nvPr/>
        </p:nvSpPr>
        <p:spPr>
          <a:xfrm>
            <a:off x="4768596" y="201168"/>
            <a:ext cx="864000" cy="255900"/>
          </a:xfrm>
          <a:prstGeom prst="rect">
            <a:avLst/>
          </a:prstGeom>
          <a:solidFill>
            <a:srgbClr val="253760"/>
          </a:solidFill>
          <a:ln cap="flat" cmpd="sng" w="9525">
            <a:solidFill>
              <a:srgbClr val="2A3F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7"/>
          <p:cNvSpPr/>
          <p:nvPr/>
        </p:nvSpPr>
        <p:spPr>
          <a:xfrm>
            <a:off x="4768596" y="201168"/>
            <a:ext cx="8640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Q1 2027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7"/>
          <p:cNvSpPr/>
          <p:nvPr/>
        </p:nvSpPr>
        <p:spPr>
          <a:xfrm>
            <a:off x="4768596" y="329184"/>
            <a:ext cx="864000" cy="11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AAC8"/>
              </a:buClr>
              <a:buSzPts val="550"/>
              <a:buFont typeface="Calibri"/>
              <a:buNone/>
            </a:pPr>
            <a:r>
              <a:rPr b="0" i="0" lang="en" sz="550" u="none" cap="none" strike="noStrike">
                <a:solidFill>
                  <a:srgbClr val="8AAAC8"/>
                </a:solidFill>
                <a:latin typeface="Calibri"/>
                <a:ea typeface="Calibri"/>
                <a:cs typeface="Calibri"/>
                <a:sym typeface="Calibri"/>
              </a:rPr>
              <a:t>Feb–Apr</a:t>
            </a:r>
            <a:endParaRPr b="0" i="0" sz="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7"/>
          <p:cNvSpPr/>
          <p:nvPr/>
        </p:nvSpPr>
        <p:spPr>
          <a:xfrm>
            <a:off x="5632704" y="201168"/>
            <a:ext cx="864000" cy="255900"/>
          </a:xfrm>
          <a:prstGeom prst="rect">
            <a:avLst/>
          </a:prstGeom>
          <a:solidFill>
            <a:srgbClr val="1E3055"/>
          </a:solidFill>
          <a:ln cap="flat" cmpd="sng" w="9525">
            <a:solidFill>
              <a:srgbClr val="2A3F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7"/>
          <p:cNvSpPr/>
          <p:nvPr/>
        </p:nvSpPr>
        <p:spPr>
          <a:xfrm>
            <a:off x="5632704" y="201168"/>
            <a:ext cx="8640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Q2 2027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7"/>
          <p:cNvSpPr/>
          <p:nvPr/>
        </p:nvSpPr>
        <p:spPr>
          <a:xfrm>
            <a:off x="5632704" y="329184"/>
            <a:ext cx="864000" cy="11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AAC8"/>
              </a:buClr>
              <a:buSzPts val="550"/>
              <a:buFont typeface="Calibri"/>
              <a:buNone/>
            </a:pPr>
            <a:r>
              <a:rPr b="0" i="0" lang="en" sz="550" u="none" cap="none" strike="noStrike">
                <a:solidFill>
                  <a:srgbClr val="8AAAC8"/>
                </a:solidFill>
                <a:latin typeface="Calibri"/>
                <a:ea typeface="Calibri"/>
                <a:cs typeface="Calibri"/>
                <a:sym typeface="Calibri"/>
              </a:rPr>
              <a:t>May–Jul</a:t>
            </a:r>
            <a:endParaRPr b="0" i="0" sz="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7"/>
          <p:cNvSpPr/>
          <p:nvPr/>
        </p:nvSpPr>
        <p:spPr>
          <a:xfrm>
            <a:off x="6496812" y="201168"/>
            <a:ext cx="864000" cy="255900"/>
          </a:xfrm>
          <a:prstGeom prst="rect">
            <a:avLst/>
          </a:prstGeom>
          <a:solidFill>
            <a:srgbClr val="253760"/>
          </a:solidFill>
          <a:ln cap="flat" cmpd="sng" w="9525">
            <a:solidFill>
              <a:srgbClr val="2A3F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17"/>
          <p:cNvSpPr/>
          <p:nvPr/>
        </p:nvSpPr>
        <p:spPr>
          <a:xfrm>
            <a:off x="6496812" y="201168"/>
            <a:ext cx="8640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Q3 2027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7"/>
          <p:cNvSpPr/>
          <p:nvPr/>
        </p:nvSpPr>
        <p:spPr>
          <a:xfrm>
            <a:off x="6496812" y="329184"/>
            <a:ext cx="864000" cy="11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AAC8"/>
              </a:buClr>
              <a:buSzPts val="550"/>
              <a:buFont typeface="Calibri"/>
              <a:buNone/>
            </a:pPr>
            <a:r>
              <a:rPr b="0" i="0" lang="en" sz="550" u="none" cap="none" strike="noStrike">
                <a:solidFill>
                  <a:srgbClr val="8AAAC8"/>
                </a:solidFill>
                <a:latin typeface="Calibri"/>
                <a:ea typeface="Calibri"/>
                <a:cs typeface="Calibri"/>
                <a:sym typeface="Calibri"/>
              </a:rPr>
              <a:t>Aug–Oct</a:t>
            </a:r>
            <a:endParaRPr b="0" i="0" sz="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7"/>
          <p:cNvSpPr/>
          <p:nvPr/>
        </p:nvSpPr>
        <p:spPr>
          <a:xfrm>
            <a:off x="7360920" y="201168"/>
            <a:ext cx="864000" cy="255900"/>
          </a:xfrm>
          <a:prstGeom prst="rect">
            <a:avLst/>
          </a:prstGeom>
          <a:solidFill>
            <a:srgbClr val="1E3055"/>
          </a:solidFill>
          <a:ln cap="flat" cmpd="sng" w="9525">
            <a:solidFill>
              <a:srgbClr val="2A3F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17"/>
          <p:cNvSpPr/>
          <p:nvPr/>
        </p:nvSpPr>
        <p:spPr>
          <a:xfrm>
            <a:off x="7360920" y="201168"/>
            <a:ext cx="8640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Q4 2027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7"/>
          <p:cNvSpPr/>
          <p:nvPr/>
        </p:nvSpPr>
        <p:spPr>
          <a:xfrm>
            <a:off x="7360920" y="329184"/>
            <a:ext cx="864000" cy="11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AAC8"/>
              </a:buClr>
              <a:buSzPts val="550"/>
              <a:buFont typeface="Calibri"/>
              <a:buNone/>
            </a:pPr>
            <a:r>
              <a:rPr b="0" i="0" lang="en" sz="550" u="none" cap="none" strike="noStrike">
                <a:solidFill>
                  <a:srgbClr val="8AAAC8"/>
                </a:solidFill>
                <a:latin typeface="Calibri"/>
                <a:ea typeface="Calibri"/>
                <a:cs typeface="Calibri"/>
                <a:sym typeface="Calibri"/>
              </a:rPr>
              <a:t>Nov–Jan</a:t>
            </a:r>
            <a:endParaRPr b="0" i="0" sz="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7"/>
          <p:cNvSpPr/>
          <p:nvPr/>
        </p:nvSpPr>
        <p:spPr>
          <a:xfrm>
            <a:off x="8225028" y="201168"/>
            <a:ext cx="864000" cy="255900"/>
          </a:xfrm>
          <a:prstGeom prst="rect">
            <a:avLst/>
          </a:prstGeom>
          <a:solidFill>
            <a:srgbClr val="253760"/>
          </a:solidFill>
          <a:ln cap="flat" cmpd="sng" w="9525">
            <a:solidFill>
              <a:srgbClr val="2A3F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17"/>
          <p:cNvSpPr/>
          <p:nvPr/>
        </p:nvSpPr>
        <p:spPr>
          <a:xfrm>
            <a:off x="8225028" y="201168"/>
            <a:ext cx="864000" cy="14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Q1 2028</a:t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7"/>
          <p:cNvSpPr/>
          <p:nvPr/>
        </p:nvSpPr>
        <p:spPr>
          <a:xfrm>
            <a:off x="8225028" y="329184"/>
            <a:ext cx="864000" cy="11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AAAC8"/>
              </a:buClr>
              <a:buSzPts val="550"/>
              <a:buFont typeface="Calibri"/>
              <a:buNone/>
            </a:pPr>
            <a:r>
              <a:rPr b="0" i="0" lang="en" sz="550" u="none" cap="none" strike="noStrike">
                <a:solidFill>
                  <a:srgbClr val="8AAAC8"/>
                </a:solidFill>
                <a:latin typeface="Calibri"/>
                <a:ea typeface="Calibri"/>
                <a:cs typeface="Calibri"/>
                <a:sym typeface="Calibri"/>
              </a:rPr>
              <a:t>Feb–Apr</a:t>
            </a:r>
            <a:endParaRPr b="0" i="0" sz="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7"/>
          <p:cNvSpPr/>
          <p:nvPr/>
        </p:nvSpPr>
        <p:spPr>
          <a:xfrm>
            <a:off x="2169871" y="457200"/>
            <a:ext cx="12000" cy="4485000"/>
          </a:xfrm>
          <a:prstGeom prst="rect">
            <a:avLst/>
          </a:prstGeom>
          <a:solidFill>
            <a:srgbClr val="CBD5E0"/>
          </a:solidFill>
          <a:ln cap="flat" cmpd="sng" w="12700">
            <a:solidFill>
              <a:srgbClr val="CBD5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17"/>
          <p:cNvSpPr/>
          <p:nvPr/>
        </p:nvSpPr>
        <p:spPr>
          <a:xfrm>
            <a:off x="3033979" y="457200"/>
            <a:ext cx="12000" cy="4485000"/>
          </a:xfrm>
          <a:prstGeom prst="rect">
            <a:avLst/>
          </a:prstGeom>
          <a:solidFill>
            <a:srgbClr val="CBD5E0"/>
          </a:solidFill>
          <a:ln cap="flat" cmpd="sng" w="12700">
            <a:solidFill>
              <a:srgbClr val="CBD5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17"/>
          <p:cNvSpPr/>
          <p:nvPr/>
        </p:nvSpPr>
        <p:spPr>
          <a:xfrm>
            <a:off x="3898087" y="457200"/>
            <a:ext cx="12000" cy="4485000"/>
          </a:xfrm>
          <a:prstGeom prst="rect">
            <a:avLst/>
          </a:prstGeom>
          <a:solidFill>
            <a:srgbClr val="CBD5E0"/>
          </a:solidFill>
          <a:ln cap="flat" cmpd="sng" w="12700">
            <a:solidFill>
              <a:srgbClr val="CBD5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17"/>
          <p:cNvSpPr/>
          <p:nvPr/>
        </p:nvSpPr>
        <p:spPr>
          <a:xfrm>
            <a:off x="4762195" y="457200"/>
            <a:ext cx="12000" cy="4485000"/>
          </a:xfrm>
          <a:prstGeom prst="rect">
            <a:avLst/>
          </a:prstGeom>
          <a:solidFill>
            <a:srgbClr val="CBD5E0"/>
          </a:solidFill>
          <a:ln cap="flat" cmpd="sng" w="12700">
            <a:solidFill>
              <a:srgbClr val="CBD5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7"/>
          <p:cNvSpPr/>
          <p:nvPr/>
        </p:nvSpPr>
        <p:spPr>
          <a:xfrm>
            <a:off x="5626303" y="457200"/>
            <a:ext cx="12000" cy="4485000"/>
          </a:xfrm>
          <a:prstGeom prst="rect">
            <a:avLst/>
          </a:prstGeom>
          <a:solidFill>
            <a:srgbClr val="CBD5E0"/>
          </a:solidFill>
          <a:ln cap="flat" cmpd="sng" w="12700">
            <a:solidFill>
              <a:srgbClr val="CBD5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17"/>
          <p:cNvSpPr/>
          <p:nvPr/>
        </p:nvSpPr>
        <p:spPr>
          <a:xfrm>
            <a:off x="6490411" y="457200"/>
            <a:ext cx="12000" cy="4485000"/>
          </a:xfrm>
          <a:prstGeom prst="rect">
            <a:avLst/>
          </a:prstGeom>
          <a:solidFill>
            <a:srgbClr val="CBD5E0"/>
          </a:solidFill>
          <a:ln cap="flat" cmpd="sng" w="12700">
            <a:solidFill>
              <a:srgbClr val="CBD5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17"/>
          <p:cNvSpPr/>
          <p:nvPr/>
        </p:nvSpPr>
        <p:spPr>
          <a:xfrm>
            <a:off x="7354519" y="457200"/>
            <a:ext cx="12000" cy="4485000"/>
          </a:xfrm>
          <a:prstGeom prst="rect">
            <a:avLst/>
          </a:prstGeom>
          <a:solidFill>
            <a:srgbClr val="CBD5E0"/>
          </a:solidFill>
          <a:ln cap="flat" cmpd="sng" w="12700">
            <a:solidFill>
              <a:srgbClr val="CBD5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17"/>
          <p:cNvSpPr/>
          <p:nvPr/>
        </p:nvSpPr>
        <p:spPr>
          <a:xfrm>
            <a:off x="8218627" y="457200"/>
            <a:ext cx="12000" cy="4485000"/>
          </a:xfrm>
          <a:prstGeom prst="rect">
            <a:avLst/>
          </a:prstGeom>
          <a:solidFill>
            <a:srgbClr val="CBD5E0"/>
          </a:solidFill>
          <a:ln cap="flat" cmpd="sng" w="12700">
            <a:solidFill>
              <a:srgbClr val="CBD5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17"/>
          <p:cNvSpPr/>
          <p:nvPr/>
        </p:nvSpPr>
        <p:spPr>
          <a:xfrm>
            <a:off x="9082735" y="457200"/>
            <a:ext cx="12000" cy="4485000"/>
          </a:xfrm>
          <a:prstGeom prst="rect">
            <a:avLst/>
          </a:prstGeom>
          <a:solidFill>
            <a:srgbClr val="CBD5E0"/>
          </a:solidFill>
          <a:ln cap="flat" cmpd="sng" w="12700">
            <a:solidFill>
              <a:srgbClr val="CBD5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17"/>
          <p:cNvSpPr/>
          <p:nvPr/>
        </p:nvSpPr>
        <p:spPr>
          <a:xfrm>
            <a:off x="2176275" y="543975"/>
            <a:ext cx="2719200" cy="274200"/>
          </a:xfrm>
          <a:prstGeom prst="rect">
            <a:avLst/>
          </a:prstGeom>
          <a:solidFill>
            <a:srgbClr val="7B4F9E"/>
          </a:solidFill>
          <a:ln cap="flat" cmpd="sng" w="12700">
            <a:solidFill>
              <a:srgbClr val="7B4F9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17"/>
          <p:cNvSpPr/>
          <p:nvPr/>
        </p:nvSpPr>
        <p:spPr>
          <a:xfrm>
            <a:off x="4895379" y="543977"/>
            <a:ext cx="137100" cy="137100"/>
          </a:xfrm>
          <a:prstGeom prst="rtTriangle">
            <a:avLst/>
          </a:prstGeom>
          <a:solidFill>
            <a:srgbClr val="7B4F9E"/>
          </a:solidFill>
          <a:ln cap="flat" cmpd="sng" w="12700">
            <a:solidFill>
              <a:srgbClr val="7B4F9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17"/>
          <p:cNvSpPr/>
          <p:nvPr/>
        </p:nvSpPr>
        <p:spPr>
          <a:xfrm flipH="1" rot="10800000">
            <a:off x="4895379" y="681197"/>
            <a:ext cx="137100" cy="137100"/>
          </a:xfrm>
          <a:prstGeom prst="rtTriangle">
            <a:avLst/>
          </a:prstGeom>
          <a:solidFill>
            <a:srgbClr val="7B4F9E"/>
          </a:solidFill>
          <a:ln cap="flat" cmpd="sng" w="12700">
            <a:solidFill>
              <a:srgbClr val="7B4F9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17"/>
          <p:cNvSpPr/>
          <p:nvPr/>
        </p:nvSpPr>
        <p:spPr>
          <a:xfrm>
            <a:off x="2240280" y="543977"/>
            <a:ext cx="2354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lang="en" sz="7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MyAccess   UI Convergence   ·  3 Apps Absorbed (MyAccount, MyPassword, MyAppConnect)</a:t>
            </a:r>
            <a:endParaRPr b="1" sz="75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7"/>
          <p:cNvSpPr/>
          <p:nvPr/>
        </p:nvSpPr>
        <p:spPr>
          <a:xfrm>
            <a:off x="5287015" y="543975"/>
            <a:ext cx="310200" cy="31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4A80"/>
              </a:buClr>
              <a:buSzPts val="600"/>
              <a:buFont typeface="Calibri"/>
              <a:buNone/>
            </a:pPr>
            <a:r>
              <a:rPr b="0" i="1" lang="en" sz="600" u="none" cap="none" strike="noStrike">
                <a:solidFill>
                  <a:srgbClr val="1E4A80"/>
                </a:solidFill>
                <a:latin typeface="Calibri"/>
                <a:ea typeface="Calibri"/>
                <a:cs typeface="Calibri"/>
                <a:sym typeface="Calibri"/>
              </a:rPr>
              <a:t>from 4 to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4A80"/>
              </a:buClr>
              <a:buSzPts val="600"/>
              <a:buFont typeface="Calibri"/>
              <a:buNone/>
            </a:pPr>
            <a:r>
              <a:rPr b="0" i="1" lang="en" sz="600" u="none" cap="none" strike="noStrike">
                <a:solidFill>
                  <a:srgbClr val="1E4A80"/>
                </a:solidFill>
                <a:latin typeface="Calibri"/>
                <a:ea typeface="Calibri"/>
                <a:cs typeface="Calibri"/>
                <a:sym typeface="Calibri"/>
              </a:rPr>
              <a:t>1 app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7"/>
          <p:cNvSpPr/>
          <p:nvPr/>
        </p:nvSpPr>
        <p:spPr>
          <a:xfrm>
            <a:off x="3586580" y="863829"/>
            <a:ext cx="493800" cy="2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600"/>
              <a:buFont typeface="Calibri"/>
              <a:buNone/>
            </a:pPr>
            <a:r>
              <a:rPr b="1" lang="en" sz="600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Beta Release</a:t>
            </a:r>
            <a:endParaRPr b="1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7"/>
          <p:cNvSpPr/>
          <p:nvPr/>
        </p:nvSpPr>
        <p:spPr>
          <a:xfrm rot="2700000">
            <a:off x="5044686" y="571386"/>
            <a:ext cx="219345" cy="219345"/>
          </a:xfrm>
          <a:prstGeom prst="rect">
            <a:avLst/>
          </a:prstGeom>
          <a:solidFill>
            <a:srgbClr val="7B4F9E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17"/>
          <p:cNvSpPr/>
          <p:nvPr/>
        </p:nvSpPr>
        <p:spPr>
          <a:xfrm>
            <a:off x="5072062" y="598841"/>
            <a:ext cx="164700" cy="164700"/>
          </a:xfrm>
          <a:prstGeom prst="ellipse">
            <a:avLst/>
          </a:prstGeom>
          <a:solidFill>
            <a:srgbClr val="2E7D32"/>
          </a:solidFill>
          <a:ln cap="flat" cmpd="sng" w="114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7"/>
          <p:cNvSpPr/>
          <p:nvPr/>
        </p:nvSpPr>
        <p:spPr>
          <a:xfrm>
            <a:off x="3040380" y="1296375"/>
            <a:ext cx="3155700" cy="27420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7"/>
          <p:cNvSpPr/>
          <p:nvPr/>
        </p:nvSpPr>
        <p:spPr>
          <a:xfrm>
            <a:off x="6186830" y="1296375"/>
            <a:ext cx="137100" cy="137100"/>
          </a:xfrm>
          <a:prstGeom prst="rtTriangle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7"/>
          <p:cNvSpPr/>
          <p:nvPr/>
        </p:nvSpPr>
        <p:spPr>
          <a:xfrm flipH="1" rot="10800000">
            <a:off x="6186830" y="1433595"/>
            <a:ext cx="137100" cy="137100"/>
          </a:xfrm>
          <a:prstGeom prst="rtTriangle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7"/>
          <p:cNvSpPr/>
          <p:nvPr/>
        </p:nvSpPr>
        <p:spPr>
          <a:xfrm>
            <a:off x="3104388" y="1296375"/>
            <a:ext cx="3045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lang="en" sz="7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Tier</a:t>
            </a:r>
            <a:r>
              <a:rPr b="1" i="0" lang="en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·  </a:t>
            </a:r>
            <a:r>
              <a:rPr b="1" lang="en" sz="7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Source</a:t>
            </a:r>
            <a:r>
              <a:rPr b="1" lang="en" sz="7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X </a:t>
            </a:r>
            <a:r>
              <a:rPr b="1" i="0" lang="en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→ My</a:t>
            </a:r>
            <a:r>
              <a:rPr b="1" lang="en" sz="7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IAM </a:t>
            </a:r>
            <a:r>
              <a:rPr b="1" i="0" lang="en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DB Sync  ·  </a:t>
            </a:r>
            <a:r>
              <a:rPr b="1" lang="en" sz="7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(Apache nifi  + Micro db)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7"/>
          <p:cNvSpPr/>
          <p:nvPr/>
        </p:nvSpPr>
        <p:spPr>
          <a:xfrm>
            <a:off x="4107942" y="1672407"/>
            <a:ext cx="493800" cy="2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NiFi Pipelines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AD→MyX Sync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7"/>
          <p:cNvSpPr/>
          <p:nvPr/>
        </p:nvSpPr>
        <p:spPr>
          <a:xfrm>
            <a:off x="4972050" y="1672407"/>
            <a:ext cx="493800" cy="2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Schema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Validation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7"/>
          <p:cNvSpPr/>
          <p:nvPr/>
        </p:nvSpPr>
        <p:spPr>
          <a:xfrm>
            <a:off x="5836158" y="1672407"/>
            <a:ext cx="493800" cy="2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2E7D32"/>
                </a:solidFill>
                <a:latin typeface="Calibri"/>
                <a:ea typeface="Calibri"/>
                <a:cs typeface="Calibri"/>
                <a:sym typeface="Calibri"/>
              </a:rPr>
              <a:t>✓ Foundation </a:t>
            </a:r>
            <a:r>
              <a:rPr b="1" i="0" lang="en" sz="600" u="none" cap="none" strike="noStrike">
                <a:solidFill>
                  <a:srgbClr val="2E7D32"/>
                </a:solidFill>
                <a:latin typeface="Calibri"/>
                <a:ea typeface="Calibri"/>
                <a:cs typeface="Calibri"/>
                <a:sym typeface="Calibri"/>
              </a:rPr>
              <a:t>R2</a:t>
            </a:r>
            <a:endParaRPr b="1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7"/>
          <p:cNvSpPr/>
          <p:nvPr/>
        </p:nvSpPr>
        <p:spPr>
          <a:xfrm>
            <a:off x="6241694" y="1351239"/>
            <a:ext cx="164700" cy="164700"/>
          </a:xfrm>
          <a:prstGeom prst="ellipse">
            <a:avLst/>
          </a:prstGeom>
          <a:solidFill>
            <a:srgbClr val="2E7D32"/>
          </a:solidFill>
          <a:ln cap="flat" cmpd="sng" w="114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17"/>
          <p:cNvSpPr/>
          <p:nvPr/>
        </p:nvSpPr>
        <p:spPr>
          <a:xfrm>
            <a:off x="4336542" y="2048774"/>
            <a:ext cx="2205000" cy="274200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7"/>
          <p:cNvSpPr/>
          <p:nvPr/>
        </p:nvSpPr>
        <p:spPr>
          <a:xfrm>
            <a:off x="6532474" y="2048774"/>
            <a:ext cx="137100" cy="137100"/>
          </a:xfrm>
          <a:prstGeom prst="rtTriangle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7"/>
          <p:cNvSpPr/>
          <p:nvPr/>
        </p:nvSpPr>
        <p:spPr>
          <a:xfrm flipH="1" rot="10800000">
            <a:off x="6532474" y="2185994"/>
            <a:ext cx="137100" cy="137100"/>
          </a:xfrm>
          <a:prstGeom prst="rtTriangle">
            <a:avLst/>
          </a:prstGeom>
          <a:solidFill>
            <a:srgbClr val="1565C0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17"/>
          <p:cNvSpPr/>
          <p:nvPr/>
        </p:nvSpPr>
        <p:spPr>
          <a:xfrm>
            <a:off x="4400550" y="2048774"/>
            <a:ext cx="2095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i="0" lang="en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Core API  ·  Domain Write Operations  ·  AD Write Authority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7"/>
          <p:cNvSpPr/>
          <p:nvPr/>
        </p:nvSpPr>
        <p:spPr>
          <a:xfrm>
            <a:off x="4539996" y="2424806"/>
            <a:ext cx="493800" cy="2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⬡ Proto: Arch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+Interface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7"/>
          <p:cNvSpPr/>
          <p:nvPr/>
        </p:nvSpPr>
        <p:spPr>
          <a:xfrm>
            <a:off x="5404104" y="2424806"/>
            <a:ext cx="493800" cy="2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Domain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Write Ops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7"/>
          <p:cNvSpPr/>
          <p:nvPr/>
        </p:nvSpPr>
        <p:spPr>
          <a:xfrm>
            <a:off x="6268212" y="2424806"/>
            <a:ext cx="493800" cy="2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2E7D32"/>
                </a:solidFill>
                <a:latin typeface="Calibri"/>
                <a:ea typeface="Calibri"/>
                <a:cs typeface="Calibri"/>
                <a:sym typeface="Calibri"/>
              </a:rPr>
              <a:t>✓ Core API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2E7D32"/>
                </a:solidFill>
                <a:latin typeface="Calibri"/>
                <a:ea typeface="Calibri"/>
                <a:cs typeface="Calibri"/>
                <a:sym typeface="Calibri"/>
              </a:rPr>
              <a:t>Live </a:t>
            </a:r>
            <a:r>
              <a:rPr b="1" i="0" lang="en" sz="600" u="none" cap="none" strike="noStrike">
                <a:solidFill>
                  <a:srgbClr val="2E7D32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r>
              <a:rPr b="1" lang="en" sz="600">
                <a:solidFill>
                  <a:srgbClr val="2E7D32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1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7"/>
          <p:cNvSpPr/>
          <p:nvPr/>
        </p:nvSpPr>
        <p:spPr>
          <a:xfrm rot="2700000">
            <a:off x="6559962" y="2076183"/>
            <a:ext cx="219345" cy="219345"/>
          </a:xfrm>
          <a:prstGeom prst="rect">
            <a:avLst/>
          </a:prstGeom>
          <a:solidFill>
            <a:srgbClr val="1565C0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17"/>
          <p:cNvSpPr/>
          <p:nvPr/>
        </p:nvSpPr>
        <p:spPr>
          <a:xfrm>
            <a:off x="6523330" y="2094494"/>
            <a:ext cx="2925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Calibri"/>
              <a:buNone/>
            </a:pPr>
            <a:r>
              <a:rPr b="1" i="0" lang="en" sz="6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G2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7"/>
          <p:cNvSpPr/>
          <p:nvPr/>
        </p:nvSpPr>
        <p:spPr>
          <a:xfrm>
            <a:off x="6587338" y="2103638"/>
            <a:ext cx="164700" cy="164700"/>
          </a:xfrm>
          <a:prstGeom prst="ellipse">
            <a:avLst/>
          </a:prstGeom>
          <a:solidFill>
            <a:srgbClr val="2E7D32"/>
          </a:solidFill>
          <a:ln cap="flat" cmpd="sng" w="114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17"/>
          <p:cNvSpPr/>
          <p:nvPr/>
        </p:nvSpPr>
        <p:spPr>
          <a:xfrm>
            <a:off x="4115461" y="2801173"/>
            <a:ext cx="2766600" cy="274200"/>
          </a:xfrm>
          <a:prstGeom prst="rect">
            <a:avLst/>
          </a:prstGeom>
          <a:solidFill>
            <a:srgbClr val="C84B00"/>
          </a:solidFill>
          <a:ln cap="flat" cmpd="sng" w="12700">
            <a:solidFill>
              <a:srgbClr val="C84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17"/>
          <p:cNvSpPr/>
          <p:nvPr/>
        </p:nvSpPr>
        <p:spPr>
          <a:xfrm>
            <a:off x="6859915" y="2793936"/>
            <a:ext cx="137100" cy="137100"/>
          </a:xfrm>
          <a:prstGeom prst="rtTriangle">
            <a:avLst/>
          </a:prstGeom>
          <a:solidFill>
            <a:srgbClr val="C84B00"/>
          </a:solidFill>
          <a:ln cap="flat" cmpd="sng" w="12700">
            <a:solidFill>
              <a:srgbClr val="C84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17"/>
          <p:cNvSpPr/>
          <p:nvPr/>
        </p:nvSpPr>
        <p:spPr>
          <a:xfrm flipH="1" rot="10800000">
            <a:off x="6859915" y="2931156"/>
            <a:ext cx="137100" cy="137100"/>
          </a:xfrm>
          <a:prstGeom prst="rtTriangle">
            <a:avLst/>
          </a:prstGeom>
          <a:solidFill>
            <a:srgbClr val="C84B00"/>
          </a:solidFill>
          <a:ln cap="flat" cmpd="sng" w="12700">
            <a:solidFill>
              <a:srgbClr val="C84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17"/>
          <p:cNvSpPr/>
          <p:nvPr/>
        </p:nvSpPr>
        <p:spPr>
          <a:xfrm>
            <a:off x="4276095" y="2801173"/>
            <a:ext cx="2657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i="0" lang="en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API </a:t>
            </a:r>
            <a:r>
              <a:rPr b="1" lang="en" sz="7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microservice·</a:t>
            </a:r>
            <a:r>
              <a:rPr b="1" i="0" lang="en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4 Domain APIs  ·  Legacy APIs Retired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7"/>
          <p:cNvSpPr/>
          <p:nvPr/>
        </p:nvSpPr>
        <p:spPr>
          <a:xfrm>
            <a:off x="7163286" y="2801175"/>
            <a:ext cx="429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4A80"/>
              </a:buClr>
              <a:buSzPts val="600"/>
              <a:buFont typeface="Calibri"/>
              <a:buNone/>
            </a:pPr>
            <a:r>
              <a:rPr b="0" i="1" lang="en" sz="600" u="none" cap="none" strike="noStrike">
                <a:solidFill>
                  <a:srgbClr val="1E4A80"/>
                </a:solidFill>
                <a:latin typeface="Calibri"/>
                <a:ea typeface="Calibri"/>
                <a:cs typeface="Calibri"/>
                <a:sym typeface="Calibri"/>
              </a:rPr>
              <a:t>5 APIs →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4A80"/>
              </a:buClr>
              <a:buSzPts val="600"/>
              <a:buFont typeface="Calibri"/>
              <a:buNone/>
            </a:pPr>
            <a:r>
              <a:rPr b="0" i="1" lang="en" sz="600" u="none" cap="none" strike="noStrike">
                <a:solidFill>
                  <a:srgbClr val="1E4A80"/>
                </a:solidFill>
                <a:latin typeface="Calibri"/>
                <a:ea typeface="Calibri"/>
                <a:cs typeface="Calibri"/>
                <a:sym typeface="Calibri"/>
              </a:rPr>
              <a:t>1 Gateway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7"/>
          <p:cNvSpPr/>
          <p:nvPr/>
        </p:nvSpPr>
        <p:spPr>
          <a:xfrm>
            <a:off x="4318915" y="3177205"/>
            <a:ext cx="493800" cy="2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API Gateway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Design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7"/>
          <p:cNvSpPr/>
          <p:nvPr/>
        </p:nvSpPr>
        <p:spPr>
          <a:xfrm>
            <a:off x="5183023" y="3177205"/>
            <a:ext cx="493800" cy="2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Password +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Account APIs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7"/>
          <p:cNvSpPr/>
          <p:nvPr/>
        </p:nvSpPr>
        <p:spPr>
          <a:xfrm>
            <a:off x="6047131" y="3177205"/>
            <a:ext cx="493800" cy="2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Group +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SSO APIs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7"/>
          <p:cNvSpPr/>
          <p:nvPr/>
        </p:nvSpPr>
        <p:spPr>
          <a:xfrm>
            <a:off x="6781623" y="3177205"/>
            <a:ext cx="493800" cy="2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2E7D32"/>
                </a:solidFill>
                <a:latin typeface="Calibri"/>
                <a:ea typeface="Calibri"/>
                <a:cs typeface="Calibri"/>
                <a:sym typeface="Calibri"/>
              </a:rPr>
              <a:t>✓ Legacy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2E7D32"/>
                </a:solidFill>
                <a:latin typeface="Calibri"/>
                <a:ea typeface="Calibri"/>
                <a:cs typeface="Calibri"/>
                <a:sym typeface="Calibri"/>
              </a:rPr>
              <a:t>Retired </a:t>
            </a:r>
            <a:r>
              <a:rPr b="1" i="0" lang="en" sz="600" u="none" cap="none" strike="noStrike">
                <a:solidFill>
                  <a:srgbClr val="2E7D32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r>
              <a:rPr b="1" lang="en" sz="600">
                <a:solidFill>
                  <a:srgbClr val="2E7D32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1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7"/>
          <p:cNvSpPr/>
          <p:nvPr/>
        </p:nvSpPr>
        <p:spPr>
          <a:xfrm rot="2700000">
            <a:off x="6900551" y="2828582"/>
            <a:ext cx="219345" cy="219345"/>
          </a:xfrm>
          <a:prstGeom prst="rect">
            <a:avLst/>
          </a:prstGeom>
          <a:solidFill>
            <a:srgbClr val="C84B00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7"/>
          <p:cNvSpPr/>
          <p:nvPr/>
        </p:nvSpPr>
        <p:spPr>
          <a:xfrm>
            <a:off x="6927927" y="2856037"/>
            <a:ext cx="164700" cy="164700"/>
          </a:xfrm>
          <a:prstGeom prst="ellipse">
            <a:avLst/>
          </a:prstGeom>
          <a:solidFill>
            <a:srgbClr val="2E7D32"/>
          </a:solidFill>
          <a:ln cap="flat" cmpd="sng" w="114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7"/>
          <p:cNvSpPr/>
          <p:nvPr/>
        </p:nvSpPr>
        <p:spPr>
          <a:xfrm>
            <a:off x="4768596" y="3553572"/>
            <a:ext cx="3328500" cy="274200"/>
          </a:xfrm>
          <a:prstGeom prst="rect">
            <a:avLst/>
          </a:prstGeom>
          <a:solidFill>
            <a:srgbClr val="0E6B50"/>
          </a:solidFill>
          <a:ln cap="flat" cmpd="sng" w="12700">
            <a:solidFill>
              <a:srgbClr val="0E6B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17"/>
          <p:cNvSpPr/>
          <p:nvPr/>
        </p:nvSpPr>
        <p:spPr>
          <a:xfrm>
            <a:off x="8087868" y="3553572"/>
            <a:ext cx="137100" cy="137100"/>
          </a:xfrm>
          <a:prstGeom prst="rtTriangle">
            <a:avLst/>
          </a:prstGeom>
          <a:solidFill>
            <a:srgbClr val="0E6B50"/>
          </a:solidFill>
          <a:ln cap="flat" cmpd="sng" w="12700">
            <a:solidFill>
              <a:srgbClr val="0E6B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7"/>
          <p:cNvSpPr/>
          <p:nvPr/>
        </p:nvSpPr>
        <p:spPr>
          <a:xfrm flipH="1" rot="10800000">
            <a:off x="8087868" y="3690792"/>
            <a:ext cx="137100" cy="137100"/>
          </a:xfrm>
          <a:prstGeom prst="rtTriangle">
            <a:avLst/>
          </a:prstGeom>
          <a:solidFill>
            <a:srgbClr val="0E6B50"/>
          </a:solidFill>
          <a:ln cap="flat" cmpd="sng" w="12700">
            <a:solidFill>
              <a:srgbClr val="0E6B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17"/>
          <p:cNvSpPr/>
          <p:nvPr/>
        </p:nvSpPr>
        <p:spPr>
          <a:xfrm>
            <a:off x="4832604" y="3553572"/>
            <a:ext cx="3218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i="0" lang="en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 Direct AD Access  ·  PAP Policies  ·  JIT Privileged Access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7"/>
          <p:cNvSpPr/>
          <p:nvPr/>
        </p:nvSpPr>
        <p:spPr>
          <a:xfrm>
            <a:off x="8339413" y="3553575"/>
            <a:ext cx="598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4A80"/>
              </a:buClr>
              <a:buSzPts val="600"/>
              <a:buFont typeface="Calibri"/>
              <a:buNone/>
            </a:pPr>
            <a:r>
              <a:rPr b="0" i="1" lang="en" sz="600" u="none" cap="none" strike="noStrike">
                <a:solidFill>
                  <a:srgbClr val="1E4A80"/>
                </a:solidFill>
                <a:latin typeface="Calibri"/>
                <a:ea typeface="Calibri"/>
                <a:cs typeface="Calibri"/>
                <a:sym typeface="Calibri"/>
              </a:rPr>
              <a:t>100%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4A80"/>
              </a:buClr>
              <a:buSzPts val="600"/>
              <a:buFont typeface="Calibri"/>
              <a:buNone/>
            </a:pPr>
            <a:r>
              <a:rPr b="0" i="1" lang="en" sz="600" u="none" cap="none" strike="noStrike">
                <a:solidFill>
                  <a:srgbClr val="1E4A80"/>
                </a:solidFill>
                <a:latin typeface="Calibri"/>
                <a:ea typeface="Calibri"/>
                <a:cs typeface="Calibri"/>
                <a:sym typeface="Calibri"/>
              </a:rPr>
              <a:t>time-bound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7"/>
          <p:cNvSpPr/>
          <p:nvPr/>
        </p:nvSpPr>
        <p:spPr>
          <a:xfrm>
            <a:off x="4972050" y="3929604"/>
            <a:ext cx="493800" cy="2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PAP Policy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Design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7"/>
          <p:cNvSpPr/>
          <p:nvPr/>
        </p:nvSpPr>
        <p:spPr>
          <a:xfrm>
            <a:off x="6268212" y="3929604"/>
            <a:ext cx="493800" cy="2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JIT Access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Live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7"/>
          <p:cNvSpPr/>
          <p:nvPr/>
        </p:nvSpPr>
        <p:spPr>
          <a:xfrm>
            <a:off x="7823606" y="3929604"/>
            <a:ext cx="493800" cy="2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2E7D32"/>
                </a:solidFill>
                <a:latin typeface="Calibri"/>
                <a:ea typeface="Calibri"/>
                <a:cs typeface="Calibri"/>
                <a:sym typeface="Calibri"/>
              </a:rPr>
              <a:t>✓ Zero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2E7D32"/>
                </a:solidFill>
                <a:latin typeface="Calibri"/>
                <a:ea typeface="Calibri"/>
                <a:cs typeface="Calibri"/>
                <a:sym typeface="Calibri"/>
              </a:rPr>
              <a:t>Direct AD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7"/>
          <p:cNvSpPr/>
          <p:nvPr/>
        </p:nvSpPr>
        <p:spPr>
          <a:xfrm>
            <a:off x="8142732" y="3608436"/>
            <a:ext cx="164700" cy="164700"/>
          </a:xfrm>
          <a:prstGeom prst="ellipse">
            <a:avLst/>
          </a:prstGeom>
          <a:solidFill>
            <a:srgbClr val="2E7D32"/>
          </a:solidFill>
          <a:ln cap="flat" cmpd="sng" w="114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17"/>
          <p:cNvSpPr/>
          <p:nvPr/>
        </p:nvSpPr>
        <p:spPr>
          <a:xfrm>
            <a:off x="6928866" y="4305971"/>
            <a:ext cx="1729800" cy="274200"/>
          </a:xfrm>
          <a:prstGeom prst="rect">
            <a:avLst/>
          </a:prstGeom>
          <a:solidFill>
            <a:srgbClr val="37474F"/>
          </a:solidFill>
          <a:ln cap="flat" cmpd="sng" w="12700">
            <a:solidFill>
              <a:srgbClr val="3747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17"/>
          <p:cNvSpPr/>
          <p:nvPr/>
        </p:nvSpPr>
        <p:spPr>
          <a:xfrm>
            <a:off x="8649538" y="4305971"/>
            <a:ext cx="137100" cy="137100"/>
          </a:xfrm>
          <a:prstGeom prst="rtTriangle">
            <a:avLst/>
          </a:prstGeom>
          <a:solidFill>
            <a:srgbClr val="37474F"/>
          </a:solidFill>
          <a:ln cap="flat" cmpd="sng" w="12700">
            <a:solidFill>
              <a:srgbClr val="3747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7"/>
          <p:cNvSpPr/>
          <p:nvPr/>
        </p:nvSpPr>
        <p:spPr>
          <a:xfrm flipH="1" rot="10800000">
            <a:off x="8649538" y="4443191"/>
            <a:ext cx="137100" cy="137100"/>
          </a:xfrm>
          <a:prstGeom prst="rtTriangle">
            <a:avLst/>
          </a:prstGeom>
          <a:solidFill>
            <a:srgbClr val="37474F"/>
          </a:solidFill>
          <a:ln cap="flat" cmpd="sng" w="12700">
            <a:solidFill>
              <a:srgbClr val="3747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17"/>
          <p:cNvSpPr/>
          <p:nvPr/>
        </p:nvSpPr>
        <p:spPr>
          <a:xfrm>
            <a:off x="6992874" y="4305971"/>
            <a:ext cx="1620000" cy="2742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i="0" lang="en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iOS+Android  ·  Airbus Passport Decom  ·  Platform Hardening</a:t>
            </a:r>
            <a:endParaRPr b="0" i="0" sz="750" u="none" cap="none" strike="noStrik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7"/>
          <p:cNvSpPr/>
          <p:nvPr/>
        </p:nvSpPr>
        <p:spPr>
          <a:xfrm>
            <a:off x="7132320" y="4682002"/>
            <a:ext cx="493800" cy="2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iOS+Android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ARD Review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7"/>
          <p:cNvSpPr/>
          <p:nvPr/>
        </p:nvSpPr>
        <p:spPr>
          <a:xfrm>
            <a:off x="7823606" y="4682002"/>
            <a:ext cx="493800" cy="2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Mobile Beta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Copilot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7"/>
          <p:cNvSpPr/>
          <p:nvPr/>
        </p:nvSpPr>
        <p:spPr>
          <a:xfrm>
            <a:off x="8428482" y="4682002"/>
            <a:ext cx="493800" cy="2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2E7D32"/>
                </a:solidFill>
                <a:latin typeface="Calibri"/>
                <a:ea typeface="Calibri"/>
                <a:cs typeface="Calibri"/>
                <a:sym typeface="Calibri"/>
              </a:rPr>
              <a:t>✓ Mobile Live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E7D32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2E7D32"/>
                </a:solidFill>
                <a:latin typeface="Calibri"/>
                <a:ea typeface="Calibri"/>
                <a:cs typeface="Calibri"/>
                <a:sym typeface="Calibri"/>
              </a:rPr>
              <a:t>Live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7"/>
          <p:cNvSpPr/>
          <p:nvPr/>
        </p:nvSpPr>
        <p:spPr>
          <a:xfrm rot="2700000">
            <a:off x="8677026" y="4333380"/>
            <a:ext cx="219345" cy="219345"/>
          </a:xfrm>
          <a:prstGeom prst="rect">
            <a:avLst/>
          </a:prstGeom>
          <a:solidFill>
            <a:srgbClr val="37474F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17"/>
          <p:cNvSpPr/>
          <p:nvPr/>
        </p:nvSpPr>
        <p:spPr>
          <a:xfrm>
            <a:off x="8640394" y="4351691"/>
            <a:ext cx="2925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"/>
              <a:buFont typeface="Calibri"/>
              <a:buNone/>
            </a:pPr>
            <a:r>
              <a:rPr b="1" i="0" lang="en" sz="6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G4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7"/>
          <p:cNvSpPr/>
          <p:nvPr/>
        </p:nvSpPr>
        <p:spPr>
          <a:xfrm>
            <a:off x="8704402" y="4360835"/>
            <a:ext cx="164700" cy="164700"/>
          </a:xfrm>
          <a:prstGeom prst="ellipse">
            <a:avLst/>
          </a:prstGeom>
          <a:solidFill>
            <a:srgbClr val="888888"/>
          </a:solidFill>
          <a:ln cap="flat" cmpd="sng" w="114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7"/>
          <p:cNvSpPr/>
          <p:nvPr/>
        </p:nvSpPr>
        <p:spPr>
          <a:xfrm>
            <a:off x="0" y="0"/>
            <a:ext cx="2176200" cy="5143500"/>
          </a:xfrm>
          <a:prstGeom prst="rect">
            <a:avLst/>
          </a:prstGeom>
          <a:solidFill>
            <a:srgbClr val="0D1A2E"/>
          </a:solidFill>
          <a:ln cap="flat" cmpd="sng" w="12700">
            <a:solidFill>
              <a:srgbClr val="0D1A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7"/>
          <p:cNvSpPr/>
          <p:nvPr/>
        </p:nvSpPr>
        <p:spPr>
          <a:xfrm>
            <a:off x="0" y="457200"/>
            <a:ext cx="530400" cy="723000"/>
          </a:xfrm>
          <a:prstGeom prst="rect">
            <a:avLst/>
          </a:prstGeom>
          <a:solidFill>
            <a:srgbClr val="6B3F7A"/>
          </a:solidFill>
          <a:ln cap="flat" cmpd="sng" w="12700">
            <a:solidFill>
              <a:srgbClr val="6B3F7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7"/>
          <p:cNvSpPr/>
          <p:nvPr/>
        </p:nvSpPr>
        <p:spPr>
          <a:xfrm>
            <a:off x="18288" y="457200"/>
            <a:ext cx="512100" cy="7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80"/>
              <a:buFont typeface="Calibri"/>
              <a:buNone/>
            </a:pPr>
            <a:r>
              <a:rPr b="1" i="0" lang="en" sz="68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MFE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80"/>
              <a:buFont typeface="Calibri"/>
              <a:buNone/>
            </a:pPr>
            <a:r>
              <a:rPr b="1" i="0" lang="en" sz="68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Consolidation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7"/>
          <p:cNvSpPr/>
          <p:nvPr/>
        </p:nvSpPr>
        <p:spPr>
          <a:xfrm>
            <a:off x="0" y="1209599"/>
            <a:ext cx="530400" cy="1475400"/>
          </a:xfrm>
          <a:prstGeom prst="rect">
            <a:avLst/>
          </a:prstGeom>
          <a:solidFill>
            <a:srgbClr val="1B6CA8"/>
          </a:solidFill>
          <a:ln cap="flat" cmpd="sng" w="12700">
            <a:solidFill>
              <a:srgbClr val="1B6CA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7"/>
          <p:cNvSpPr/>
          <p:nvPr/>
        </p:nvSpPr>
        <p:spPr>
          <a:xfrm>
            <a:off x="18288" y="1209599"/>
            <a:ext cx="512100" cy="147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80"/>
              <a:buFont typeface="Calibri"/>
              <a:buNone/>
            </a:pPr>
            <a:r>
              <a:rPr b="1" i="0" lang="en" sz="68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Core Backend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80"/>
              <a:buFont typeface="Calibri"/>
              <a:buNone/>
            </a:pPr>
            <a:r>
              <a:rPr b="1" i="0" lang="en" sz="68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&amp; Integration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7"/>
          <p:cNvSpPr/>
          <p:nvPr/>
        </p:nvSpPr>
        <p:spPr>
          <a:xfrm>
            <a:off x="0" y="2714396"/>
            <a:ext cx="530400" cy="1475400"/>
          </a:xfrm>
          <a:prstGeom prst="rect">
            <a:avLst/>
          </a:prstGeom>
          <a:solidFill>
            <a:srgbClr val="0E6B50"/>
          </a:solidFill>
          <a:ln cap="flat" cmpd="sng" w="12700">
            <a:solidFill>
              <a:srgbClr val="0E6B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7"/>
          <p:cNvSpPr/>
          <p:nvPr/>
        </p:nvSpPr>
        <p:spPr>
          <a:xfrm>
            <a:off x="18288" y="2714396"/>
            <a:ext cx="512100" cy="147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80"/>
              <a:buFont typeface="Calibri"/>
              <a:buNone/>
            </a:pPr>
            <a:r>
              <a:rPr b="1" i="0" lang="en" sz="68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Module APIs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80"/>
              <a:buFont typeface="Calibri"/>
              <a:buNone/>
            </a:pPr>
            <a:r>
              <a:rPr b="1" i="0" lang="en" sz="68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+ Zero Trust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7"/>
          <p:cNvSpPr/>
          <p:nvPr/>
        </p:nvSpPr>
        <p:spPr>
          <a:xfrm>
            <a:off x="0" y="4219194"/>
            <a:ext cx="530400" cy="723000"/>
          </a:xfrm>
          <a:prstGeom prst="rect">
            <a:avLst/>
          </a:prstGeom>
          <a:solidFill>
            <a:srgbClr val="37474F"/>
          </a:solidFill>
          <a:ln cap="flat" cmpd="sng" w="12700">
            <a:solidFill>
              <a:srgbClr val="3747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7"/>
          <p:cNvSpPr/>
          <p:nvPr/>
        </p:nvSpPr>
        <p:spPr>
          <a:xfrm>
            <a:off x="18288" y="4219194"/>
            <a:ext cx="512100" cy="7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80"/>
              <a:buFont typeface="Calibri"/>
              <a:buNone/>
            </a:pPr>
            <a:r>
              <a:rPr b="1" i="0" lang="en" sz="68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Mobile Platform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80"/>
              <a:buFont typeface="Calibri"/>
              <a:buNone/>
            </a:pPr>
            <a:r>
              <a:rPr b="1" i="0" lang="en" sz="68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+ Passport Decom</a:t>
            </a:r>
            <a:endParaRPr b="0" i="0" sz="6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7"/>
          <p:cNvSpPr/>
          <p:nvPr/>
        </p:nvSpPr>
        <p:spPr>
          <a:xfrm>
            <a:off x="630936" y="658749"/>
            <a:ext cx="1481400" cy="21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i="0" lang="en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MFE Consolidation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7"/>
          <p:cNvSpPr/>
          <p:nvPr/>
        </p:nvSpPr>
        <p:spPr>
          <a:xfrm>
            <a:off x="630936" y="905637"/>
            <a:ext cx="14814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A88AA"/>
              </a:buClr>
              <a:buSzPts val="560"/>
              <a:buFont typeface="Calibri"/>
              <a:buNone/>
            </a:pPr>
            <a:r>
              <a:rPr b="0" i="0" lang="en" sz="560" u="none" cap="none" strike="noStrike">
                <a:solidFill>
                  <a:srgbClr val="6A88AA"/>
                </a:solidFill>
                <a:latin typeface="Calibri"/>
                <a:ea typeface="Calibri"/>
                <a:cs typeface="Calibri"/>
                <a:sym typeface="Calibri"/>
              </a:rPr>
              <a:t>MFE Shell · Angular ModFed · OAuth2 · 4 Modules  ·  ⬡ NiFi / Core API / Domain API Prototypes run in parallel during Phase 1</a:t>
            </a:r>
            <a:endParaRPr b="0" i="0" sz="5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7"/>
          <p:cNvSpPr/>
          <p:nvPr/>
        </p:nvSpPr>
        <p:spPr>
          <a:xfrm>
            <a:off x="630936" y="1324280"/>
            <a:ext cx="14814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i="0" lang="en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NiFi Pipelines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i="0" lang="en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&amp; MyX DB Cluster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7"/>
          <p:cNvSpPr/>
          <p:nvPr/>
        </p:nvSpPr>
        <p:spPr>
          <a:xfrm>
            <a:off x="630936" y="1744904"/>
            <a:ext cx="14814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A88AA"/>
              </a:buClr>
              <a:buSzPts val="560"/>
              <a:buFont typeface="Calibri"/>
              <a:buNone/>
            </a:pPr>
            <a:r>
              <a:rPr b="0" i="0" lang="en" sz="560" u="none" cap="none" strike="noStrike">
                <a:solidFill>
                  <a:srgbClr val="6A88AA"/>
                </a:solidFill>
                <a:latin typeface="Calibri"/>
                <a:ea typeface="Calibri"/>
                <a:cs typeface="Calibri"/>
                <a:sym typeface="Calibri"/>
              </a:rPr>
              <a:t>Apache NiFi · AD→My</a:t>
            </a:r>
            <a:r>
              <a:rPr lang="en" sz="560">
                <a:solidFill>
                  <a:srgbClr val="6A88AA"/>
                </a:solidFill>
                <a:latin typeface="Calibri"/>
                <a:ea typeface="Calibri"/>
                <a:cs typeface="Calibri"/>
                <a:sym typeface="Calibri"/>
              </a:rPr>
              <a:t>IAM</a:t>
            </a:r>
            <a:r>
              <a:rPr b="0" i="0" lang="en" sz="560" u="none" cap="none" strike="noStrike">
                <a:solidFill>
                  <a:srgbClr val="6A88AA"/>
                </a:solidFill>
                <a:latin typeface="Calibri"/>
                <a:ea typeface="Calibri"/>
                <a:cs typeface="Calibri"/>
                <a:sym typeface="Calibri"/>
              </a:rPr>
              <a:t> DB · Schema Unification</a:t>
            </a:r>
            <a:endParaRPr b="0" i="0" sz="5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7"/>
          <p:cNvSpPr/>
          <p:nvPr/>
        </p:nvSpPr>
        <p:spPr>
          <a:xfrm>
            <a:off x="630936" y="2163547"/>
            <a:ext cx="1481400" cy="21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i="0" lang="en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Core API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7"/>
          <p:cNvSpPr/>
          <p:nvPr/>
        </p:nvSpPr>
        <p:spPr>
          <a:xfrm>
            <a:off x="630936" y="2410435"/>
            <a:ext cx="14814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A88AA"/>
              </a:buClr>
              <a:buSzPts val="560"/>
              <a:buFont typeface="Calibri"/>
              <a:buNone/>
            </a:pPr>
            <a:r>
              <a:rPr b="0" i="0" lang="en" sz="560" u="none" cap="none" strike="noStrike">
                <a:solidFill>
                  <a:srgbClr val="6A88AA"/>
                </a:solidFill>
                <a:latin typeface="Calibri"/>
                <a:ea typeface="Calibri"/>
                <a:cs typeface="Calibri"/>
                <a:sym typeface="Calibri"/>
              </a:rPr>
              <a:t>Sole Write </a:t>
            </a:r>
            <a:r>
              <a:rPr lang="en" sz="560">
                <a:solidFill>
                  <a:srgbClr val="6A88AA"/>
                </a:solidFill>
                <a:latin typeface="Calibri"/>
                <a:ea typeface="Calibri"/>
                <a:cs typeface="Calibri"/>
                <a:sym typeface="Calibri"/>
              </a:rPr>
              <a:t>to any data source</a:t>
            </a:r>
            <a:r>
              <a:rPr b="0" i="0" lang="en" sz="560" u="none" cap="none" strike="noStrike">
                <a:solidFill>
                  <a:srgbClr val="6A88AA"/>
                </a:solidFill>
                <a:latin typeface="Calibri"/>
                <a:ea typeface="Calibri"/>
                <a:cs typeface="Calibri"/>
                <a:sym typeface="Calibri"/>
              </a:rPr>
              <a:t>· Audit + Security</a:t>
            </a:r>
            <a:endParaRPr b="0" i="0" sz="5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7"/>
          <p:cNvSpPr/>
          <p:nvPr/>
        </p:nvSpPr>
        <p:spPr>
          <a:xfrm>
            <a:off x="630936" y="2829077"/>
            <a:ext cx="14814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i="0" lang="en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Module APIs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i="0" lang="en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+ Zero Trust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7"/>
          <p:cNvSpPr/>
          <p:nvPr/>
        </p:nvSpPr>
        <p:spPr>
          <a:xfrm>
            <a:off x="630936" y="3249701"/>
            <a:ext cx="14814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A88AA"/>
              </a:buClr>
              <a:buSzPts val="560"/>
              <a:buFont typeface="Calibri"/>
              <a:buNone/>
            </a:pPr>
            <a:r>
              <a:rPr b="0" i="0" lang="en" sz="560" u="none" cap="none" strike="noStrike">
                <a:solidFill>
                  <a:srgbClr val="6A88AA"/>
                </a:solidFill>
                <a:latin typeface="Calibri"/>
                <a:ea typeface="Calibri"/>
                <a:cs typeface="Calibri"/>
                <a:sym typeface="Calibri"/>
              </a:rPr>
              <a:t>4 </a:t>
            </a:r>
            <a:r>
              <a:rPr lang="en" sz="560">
                <a:solidFill>
                  <a:srgbClr val="6A88AA"/>
                </a:solidFill>
                <a:latin typeface="Calibri"/>
                <a:ea typeface="Calibri"/>
                <a:cs typeface="Calibri"/>
                <a:sym typeface="Calibri"/>
              </a:rPr>
              <a:t>MyX </a:t>
            </a:r>
            <a:r>
              <a:rPr b="0" i="0" lang="en" sz="560" u="none" cap="none" strike="noStrike">
                <a:solidFill>
                  <a:srgbClr val="6A88AA"/>
                </a:solidFill>
                <a:latin typeface="Calibri"/>
                <a:ea typeface="Calibri"/>
                <a:cs typeface="Calibri"/>
                <a:sym typeface="Calibri"/>
              </a:rPr>
              <a:t>APIs</a:t>
            </a:r>
            <a:r>
              <a:rPr lang="en" sz="560">
                <a:solidFill>
                  <a:srgbClr val="6A88AA"/>
                </a:solidFill>
                <a:latin typeface="Calibri"/>
                <a:ea typeface="Calibri"/>
                <a:cs typeface="Calibri"/>
                <a:sym typeface="Calibri"/>
              </a:rPr>
              <a:t> marked for </a:t>
            </a:r>
            <a:r>
              <a:rPr b="0" i="0" lang="en" sz="560" u="none" cap="none" strike="noStrike">
                <a:solidFill>
                  <a:srgbClr val="6A88AA"/>
                </a:solidFill>
                <a:latin typeface="Calibri"/>
                <a:ea typeface="Calibri"/>
                <a:cs typeface="Calibri"/>
                <a:sym typeface="Calibri"/>
              </a:rPr>
              <a:t> Retire</a:t>
            </a:r>
            <a:r>
              <a:rPr lang="en" sz="560">
                <a:solidFill>
                  <a:srgbClr val="6A88AA"/>
                </a:solidFill>
                <a:latin typeface="Calibri"/>
                <a:ea typeface="Calibri"/>
                <a:cs typeface="Calibri"/>
                <a:sym typeface="Calibri"/>
              </a:rPr>
              <a:t>ment</a:t>
            </a:r>
            <a:endParaRPr b="0" i="0" sz="5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7"/>
          <p:cNvSpPr/>
          <p:nvPr/>
        </p:nvSpPr>
        <p:spPr>
          <a:xfrm>
            <a:off x="630936" y="3668344"/>
            <a:ext cx="1481400" cy="21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lang="en" sz="7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Security &amp; DevOps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7"/>
          <p:cNvSpPr/>
          <p:nvPr/>
        </p:nvSpPr>
        <p:spPr>
          <a:xfrm>
            <a:off x="630936" y="3915232"/>
            <a:ext cx="14814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A88AA"/>
              </a:buClr>
              <a:buSzPts val="560"/>
              <a:buFont typeface="Calibri"/>
              <a:buNone/>
            </a:pPr>
            <a:r>
              <a:rPr lang="en" sz="560">
                <a:solidFill>
                  <a:srgbClr val="6A88AA"/>
                </a:solidFill>
                <a:latin typeface="Calibri"/>
                <a:ea typeface="Calibri"/>
                <a:cs typeface="Calibri"/>
                <a:sym typeface="Calibri"/>
              </a:rPr>
              <a:t>Devops Chain. </a:t>
            </a:r>
            <a:r>
              <a:rPr b="0" i="0" lang="en" sz="560" u="none" cap="none" strike="noStrike">
                <a:solidFill>
                  <a:srgbClr val="6A88AA"/>
                </a:solidFill>
                <a:latin typeface="Calibri"/>
                <a:ea typeface="Calibri"/>
                <a:cs typeface="Calibri"/>
                <a:sym typeface="Calibri"/>
              </a:rPr>
              <a:t>No Direct AD</a:t>
            </a:r>
            <a:endParaRPr b="0" i="0" sz="5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7"/>
          <p:cNvSpPr/>
          <p:nvPr/>
        </p:nvSpPr>
        <p:spPr>
          <a:xfrm>
            <a:off x="630936" y="4420743"/>
            <a:ext cx="1481400" cy="21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i="0" lang="en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Mobile Platform + Passport Decom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7"/>
          <p:cNvSpPr/>
          <p:nvPr/>
        </p:nvSpPr>
        <p:spPr>
          <a:xfrm>
            <a:off x="630936" y="4667631"/>
            <a:ext cx="14814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A88AA"/>
              </a:buClr>
              <a:buSzPts val="560"/>
              <a:buFont typeface="Calibri"/>
              <a:buNone/>
            </a:pPr>
            <a:r>
              <a:rPr b="0" i="0" lang="en" sz="560" u="none" cap="none" strike="noStrike">
                <a:solidFill>
                  <a:srgbClr val="6A88AA"/>
                </a:solidFill>
                <a:latin typeface="Calibri"/>
                <a:ea typeface="Calibri"/>
                <a:cs typeface="Calibri"/>
                <a:sym typeface="Calibri"/>
              </a:rPr>
              <a:t>iOS+Android · Airbus Passport Decom · Platform Hardening</a:t>
            </a:r>
            <a:endParaRPr b="0" i="0" sz="5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7"/>
          <p:cNvSpPr/>
          <p:nvPr/>
        </p:nvSpPr>
        <p:spPr>
          <a:xfrm>
            <a:off x="91440" y="73152"/>
            <a:ext cx="1481400" cy="23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MyIAM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7"/>
          <p:cNvSpPr/>
          <p:nvPr/>
        </p:nvSpPr>
        <p:spPr>
          <a:xfrm>
            <a:off x="91440" y="310896"/>
            <a:ext cx="15546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6888"/>
              </a:buClr>
              <a:buSzPts val="650"/>
              <a:buFont typeface="Calibri"/>
              <a:buNone/>
            </a:pPr>
            <a:r>
              <a:rPr b="0" i="0" lang="en" sz="650" u="none" cap="none" strike="noStrike">
                <a:solidFill>
                  <a:srgbClr val="4A6888"/>
                </a:solidFill>
                <a:latin typeface="Calibri"/>
                <a:ea typeface="Calibri"/>
                <a:cs typeface="Calibri"/>
                <a:sym typeface="Calibri"/>
              </a:rPr>
              <a:t>Roadmap  ·  May 2026 → Apr 2028</a:t>
            </a:r>
            <a:endParaRPr b="0" i="0" sz="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7"/>
          <p:cNvSpPr/>
          <p:nvPr/>
        </p:nvSpPr>
        <p:spPr>
          <a:xfrm>
            <a:off x="0" y="4960620"/>
            <a:ext cx="2176200" cy="183000"/>
          </a:xfrm>
          <a:prstGeom prst="rect">
            <a:avLst/>
          </a:prstGeom>
          <a:solidFill>
            <a:srgbClr val="080F1E"/>
          </a:solidFill>
          <a:ln cap="flat" cmpd="sng" w="12700">
            <a:solidFill>
              <a:srgbClr val="080F1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7"/>
          <p:cNvSpPr/>
          <p:nvPr/>
        </p:nvSpPr>
        <p:spPr>
          <a:xfrm>
            <a:off x="2221992" y="5015484"/>
            <a:ext cx="91500" cy="91500"/>
          </a:xfrm>
          <a:prstGeom prst="ellipse">
            <a:avLst/>
          </a:prstGeom>
          <a:solidFill>
            <a:srgbClr val="2E7D32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17"/>
          <p:cNvSpPr/>
          <p:nvPr/>
        </p:nvSpPr>
        <p:spPr>
          <a:xfrm>
            <a:off x="2350008" y="5024628"/>
            <a:ext cx="7314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466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334466"/>
                </a:solidFill>
                <a:latin typeface="Calibri"/>
                <a:ea typeface="Calibri"/>
                <a:cs typeface="Calibri"/>
                <a:sym typeface="Calibri"/>
              </a:rPr>
              <a:t>Go-live</a:t>
            </a:r>
            <a:r>
              <a:rPr lang="en" sz="600">
                <a:solidFill>
                  <a:srgbClr val="334466"/>
                </a:solidFill>
                <a:latin typeface="Calibri"/>
                <a:ea typeface="Calibri"/>
                <a:cs typeface="Calibri"/>
                <a:sym typeface="Calibri"/>
              </a:rPr>
              <a:t> : 4 release 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7"/>
          <p:cNvSpPr/>
          <p:nvPr/>
        </p:nvSpPr>
        <p:spPr>
          <a:xfrm>
            <a:off x="3182112" y="5015484"/>
            <a:ext cx="91500" cy="91500"/>
          </a:xfrm>
          <a:prstGeom prst="ellipse">
            <a:avLst/>
          </a:prstGeom>
          <a:solidFill>
            <a:srgbClr val="C62828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17"/>
          <p:cNvSpPr/>
          <p:nvPr/>
        </p:nvSpPr>
        <p:spPr>
          <a:xfrm>
            <a:off x="3310128" y="5024628"/>
            <a:ext cx="7314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466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334466"/>
                </a:solidFill>
                <a:latin typeface="Calibri"/>
                <a:ea typeface="Calibri"/>
                <a:cs typeface="Calibri"/>
                <a:sym typeface="Calibri"/>
              </a:rPr>
              <a:t>Decision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7"/>
          <p:cNvSpPr/>
          <p:nvPr/>
        </p:nvSpPr>
        <p:spPr>
          <a:xfrm rot="2700000">
            <a:off x="4096529" y="5006333"/>
            <a:ext cx="100551" cy="100551"/>
          </a:xfrm>
          <a:prstGeom prst="rect">
            <a:avLst/>
          </a:prstGeom>
          <a:solidFill>
            <a:srgbClr val="7B4F9E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17"/>
          <p:cNvSpPr/>
          <p:nvPr/>
        </p:nvSpPr>
        <p:spPr>
          <a:xfrm>
            <a:off x="4251960" y="5024628"/>
            <a:ext cx="3108900" cy="1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34466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334466"/>
                </a:solidFill>
                <a:latin typeface="Calibri"/>
                <a:ea typeface="Calibri"/>
                <a:cs typeface="Calibri"/>
                <a:sym typeface="Calibri"/>
              </a:rPr>
              <a:t>G1–G4 Decision gate  ·  Abhishek Reddy sign-off required</a:t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7"/>
          <p:cNvSpPr/>
          <p:nvPr/>
        </p:nvSpPr>
        <p:spPr>
          <a:xfrm>
            <a:off x="2216540" y="1645086"/>
            <a:ext cx="859500" cy="242400"/>
          </a:xfrm>
          <a:prstGeom prst="rect">
            <a:avLst/>
          </a:prstGeom>
          <a:solidFill>
            <a:srgbClr val="37474F">
              <a:alpha val="85100"/>
            </a:srgbClr>
          </a:solidFill>
          <a:ln cap="flat" cmpd="sng" w="19050">
            <a:solidFill>
              <a:srgbClr val="80CBC4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12700" lIns="25400" spcFirstLastPara="1" rIns="25400" wrap="square" tIns="1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80CBC4"/>
                </a:solidFill>
                <a:latin typeface="Calibri"/>
                <a:ea typeface="Calibri"/>
                <a:cs typeface="Calibri"/>
                <a:sym typeface="Calibri"/>
              </a:rPr>
              <a:t>⬡ PROTOTYPE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50"/>
              <a:buFont typeface="Arial"/>
              <a:buNone/>
            </a:pPr>
            <a:r>
              <a:rPr b="0" i="1" lang="en" sz="550" u="none" cap="none" strike="noStrike">
                <a:solidFill>
                  <a:srgbClr val="E0F2F1"/>
                </a:solidFill>
                <a:latin typeface="Calibri"/>
                <a:ea typeface="Calibri"/>
                <a:cs typeface="Calibri"/>
                <a:sym typeface="Calibri"/>
              </a:rPr>
              <a:t>NiFi Design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17"/>
          <p:cNvSpPr/>
          <p:nvPr/>
        </p:nvSpPr>
        <p:spPr>
          <a:xfrm>
            <a:off x="2321450" y="2391075"/>
            <a:ext cx="915600" cy="242400"/>
          </a:xfrm>
          <a:prstGeom prst="rect">
            <a:avLst/>
          </a:prstGeom>
          <a:solidFill>
            <a:srgbClr val="37474F">
              <a:alpha val="85100"/>
            </a:srgbClr>
          </a:solidFill>
          <a:ln cap="flat" cmpd="sng" w="19050">
            <a:solidFill>
              <a:srgbClr val="80CBC4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12700" lIns="25400" spcFirstLastPara="1" rIns="25400" wrap="square" tIns="1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80CBC4"/>
                </a:solidFill>
                <a:latin typeface="Calibri"/>
                <a:ea typeface="Calibri"/>
                <a:cs typeface="Calibri"/>
                <a:sym typeface="Calibri"/>
              </a:rPr>
              <a:t>⬡ PROTOTYPE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50"/>
              <a:buFont typeface="Arial"/>
              <a:buNone/>
            </a:pPr>
            <a:r>
              <a:rPr b="0" i="1" lang="en" sz="550" u="none" cap="none" strike="noStrike">
                <a:solidFill>
                  <a:srgbClr val="E0F2F1"/>
                </a:solidFill>
                <a:latin typeface="Calibri"/>
                <a:ea typeface="Calibri"/>
                <a:cs typeface="Calibri"/>
                <a:sym typeface="Calibri"/>
              </a:rPr>
              <a:t>Core API Arch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7"/>
          <p:cNvSpPr/>
          <p:nvPr/>
        </p:nvSpPr>
        <p:spPr>
          <a:xfrm>
            <a:off x="2176275" y="2744223"/>
            <a:ext cx="807600" cy="274200"/>
          </a:xfrm>
          <a:prstGeom prst="rect">
            <a:avLst/>
          </a:prstGeom>
          <a:solidFill>
            <a:srgbClr val="37474F">
              <a:alpha val="85100"/>
            </a:srgbClr>
          </a:solidFill>
          <a:ln cap="flat" cmpd="sng" w="19050">
            <a:solidFill>
              <a:srgbClr val="80CBC4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12700" lIns="25400" spcFirstLastPara="1" rIns="25400" wrap="square" tIns="1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80CBC4"/>
                </a:solidFill>
                <a:latin typeface="Calibri"/>
                <a:ea typeface="Calibri"/>
                <a:cs typeface="Calibri"/>
                <a:sym typeface="Calibri"/>
              </a:rPr>
              <a:t>⬡ PROTOTYPE  ·  Domain API Gateway Design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17"/>
          <p:cNvSpPr/>
          <p:nvPr/>
        </p:nvSpPr>
        <p:spPr>
          <a:xfrm>
            <a:off x="2216540" y="933825"/>
            <a:ext cx="859500" cy="246900"/>
          </a:xfrm>
          <a:prstGeom prst="rect">
            <a:avLst/>
          </a:prstGeom>
          <a:solidFill>
            <a:srgbClr val="37474F">
              <a:alpha val="85100"/>
            </a:srgbClr>
          </a:solidFill>
          <a:ln cap="flat" cmpd="sng" w="19050">
            <a:solidFill>
              <a:srgbClr val="80CBC4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12700" lIns="25400" spcFirstLastPara="1" rIns="25400" wrap="square" tIns="1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1" i="0" lang="en" sz="600" u="none" cap="none" strike="noStrike">
                <a:solidFill>
                  <a:srgbClr val="80CBC4"/>
                </a:solidFill>
                <a:latin typeface="Calibri"/>
                <a:ea typeface="Calibri"/>
                <a:cs typeface="Calibri"/>
                <a:sym typeface="Calibri"/>
              </a:rPr>
              <a:t>⬡ PROTOTYPE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50"/>
              <a:buFont typeface="Arial"/>
              <a:buNone/>
            </a:pPr>
            <a:r>
              <a:rPr b="0" i="1" lang="en" sz="550" u="none" cap="none" strike="noStrike">
                <a:solidFill>
                  <a:srgbClr val="E0F2F1"/>
                </a:solidFill>
                <a:latin typeface="Calibri"/>
                <a:ea typeface="Calibri"/>
                <a:cs typeface="Calibri"/>
                <a:sym typeface="Calibri"/>
              </a:rPr>
              <a:t>MFE Design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7"/>
          <p:cNvSpPr/>
          <p:nvPr/>
        </p:nvSpPr>
        <p:spPr>
          <a:xfrm>
            <a:off x="18288" y="4219194"/>
            <a:ext cx="512100" cy="72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680"/>
              <a:buFont typeface="Calibri"/>
              <a:buNone/>
            </a:pPr>
            <a:r>
              <a:rPr b="1" i="0" lang="en" sz="680" u="none" cap="none" strike="noStrike">
                <a:solidFill>
                  <a:srgbClr val="CCCCCC"/>
                </a:solidFill>
                <a:latin typeface="Calibri"/>
                <a:ea typeface="Calibri"/>
                <a:cs typeface="Calibri"/>
                <a:sym typeface="Calibri"/>
              </a:rPr>
              <a:t>Mobile Platform</a:t>
            </a:r>
            <a:endParaRPr b="0" i="0" sz="68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CCCCC"/>
              </a:buClr>
              <a:buSzPts val="680"/>
              <a:buFont typeface="Calibri"/>
              <a:buNone/>
            </a:pPr>
            <a:r>
              <a:rPr b="1" i="0" lang="en" sz="680" u="none" cap="none" strike="noStrike">
                <a:solidFill>
                  <a:srgbClr val="CCCCCC"/>
                </a:solidFill>
                <a:latin typeface="Calibri"/>
                <a:ea typeface="Calibri"/>
                <a:cs typeface="Calibri"/>
                <a:sym typeface="Calibri"/>
              </a:rPr>
              <a:t>+ Passport Decom</a:t>
            </a:r>
            <a:endParaRPr b="0" i="0" sz="68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7"/>
          <p:cNvSpPr/>
          <p:nvPr/>
        </p:nvSpPr>
        <p:spPr>
          <a:xfrm>
            <a:off x="580050" y="4256799"/>
            <a:ext cx="8514600" cy="693000"/>
          </a:xfrm>
          <a:prstGeom prst="rect">
            <a:avLst/>
          </a:prstGeom>
          <a:solidFill>
            <a:srgbClr val="F0F0F0">
              <a:alpha val="20000"/>
            </a:srgbClr>
          </a:solidFill>
          <a:ln cap="flat" cmpd="sng" w="19050">
            <a:solidFill>
              <a:srgbClr val="BBBBBB"/>
            </a:solidFill>
            <a:prstDash val="lgDash"/>
            <a:round/>
            <a:headEnd len="sm" w="sm" type="none"/>
            <a:tailEnd len="sm" w="sm" type="none"/>
          </a:ln>
        </p:spPr>
        <p:txBody>
          <a:bodyPr anchorCtr="0" anchor="ctr" bIns="45700" lIns="182875" spcFirstLastPara="1" rIns="91425" wrap="square" tIns="45700">
            <a:noAutofit/>
          </a:bodyPr>
          <a:lstStyle/>
          <a:p>
            <a:pPr indent="457200" lvl="0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800" u="none" cap="none" strike="noStrike">
                <a:solidFill>
                  <a:srgbClr val="999999"/>
                </a:solidFill>
                <a:latin typeface="Calibri"/>
                <a:ea typeface="Calibri"/>
                <a:cs typeface="Calibri"/>
                <a:sym typeface="Calibri"/>
              </a:rPr>
              <a:t>SCOPE TBD  ·  To be decided after G3  ·  H</a:t>
            </a:r>
            <a:r>
              <a:rPr b="1" i="1" lang="en" sz="800">
                <a:solidFill>
                  <a:srgbClr val="999999"/>
                </a:solidFill>
                <a:latin typeface="Calibri"/>
                <a:ea typeface="Calibri"/>
                <a:cs typeface="Calibri"/>
                <a:sym typeface="Calibri"/>
              </a:rPr>
              <a:t>O</a:t>
            </a:r>
            <a:r>
              <a:rPr b="1" i="1" lang="en" sz="800" u="none" cap="none" strike="noStrike">
                <a:solidFill>
                  <a:srgbClr val="999999"/>
                </a:solidFill>
                <a:latin typeface="Calibri"/>
                <a:ea typeface="Calibri"/>
                <a:cs typeface="Calibri"/>
                <a:sym typeface="Calibri"/>
              </a:rPr>
              <a:t> approval required</a:t>
            </a:r>
            <a:endParaRPr/>
          </a:p>
        </p:txBody>
      </p:sp>
      <p:sp>
        <p:nvSpPr>
          <p:cNvPr id="308" name="Google Shape;308;p17"/>
          <p:cNvSpPr/>
          <p:nvPr/>
        </p:nvSpPr>
        <p:spPr>
          <a:xfrm>
            <a:off x="4903176" y="871795"/>
            <a:ext cx="493800" cy="2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✓ Cockpit Live - </a:t>
            </a:r>
            <a:r>
              <a:rPr b="1" i="0" lang="en" sz="60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R1</a:t>
            </a:r>
            <a:endParaRPr b="1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7"/>
          <p:cNvSpPr/>
          <p:nvPr/>
        </p:nvSpPr>
        <p:spPr>
          <a:xfrm>
            <a:off x="3136575" y="2740569"/>
            <a:ext cx="694800" cy="334800"/>
          </a:xfrm>
          <a:prstGeom prst="snip1Rect">
            <a:avLst>
              <a:gd fmla="val 16667" name="adj"/>
            </a:avLst>
          </a:prstGeom>
          <a:solidFill>
            <a:srgbClr val="C84B00"/>
          </a:solidFill>
          <a:ln cap="flat" cmpd="sng" w="12700">
            <a:solidFill>
              <a:srgbClr val="C84B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Initial design: API microservice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310" name="Google Shape;310;p17"/>
          <p:cNvSpPr/>
          <p:nvPr/>
        </p:nvSpPr>
        <p:spPr>
          <a:xfrm>
            <a:off x="3093298" y="1991459"/>
            <a:ext cx="694800" cy="334800"/>
          </a:xfrm>
          <a:prstGeom prst="snip1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Initial design: Core API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311" name="Google Shape;311;p17"/>
          <p:cNvSpPr/>
          <p:nvPr/>
        </p:nvSpPr>
        <p:spPr>
          <a:xfrm>
            <a:off x="5644875" y="567800"/>
            <a:ext cx="2929500" cy="274200"/>
          </a:xfrm>
          <a:prstGeom prst="rect">
            <a:avLst/>
          </a:prstGeom>
          <a:solidFill>
            <a:schemeClr val="accent2"/>
          </a:solidFill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17"/>
          <p:cNvSpPr/>
          <p:nvPr/>
        </p:nvSpPr>
        <p:spPr>
          <a:xfrm>
            <a:off x="5708874" y="567800"/>
            <a:ext cx="2592300" cy="27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Calibri"/>
              <a:buNone/>
            </a:pPr>
            <a:r>
              <a:rPr b="1" i="0" lang="en" sz="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MFE Shell  ·  Angular ModFed  ·  Micro-Frontend Modules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7"/>
          <p:cNvSpPr/>
          <p:nvPr/>
        </p:nvSpPr>
        <p:spPr>
          <a:xfrm rot="2700000">
            <a:off x="8723090" y="608734"/>
            <a:ext cx="219345" cy="219345"/>
          </a:xfrm>
          <a:prstGeom prst="rect">
            <a:avLst/>
          </a:prstGeom>
          <a:solidFill>
            <a:schemeClr val="accent2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17"/>
          <p:cNvSpPr/>
          <p:nvPr/>
        </p:nvSpPr>
        <p:spPr>
          <a:xfrm>
            <a:off x="8750467" y="642957"/>
            <a:ext cx="164700" cy="164700"/>
          </a:xfrm>
          <a:prstGeom prst="ellipse">
            <a:avLst/>
          </a:prstGeom>
          <a:solidFill>
            <a:srgbClr val="2E7D32"/>
          </a:solidFill>
          <a:ln cap="flat" cmpd="sng" w="114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17"/>
          <p:cNvSpPr/>
          <p:nvPr/>
        </p:nvSpPr>
        <p:spPr>
          <a:xfrm>
            <a:off x="8573109" y="564280"/>
            <a:ext cx="137100" cy="137100"/>
          </a:xfrm>
          <a:prstGeom prst="rtTriangle">
            <a:avLst/>
          </a:prstGeom>
          <a:solidFill>
            <a:schemeClr val="accent2"/>
          </a:solidFill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7"/>
          <p:cNvSpPr/>
          <p:nvPr/>
        </p:nvSpPr>
        <p:spPr>
          <a:xfrm flipH="1" rot="10800000">
            <a:off x="8574834" y="705010"/>
            <a:ext cx="137100" cy="137100"/>
          </a:xfrm>
          <a:prstGeom prst="rtTriangle">
            <a:avLst/>
          </a:prstGeom>
          <a:solidFill>
            <a:schemeClr val="accent2"/>
          </a:solidFill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17"/>
          <p:cNvSpPr/>
          <p:nvPr/>
        </p:nvSpPr>
        <p:spPr>
          <a:xfrm>
            <a:off x="8494980" y="880626"/>
            <a:ext cx="493800" cy="2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5566"/>
              </a:buClr>
              <a:buSzPts val="600"/>
              <a:buFont typeface="Calibri"/>
              <a:buNone/>
            </a:pPr>
            <a:r>
              <a:rPr b="0" i="0" lang="en" sz="60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✓ </a:t>
            </a:r>
            <a:r>
              <a:rPr lang="en" sz="600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MFE </a:t>
            </a:r>
            <a:r>
              <a:rPr b="0" i="0" lang="en" sz="60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i="0" lang="en" sz="600" u="none" cap="none" strike="noStrike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r>
              <a:rPr b="1" lang="en" sz="600">
                <a:solidFill>
                  <a:srgbClr val="445566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1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8"/>
          <p:cNvSpPr/>
          <p:nvPr/>
        </p:nvSpPr>
        <p:spPr>
          <a:xfrm>
            <a:off x="0" y="0"/>
            <a:ext cx="9144000" cy="639000"/>
          </a:xfrm>
          <a:prstGeom prst="rect">
            <a:avLst/>
          </a:prstGeom>
          <a:solidFill>
            <a:srgbClr val="050E1F"/>
          </a:solidFill>
          <a:ln cap="flat" cmpd="sng" w="9525">
            <a:solidFill>
              <a:srgbClr val="050E1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8"/>
          <p:cNvSpPr txBox="1"/>
          <p:nvPr/>
        </p:nvSpPr>
        <p:spPr>
          <a:xfrm>
            <a:off x="274320" y="27432"/>
            <a:ext cx="34290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B0BFD4"/>
                </a:solidFill>
                <a:latin typeface="Calibri"/>
                <a:ea typeface="Calibri"/>
                <a:cs typeface="Calibri"/>
                <a:sym typeface="Calibri"/>
              </a:rPr>
              <a:t>PROGRAMME RISK REGISTER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8"/>
          <p:cNvSpPr txBox="1"/>
          <p:nvPr/>
        </p:nvSpPr>
        <p:spPr>
          <a:xfrm>
            <a:off x="148533" y="159715"/>
            <a:ext cx="59745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Dependency Risks &amp; Mitigations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18"/>
          <p:cNvSpPr txBox="1"/>
          <p:nvPr/>
        </p:nvSpPr>
        <p:spPr>
          <a:xfrm>
            <a:off x="6587275" y="239590"/>
            <a:ext cx="22632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" sz="700">
                <a:solidFill>
                  <a:srgbClr val="B0BFD4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0" i="0" lang="en" sz="700" u="none" cap="none" strike="noStrike">
                <a:solidFill>
                  <a:srgbClr val="B0BFD4"/>
                </a:solidFill>
                <a:latin typeface="Calibri"/>
                <a:ea typeface="Calibri"/>
                <a:cs typeface="Calibri"/>
                <a:sym typeface="Calibri"/>
              </a:rPr>
              <a:t> risks  · </a:t>
            </a:r>
            <a:r>
              <a:rPr lang="en" sz="700">
                <a:solidFill>
                  <a:srgbClr val="B0BFD4"/>
                </a:solidFill>
                <a:latin typeface="Calibri"/>
                <a:ea typeface="Calibri"/>
                <a:cs typeface="Calibri"/>
                <a:sym typeface="Calibri"/>
              </a:rPr>
              <a:t>1 not mitigated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18"/>
          <p:cNvSpPr/>
          <p:nvPr/>
        </p:nvSpPr>
        <p:spPr>
          <a:xfrm>
            <a:off x="4796700" y="2196799"/>
            <a:ext cx="4221300" cy="1389600"/>
          </a:xfrm>
          <a:prstGeom prst="rect">
            <a:avLst/>
          </a:prstGeom>
          <a:solidFill>
            <a:srgbClr val="FBFBFB"/>
          </a:solidFill>
          <a:ln cap="flat" cmpd="sng" w="12350">
            <a:solidFill>
              <a:srgbClr val="D7D7D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4425" lIns="88900" spcFirstLastPara="1" rIns="88900" wrap="square" tIns="4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15"/>
              <a:buFont typeface="Arial"/>
              <a:buNone/>
            </a:pPr>
            <a:r>
              <a:t/>
            </a:r>
            <a:endParaRPr b="0" i="0" sz="181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8"/>
          <p:cNvSpPr/>
          <p:nvPr/>
        </p:nvSpPr>
        <p:spPr>
          <a:xfrm>
            <a:off x="4688850" y="2198752"/>
            <a:ext cx="69300" cy="1353300"/>
          </a:xfrm>
          <a:prstGeom prst="rect">
            <a:avLst/>
          </a:prstGeom>
          <a:solidFill>
            <a:srgbClr val="DC3545"/>
          </a:solidFill>
          <a:ln cap="flat" cmpd="sng" w="10200">
            <a:solidFill>
              <a:srgbClr val="DC354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36675" lIns="73350" spcFirstLastPara="1" rIns="73350" wrap="square" tIns="36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98"/>
              <a:buFont typeface="Arial"/>
              <a:buNone/>
            </a:pPr>
            <a:r>
              <a:t/>
            </a:r>
            <a:endParaRPr b="0" i="0" sz="149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8"/>
          <p:cNvSpPr/>
          <p:nvPr/>
        </p:nvSpPr>
        <p:spPr>
          <a:xfrm>
            <a:off x="4908038" y="2291748"/>
            <a:ext cx="426900" cy="284700"/>
          </a:xfrm>
          <a:prstGeom prst="roundRect">
            <a:avLst>
              <a:gd fmla="val 16667" name="adj"/>
            </a:avLst>
          </a:prstGeom>
          <a:solidFill>
            <a:srgbClr val="DC3545"/>
          </a:solidFill>
          <a:ln cap="flat" cmpd="sng" w="12350">
            <a:solidFill>
              <a:srgbClr val="DC354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4425" lIns="88900" spcFirstLastPara="1" rIns="88900" wrap="square" tIns="4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97"/>
              <a:buFont typeface="Arial"/>
              <a:buNone/>
            </a:pPr>
            <a:r>
              <a:rPr b="1" i="0" lang="en" sz="1297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r>
              <a:rPr b="1" lang="en" sz="1297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42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18"/>
          <p:cNvSpPr/>
          <p:nvPr/>
        </p:nvSpPr>
        <p:spPr>
          <a:xfrm>
            <a:off x="5427613" y="2291748"/>
            <a:ext cx="974100" cy="284700"/>
          </a:xfrm>
          <a:prstGeom prst="rect">
            <a:avLst/>
          </a:prstGeom>
          <a:solidFill>
            <a:srgbClr val="F1F1F1"/>
          </a:solidFill>
          <a:ln cap="flat" cmpd="sng" w="12350">
            <a:solidFill>
              <a:srgbClr val="DC354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4425" lIns="88900" spcFirstLastPara="1" rIns="88900" wrap="square" tIns="4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48"/>
              <a:buFont typeface="Arial"/>
              <a:buNone/>
            </a:pPr>
            <a:r>
              <a:rPr b="1" i="0" lang="en" sz="648" u="none" cap="none" strike="noStrike">
                <a:solidFill>
                  <a:srgbClr val="8C1414"/>
                </a:solidFill>
                <a:latin typeface="Calibri"/>
                <a:ea typeface="Calibri"/>
                <a:cs typeface="Calibri"/>
                <a:sym typeface="Calibri"/>
              </a:rPr>
              <a:t>CRITICAL ★ NEW</a:t>
            </a:r>
            <a:endParaRPr b="0" i="0" sz="142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18"/>
          <p:cNvSpPr txBox="1"/>
          <p:nvPr/>
        </p:nvSpPr>
        <p:spPr>
          <a:xfrm>
            <a:off x="6510590" y="2236311"/>
            <a:ext cx="2468100" cy="38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25" lIns="88900" spcFirstLastPara="1" rIns="88900" wrap="square" tIns="4442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8"/>
              <a:buFont typeface="Arial"/>
              <a:buNone/>
            </a:pPr>
            <a:r>
              <a:rPr b="1" i="0" lang="en" sz="908" u="none" cap="none" strike="noStrike">
                <a:solidFill>
                  <a:srgbClr val="32414B"/>
                </a:solidFill>
                <a:latin typeface="Calibri"/>
                <a:ea typeface="Calibri"/>
                <a:cs typeface="Calibri"/>
                <a:sym typeface="Calibri"/>
              </a:rPr>
              <a:t>Phase 2 API modernization breaks Phase 1 MFE modules</a:t>
            </a:r>
            <a:endParaRPr b="0" i="0" sz="142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18"/>
          <p:cNvSpPr txBox="1"/>
          <p:nvPr/>
        </p:nvSpPr>
        <p:spPr>
          <a:xfrm>
            <a:off x="4908038" y="2671544"/>
            <a:ext cx="4035600" cy="1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25" lIns="88900" spcFirstLastPara="1" rIns="88900" wrap="square" tIns="4442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48"/>
              <a:buFont typeface="Arial"/>
              <a:buNone/>
            </a:pPr>
            <a:r>
              <a:rPr b="0" i="1" lang="en" sz="648" u="none" cap="none" strike="noStrike">
                <a:solidFill>
                  <a:srgbClr val="7D7D7D"/>
                </a:solidFill>
                <a:latin typeface="Calibri"/>
                <a:ea typeface="Calibri"/>
                <a:cs typeface="Calibri"/>
                <a:sym typeface="Calibri"/>
              </a:rPr>
              <a:t>Phase 1 go-live (Oct 2026) → Phase 2 transition (Nov 2026)</a:t>
            </a:r>
            <a:endParaRPr b="0" i="0" sz="142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18"/>
          <p:cNvSpPr txBox="1"/>
          <p:nvPr/>
        </p:nvSpPr>
        <p:spPr>
          <a:xfrm>
            <a:off x="4908038" y="2840342"/>
            <a:ext cx="556800" cy="1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25" lIns="88900" spcFirstLastPara="1" rIns="88900" wrap="square" tIns="4442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48"/>
              <a:buFont typeface="Arial"/>
              <a:buNone/>
            </a:pPr>
            <a:r>
              <a:rPr b="1" i="0" lang="en" sz="648" u="none" cap="none" strike="noStrike">
                <a:solidFill>
                  <a:srgbClr val="8C1414"/>
                </a:solidFill>
                <a:latin typeface="Calibri"/>
                <a:ea typeface="Calibri"/>
                <a:cs typeface="Calibri"/>
                <a:sym typeface="Calibri"/>
              </a:rPr>
              <a:t>Cause:</a:t>
            </a:r>
            <a:endParaRPr b="0" i="0" sz="142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18"/>
          <p:cNvSpPr txBox="1"/>
          <p:nvPr/>
        </p:nvSpPr>
        <p:spPr>
          <a:xfrm>
            <a:off x="5427625" y="2851732"/>
            <a:ext cx="3367800" cy="2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25" lIns="88900" spcFirstLastPara="1" rIns="88900" wrap="square" tIns="44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48"/>
              <a:buFont typeface="Arial"/>
              <a:buNone/>
            </a:pPr>
            <a:r>
              <a:rPr b="0" i="0" lang="en" sz="648" u="none" cap="none" strike="noStrike">
                <a:solidFill>
                  <a:srgbClr val="505050"/>
                </a:solidFill>
                <a:latin typeface="Calibri"/>
                <a:ea typeface="Calibri"/>
                <a:cs typeface="Calibri"/>
                <a:sym typeface="Calibri"/>
              </a:rPr>
              <a:t>Phase 1 ships MFE to 200K+ users on legacy APIs. Phase 2 replaces them with domain APIs — different contracts. Modules break without refactoring.</a:t>
            </a:r>
            <a:endParaRPr b="0" i="0" sz="142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8"/>
          <p:cNvSpPr txBox="1"/>
          <p:nvPr/>
        </p:nvSpPr>
        <p:spPr>
          <a:xfrm>
            <a:off x="4908038" y="3093540"/>
            <a:ext cx="760800" cy="1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25" lIns="88900" spcFirstLastPara="1" rIns="88900" wrap="square" tIns="4442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48"/>
              <a:buFont typeface="Arial"/>
              <a:buNone/>
            </a:pPr>
            <a:r>
              <a:rPr b="1" i="0" lang="en" sz="648" u="none" cap="none" strike="noStrike">
                <a:solidFill>
                  <a:srgbClr val="8C1414"/>
                </a:solidFill>
                <a:latin typeface="Calibri"/>
                <a:ea typeface="Calibri"/>
                <a:cs typeface="Calibri"/>
                <a:sym typeface="Calibri"/>
              </a:rPr>
              <a:t>Mitigation:</a:t>
            </a:r>
            <a:endParaRPr b="0" i="0" sz="142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18"/>
          <p:cNvSpPr txBox="1"/>
          <p:nvPr/>
        </p:nvSpPr>
        <p:spPr>
          <a:xfrm>
            <a:off x="5569493" y="3104929"/>
            <a:ext cx="3182400" cy="2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25" lIns="88900" spcFirstLastPara="1" rIns="88900" wrap="square" tIns="44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48"/>
              <a:buFont typeface="Arial"/>
              <a:buNone/>
            </a:pPr>
            <a:r>
              <a:rPr b="0" i="0" lang="en" sz="648" u="none" cap="none" strike="noStrike">
                <a:solidFill>
                  <a:srgbClr val="505050"/>
                </a:solidFill>
                <a:latin typeface="Calibri"/>
                <a:ea typeface="Calibri"/>
                <a:cs typeface="Calibri"/>
                <a:sym typeface="Calibri"/>
              </a:rPr>
              <a:t>API Gateway backward compatibility layer. 2–4 week parallel operation window. Coordinate API contracts Q2 2026. Module refactoring in Phase 2 early weeks.</a:t>
            </a:r>
            <a:endParaRPr b="0" i="0" sz="142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8"/>
          <p:cNvSpPr txBox="1"/>
          <p:nvPr/>
        </p:nvSpPr>
        <p:spPr>
          <a:xfrm>
            <a:off x="117874" y="4840004"/>
            <a:ext cx="8457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1" lang="en" sz="600" u="none" cap="none" strike="noStrike">
                <a:solidFill>
                  <a:srgbClr val="9B9B9B"/>
                </a:solidFill>
                <a:latin typeface="Calibri"/>
                <a:ea typeface="Calibri"/>
                <a:cs typeface="Calibri"/>
                <a:sym typeface="Calibri"/>
              </a:rPr>
              <a:t>Mitigations additive to existing roadmap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18"/>
          <p:cNvSpPr/>
          <p:nvPr/>
        </p:nvSpPr>
        <p:spPr>
          <a:xfrm>
            <a:off x="187175" y="1024378"/>
            <a:ext cx="4321800" cy="1041300"/>
          </a:xfrm>
          <a:prstGeom prst="rect">
            <a:avLst/>
          </a:prstGeom>
          <a:solidFill>
            <a:srgbClr val="FBFBFB"/>
          </a:solidFill>
          <a:ln cap="flat" cmpd="sng" w="10200">
            <a:solidFill>
              <a:srgbClr val="D7D7D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36675" lIns="73350" spcFirstLastPara="1" rIns="73350" wrap="square" tIns="36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98"/>
              <a:buFont typeface="Arial"/>
              <a:buNone/>
            </a:pPr>
            <a:r>
              <a:t/>
            </a:r>
            <a:endParaRPr b="0" i="0" sz="149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8"/>
          <p:cNvSpPr/>
          <p:nvPr/>
        </p:nvSpPr>
        <p:spPr>
          <a:xfrm>
            <a:off x="92629" y="1024376"/>
            <a:ext cx="69300" cy="1097400"/>
          </a:xfrm>
          <a:prstGeom prst="rect">
            <a:avLst/>
          </a:prstGeom>
          <a:solidFill>
            <a:srgbClr val="E66E00"/>
          </a:solidFill>
          <a:ln cap="flat" cmpd="sng" w="10200">
            <a:solidFill>
              <a:srgbClr val="E66E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36675" lIns="73350" spcFirstLastPara="1" rIns="73350" wrap="square" tIns="36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98"/>
              <a:buFont typeface="Arial"/>
              <a:buNone/>
            </a:pPr>
            <a:r>
              <a:t/>
            </a:r>
            <a:endParaRPr b="0" i="0" sz="149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8"/>
          <p:cNvSpPr/>
          <p:nvPr/>
        </p:nvSpPr>
        <p:spPr>
          <a:xfrm>
            <a:off x="231598" y="1062453"/>
            <a:ext cx="452400" cy="198000"/>
          </a:xfrm>
          <a:prstGeom prst="roundRect">
            <a:avLst>
              <a:gd fmla="val 16667" name="adj"/>
            </a:avLst>
          </a:prstGeom>
          <a:solidFill>
            <a:srgbClr val="E66E00"/>
          </a:solidFill>
          <a:ln cap="flat" cmpd="sng" w="10200">
            <a:solidFill>
              <a:srgbClr val="E66E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36675" lIns="73350" spcFirstLastPara="1" rIns="73350" wrap="square" tIns="36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0"/>
              <a:buFont typeface="Arial"/>
              <a:buNone/>
            </a:pPr>
            <a:r>
              <a:rPr b="1" i="0" lang="en" sz="107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r>
              <a:rPr b="1" lang="en" sz="107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17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18"/>
          <p:cNvSpPr/>
          <p:nvPr/>
        </p:nvSpPr>
        <p:spPr>
          <a:xfrm>
            <a:off x="782281" y="1062453"/>
            <a:ext cx="1032300" cy="198000"/>
          </a:xfrm>
          <a:prstGeom prst="rect">
            <a:avLst/>
          </a:prstGeom>
          <a:solidFill>
            <a:srgbClr val="F1F1F1"/>
          </a:solidFill>
          <a:ln cap="flat" cmpd="sng" w="10200">
            <a:solidFill>
              <a:srgbClr val="E66E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36675" lIns="73350" spcFirstLastPara="1" rIns="73350" wrap="square" tIns="36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5"/>
              <a:buFont typeface="Arial"/>
              <a:buNone/>
            </a:pPr>
            <a:r>
              <a:rPr b="1" i="0" lang="en" sz="535" u="none" cap="none" strike="noStrike">
                <a:solidFill>
                  <a:srgbClr val="9B4600"/>
                </a:solidFill>
                <a:latin typeface="Calibri"/>
                <a:ea typeface="Calibri"/>
                <a:cs typeface="Calibri"/>
                <a:sym typeface="Calibri"/>
              </a:rPr>
              <a:t>IMPORTANT ★</a:t>
            </a:r>
            <a:endParaRPr b="0" i="0" sz="117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18"/>
          <p:cNvSpPr txBox="1"/>
          <p:nvPr/>
        </p:nvSpPr>
        <p:spPr>
          <a:xfrm>
            <a:off x="1893481" y="1062453"/>
            <a:ext cx="2615700" cy="31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6675" lIns="73350" spcFirstLastPara="1" rIns="73350" wrap="square" tIns="3667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49"/>
              <a:buFont typeface="Arial"/>
              <a:buNone/>
            </a:pPr>
            <a:r>
              <a:rPr b="1" lang="en" sz="749">
                <a:solidFill>
                  <a:srgbClr val="32414B"/>
                </a:solidFill>
                <a:latin typeface="Calibri"/>
                <a:ea typeface="Calibri"/>
                <a:cs typeface="Calibri"/>
                <a:sym typeface="Calibri"/>
              </a:rPr>
              <a:t>R1 – Phase 1: MyAccess UI Consolidation (3-app merge technical complexity)</a:t>
            </a:r>
            <a:endParaRPr b="1" sz="749">
              <a:solidFill>
                <a:srgbClr val="3241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8"/>
          <p:cNvSpPr txBox="1"/>
          <p:nvPr/>
        </p:nvSpPr>
        <p:spPr>
          <a:xfrm>
            <a:off x="231598" y="1326576"/>
            <a:ext cx="4277400" cy="156300"/>
          </a:xfrm>
          <a:prstGeom prst="rect">
            <a:avLst/>
          </a:prstGeom>
          <a:noFill/>
          <a:ln>
            <a:noFill/>
          </a:ln>
        </p:spPr>
        <p:txBody>
          <a:bodyPr anchorCtr="0" anchor="t" bIns="36675" lIns="73350" spcFirstLastPara="1" rIns="73350" wrap="square" tIns="3667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5"/>
              <a:buFont typeface="Arial"/>
              <a:buNone/>
            </a:pPr>
            <a:r>
              <a:rPr b="0" i="1" lang="en" sz="535" u="none" cap="none" strike="noStrike">
                <a:solidFill>
                  <a:srgbClr val="7D7D7D"/>
                </a:solidFill>
                <a:latin typeface="Calibri"/>
                <a:ea typeface="Calibri"/>
                <a:cs typeface="Calibri"/>
                <a:sym typeface="Calibri"/>
              </a:rPr>
              <a:t>Q2 2026 module development → potential Q3 delays</a:t>
            </a:r>
            <a:endParaRPr b="0" i="0" sz="117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18"/>
          <p:cNvSpPr txBox="1"/>
          <p:nvPr/>
        </p:nvSpPr>
        <p:spPr>
          <a:xfrm>
            <a:off x="231598" y="1443964"/>
            <a:ext cx="590100" cy="156300"/>
          </a:xfrm>
          <a:prstGeom prst="rect">
            <a:avLst/>
          </a:prstGeom>
          <a:noFill/>
          <a:ln>
            <a:noFill/>
          </a:ln>
        </p:spPr>
        <p:txBody>
          <a:bodyPr anchorCtr="0" anchor="t" bIns="36675" lIns="73350" spcFirstLastPara="1" rIns="73350" wrap="square" tIns="3667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5"/>
              <a:buFont typeface="Arial"/>
              <a:buNone/>
            </a:pPr>
            <a:r>
              <a:rPr b="1" i="0" lang="en" sz="535" u="none" cap="none" strike="noStrike">
                <a:solidFill>
                  <a:srgbClr val="9B4600"/>
                </a:solidFill>
                <a:latin typeface="Calibri"/>
                <a:ea typeface="Calibri"/>
                <a:cs typeface="Calibri"/>
                <a:sym typeface="Calibri"/>
              </a:rPr>
              <a:t>Cause:</a:t>
            </a:r>
            <a:endParaRPr b="0" i="0" sz="117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18"/>
          <p:cNvSpPr txBox="1"/>
          <p:nvPr/>
        </p:nvSpPr>
        <p:spPr>
          <a:xfrm>
            <a:off x="900285" y="1443964"/>
            <a:ext cx="35694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36675" lIns="73350" spcFirstLastPara="1" rIns="73350" wrap="square" tIns="3667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5"/>
              <a:buFont typeface="Arial"/>
              <a:buNone/>
            </a:pPr>
            <a:r>
              <a:rPr lang="en" sz="635">
                <a:solidFill>
                  <a:srgbClr val="505050"/>
                </a:solidFill>
                <a:latin typeface="Calibri"/>
                <a:ea typeface="Calibri"/>
                <a:cs typeface="Calibri"/>
                <a:sym typeface="Calibri"/>
              </a:rPr>
              <a:t>MyAccess consolidation of 3 apps requires significant technical refactoring. Minimal UX experience  . UI development rework </a:t>
            </a:r>
            <a:endParaRPr sz="635">
              <a:solidFill>
                <a:srgbClr val="50505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5"/>
              <a:buFont typeface="Arial"/>
              <a:buNone/>
            </a:pPr>
            <a:r>
              <a:t/>
            </a:r>
            <a:endParaRPr sz="635">
              <a:solidFill>
                <a:srgbClr val="505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8"/>
          <p:cNvSpPr txBox="1"/>
          <p:nvPr/>
        </p:nvSpPr>
        <p:spPr>
          <a:xfrm>
            <a:off x="231598" y="1717884"/>
            <a:ext cx="806100" cy="156300"/>
          </a:xfrm>
          <a:prstGeom prst="rect">
            <a:avLst/>
          </a:prstGeom>
          <a:noFill/>
          <a:ln>
            <a:noFill/>
          </a:ln>
        </p:spPr>
        <p:txBody>
          <a:bodyPr anchorCtr="0" anchor="t" bIns="36675" lIns="73350" spcFirstLastPara="1" rIns="73350" wrap="square" tIns="3667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5"/>
              <a:buFont typeface="Arial"/>
              <a:buNone/>
            </a:pPr>
            <a:r>
              <a:rPr b="1" i="0" lang="en" sz="535" u="none" cap="none" strike="noStrike">
                <a:solidFill>
                  <a:srgbClr val="9B4600"/>
                </a:solidFill>
                <a:latin typeface="Calibri"/>
                <a:ea typeface="Calibri"/>
                <a:cs typeface="Calibri"/>
                <a:sym typeface="Calibri"/>
              </a:rPr>
              <a:t>Mitigation:</a:t>
            </a:r>
            <a:endParaRPr b="0" i="0" sz="117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18"/>
          <p:cNvSpPr txBox="1"/>
          <p:nvPr/>
        </p:nvSpPr>
        <p:spPr>
          <a:xfrm>
            <a:off x="908269" y="1696919"/>
            <a:ext cx="3372600" cy="36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6675" lIns="73350" spcFirstLastPara="1" rIns="73350" wrap="square" tIns="3667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5"/>
              <a:buFont typeface="Arial"/>
              <a:buNone/>
            </a:pPr>
            <a:r>
              <a:rPr lang="en" sz="600">
                <a:solidFill>
                  <a:srgbClr val="505050"/>
                </a:solidFill>
                <a:latin typeface="Calibri"/>
                <a:ea typeface="Calibri"/>
                <a:cs typeface="Calibri"/>
                <a:sym typeface="Calibri"/>
              </a:rPr>
              <a:t>Phase 1 (May-Jan 2026): Focus on technical consolidation only. Defer full redesign to Phase 2. Early design sprints (Apr-Jan 2026) define integration patterns and full redevelopment for better UX and adaptation. New features cant be </a:t>
            </a:r>
            <a:r>
              <a:rPr lang="en" sz="600">
                <a:solidFill>
                  <a:srgbClr val="505050"/>
                </a:solidFill>
                <a:latin typeface="Calibri"/>
                <a:ea typeface="Calibri"/>
                <a:cs typeface="Calibri"/>
                <a:sym typeface="Calibri"/>
              </a:rPr>
              <a:t>accommodate</a:t>
            </a:r>
            <a:r>
              <a:rPr lang="en" sz="600">
                <a:solidFill>
                  <a:srgbClr val="505050"/>
                </a:solidFill>
                <a:latin typeface="Calibri"/>
                <a:ea typeface="Calibri"/>
                <a:cs typeface="Calibri"/>
                <a:sym typeface="Calibri"/>
              </a:rPr>
              <a:t> until Release 5</a:t>
            </a:r>
            <a:endParaRPr sz="600">
              <a:solidFill>
                <a:srgbClr val="505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8"/>
          <p:cNvSpPr/>
          <p:nvPr/>
        </p:nvSpPr>
        <p:spPr>
          <a:xfrm>
            <a:off x="215350" y="2242878"/>
            <a:ext cx="4362000" cy="1153200"/>
          </a:xfrm>
          <a:prstGeom prst="rect">
            <a:avLst/>
          </a:prstGeom>
          <a:solidFill>
            <a:srgbClr val="FBFBFB"/>
          </a:solidFill>
          <a:ln cap="flat" cmpd="sng" w="10200">
            <a:solidFill>
              <a:srgbClr val="D7D7D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36675" lIns="73350" spcFirstLastPara="1" rIns="73350" wrap="square" tIns="36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98"/>
              <a:buFont typeface="Arial"/>
              <a:buNone/>
            </a:pPr>
            <a:r>
              <a:t/>
            </a:r>
            <a:endParaRPr b="0" i="0" sz="149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8"/>
          <p:cNvSpPr/>
          <p:nvPr/>
        </p:nvSpPr>
        <p:spPr>
          <a:xfrm>
            <a:off x="104050" y="2317867"/>
            <a:ext cx="69300" cy="1060800"/>
          </a:xfrm>
          <a:prstGeom prst="rect">
            <a:avLst/>
          </a:prstGeom>
          <a:solidFill>
            <a:srgbClr val="DC3545"/>
          </a:solidFill>
          <a:ln cap="flat" cmpd="sng" w="10200">
            <a:solidFill>
              <a:srgbClr val="DC354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36675" lIns="73350" spcFirstLastPara="1" rIns="73350" wrap="square" tIns="36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98"/>
              <a:buFont typeface="Arial"/>
              <a:buNone/>
            </a:pPr>
            <a:r>
              <a:t/>
            </a:r>
            <a:endParaRPr b="0" i="0" sz="149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8"/>
          <p:cNvSpPr/>
          <p:nvPr/>
        </p:nvSpPr>
        <p:spPr>
          <a:xfrm>
            <a:off x="222054" y="2383898"/>
            <a:ext cx="452400" cy="198000"/>
          </a:xfrm>
          <a:prstGeom prst="roundRect">
            <a:avLst>
              <a:gd fmla="val 16667" name="adj"/>
            </a:avLst>
          </a:prstGeom>
          <a:solidFill>
            <a:srgbClr val="DC3545"/>
          </a:solidFill>
          <a:ln cap="flat" cmpd="sng" w="10200">
            <a:solidFill>
              <a:srgbClr val="DC354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36675" lIns="73350" spcFirstLastPara="1" rIns="73350" wrap="square" tIns="36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0"/>
              <a:buFont typeface="Arial"/>
              <a:buNone/>
            </a:pPr>
            <a:r>
              <a:rPr b="1" i="0" lang="en" sz="107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r>
              <a:rPr b="1" lang="en" sz="107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17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18"/>
          <p:cNvSpPr/>
          <p:nvPr/>
        </p:nvSpPr>
        <p:spPr>
          <a:xfrm>
            <a:off x="772737" y="2383898"/>
            <a:ext cx="1032300" cy="198000"/>
          </a:xfrm>
          <a:prstGeom prst="rect">
            <a:avLst/>
          </a:prstGeom>
          <a:solidFill>
            <a:srgbClr val="F1F1F1"/>
          </a:solidFill>
          <a:ln cap="flat" cmpd="sng" w="10200">
            <a:solidFill>
              <a:srgbClr val="DC354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36675" lIns="73350" spcFirstLastPara="1" rIns="73350" wrap="square" tIns="36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5"/>
              <a:buFont typeface="Arial"/>
              <a:buNone/>
            </a:pPr>
            <a:r>
              <a:rPr b="1" i="0" lang="en" sz="535" u="none" cap="none" strike="noStrike">
                <a:solidFill>
                  <a:srgbClr val="8C1414"/>
                </a:solidFill>
                <a:latin typeface="Calibri"/>
                <a:ea typeface="Calibri"/>
                <a:cs typeface="Calibri"/>
                <a:sym typeface="Calibri"/>
              </a:rPr>
              <a:t>CRITICAL ★ </a:t>
            </a:r>
            <a:endParaRPr b="0" i="0" sz="117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18"/>
          <p:cNvSpPr txBox="1"/>
          <p:nvPr/>
        </p:nvSpPr>
        <p:spPr>
          <a:xfrm>
            <a:off x="1883937" y="2383898"/>
            <a:ext cx="2615700" cy="1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36675" lIns="73350" spcFirstLastPara="1" rIns="73350" wrap="square" tIns="3667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49"/>
              <a:buFont typeface="Arial"/>
              <a:buNone/>
            </a:pPr>
            <a:r>
              <a:rPr b="1" i="0" lang="en" sz="749" u="none" cap="none" strike="noStrike">
                <a:solidFill>
                  <a:srgbClr val="32414B"/>
                </a:solidFill>
                <a:latin typeface="Calibri"/>
                <a:ea typeface="Calibri"/>
                <a:cs typeface="Calibri"/>
                <a:sym typeface="Calibri"/>
              </a:rPr>
              <a:t>Legacy API contracts not optimized for MFE consumption</a:t>
            </a:r>
            <a:endParaRPr b="0" i="0" sz="117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18"/>
          <p:cNvSpPr txBox="1"/>
          <p:nvPr/>
        </p:nvSpPr>
        <p:spPr>
          <a:xfrm>
            <a:off x="222054" y="2648021"/>
            <a:ext cx="4277400" cy="156300"/>
          </a:xfrm>
          <a:prstGeom prst="rect">
            <a:avLst/>
          </a:prstGeom>
          <a:noFill/>
          <a:ln>
            <a:noFill/>
          </a:ln>
        </p:spPr>
        <p:txBody>
          <a:bodyPr anchorCtr="0" anchor="t" bIns="36675" lIns="73350" spcFirstLastPara="1" rIns="73350" wrap="square" tIns="3667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5"/>
              <a:buFont typeface="Arial"/>
              <a:buNone/>
            </a:pPr>
            <a:r>
              <a:rPr b="0" i="1" lang="en" sz="535" u="none" cap="none" strike="noStrike">
                <a:solidFill>
                  <a:srgbClr val="7D7D7D"/>
                </a:solidFill>
                <a:latin typeface="Calibri"/>
                <a:ea typeface="Calibri"/>
                <a:cs typeface="Calibri"/>
                <a:sym typeface="Calibri"/>
              </a:rPr>
              <a:t>Phase 1 go-live (</a:t>
            </a:r>
            <a:r>
              <a:rPr i="1" lang="en" sz="535">
                <a:solidFill>
                  <a:srgbClr val="7D7D7D"/>
                </a:solidFill>
                <a:latin typeface="Calibri"/>
                <a:ea typeface="Calibri"/>
                <a:cs typeface="Calibri"/>
                <a:sym typeface="Calibri"/>
              </a:rPr>
              <a:t>Jan</a:t>
            </a:r>
            <a:r>
              <a:rPr b="0" i="1" lang="en" sz="535" u="none" cap="none" strike="noStrike">
                <a:solidFill>
                  <a:srgbClr val="7D7D7D"/>
                </a:solidFill>
                <a:latin typeface="Calibri"/>
                <a:ea typeface="Calibri"/>
                <a:cs typeface="Calibri"/>
                <a:sym typeface="Calibri"/>
              </a:rPr>
              <a:t> 2026) and Phase 2 transition (Apr 2027)</a:t>
            </a:r>
            <a:endParaRPr b="0" i="0" sz="117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18"/>
          <p:cNvSpPr txBox="1"/>
          <p:nvPr/>
        </p:nvSpPr>
        <p:spPr>
          <a:xfrm>
            <a:off x="222054" y="2765409"/>
            <a:ext cx="590100" cy="156300"/>
          </a:xfrm>
          <a:prstGeom prst="rect">
            <a:avLst/>
          </a:prstGeom>
          <a:noFill/>
          <a:ln>
            <a:noFill/>
          </a:ln>
        </p:spPr>
        <p:txBody>
          <a:bodyPr anchorCtr="0" anchor="t" bIns="36675" lIns="73350" spcFirstLastPara="1" rIns="73350" wrap="square" tIns="3667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5"/>
              <a:buFont typeface="Arial"/>
              <a:buNone/>
            </a:pPr>
            <a:r>
              <a:rPr b="1" i="0" lang="en" sz="535" u="none" cap="none" strike="noStrike">
                <a:solidFill>
                  <a:srgbClr val="8C1414"/>
                </a:solidFill>
                <a:latin typeface="Calibri"/>
                <a:ea typeface="Calibri"/>
                <a:cs typeface="Calibri"/>
                <a:sym typeface="Calibri"/>
              </a:rPr>
              <a:t>Cause:</a:t>
            </a:r>
            <a:endParaRPr b="0" i="0" sz="117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8"/>
          <p:cNvSpPr txBox="1"/>
          <p:nvPr/>
        </p:nvSpPr>
        <p:spPr>
          <a:xfrm>
            <a:off x="890740" y="2765409"/>
            <a:ext cx="3569400" cy="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675" lIns="73350" spcFirstLastPara="1" rIns="73350" wrap="square" tIns="3667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5"/>
              <a:buFont typeface="Arial"/>
              <a:buNone/>
            </a:pPr>
            <a:r>
              <a:rPr b="0" i="0" lang="en" sz="600" u="none" cap="none" strike="noStrike">
                <a:solidFill>
                  <a:srgbClr val="505050"/>
                </a:solidFill>
                <a:latin typeface="Calibri"/>
                <a:ea typeface="Calibri"/>
                <a:cs typeface="Calibri"/>
                <a:sym typeface="Calibri"/>
              </a:rPr>
              <a:t>Legacy MyX APIs return monolithic payloads. MFE modules can't fetch independently — causes full-payload overhead and breaking changes when Phase 2 APIs replace them.</a:t>
            </a:r>
            <a:endParaRPr b="0" i="0" sz="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18"/>
          <p:cNvSpPr txBox="1"/>
          <p:nvPr/>
        </p:nvSpPr>
        <p:spPr>
          <a:xfrm>
            <a:off x="222054" y="3067283"/>
            <a:ext cx="806100" cy="156300"/>
          </a:xfrm>
          <a:prstGeom prst="rect">
            <a:avLst/>
          </a:prstGeom>
          <a:noFill/>
          <a:ln>
            <a:noFill/>
          </a:ln>
        </p:spPr>
        <p:txBody>
          <a:bodyPr anchorCtr="0" anchor="t" bIns="36675" lIns="73350" spcFirstLastPara="1" rIns="73350" wrap="square" tIns="3667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5"/>
              <a:buFont typeface="Arial"/>
              <a:buNone/>
            </a:pPr>
            <a:r>
              <a:rPr b="1" i="0" lang="en" sz="535" u="none" cap="none" strike="noStrike">
                <a:solidFill>
                  <a:srgbClr val="8C1414"/>
                </a:solidFill>
                <a:latin typeface="Calibri"/>
                <a:ea typeface="Calibri"/>
                <a:cs typeface="Calibri"/>
                <a:sym typeface="Calibri"/>
              </a:rPr>
              <a:t>Mitigation:</a:t>
            </a:r>
            <a:endParaRPr b="0" i="0" sz="117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18"/>
          <p:cNvSpPr txBox="1"/>
          <p:nvPr/>
        </p:nvSpPr>
        <p:spPr>
          <a:xfrm>
            <a:off x="891736" y="3032341"/>
            <a:ext cx="33726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36675" lIns="73350" spcFirstLastPara="1" rIns="73350" wrap="square" tIns="3667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5"/>
              <a:buFont typeface="Arial"/>
              <a:buNone/>
            </a:pPr>
            <a:r>
              <a:rPr b="0" i="0" lang="en" sz="635" u="none" cap="none" strike="noStrike">
                <a:solidFill>
                  <a:srgbClr val="505050"/>
                </a:solidFill>
                <a:latin typeface="Calibri"/>
                <a:ea typeface="Calibri"/>
                <a:cs typeface="Calibri"/>
                <a:sym typeface="Calibri"/>
              </a:rPr>
              <a:t>Phase 1: API adapter layer + shared state mgmt. Phase 2: Granular domain APIs per module. 4-week API coexistence window. Refactoring sprints in Phase 2 weeks 2–4.</a:t>
            </a:r>
            <a:endParaRPr b="0" i="0" sz="127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18"/>
          <p:cNvSpPr/>
          <p:nvPr/>
        </p:nvSpPr>
        <p:spPr>
          <a:xfrm>
            <a:off x="4724051" y="1011895"/>
            <a:ext cx="4362000" cy="1041300"/>
          </a:xfrm>
          <a:prstGeom prst="rect">
            <a:avLst/>
          </a:prstGeom>
          <a:solidFill>
            <a:srgbClr val="FBFBFB"/>
          </a:solidFill>
          <a:ln cap="flat" cmpd="sng" w="10200">
            <a:solidFill>
              <a:srgbClr val="D7D7D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36675" lIns="73350" spcFirstLastPara="1" rIns="73350" wrap="square" tIns="36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98"/>
              <a:buFont typeface="Arial"/>
              <a:buNone/>
            </a:pPr>
            <a:r>
              <a:t/>
            </a:r>
            <a:endParaRPr b="0" i="0" sz="149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18"/>
          <p:cNvSpPr/>
          <p:nvPr/>
        </p:nvSpPr>
        <p:spPr>
          <a:xfrm>
            <a:off x="4638593" y="1011895"/>
            <a:ext cx="69300" cy="1005900"/>
          </a:xfrm>
          <a:prstGeom prst="rect">
            <a:avLst/>
          </a:prstGeom>
          <a:solidFill>
            <a:srgbClr val="DC3545"/>
          </a:solidFill>
          <a:ln cap="flat" cmpd="sng" w="10200">
            <a:solidFill>
              <a:srgbClr val="DC354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36675" lIns="73350" spcFirstLastPara="1" rIns="73350" wrap="square" tIns="36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98"/>
              <a:buFont typeface="Arial"/>
              <a:buNone/>
            </a:pPr>
            <a:r>
              <a:t/>
            </a:r>
            <a:endParaRPr b="0" i="0" sz="149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8"/>
          <p:cNvSpPr/>
          <p:nvPr/>
        </p:nvSpPr>
        <p:spPr>
          <a:xfrm>
            <a:off x="4779904" y="1077926"/>
            <a:ext cx="452400" cy="198000"/>
          </a:xfrm>
          <a:prstGeom prst="roundRect">
            <a:avLst>
              <a:gd fmla="val 16667" name="adj"/>
            </a:avLst>
          </a:prstGeom>
          <a:solidFill>
            <a:srgbClr val="DC3545"/>
          </a:solidFill>
          <a:ln cap="flat" cmpd="sng" w="10200">
            <a:solidFill>
              <a:srgbClr val="DC354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36675" lIns="73350" spcFirstLastPara="1" rIns="73350" wrap="square" tIns="36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0"/>
              <a:buFont typeface="Arial"/>
              <a:buNone/>
            </a:pPr>
            <a:r>
              <a:rPr b="1" i="0" lang="en" sz="107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r>
              <a:rPr b="1" lang="en" sz="107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17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18"/>
          <p:cNvSpPr/>
          <p:nvPr/>
        </p:nvSpPr>
        <p:spPr>
          <a:xfrm>
            <a:off x="5330587" y="1077926"/>
            <a:ext cx="1032300" cy="198000"/>
          </a:xfrm>
          <a:prstGeom prst="rect">
            <a:avLst/>
          </a:prstGeom>
          <a:solidFill>
            <a:srgbClr val="F1F1F1"/>
          </a:solidFill>
          <a:ln cap="flat" cmpd="sng" w="10200">
            <a:solidFill>
              <a:srgbClr val="DC3545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36675" lIns="73350" spcFirstLastPara="1" rIns="73350" wrap="square" tIns="36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5"/>
              <a:buFont typeface="Arial"/>
              <a:buNone/>
            </a:pPr>
            <a:r>
              <a:rPr b="1" i="0" lang="en" sz="535" u="none" cap="none" strike="noStrike">
                <a:solidFill>
                  <a:srgbClr val="8C1414"/>
                </a:solidFill>
                <a:latin typeface="Calibri"/>
                <a:ea typeface="Calibri"/>
                <a:cs typeface="Calibri"/>
                <a:sym typeface="Calibri"/>
              </a:rPr>
              <a:t>CRITICAL ★ </a:t>
            </a:r>
            <a:endParaRPr b="0" i="0" sz="117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8"/>
          <p:cNvSpPr txBox="1"/>
          <p:nvPr/>
        </p:nvSpPr>
        <p:spPr>
          <a:xfrm>
            <a:off x="6441025" y="1083136"/>
            <a:ext cx="2468100" cy="1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36675" lIns="73350" spcFirstLastPara="1" rIns="73350" wrap="square" tIns="3667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49"/>
              <a:buFont typeface="Arial"/>
              <a:buNone/>
            </a:pPr>
            <a:r>
              <a:rPr b="1" lang="en" sz="749">
                <a:solidFill>
                  <a:srgbClr val="32414B"/>
                </a:solidFill>
                <a:latin typeface="Calibri"/>
                <a:ea typeface="Calibri"/>
                <a:cs typeface="Calibri"/>
                <a:sym typeface="Calibri"/>
              </a:rPr>
              <a:t>Data Sync(Nifi) &amp; Core Engine</a:t>
            </a:r>
            <a:endParaRPr b="0" i="0" sz="117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18"/>
          <p:cNvSpPr txBox="1"/>
          <p:nvPr/>
        </p:nvSpPr>
        <p:spPr>
          <a:xfrm>
            <a:off x="4779904" y="1342049"/>
            <a:ext cx="4277400" cy="156300"/>
          </a:xfrm>
          <a:prstGeom prst="rect">
            <a:avLst/>
          </a:prstGeom>
          <a:noFill/>
          <a:ln>
            <a:noFill/>
          </a:ln>
        </p:spPr>
        <p:txBody>
          <a:bodyPr anchorCtr="0" anchor="t" bIns="36675" lIns="73350" spcFirstLastPara="1" rIns="73350" wrap="square" tIns="3667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5"/>
              <a:buFont typeface="Arial"/>
              <a:buNone/>
            </a:pPr>
            <a:r>
              <a:rPr b="0" i="1" lang="en" sz="535" u="none" cap="none" strike="noStrike">
                <a:solidFill>
                  <a:srgbClr val="7D7D7D"/>
                </a:solidFill>
                <a:latin typeface="Calibri"/>
                <a:ea typeface="Calibri"/>
                <a:cs typeface="Calibri"/>
                <a:sym typeface="Calibri"/>
              </a:rPr>
              <a:t>Architecture review — hits Q3/Q4 2026</a:t>
            </a:r>
            <a:endParaRPr b="0" i="0" sz="117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18"/>
          <p:cNvSpPr txBox="1"/>
          <p:nvPr/>
        </p:nvSpPr>
        <p:spPr>
          <a:xfrm>
            <a:off x="4779904" y="1459437"/>
            <a:ext cx="590100" cy="156300"/>
          </a:xfrm>
          <a:prstGeom prst="rect">
            <a:avLst/>
          </a:prstGeom>
          <a:noFill/>
          <a:ln>
            <a:noFill/>
          </a:ln>
        </p:spPr>
        <p:txBody>
          <a:bodyPr anchorCtr="0" anchor="t" bIns="36675" lIns="73350" spcFirstLastPara="1" rIns="73350" wrap="square" tIns="3667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5"/>
              <a:buFont typeface="Arial"/>
              <a:buNone/>
            </a:pPr>
            <a:r>
              <a:rPr b="1" i="0" lang="en" sz="535" u="none" cap="none" strike="noStrike">
                <a:solidFill>
                  <a:srgbClr val="8C1414"/>
                </a:solidFill>
                <a:latin typeface="Calibri"/>
                <a:ea typeface="Calibri"/>
                <a:cs typeface="Calibri"/>
                <a:sym typeface="Calibri"/>
              </a:rPr>
              <a:t>Cause:</a:t>
            </a:r>
            <a:endParaRPr b="0" i="0" sz="117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8"/>
          <p:cNvSpPr txBox="1"/>
          <p:nvPr/>
        </p:nvSpPr>
        <p:spPr>
          <a:xfrm>
            <a:off x="5448590" y="1459437"/>
            <a:ext cx="35694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6675" lIns="73350" spcFirstLastPara="1" rIns="73350" wrap="square" tIns="3667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5"/>
              <a:buFont typeface="Arial"/>
              <a:buNone/>
            </a:pPr>
            <a:r>
              <a:rPr lang="en" sz="635">
                <a:solidFill>
                  <a:srgbClr val="505050"/>
                </a:solidFill>
                <a:latin typeface="Calibri"/>
                <a:ea typeface="Calibri"/>
                <a:cs typeface="Calibri"/>
                <a:sym typeface="Calibri"/>
              </a:rPr>
              <a:t>Both POCs should succeed with target metrics for exit criteria</a:t>
            </a:r>
            <a:endParaRPr b="0" i="0" sz="127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18"/>
          <p:cNvSpPr txBox="1"/>
          <p:nvPr/>
        </p:nvSpPr>
        <p:spPr>
          <a:xfrm>
            <a:off x="4779904" y="1635519"/>
            <a:ext cx="806100" cy="156300"/>
          </a:xfrm>
          <a:prstGeom prst="rect">
            <a:avLst/>
          </a:prstGeom>
          <a:noFill/>
          <a:ln>
            <a:noFill/>
          </a:ln>
        </p:spPr>
        <p:txBody>
          <a:bodyPr anchorCtr="0" anchor="t" bIns="36675" lIns="73350" spcFirstLastPara="1" rIns="73350" wrap="square" tIns="3667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5"/>
              <a:buFont typeface="Arial"/>
              <a:buNone/>
            </a:pPr>
            <a:r>
              <a:rPr b="1" i="0" lang="en" sz="535" u="none" cap="none" strike="noStrike">
                <a:solidFill>
                  <a:srgbClr val="8C1414"/>
                </a:solidFill>
                <a:latin typeface="Calibri"/>
                <a:ea typeface="Calibri"/>
                <a:cs typeface="Calibri"/>
                <a:sym typeface="Calibri"/>
              </a:rPr>
              <a:t>Mitigation:</a:t>
            </a:r>
            <a:endParaRPr b="0" i="0" sz="117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18"/>
          <p:cNvSpPr txBox="1"/>
          <p:nvPr/>
        </p:nvSpPr>
        <p:spPr>
          <a:xfrm>
            <a:off x="5505794" y="1635519"/>
            <a:ext cx="3372600" cy="17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6675" lIns="73350" spcFirstLastPara="1" rIns="73350" wrap="square" tIns="3667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5"/>
              <a:buFont typeface="Arial"/>
              <a:buNone/>
            </a:pPr>
            <a:r>
              <a:rPr lang="en" sz="635">
                <a:solidFill>
                  <a:srgbClr val="505050"/>
                </a:solidFill>
                <a:latin typeface="Calibri"/>
                <a:ea typeface="Calibri"/>
                <a:cs typeface="Calibri"/>
                <a:sym typeface="Calibri"/>
              </a:rPr>
              <a:t>None</a:t>
            </a:r>
            <a:endParaRPr b="0" i="0" sz="1277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18"/>
          <p:cNvSpPr/>
          <p:nvPr/>
        </p:nvSpPr>
        <p:spPr>
          <a:xfrm>
            <a:off x="200475" y="3542781"/>
            <a:ext cx="4221300" cy="1181700"/>
          </a:xfrm>
          <a:prstGeom prst="rect">
            <a:avLst/>
          </a:prstGeom>
          <a:solidFill>
            <a:srgbClr val="FBFBFB"/>
          </a:solidFill>
          <a:ln cap="flat" cmpd="sng" w="12350">
            <a:solidFill>
              <a:srgbClr val="D7D7D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4425" lIns="88900" spcFirstLastPara="1" rIns="88900" wrap="square" tIns="4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15"/>
              <a:buFont typeface="Arial"/>
              <a:buNone/>
            </a:pPr>
            <a:r>
              <a:t/>
            </a:r>
            <a:endParaRPr b="0" i="0" sz="181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8"/>
          <p:cNvSpPr/>
          <p:nvPr/>
        </p:nvSpPr>
        <p:spPr>
          <a:xfrm>
            <a:off x="92637" y="3556609"/>
            <a:ext cx="69300" cy="1188600"/>
          </a:xfrm>
          <a:prstGeom prst="rect">
            <a:avLst/>
          </a:prstGeom>
          <a:solidFill>
            <a:srgbClr val="E66E00"/>
          </a:solidFill>
          <a:ln cap="flat" cmpd="sng" w="10200">
            <a:solidFill>
              <a:srgbClr val="E66E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36675" lIns="73350" spcFirstLastPara="1" rIns="73350" wrap="square" tIns="36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98"/>
              <a:buFont typeface="Arial"/>
              <a:buNone/>
            </a:pPr>
            <a:r>
              <a:t/>
            </a:r>
            <a:endParaRPr b="0" i="0" sz="149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8"/>
          <p:cNvSpPr/>
          <p:nvPr/>
        </p:nvSpPr>
        <p:spPr>
          <a:xfrm>
            <a:off x="311813" y="3637730"/>
            <a:ext cx="426900" cy="284700"/>
          </a:xfrm>
          <a:prstGeom prst="roundRect">
            <a:avLst>
              <a:gd fmla="val 16667" name="adj"/>
            </a:avLst>
          </a:prstGeom>
          <a:solidFill>
            <a:srgbClr val="E66E00"/>
          </a:solidFill>
          <a:ln cap="flat" cmpd="sng" w="12350">
            <a:solidFill>
              <a:srgbClr val="E66E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4425" lIns="88900" spcFirstLastPara="1" rIns="88900" wrap="square" tIns="4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97"/>
              <a:buFont typeface="Arial"/>
              <a:buNone/>
            </a:pPr>
            <a:r>
              <a:rPr b="1" i="0" lang="en" sz="1297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r>
              <a:rPr b="1" lang="en" sz="1297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2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18"/>
          <p:cNvSpPr/>
          <p:nvPr/>
        </p:nvSpPr>
        <p:spPr>
          <a:xfrm>
            <a:off x="831388" y="3637730"/>
            <a:ext cx="816300" cy="284700"/>
          </a:xfrm>
          <a:prstGeom prst="rect">
            <a:avLst/>
          </a:prstGeom>
          <a:solidFill>
            <a:srgbClr val="F1F1F1"/>
          </a:solidFill>
          <a:ln cap="flat" cmpd="sng" w="12350">
            <a:solidFill>
              <a:srgbClr val="E66E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4425" lIns="88900" spcFirstLastPara="1" rIns="88900" wrap="square" tIns="4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48"/>
              <a:buFont typeface="Arial"/>
              <a:buNone/>
            </a:pPr>
            <a:r>
              <a:rPr b="1" i="0" lang="en" sz="648" u="none" cap="none" strike="noStrike">
                <a:solidFill>
                  <a:srgbClr val="9B4600"/>
                </a:solidFill>
                <a:latin typeface="Calibri"/>
                <a:ea typeface="Calibri"/>
                <a:cs typeface="Calibri"/>
                <a:sym typeface="Calibri"/>
              </a:rPr>
              <a:t>IMPORTANT</a:t>
            </a:r>
            <a:endParaRPr b="0" i="0" sz="142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18"/>
          <p:cNvSpPr txBox="1"/>
          <p:nvPr/>
        </p:nvSpPr>
        <p:spPr>
          <a:xfrm>
            <a:off x="1722088" y="3637730"/>
            <a:ext cx="2626200" cy="38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25" lIns="88900" spcFirstLastPara="1" rIns="88900" wrap="square" tIns="4442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8"/>
              <a:buFont typeface="Arial"/>
              <a:buNone/>
            </a:pPr>
            <a:r>
              <a:rPr b="1" i="0" lang="en" sz="908" u="none" cap="none" strike="noStrike">
                <a:solidFill>
                  <a:srgbClr val="32414B"/>
                </a:solidFill>
                <a:latin typeface="Calibri"/>
                <a:ea typeface="Calibri"/>
                <a:cs typeface="Calibri"/>
                <a:sym typeface="Calibri"/>
              </a:rPr>
              <a:t>Feature Freeze — Post-</a:t>
            </a:r>
            <a:r>
              <a:rPr b="1" lang="en" sz="908">
                <a:solidFill>
                  <a:srgbClr val="32414B"/>
                </a:solidFill>
                <a:latin typeface="Calibri"/>
                <a:ea typeface="Calibri"/>
                <a:cs typeface="Calibri"/>
                <a:sym typeface="Calibri"/>
              </a:rPr>
              <a:t>May</a:t>
            </a:r>
            <a:r>
              <a:rPr b="1" i="0" lang="en" sz="908" u="none" cap="none" strike="noStrike">
                <a:solidFill>
                  <a:srgbClr val="32414B"/>
                </a:solidFill>
                <a:latin typeface="Calibri"/>
                <a:ea typeface="Calibri"/>
                <a:cs typeface="Calibri"/>
                <a:sym typeface="Calibri"/>
              </a:rPr>
              <a:t> 2026 changes create scope gaps</a:t>
            </a:r>
            <a:endParaRPr b="0" i="0" sz="142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18"/>
          <p:cNvSpPr txBox="1"/>
          <p:nvPr/>
        </p:nvSpPr>
        <p:spPr>
          <a:xfrm>
            <a:off x="311813" y="4017526"/>
            <a:ext cx="4035600" cy="1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25" lIns="88900" spcFirstLastPara="1" rIns="88900" wrap="square" tIns="4442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48"/>
              <a:buFont typeface="Arial"/>
              <a:buNone/>
            </a:pPr>
            <a:r>
              <a:rPr b="0" i="1" lang="en" sz="648" u="none" cap="none" strike="noStrike">
                <a:solidFill>
                  <a:srgbClr val="7D7D7D"/>
                </a:solidFill>
                <a:latin typeface="Calibri"/>
                <a:ea typeface="Calibri"/>
                <a:cs typeface="Calibri"/>
                <a:sym typeface="Calibri"/>
              </a:rPr>
              <a:t>Locked March 2026  ·  Delta review at each G1–G4 gate</a:t>
            </a:r>
            <a:endParaRPr b="0" i="0" sz="142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18"/>
          <p:cNvSpPr txBox="1"/>
          <p:nvPr/>
        </p:nvSpPr>
        <p:spPr>
          <a:xfrm>
            <a:off x="311813" y="4186324"/>
            <a:ext cx="556800" cy="1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25" lIns="88900" spcFirstLastPara="1" rIns="88900" wrap="square" tIns="4442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48"/>
              <a:buFont typeface="Arial"/>
              <a:buNone/>
            </a:pPr>
            <a:r>
              <a:rPr b="1" i="0" lang="en" sz="648" u="none" cap="none" strike="noStrike">
                <a:solidFill>
                  <a:srgbClr val="9B4600"/>
                </a:solidFill>
                <a:latin typeface="Calibri"/>
                <a:ea typeface="Calibri"/>
                <a:cs typeface="Calibri"/>
                <a:sym typeface="Calibri"/>
              </a:rPr>
              <a:t>Cause:</a:t>
            </a:r>
            <a:endParaRPr b="0" i="0" sz="142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18"/>
          <p:cNvSpPr txBox="1"/>
          <p:nvPr/>
        </p:nvSpPr>
        <p:spPr>
          <a:xfrm>
            <a:off x="942725" y="4186313"/>
            <a:ext cx="3429000" cy="1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25" lIns="88900" spcFirstLastPara="1" rIns="88900" wrap="square" tIns="44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48"/>
              <a:buFont typeface="Arial"/>
              <a:buNone/>
            </a:pPr>
            <a:r>
              <a:rPr b="0" i="0" lang="en" sz="648" u="none" cap="none" strike="noStrike">
                <a:solidFill>
                  <a:srgbClr val="505050"/>
                </a:solidFill>
                <a:latin typeface="Calibri"/>
                <a:ea typeface="Calibri"/>
                <a:cs typeface="Calibri"/>
                <a:sym typeface="Calibri"/>
              </a:rPr>
              <a:t>Features frozen at March 2026 baseline. Post-freeze additions create gaps in MFE module scope.</a:t>
            </a:r>
            <a:endParaRPr b="0" i="0" sz="142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8"/>
          <p:cNvSpPr txBox="1"/>
          <p:nvPr/>
        </p:nvSpPr>
        <p:spPr>
          <a:xfrm>
            <a:off x="311813" y="4439522"/>
            <a:ext cx="760800" cy="1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25" lIns="88900" spcFirstLastPara="1" rIns="88900" wrap="square" tIns="4442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48"/>
              <a:buFont typeface="Arial"/>
              <a:buNone/>
            </a:pPr>
            <a:r>
              <a:rPr b="1" i="0" lang="en" sz="648" u="none" cap="none" strike="noStrike">
                <a:solidFill>
                  <a:srgbClr val="9B4600"/>
                </a:solidFill>
                <a:latin typeface="Calibri"/>
                <a:ea typeface="Calibri"/>
                <a:cs typeface="Calibri"/>
                <a:sym typeface="Calibri"/>
              </a:rPr>
              <a:t>Mitigation:</a:t>
            </a:r>
            <a:endParaRPr b="0" i="0" sz="142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18"/>
          <p:cNvSpPr txBox="1"/>
          <p:nvPr/>
        </p:nvSpPr>
        <p:spPr>
          <a:xfrm>
            <a:off x="1023461" y="4411568"/>
            <a:ext cx="3182400" cy="2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25" lIns="88900" spcFirstLastPara="1" rIns="88900" wrap="square" tIns="44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48"/>
              <a:buFont typeface="Arial"/>
              <a:buNone/>
            </a:pPr>
            <a:r>
              <a:rPr b="0" i="0" lang="en" sz="648" u="none" cap="none" strike="noStrike">
                <a:solidFill>
                  <a:srgbClr val="505050"/>
                </a:solidFill>
                <a:latin typeface="Calibri"/>
                <a:ea typeface="Calibri"/>
                <a:cs typeface="Calibri"/>
                <a:sym typeface="Calibri"/>
              </a:rPr>
              <a:t>PM owns feature freeze sign-off with each product team. Re-adjustment sprints at end of Phase 1 &amp; 3.</a:t>
            </a:r>
            <a:endParaRPr b="0" i="0" sz="142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18"/>
          <p:cNvSpPr/>
          <p:nvPr/>
        </p:nvSpPr>
        <p:spPr>
          <a:xfrm>
            <a:off x="4796806" y="3661868"/>
            <a:ext cx="4221300" cy="1181700"/>
          </a:xfrm>
          <a:prstGeom prst="rect">
            <a:avLst/>
          </a:prstGeom>
          <a:solidFill>
            <a:srgbClr val="FBFBFB"/>
          </a:solidFill>
          <a:ln cap="flat" cmpd="sng" w="12350">
            <a:solidFill>
              <a:srgbClr val="D7D7D7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4425" lIns="88900" spcFirstLastPara="1" rIns="88900" wrap="square" tIns="4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15"/>
              <a:buFont typeface="Arial"/>
              <a:buNone/>
            </a:pPr>
            <a:r>
              <a:t/>
            </a:r>
            <a:endParaRPr b="0" i="0" sz="181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8"/>
          <p:cNvSpPr/>
          <p:nvPr/>
        </p:nvSpPr>
        <p:spPr>
          <a:xfrm>
            <a:off x="4688968" y="3675696"/>
            <a:ext cx="69300" cy="1188600"/>
          </a:xfrm>
          <a:prstGeom prst="rect">
            <a:avLst/>
          </a:prstGeom>
          <a:solidFill>
            <a:srgbClr val="E66E00"/>
          </a:solidFill>
          <a:ln cap="flat" cmpd="sng" w="10200">
            <a:solidFill>
              <a:srgbClr val="E66E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36675" lIns="73350" spcFirstLastPara="1" rIns="73350" wrap="square" tIns="36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98"/>
              <a:buFont typeface="Arial"/>
              <a:buNone/>
            </a:pPr>
            <a:r>
              <a:t/>
            </a:r>
            <a:endParaRPr b="0" i="0" sz="149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8"/>
          <p:cNvSpPr/>
          <p:nvPr/>
        </p:nvSpPr>
        <p:spPr>
          <a:xfrm>
            <a:off x="4908143" y="3756817"/>
            <a:ext cx="426900" cy="284700"/>
          </a:xfrm>
          <a:prstGeom prst="roundRect">
            <a:avLst>
              <a:gd fmla="val 16667" name="adj"/>
            </a:avLst>
          </a:prstGeom>
          <a:solidFill>
            <a:srgbClr val="E66E00"/>
          </a:solidFill>
          <a:ln cap="flat" cmpd="sng" w="12350">
            <a:solidFill>
              <a:srgbClr val="E66E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4425" lIns="88900" spcFirstLastPara="1" rIns="88900" wrap="square" tIns="4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97"/>
              <a:buFont typeface="Arial"/>
              <a:buNone/>
            </a:pPr>
            <a:r>
              <a:rPr b="1" i="0" lang="en" sz="1297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r>
              <a:rPr b="1" lang="en" sz="1297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42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18"/>
          <p:cNvSpPr/>
          <p:nvPr/>
        </p:nvSpPr>
        <p:spPr>
          <a:xfrm>
            <a:off x="5427719" y="3756817"/>
            <a:ext cx="816300" cy="284700"/>
          </a:xfrm>
          <a:prstGeom prst="rect">
            <a:avLst/>
          </a:prstGeom>
          <a:solidFill>
            <a:srgbClr val="F1F1F1"/>
          </a:solidFill>
          <a:ln cap="flat" cmpd="sng" w="12350">
            <a:solidFill>
              <a:srgbClr val="E66E00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4425" lIns="88900" spcFirstLastPara="1" rIns="88900" wrap="square" tIns="4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48"/>
              <a:buFont typeface="Arial"/>
              <a:buNone/>
            </a:pPr>
            <a:r>
              <a:rPr b="1" i="0" lang="en" sz="648" u="none" cap="none" strike="noStrike">
                <a:solidFill>
                  <a:srgbClr val="9B4600"/>
                </a:solidFill>
                <a:latin typeface="Calibri"/>
                <a:ea typeface="Calibri"/>
                <a:cs typeface="Calibri"/>
                <a:sym typeface="Calibri"/>
              </a:rPr>
              <a:t>IMPORTANT</a:t>
            </a:r>
            <a:endParaRPr b="0" i="0" sz="142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18"/>
          <p:cNvSpPr txBox="1"/>
          <p:nvPr/>
        </p:nvSpPr>
        <p:spPr>
          <a:xfrm>
            <a:off x="6318419" y="3756817"/>
            <a:ext cx="2626200" cy="22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25" lIns="88900" spcFirstLastPara="1" rIns="88900" wrap="square" tIns="4442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8"/>
              <a:buFont typeface="Arial"/>
              <a:buNone/>
            </a:pPr>
            <a:r>
              <a:rPr b="1" lang="en" sz="908">
                <a:solidFill>
                  <a:srgbClr val="32414B"/>
                </a:solidFill>
                <a:latin typeface="Calibri"/>
                <a:ea typeface="Calibri"/>
                <a:cs typeface="Calibri"/>
                <a:sym typeface="Calibri"/>
              </a:rPr>
              <a:t>Infrastructure dependency</a:t>
            </a:r>
            <a:endParaRPr b="0" i="0" sz="142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8"/>
          <p:cNvSpPr txBox="1"/>
          <p:nvPr/>
        </p:nvSpPr>
        <p:spPr>
          <a:xfrm>
            <a:off x="4908143" y="4136613"/>
            <a:ext cx="4035600" cy="1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25" lIns="88900" spcFirstLastPara="1" rIns="88900" wrap="square" tIns="4442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48"/>
              <a:buFont typeface="Arial"/>
              <a:buNone/>
            </a:pPr>
            <a:r>
              <a:rPr b="0" i="1" lang="en" sz="648" u="none" cap="none" strike="noStrike">
                <a:solidFill>
                  <a:srgbClr val="7D7D7D"/>
                </a:solidFill>
                <a:latin typeface="Calibri"/>
                <a:ea typeface="Calibri"/>
                <a:cs typeface="Calibri"/>
                <a:sym typeface="Calibri"/>
              </a:rPr>
              <a:t>Locked March 2026  ·  Delta review at each G1–G4 gate</a:t>
            </a:r>
            <a:endParaRPr b="0" i="0" sz="142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18"/>
          <p:cNvSpPr txBox="1"/>
          <p:nvPr/>
        </p:nvSpPr>
        <p:spPr>
          <a:xfrm>
            <a:off x="4908143" y="4305412"/>
            <a:ext cx="556800" cy="1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25" lIns="88900" spcFirstLastPara="1" rIns="88900" wrap="square" tIns="4442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48"/>
              <a:buFont typeface="Arial"/>
              <a:buNone/>
            </a:pPr>
            <a:r>
              <a:rPr b="1" i="0" lang="en" sz="648" u="none" cap="none" strike="noStrike">
                <a:solidFill>
                  <a:srgbClr val="9B4600"/>
                </a:solidFill>
                <a:latin typeface="Calibri"/>
                <a:ea typeface="Calibri"/>
                <a:cs typeface="Calibri"/>
                <a:sym typeface="Calibri"/>
              </a:rPr>
              <a:t>Cause:</a:t>
            </a:r>
            <a:endParaRPr b="0" i="0" sz="142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18"/>
          <p:cNvSpPr txBox="1"/>
          <p:nvPr/>
        </p:nvSpPr>
        <p:spPr>
          <a:xfrm>
            <a:off x="5539056" y="4305400"/>
            <a:ext cx="3429000" cy="30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25" lIns="88900" spcFirstLastPara="1" rIns="88900" wrap="square" tIns="44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48"/>
              <a:buFont typeface="Arial"/>
              <a:buNone/>
            </a:pPr>
            <a:r>
              <a:t/>
            </a:r>
            <a:endParaRPr b="0" i="0" sz="142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18"/>
          <p:cNvSpPr txBox="1"/>
          <p:nvPr/>
        </p:nvSpPr>
        <p:spPr>
          <a:xfrm>
            <a:off x="4908143" y="4558609"/>
            <a:ext cx="760800" cy="1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25" lIns="88900" spcFirstLastPara="1" rIns="88900" wrap="square" tIns="4442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48"/>
              <a:buFont typeface="Arial"/>
              <a:buNone/>
            </a:pPr>
            <a:r>
              <a:rPr b="1" i="0" lang="en" sz="648" u="none" cap="none" strike="noStrike">
                <a:solidFill>
                  <a:srgbClr val="9B4600"/>
                </a:solidFill>
                <a:latin typeface="Calibri"/>
                <a:ea typeface="Calibri"/>
                <a:cs typeface="Calibri"/>
                <a:sym typeface="Calibri"/>
              </a:rPr>
              <a:t>Mitigation:</a:t>
            </a:r>
            <a:endParaRPr b="0" i="0" sz="142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18"/>
          <p:cNvSpPr txBox="1"/>
          <p:nvPr/>
        </p:nvSpPr>
        <p:spPr>
          <a:xfrm>
            <a:off x="5619792" y="4530655"/>
            <a:ext cx="3182400" cy="30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4425" lIns="88900" spcFirstLastPara="1" rIns="88900" wrap="square" tIns="44425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48"/>
              <a:buFont typeface="Arial"/>
              <a:buNone/>
            </a:pPr>
            <a:r>
              <a:t/>
            </a:r>
            <a:endParaRPr b="0" i="0" sz="142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FFFFF"/>
        </a:solid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19"/>
          <p:cNvSpPr/>
          <p:nvPr/>
        </p:nvSpPr>
        <p:spPr>
          <a:xfrm>
            <a:off x="0" y="0"/>
            <a:ext cx="9144000" cy="425100"/>
          </a:xfrm>
          <a:prstGeom prst="rect">
            <a:avLst/>
          </a:prstGeom>
          <a:solidFill>
            <a:srgbClr val="050E1F"/>
          </a:solidFill>
          <a:ln cap="flat" cmpd="sng" w="9525">
            <a:solidFill>
              <a:srgbClr val="050E1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9"/>
          <p:cNvSpPr txBox="1"/>
          <p:nvPr/>
        </p:nvSpPr>
        <p:spPr>
          <a:xfrm>
            <a:off x="274320" y="27432"/>
            <a:ext cx="34290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B0BFD4"/>
                </a:solidFill>
                <a:latin typeface="Calibri"/>
                <a:ea typeface="Calibri"/>
                <a:cs typeface="Calibri"/>
                <a:sym typeface="Calibri"/>
              </a:rPr>
              <a:t>PROGRAMME RISK REGISTER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19"/>
          <p:cNvSpPr txBox="1"/>
          <p:nvPr/>
        </p:nvSpPr>
        <p:spPr>
          <a:xfrm>
            <a:off x="274320" y="89831"/>
            <a:ext cx="4457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Constraints &amp; External Dependencies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19"/>
          <p:cNvSpPr/>
          <p:nvPr/>
        </p:nvSpPr>
        <p:spPr>
          <a:xfrm>
            <a:off x="99596" y="466352"/>
            <a:ext cx="8836800" cy="307200"/>
          </a:xfrm>
          <a:prstGeom prst="rect">
            <a:avLst/>
          </a:prstGeom>
          <a:solidFill>
            <a:srgbClr val="F6F6F6"/>
          </a:solidFill>
          <a:ln cap="flat" cmpd="sng" w="13350">
            <a:solidFill>
              <a:srgbClr val="D2D2D2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8000" lIns="96050" spcFirstLastPara="1" rIns="96050" wrap="square" tIns="4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61"/>
              <a:buFont typeface="Arial"/>
              <a:buNone/>
            </a:pPr>
            <a:r>
              <a:t/>
            </a:r>
            <a:endParaRPr b="0" i="0" sz="1961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9"/>
          <p:cNvSpPr txBox="1"/>
          <p:nvPr/>
        </p:nvSpPr>
        <p:spPr>
          <a:xfrm>
            <a:off x="62900" y="504775"/>
            <a:ext cx="8729100" cy="2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8000" lIns="96050" spcFirstLastPara="1" rIns="96050" wrap="square" tIns="48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40"/>
              <a:buFont typeface="Arial"/>
              <a:buNone/>
            </a:pPr>
            <a:r>
              <a:rPr b="0" i="0" lang="en" sz="840" u="none" cap="none" strike="noStrike">
                <a:solidFill>
                  <a:srgbClr val="373737"/>
                </a:solidFill>
                <a:latin typeface="Calibri"/>
                <a:ea typeface="Calibri"/>
                <a:cs typeface="Calibri"/>
                <a:sym typeface="Calibri"/>
              </a:rPr>
              <a:t>🟣  R</a:t>
            </a:r>
            <a:r>
              <a:rPr lang="en" sz="840">
                <a:solidFill>
                  <a:srgbClr val="373737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0" i="0" lang="en" sz="840" u="none" cap="none" strike="noStrike">
                <a:solidFill>
                  <a:srgbClr val="373737"/>
                </a:solidFill>
                <a:latin typeface="Calibri"/>
                <a:ea typeface="Calibri"/>
                <a:cs typeface="Calibri"/>
                <a:sym typeface="Calibri"/>
              </a:rPr>
              <a:t>  Internal Constraint</a:t>
            </a:r>
            <a:r>
              <a:rPr lang="en" sz="840">
                <a:solidFill>
                  <a:srgbClr val="373737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b="0" i="0" lang="en" sz="840" u="none" cap="none" strike="noStrike">
                <a:solidFill>
                  <a:srgbClr val="373737"/>
                </a:solidFill>
                <a:latin typeface="Calibri"/>
                <a:ea typeface="Calibri"/>
                <a:cs typeface="Calibri"/>
                <a:sym typeface="Calibri"/>
              </a:rPr>
              <a:t>team at capacity ceiling; accepted;          🔵  R</a:t>
            </a:r>
            <a:r>
              <a:rPr lang="en" sz="840">
                <a:solidFill>
                  <a:srgbClr val="373737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r>
              <a:rPr b="0" i="0" lang="en" sz="840" u="none" cap="none" strike="noStrike">
                <a:solidFill>
                  <a:srgbClr val="373737"/>
                </a:solidFill>
                <a:latin typeface="Calibri"/>
                <a:ea typeface="Calibri"/>
                <a:cs typeface="Calibri"/>
                <a:sym typeface="Calibri"/>
              </a:rPr>
              <a:t>  External Dependency </a:t>
            </a:r>
            <a:r>
              <a:rPr lang="en" sz="840">
                <a:solidFill>
                  <a:srgbClr val="373737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0" i="0" lang="en" sz="840" u="none" cap="none" strike="noStrike">
                <a:solidFill>
                  <a:srgbClr val="373737"/>
                </a:solidFill>
                <a:latin typeface="Calibri"/>
                <a:ea typeface="Calibri"/>
                <a:cs typeface="Calibri"/>
                <a:sym typeface="Calibri"/>
              </a:rPr>
              <a:t> AD team support required</a:t>
            </a:r>
            <a:endParaRPr b="0" i="0" sz="154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19"/>
          <p:cNvSpPr/>
          <p:nvPr/>
        </p:nvSpPr>
        <p:spPr>
          <a:xfrm>
            <a:off x="99603" y="878513"/>
            <a:ext cx="8836800" cy="1728900"/>
          </a:xfrm>
          <a:prstGeom prst="rect">
            <a:avLst/>
          </a:prstGeom>
          <a:solidFill>
            <a:srgbClr val="F9F3FF"/>
          </a:solidFill>
          <a:ln cap="flat" cmpd="sng" w="24025">
            <a:solidFill>
              <a:srgbClr val="78008C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8000" lIns="96050" spcFirstLastPara="1" rIns="96050" wrap="square" tIns="4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61"/>
              <a:buFont typeface="Arial"/>
              <a:buNone/>
            </a:pPr>
            <a:r>
              <a:t/>
            </a:r>
            <a:endParaRPr b="0" i="0" sz="1961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9"/>
          <p:cNvSpPr/>
          <p:nvPr/>
        </p:nvSpPr>
        <p:spPr>
          <a:xfrm>
            <a:off x="99596" y="878497"/>
            <a:ext cx="86700" cy="1728900"/>
          </a:xfrm>
          <a:prstGeom prst="rect">
            <a:avLst/>
          </a:prstGeom>
          <a:solidFill>
            <a:srgbClr val="78008C"/>
          </a:solidFill>
          <a:ln cap="flat" cmpd="sng" w="13350">
            <a:solidFill>
              <a:srgbClr val="78008C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8000" lIns="96050" spcFirstLastPara="1" rIns="96050" wrap="square" tIns="4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61"/>
              <a:buFont typeface="Arial"/>
              <a:buNone/>
            </a:pPr>
            <a:r>
              <a:t/>
            </a:r>
            <a:endParaRPr b="0" i="0" sz="1961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9"/>
          <p:cNvSpPr/>
          <p:nvPr/>
        </p:nvSpPr>
        <p:spPr>
          <a:xfrm>
            <a:off x="243669" y="974545"/>
            <a:ext cx="441900" cy="259200"/>
          </a:xfrm>
          <a:prstGeom prst="roundRect">
            <a:avLst>
              <a:gd fmla="val 16667" name="adj"/>
            </a:avLst>
          </a:prstGeom>
          <a:solidFill>
            <a:srgbClr val="78008C"/>
          </a:solidFill>
          <a:ln cap="flat" cmpd="sng" w="13350">
            <a:solidFill>
              <a:srgbClr val="78008C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8000" lIns="96050" spcFirstLastPara="1" rIns="96050" wrap="square" tIns="4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1"/>
              <a:buFont typeface="Arial"/>
              <a:buNone/>
            </a:pPr>
            <a:r>
              <a:rPr b="1" i="0" lang="en" sz="1401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r>
              <a:rPr b="1" lang="en" sz="140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54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19"/>
          <p:cNvSpPr/>
          <p:nvPr/>
        </p:nvSpPr>
        <p:spPr>
          <a:xfrm>
            <a:off x="810355" y="974545"/>
            <a:ext cx="1056600" cy="259200"/>
          </a:xfrm>
          <a:prstGeom prst="rect">
            <a:avLst/>
          </a:prstGeom>
          <a:solidFill>
            <a:srgbClr val="F1F1F1"/>
          </a:solidFill>
          <a:ln cap="flat" cmpd="sng" w="13350">
            <a:solidFill>
              <a:srgbClr val="78008C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8000" lIns="96050" spcFirstLastPara="1" rIns="96050" wrap="square" tIns="48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B005F"/>
                </a:solidFill>
                <a:latin typeface="Calibri"/>
                <a:ea typeface="Calibri"/>
                <a:cs typeface="Calibri"/>
                <a:sym typeface="Calibri"/>
              </a:rPr>
              <a:t>CRITICAL ★ CONSTRAINT</a:t>
            </a:r>
            <a:endParaRPr b="0" i="0" sz="154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19"/>
          <p:cNvSpPr txBox="1"/>
          <p:nvPr/>
        </p:nvSpPr>
        <p:spPr>
          <a:xfrm>
            <a:off x="2001356" y="974545"/>
            <a:ext cx="67428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8000" lIns="96050" spcFirstLastPara="1" rIns="96050" wrap="square" tIns="48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"/>
              <a:buFont typeface="Arial"/>
              <a:buNone/>
            </a:pPr>
            <a:r>
              <a:rPr b="1" i="0" lang="en" sz="1120" u="none" cap="none" strike="noStrike">
                <a:solidFill>
                  <a:srgbClr val="32414B"/>
                </a:solidFill>
                <a:latin typeface="Calibri"/>
                <a:ea typeface="Calibri"/>
                <a:cs typeface="Calibri"/>
                <a:sym typeface="Calibri"/>
              </a:rPr>
              <a:t>Resource availability — </a:t>
            </a:r>
            <a:r>
              <a:rPr b="1" lang="en" sz="1120">
                <a:solidFill>
                  <a:srgbClr val="32414B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b="1" i="0" lang="en" sz="1120" u="none" cap="none" strike="noStrike">
                <a:solidFill>
                  <a:srgbClr val="32414B"/>
                </a:solidFill>
                <a:latin typeface="Calibri"/>
                <a:ea typeface="Calibri"/>
                <a:cs typeface="Calibri"/>
                <a:sym typeface="Calibri"/>
              </a:rPr>
              <a:t>eam capacity</a:t>
            </a:r>
            <a:endParaRPr b="0" i="0" sz="154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19"/>
          <p:cNvSpPr txBox="1"/>
          <p:nvPr/>
        </p:nvSpPr>
        <p:spPr>
          <a:xfrm>
            <a:off x="2001356" y="1243479"/>
            <a:ext cx="6742800" cy="2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8000" lIns="96050" spcFirstLastPara="1" rIns="96050" wrap="square" tIns="48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40"/>
              <a:buFont typeface="Arial"/>
              <a:buNone/>
            </a:pPr>
            <a:r>
              <a:rPr b="0" i="1" lang="en" sz="840" u="none" cap="none" strike="noStrike">
                <a:solidFill>
                  <a:srgbClr val="7D7D7D"/>
                </a:solidFill>
                <a:latin typeface="Calibri"/>
                <a:ea typeface="Calibri"/>
                <a:cs typeface="Calibri"/>
                <a:sym typeface="Calibri"/>
              </a:rPr>
              <a:t>Ongoing throughout Phases 1–4  ·  May 2026 – Apr 2028</a:t>
            </a:r>
            <a:endParaRPr b="0" i="0" sz="154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19"/>
          <p:cNvSpPr txBox="1"/>
          <p:nvPr/>
        </p:nvSpPr>
        <p:spPr>
          <a:xfrm>
            <a:off x="243669" y="1416365"/>
            <a:ext cx="653400" cy="2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8000" lIns="96050" spcFirstLastPara="1" rIns="96050" wrap="square" tIns="48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40"/>
              <a:buFont typeface="Arial"/>
              <a:buNone/>
            </a:pPr>
            <a:r>
              <a:rPr b="1" i="0" lang="en" sz="840" u="none" cap="none" strike="noStrike">
                <a:solidFill>
                  <a:srgbClr val="4B005F"/>
                </a:solidFill>
                <a:latin typeface="Calibri"/>
                <a:ea typeface="Calibri"/>
                <a:cs typeface="Calibri"/>
                <a:sym typeface="Calibri"/>
              </a:rPr>
              <a:t>Cause:</a:t>
            </a:r>
            <a:endParaRPr b="0" i="0" sz="154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19"/>
          <p:cNvSpPr txBox="1"/>
          <p:nvPr/>
        </p:nvSpPr>
        <p:spPr>
          <a:xfrm>
            <a:off x="964032" y="1416365"/>
            <a:ext cx="7827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8000" lIns="96050" spcFirstLastPara="1" rIns="96050" wrap="square" tIns="4800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40"/>
              <a:buFont typeface="Arial"/>
              <a:buNone/>
            </a:pPr>
            <a:r>
              <a:rPr b="0" i="0" lang="en" sz="840" u="none" cap="none" strike="noStrike">
                <a:solidFill>
                  <a:srgbClr val="505050"/>
                </a:solidFill>
                <a:latin typeface="Calibri"/>
                <a:ea typeface="Calibri"/>
                <a:cs typeface="Calibri"/>
                <a:sym typeface="Calibri"/>
              </a:rPr>
              <a:t>Team at capacity ceiling across Phase 1 (MFE), Phase 2 (API), Phase 3 (</a:t>
            </a:r>
            <a:r>
              <a:rPr lang="en" sz="840">
                <a:solidFill>
                  <a:srgbClr val="505050"/>
                </a:solidFill>
                <a:latin typeface="Calibri"/>
                <a:ea typeface="Calibri"/>
                <a:cs typeface="Calibri"/>
                <a:sym typeface="Calibri"/>
              </a:rPr>
              <a:t>core backend </a:t>
            </a:r>
            <a:r>
              <a:rPr b="0" i="0" lang="en" sz="840" u="none" cap="none" strike="noStrike">
                <a:solidFill>
                  <a:srgbClr val="505050"/>
                </a:solidFill>
                <a:latin typeface="Calibri"/>
                <a:ea typeface="Calibri"/>
                <a:cs typeface="Calibri"/>
                <a:sym typeface="Calibri"/>
              </a:rPr>
              <a:t>) and live support in parallel. Contractor availability not guaranteed. Key architects are single points of failure — no redundancy.</a:t>
            </a:r>
            <a:endParaRPr b="0" i="0" sz="154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19"/>
          <p:cNvSpPr txBox="1"/>
          <p:nvPr/>
        </p:nvSpPr>
        <p:spPr>
          <a:xfrm>
            <a:off x="243669" y="1800556"/>
            <a:ext cx="672600" cy="2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8000" lIns="96050" spcFirstLastPara="1" rIns="96050" wrap="square" tIns="48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40"/>
              <a:buFont typeface="Arial"/>
              <a:buNone/>
            </a:pPr>
            <a:r>
              <a:rPr b="1" i="0" lang="en" sz="840" u="none" cap="none" strike="noStrike">
                <a:solidFill>
                  <a:srgbClr val="78008C"/>
                </a:solidFill>
                <a:latin typeface="Calibri"/>
                <a:ea typeface="Calibri"/>
                <a:cs typeface="Calibri"/>
                <a:sym typeface="Calibri"/>
              </a:rPr>
              <a:t>Status:</a:t>
            </a:r>
            <a:endParaRPr b="0" i="0" sz="154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19"/>
          <p:cNvSpPr txBox="1"/>
          <p:nvPr/>
        </p:nvSpPr>
        <p:spPr>
          <a:xfrm>
            <a:off x="964032" y="1800556"/>
            <a:ext cx="78279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8000" lIns="96050" spcFirstLastPara="1" rIns="96050" wrap="square" tIns="48000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40"/>
              <a:buFont typeface="Arial"/>
              <a:buNone/>
            </a:pPr>
            <a:r>
              <a:rPr b="1" i="0" lang="en" sz="840" u="none" cap="none" strike="noStrike">
                <a:solidFill>
                  <a:srgbClr val="4B005F"/>
                </a:solidFill>
                <a:latin typeface="Calibri"/>
                <a:ea typeface="Calibri"/>
                <a:cs typeface="Calibri"/>
                <a:sym typeface="Calibri"/>
              </a:rPr>
              <a:t>NO MITIGATION PLANNED — ACCEPTED CONSTRAINT.</a:t>
            </a:r>
            <a:br>
              <a:rPr b="1" i="0" lang="en" sz="840" u="none" cap="none" strike="noStrike">
                <a:solidFill>
                  <a:srgbClr val="4B005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840" u="none" cap="none" strike="noStrike">
                <a:solidFill>
                  <a:srgbClr val="4B005F"/>
                </a:solidFill>
                <a:latin typeface="Calibri"/>
                <a:ea typeface="Calibri"/>
                <a:cs typeface="Calibri"/>
                <a:sym typeface="Calibri"/>
              </a:rPr>
              <a:t>Programme gates (G1–G4) absorb schedule pressure without compressing scope. If capacity is exceeded → escalate to </a:t>
            </a:r>
            <a:r>
              <a:rPr b="1" lang="en" sz="840">
                <a:solidFill>
                  <a:srgbClr val="4B005F"/>
                </a:solidFill>
                <a:latin typeface="Calibri"/>
                <a:ea typeface="Calibri"/>
                <a:cs typeface="Calibri"/>
                <a:sym typeface="Calibri"/>
              </a:rPr>
              <a:t>Product manager and reprioritization</a:t>
            </a:r>
            <a:r>
              <a:rPr b="1" i="0" lang="en" sz="840" u="none" cap="none" strike="noStrike">
                <a:solidFill>
                  <a:srgbClr val="4B005F"/>
                </a:solidFill>
                <a:latin typeface="Calibri"/>
                <a:ea typeface="Calibri"/>
                <a:cs typeface="Calibri"/>
                <a:sym typeface="Calibri"/>
              </a:rPr>
              <a:t>, not roadmap compression.</a:t>
            </a:r>
            <a:endParaRPr b="0" i="0" sz="154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19"/>
          <p:cNvSpPr/>
          <p:nvPr/>
        </p:nvSpPr>
        <p:spPr>
          <a:xfrm>
            <a:off x="148535" y="2679877"/>
            <a:ext cx="8775600" cy="1716900"/>
          </a:xfrm>
          <a:prstGeom prst="rect">
            <a:avLst/>
          </a:prstGeom>
          <a:solidFill>
            <a:srgbClr val="ECF9FB"/>
          </a:solidFill>
          <a:ln cap="flat" cmpd="sng" w="23850">
            <a:solidFill>
              <a:srgbClr val="0087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7675" lIns="95375" spcFirstLastPara="1" rIns="95375" wrap="square" tIns="47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47"/>
              <a:buFont typeface="Arial"/>
              <a:buNone/>
            </a:pPr>
            <a:r>
              <a:t/>
            </a:r>
            <a:endParaRPr b="0" i="0" sz="194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19"/>
          <p:cNvSpPr/>
          <p:nvPr/>
        </p:nvSpPr>
        <p:spPr>
          <a:xfrm>
            <a:off x="148535" y="2679877"/>
            <a:ext cx="86100" cy="1716900"/>
          </a:xfrm>
          <a:prstGeom prst="rect">
            <a:avLst/>
          </a:prstGeom>
          <a:solidFill>
            <a:srgbClr val="008796"/>
          </a:solidFill>
          <a:ln cap="flat" cmpd="sng" w="13250">
            <a:solidFill>
              <a:srgbClr val="0087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7675" lIns="95375" spcFirstLastPara="1" rIns="95375" wrap="square" tIns="47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47"/>
              <a:buFont typeface="Arial"/>
              <a:buNone/>
            </a:pPr>
            <a:r>
              <a:t/>
            </a:r>
            <a:endParaRPr b="0" i="0" sz="1947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9"/>
          <p:cNvSpPr/>
          <p:nvPr/>
        </p:nvSpPr>
        <p:spPr>
          <a:xfrm>
            <a:off x="291610" y="2775260"/>
            <a:ext cx="438900" cy="257400"/>
          </a:xfrm>
          <a:prstGeom prst="roundRect">
            <a:avLst>
              <a:gd fmla="val 16667" name="adj"/>
            </a:avLst>
          </a:prstGeom>
          <a:solidFill>
            <a:srgbClr val="008796"/>
          </a:solidFill>
          <a:ln cap="flat" cmpd="sng" w="13250">
            <a:solidFill>
              <a:srgbClr val="0087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7675" lIns="95375" spcFirstLastPara="1" rIns="95375" wrap="square" tIns="47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91"/>
              <a:buFont typeface="Arial"/>
              <a:buNone/>
            </a:pPr>
            <a:r>
              <a:rPr b="1" i="0" lang="en" sz="1391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r>
              <a:rPr b="1" lang="en" sz="139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53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19"/>
          <p:cNvSpPr/>
          <p:nvPr/>
        </p:nvSpPr>
        <p:spPr>
          <a:xfrm>
            <a:off x="854373" y="2775260"/>
            <a:ext cx="1049400" cy="257400"/>
          </a:xfrm>
          <a:prstGeom prst="rect">
            <a:avLst/>
          </a:prstGeom>
          <a:solidFill>
            <a:srgbClr val="F1F1F1"/>
          </a:solidFill>
          <a:ln cap="flat" cmpd="sng" w="13250">
            <a:solidFill>
              <a:srgbClr val="008796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47675" lIns="95375" spcFirstLastPara="1" rIns="95375" wrap="square" tIns="476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95"/>
              <a:buFont typeface="Arial"/>
              <a:buNone/>
            </a:pPr>
            <a:r>
              <a:rPr b="1" i="0" lang="en" sz="695" u="none" cap="none" strike="noStrike">
                <a:solidFill>
                  <a:srgbClr val="005A69"/>
                </a:solidFill>
                <a:latin typeface="Calibri"/>
                <a:ea typeface="Calibri"/>
                <a:cs typeface="Calibri"/>
                <a:sym typeface="Calibri"/>
              </a:rPr>
              <a:t>CRITICAL ★ DEPENDENCY</a:t>
            </a:r>
            <a:endParaRPr b="0" i="0" sz="153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19"/>
          <p:cNvSpPr txBox="1"/>
          <p:nvPr/>
        </p:nvSpPr>
        <p:spPr>
          <a:xfrm>
            <a:off x="2037129" y="2775260"/>
            <a:ext cx="6696000" cy="26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7675" lIns="95375" spcFirstLastPara="1" rIns="95375" wrap="square" tIns="4767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13"/>
              <a:buFont typeface="Arial"/>
              <a:buNone/>
            </a:pPr>
            <a:r>
              <a:rPr b="1" i="0" lang="en" sz="1113" u="none" cap="none" strike="noStrike">
                <a:solidFill>
                  <a:srgbClr val="32414B"/>
                </a:solidFill>
                <a:latin typeface="Calibri"/>
                <a:ea typeface="Calibri"/>
                <a:cs typeface="Calibri"/>
                <a:sym typeface="Calibri"/>
              </a:rPr>
              <a:t>AD/LDAP team continuous support required for foundation (Phases 1 &amp; 2)</a:t>
            </a:r>
            <a:endParaRPr b="0" i="0" sz="153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19"/>
          <p:cNvSpPr txBox="1"/>
          <p:nvPr/>
        </p:nvSpPr>
        <p:spPr>
          <a:xfrm>
            <a:off x="2037129" y="3042334"/>
            <a:ext cx="669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7675" lIns="95375" spcFirstLastPara="1" rIns="95375" wrap="square" tIns="4767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35"/>
              <a:buFont typeface="Arial"/>
              <a:buNone/>
            </a:pPr>
            <a:r>
              <a:rPr b="0" i="1" lang="en" sz="835" u="none" cap="none" strike="noStrike">
                <a:solidFill>
                  <a:srgbClr val="7D7D7D"/>
                </a:solidFill>
                <a:latin typeface="Calibri"/>
                <a:ea typeface="Calibri"/>
                <a:cs typeface="Calibri"/>
                <a:sym typeface="Calibri"/>
              </a:rPr>
              <a:t>Ongoing Q2 2026 – Q2 2027  ·  Phases 1–2 critical path</a:t>
            </a:r>
            <a:endParaRPr b="0" i="0" sz="153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19"/>
          <p:cNvSpPr txBox="1"/>
          <p:nvPr/>
        </p:nvSpPr>
        <p:spPr>
          <a:xfrm>
            <a:off x="291610" y="3214025"/>
            <a:ext cx="6489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7675" lIns="95375" spcFirstLastPara="1" rIns="95375" wrap="square" tIns="4767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35"/>
              <a:buFont typeface="Arial"/>
              <a:buNone/>
            </a:pPr>
            <a:r>
              <a:rPr b="1" i="0" lang="en" sz="835" u="none" cap="none" strike="noStrike">
                <a:solidFill>
                  <a:srgbClr val="005A69"/>
                </a:solidFill>
                <a:latin typeface="Calibri"/>
                <a:ea typeface="Calibri"/>
                <a:cs typeface="Calibri"/>
                <a:sym typeface="Calibri"/>
              </a:rPr>
              <a:t>Cause:</a:t>
            </a:r>
            <a:endParaRPr b="0" i="0" sz="153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19"/>
          <p:cNvSpPr txBox="1"/>
          <p:nvPr/>
        </p:nvSpPr>
        <p:spPr>
          <a:xfrm>
            <a:off x="1006987" y="3214025"/>
            <a:ext cx="77739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7675" lIns="95375" spcFirstLastPara="1" rIns="95375" wrap="square" tIns="47675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35"/>
              <a:buFont typeface="Arial"/>
              <a:buNone/>
            </a:pPr>
            <a:r>
              <a:rPr lang="en" sz="835">
                <a:solidFill>
                  <a:srgbClr val="505050"/>
                </a:solidFill>
                <a:latin typeface="Calibri"/>
                <a:ea typeface="Calibri"/>
                <a:cs typeface="Calibri"/>
                <a:sym typeface="Calibri"/>
              </a:rPr>
              <a:t>Base foundation metrics are decided based on AD integration. We need advice and continuous support to set a solid foundation with respect to Data Sync and Core API</a:t>
            </a:r>
            <a:endParaRPr b="0" i="0" sz="153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19"/>
          <p:cNvSpPr txBox="1"/>
          <p:nvPr/>
        </p:nvSpPr>
        <p:spPr>
          <a:xfrm>
            <a:off x="291610" y="3595559"/>
            <a:ext cx="6681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7675" lIns="95375" spcFirstLastPara="1" rIns="95375" wrap="square" tIns="4767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35"/>
              <a:buFont typeface="Arial"/>
              <a:buNone/>
            </a:pPr>
            <a:r>
              <a:rPr b="1" i="0" lang="en" sz="835" u="none" cap="none" strike="noStrike">
                <a:solidFill>
                  <a:srgbClr val="008796"/>
                </a:solidFill>
                <a:latin typeface="Calibri"/>
                <a:ea typeface="Calibri"/>
                <a:cs typeface="Calibri"/>
                <a:sym typeface="Calibri"/>
              </a:rPr>
              <a:t>Status:</a:t>
            </a:r>
            <a:endParaRPr b="0" i="0" sz="153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19"/>
          <p:cNvSpPr txBox="1"/>
          <p:nvPr/>
        </p:nvSpPr>
        <p:spPr>
          <a:xfrm>
            <a:off x="1006987" y="3595559"/>
            <a:ext cx="7773900" cy="65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7675" lIns="95375" spcFirstLastPara="1" rIns="95375" wrap="square" tIns="47675">
            <a:sp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35"/>
              <a:buFont typeface="Arial"/>
              <a:buNone/>
            </a:pPr>
            <a:r>
              <a:rPr b="1" i="0" lang="en" sz="835" u="none" cap="none" strike="noStrike">
                <a:solidFill>
                  <a:srgbClr val="005A69"/>
                </a:solidFill>
                <a:latin typeface="Calibri"/>
                <a:ea typeface="Calibri"/>
                <a:cs typeface="Calibri"/>
                <a:sym typeface="Calibri"/>
              </a:rPr>
              <a:t>NO MITIGATION POSSIBLE </a:t>
            </a:r>
            <a:r>
              <a:rPr b="1" lang="en" sz="835">
                <a:solidFill>
                  <a:srgbClr val="005A69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1" i="0" lang="en" sz="835" u="none" cap="none" strike="noStrike">
                <a:solidFill>
                  <a:srgbClr val="005A69"/>
                </a:solidFill>
                <a:latin typeface="Calibri"/>
                <a:ea typeface="Calibri"/>
                <a:cs typeface="Calibri"/>
                <a:sym typeface="Calibri"/>
              </a:rPr>
              <a:t> EXTERNAL DEPENDENCY. Requires executive commitment before Gate 0:</a:t>
            </a:r>
            <a:br>
              <a:rPr b="1" i="0" lang="en" sz="835" u="none" cap="none" strike="noStrike">
                <a:solidFill>
                  <a:srgbClr val="005A69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835" u="none" cap="none" strike="noStrike">
                <a:solidFill>
                  <a:srgbClr val="005A69"/>
                </a:solidFill>
                <a:latin typeface="Calibri"/>
                <a:ea typeface="Calibri"/>
                <a:cs typeface="Calibri"/>
                <a:sym typeface="Calibri"/>
              </a:rPr>
              <a:t>·  Dedicated AD team liaison assigned to MyIAM for Phases 1 &amp; 2</a:t>
            </a:r>
            <a:br>
              <a:rPr b="1" i="0" lang="en" sz="835" u="none" cap="none" strike="noStrike">
                <a:solidFill>
                  <a:srgbClr val="005A69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835" u="none" cap="none" strike="noStrike">
                <a:solidFill>
                  <a:srgbClr val="005A69"/>
                </a:solidFill>
                <a:latin typeface="Calibri"/>
                <a:ea typeface="Calibri"/>
                <a:cs typeface="Calibri"/>
                <a:sym typeface="Calibri"/>
              </a:rPr>
              <a:t>·  Joint </a:t>
            </a:r>
            <a:r>
              <a:rPr b="1" lang="en" sz="835">
                <a:solidFill>
                  <a:srgbClr val="005A69"/>
                </a:solidFill>
                <a:latin typeface="Calibri"/>
                <a:ea typeface="Calibri"/>
                <a:cs typeface="Calibri"/>
                <a:sym typeface="Calibri"/>
              </a:rPr>
              <a:t>meeting </a:t>
            </a:r>
            <a:r>
              <a:rPr b="1" i="0" lang="en" sz="835" u="none" cap="none" strike="noStrike">
                <a:solidFill>
                  <a:srgbClr val="005A69"/>
                </a:solidFill>
                <a:latin typeface="Calibri"/>
                <a:ea typeface="Calibri"/>
                <a:cs typeface="Calibri"/>
                <a:sym typeface="Calibri"/>
              </a:rPr>
              <a:t>(MyIAM PM + AD Lead) to surface conflicts early</a:t>
            </a:r>
            <a:br>
              <a:rPr b="1" i="0" lang="en" sz="835" u="none" cap="none" strike="noStrike">
                <a:solidFill>
                  <a:srgbClr val="005A69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835" u="none" cap="none" strike="noStrike">
                <a:solidFill>
                  <a:srgbClr val="005A69"/>
                </a:solidFill>
                <a:latin typeface="Calibri"/>
                <a:ea typeface="Calibri"/>
                <a:cs typeface="Calibri"/>
                <a:sym typeface="Calibri"/>
              </a:rPr>
              <a:t>·  Escalation: Abhishek Reddy </a:t>
            </a:r>
            <a:r>
              <a:rPr b="1" lang="en" sz="835">
                <a:solidFill>
                  <a:srgbClr val="005A69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1" i="0" lang="en" sz="835" u="none" cap="none" strike="noStrike">
                <a:solidFill>
                  <a:srgbClr val="005A69"/>
                </a:solidFill>
                <a:latin typeface="Calibri"/>
                <a:ea typeface="Calibri"/>
                <a:cs typeface="Calibri"/>
                <a:sym typeface="Calibri"/>
              </a:rPr>
              <a:t> if AD capacity withdrawn, gate pauses</a:t>
            </a:r>
            <a:endParaRPr b="0" i="0" sz="153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20"/>
          <p:cNvSpPr/>
          <p:nvPr/>
        </p:nvSpPr>
        <p:spPr>
          <a:xfrm>
            <a:off x="411480" y="240030"/>
            <a:ext cx="54864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CALL FOR ACTION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20"/>
          <p:cNvSpPr/>
          <p:nvPr/>
        </p:nvSpPr>
        <p:spPr>
          <a:xfrm>
            <a:off x="411480" y="1028700"/>
            <a:ext cx="3943200" cy="2434500"/>
          </a:xfrm>
          <a:prstGeom prst="roundRect">
            <a:avLst>
              <a:gd fmla="val 2254" name="adj"/>
            </a:avLst>
          </a:prstGeom>
          <a:solidFill>
            <a:srgbClr val="FFFFFF"/>
          </a:solidFill>
          <a:ln cap="flat" cmpd="sng" w="9525">
            <a:solidFill>
              <a:srgbClr val="E2E5EA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8575">
              <a:srgbClr val="000000">
                <a:alpha val="1020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20"/>
          <p:cNvSpPr/>
          <p:nvPr/>
        </p:nvSpPr>
        <p:spPr>
          <a:xfrm>
            <a:off x="617220" y="1234440"/>
            <a:ext cx="480300" cy="480300"/>
          </a:xfrm>
          <a:prstGeom prst="ellipse">
            <a:avLst/>
          </a:prstGeom>
          <a:solidFill>
            <a:srgbClr val="B91C1C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25" name="Google Shape;425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3806" y="135102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20"/>
          <p:cNvSpPr/>
          <p:nvPr/>
        </p:nvSpPr>
        <p:spPr>
          <a:xfrm>
            <a:off x="1234440" y="1248156"/>
            <a:ext cx="29148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430"/>
              </a:buClr>
              <a:buSzPts val="1400"/>
              <a:buFont typeface="Cambria"/>
              <a:buNone/>
            </a:pPr>
            <a:r>
              <a:rPr b="1" i="0" lang="en" sz="1400" u="none" cap="none" strike="noStrike">
                <a:solidFill>
                  <a:srgbClr val="0B1430"/>
                </a:solidFill>
                <a:latin typeface="Cambria"/>
                <a:ea typeface="Cambria"/>
                <a:cs typeface="Cambria"/>
                <a:sym typeface="Cambria"/>
              </a:rPr>
              <a:t>Capacity Escalation Path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20"/>
          <p:cNvSpPr/>
          <p:nvPr/>
        </p:nvSpPr>
        <p:spPr>
          <a:xfrm>
            <a:off x="617220" y="1851660"/>
            <a:ext cx="35319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D4456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3D4456"/>
                </a:solidFill>
                <a:latin typeface="Calibri"/>
                <a:ea typeface="Calibri"/>
                <a:cs typeface="Calibri"/>
                <a:sym typeface="Calibri"/>
              </a:rPr>
              <a:t>The team is at capacity across all active phases. No mitigation exists today </a:t>
            </a:r>
            <a:r>
              <a:rPr lang="en" sz="900">
                <a:solidFill>
                  <a:srgbClr val="3D4456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b="0" i="0" lang="en" sz="900" u="none" cap="none" strike="noStrike">
                <a:solidFill>
                  <a:srgbClr val="3D4456"/>
                </a:solidFill>
                <a:latin typeface="Calibri"/>
                <a:ea typeface="Calibri"/>
                <a:cs typeface="Calibri"/>
                <a:sym typeface="Calibri"/>
              </a:rPr>
              <a:t> if delivery is squeezed further, we need PM &amp; HO backing to </a:t>
            </a:r>
            <a:r>
              <a:rPr lang="en" sz="900">
                <a:solidFill>
                  <a:srgbClr val="3D4456"/>
                </a:solidFill>
                <a:latin typeface="Calibri"/>
                <a:ea typeface="Calibri"/>
                <a:cs typeface="Calibri"/>
                <a:sym typeface="Calibri"/>
              </a:rPr>
              <a:t>prioritize</a:t>
            </a:r>
            <a:r>
              <a:rPr b="0" i="0" lang="en" sz="900" u="none" cap="none" strike="noStrike">
                <a:solidFill>
                  <a:srgbClr val="3D4456"/>
                </a:solidFill>
                <a:latin typeface="Calibri"/>
                <a:ea typeface="Calibri"/>
                <a:cs typeface="Calibri"/>
                <a:sym typeface="Calibri"/>
              </a:rPr>
              <a:t> scope, not compress the roadmap.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20"/>
          <p:cNvSpPr/>
          <p:nvPr/>
        </p:nvSpPr>
        <p:spPr>
          <a:xfrm>
            <a:off x="617220" y="2777490"/>
            <a:ext cx="3531900" cy="534900"/>
          </a:xfrm>
          <a:prstGeom prst="roundRect">
            <a:avLst>
              <a:gd fmla="val 7692" name="adj"/>
            </a:avLst>
          </a:prstGeom>
          <a:solidFill>
            <a:srgbClr val="F2F3F5"/>
          </a:solidFill>
          <a:ln cap="flat" cmpd="sng" w="11425">
            <a:solidFill>
              <a:srgbClr val="B9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20"/>
          <p:cNvSpPr/>
          <p:nvPr/>
        </p:nvSpPr>
        <p:spPr>
          <a:xfrm>
            <a:off x="720090" y="2832354"/>
            <a:ext cx="3326100" cy="44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B91C1C"/>
                </a:solidFill>
                <a:latin typeface="Calibri"/>
                <a:ea typeface="Calibri"/>
                <a:cs typeface="Calibri"/>
                <a:sym typeface="Calibri"/>
              </a:rPr>
              <a:t>ASK:  </a:t>
            </a:r>
            <a:r>
              <a:rPr b="0" i="0" lang="en" sz="900" u="none" cap="none" strike="noStrike">
                <a:solidFill>
                  <a:srgbClr val="0B1430"/>
                </a:solidFill>
                <a:latin typeface="Calibri"/>
                <a:ea typeface="Calibri"/>
                <a:cs typeface="Calibri"/>
                <a:sym typeface="Calibri"/>
              </a:rPr>
              <a:t>Approve an escalation path: capacity issues go to reprioritization, not timeline compression.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20"/>
          <p:cNvSpPr/>
          <p:nvPr/>
        </p:nvSpPr>
        <p:spPr>
          <a:xfrm>
            <a:off x="4560570" y="1028700"/>
            <a:ext cx="3943200" cy="2434500"/>
          </a:xfrm>
          <a:prstGeom prst="roundRect">
            <a:avLst>
              <a:gd fmla="val 2254" name="adj"/>
            </a:avLst>
          </a:prstGeom>
          <a:solidFill>
            <a:srgbClr val="FFFFFF"/>
          </a:solidFill>
          <a:ln cap="flat" cmpd="sng" w="9525">
            <a:solidFill>
              <a:srgbClr val="E2E5EA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8575">
              <a:srgbClr val="000000">
                <a:alpha val="10200"/>
              </a:srgbClr>
            </a:outerShdw>
          </a:effectLst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20"/>
          <p:cNvSpPr/>
          <p:nvPr/>
        </p:nvSpPr>
        <p:spPr>
          <a:xfrm>
            <a:off x="4766310" y="1234440"/>
            <a:ext cx="480300" cy="480300"/>
          </a:xfrm>
          <a:prstGeom prst="ellipse">
            <a:avLst/>
          </a:prstGeom>
          <a:solidFill>
            <a:srgbClr val="2F5FD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32" name="Google Shape;432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82896" y="135102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20"/>
          <p:cNvSpPr/>
          <p:nvPr/>
        </p:nvSpPr>
        <p:spPr>
          <a:xfrm>
            <a:off x="5383530" y="1248156"/>
            <a:ext cx="29148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1430"/>
              </a:buClr>
              <a:buSzPts val="1400"/>
              <a:buFont typeface="Cambria"/>
              <a:buNone/>
            </a:pPr>
            <a:r>
              <a:rPr b="1" i="0" lang="en" sz="1400" u="none" cap="none" strike="noStrike">
                <a:solidFill>
                  <a:srgbClr val="0B1430"/>
                </a:solidFill>
                <a:latin typeface="Cambria"/>
                <a:ea typeface="Cambria"/>
                <a:cs typeface="Cambria"/>
                <a:sym typeface="Cambria"/>
              </a:rPr>
              <a:t>AD/LDAP Team Commitment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20"/>
          <p:cNvSpPr/>
          <p:nvPr/>
        </p:nvSpPr>
        <p:spPr>
          <a:xfrm>
            <a:off x="4766310" y="1851660"/>
            <a:ext cx="3531900" cy="891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D4456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3D4456"/>
                </a:solidFill>
                <a:latin typeface="Calibri"/>
                <a:ea typeface="Calibri"/>
                <a:cs typeface="Calibri"/>
                <a:sym typeface="Calibri"/>
              </a:rPr>
              <a:t>Phases 1 and 2 depend on continuous Active Directory support. This is an external dependency we cannot mitigate alone </a:t>
            </a:r>
            <a:r>
              <a:rPr lang="en" sz="900">
                <a:solidFill>
                  <a:srgbClr val="3D4456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b="0" i="0" lang="en" sz="900" u="none" cap="none" strike="noStrike">
                <a:solidFill>
                  <a:srgbClr val="3D4456"/>
                </a:solidFill>
                <a:latin typeface="Calibri"/>
                <a:ea typeface="Calibri"/>
                <a:cs typeface="Calibri"/>
                <a:sym typeface="Calibri"/>
              </a:rPr>
              <a:t> it requires executive commitment</a:t>
            </a:r>
            <a:r>
              <a:rPr lang="en" sz="900">
                <a:solidFill>
                  <a:srgbClr val="3D4456"/>
                </a:solidFill>
                <a:latin typeface="Calibri"/>
                <a:ea typeface="Calibri"/>
                <a:cs typeface="Calibri"/>
                <a:sym typeface="Calibri"/>
              </a:rPr>
              <a:t> as for MyIAM source of truth is AD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20"/>
          <p:cNvSpPr/>
          <p:nvPr/>
        </p:nvSpPr>
        <p:spPr>
          <a:xfrm>
            <a:off x="4766310" y="2777490"/>
            <a:ext cx="3531900" cy="534900"/>
          </a:xfrm>
          <a:prstGeom prst="roundRect">
            <a:avLst>
              <a:gd fmla="val 7692" name="adj"/>
            </a:avLst>
          </a:prstGeom>
          <a:solidFill>
            <a:srgbClr val="F2F3F5"/>
          </a:solidFill>
          <a:ln cap="flat" cmpd="sng" w="11425">
            <a:solidFill>
              <a:srgbClr val="2F5FD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20"/>
          <p:cNvSpPr/>
          <p:nvPr/>
        </p:nvSpPr>
        <p:spPr>
          <a:xfrm>
            <a:off x="4869180" y="2832354"/>
            <a:ext cx="3326100" cy="44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5FD8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2F5FD8"/>
                </a:solidFill>
                <a:latin typeface="Calibri"/>
                <a:ea typeface="Calibri"/>
                <a:cs typeface="Calibri"/>
                <a:sym typeface="Calibri"/>
              </a:rPr>
              <a:t>ASK:  </a:t>
            </a:r>
            <a:r>
              <a:rPr b="0" i="0" lang="en" sz="900" u="none" cap="none" strike="noStrike">
                <a:solidFill>
                  <a:srgbClr val="0B1430"/>
                </a:solidFill>
                <a:latin typeface="Calibri"/>
                <a:ea typeface="Calibri"/>
                <a:cs typeface="Calibri"/>
                <a:sym typeface="Calibri"/>
              </a:rPr>
              <a:t>Confirm a dedicated AD liaison for MyIAM through Phases 1–2, with an early joint working session.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20"/>
          <p:cNvSpPr/>
          <p:nvPr/>
        </p:nvSpPr>
        <p:spPr>
          <a:xfrm>
            <a:off x="411480" y="3634740"/>
            <a:ext cx="8160900" cy="582900"/>
          </a:xfrm>
          <a:prstGeom prst="roundRect">
            <a:avLst>
              <a:gd fmla="val 8235" name="adj"/>
            </a:avLst>
          </a:prstGeom>
          <a:solidFill>
            <a:srgbClr val="FCEEDF"/>
          </a:solidFill>
          <a:ln cap="flat" cmpd="sng" w="11425">
            <a:solidFill>
              <a:srgbClr val="D9722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38" name="Google Shape;438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2930" y="3813048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20"/>
          <p:cNvSpPr/>
          <p:nvPr/>
        </p:nvSpPr>
        <p:spPr>
          <a:xfrm>
            <a:off x="925830" y="3717036"/>
            <a:ext cx="7543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4A12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8A4A12"/>
                </a:solidFill>
                <a:latin typeface="Calibri"/>
                <a:ea typeface="Calibri"/>
                <a:cs typeface="Calibri"/>
                <a:sym typeface="Calibri"/>
              </a:rPr>
              <a:t>Also flagged for awareness — </a:t>
            </a:r>
            <a:r>
              <a:rPr b="0" i="0" lang="en" sz="900" u="none" cap="none" strike="noStrike">
                <a:solidFill>
                  <a:srgbClr val="5A3608"/>
                </a:solidFill>
                <a:latin typeface="Calibri"/>
                <a:ea typeface="Calibri"/>
                <a:cs typeface="Calibri"/>
                <a:sym typeface="Calibri"/>
              </a:rPr>
              <a:t>Phase 4 (Mobile + Passport Decommission) scope remains pending. A decision will be needed after Gate 3.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20"/>
          <p:cNvSpPr/>
          <p:nvPr/>
        </p:nvSpPr>
        <p:spPr>
          <a:xfrm>
            <a:off x="411480" y="4457700"/>
            <a:ext cx="8092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800"/>
              <a:buFont typeface="Calibri"/>
              <a:buNone/>
            </a:pPr>
            <a:r>
              <a:rPr i="1" lang="en" sz="8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Critical dependencies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20"/>
          <p:cNvSpPr/>
          <p:nvPr/>
        </p:nvSpPr>
        <p:spPr>
          <a:xfrm>
            <a:off x="0" y="0"/>
            <a:ext cx="9144000" cy="425100"/>
          </a:xfrm>
          <a:prstGeom prst="rect">
            <a:avLst/>
          </a:prstGeom>
          <a:solidFill>
            <a:srgbClr val="050E1F"/>
          </a:solidFill>
          <a:ln cap="flat" cmpd="sng" w="9525">
            <a:solidFill>
              <a:srgbClr val="050E1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0"/>
          <p:cNvSpPr txBox="1"/>
          <p:nvPr/>
        </p:nvSpPr>
        <p:spPr>
          <a:xfrm>
            <a:off x="274320" y="89831"/>
            <a:ext cx="4457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lang="en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Call for Action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50E1F"/>
        </a:solidFill>
      </p:bgPr>
    </p:bg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21"/>
          <p:cNvSpPr/>
          <p:nvPr/>
        </p:nvSpPr>
        <p:spPr>
          <a:xfrm>
            <a:off x="5943600" y="-731520"/>
            <a:ext cx="4572000" cy="594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E3D"/>
              </a:buClr>
              <a:buSzPts val="42000"/>
              <a:buFont typeface="Calibri"/>
              <a:buNone/>
            </a:pPr>
            <a:r>
              <a:rPr b="1" i="0" lang="en" sz="42000" u="none" cap="none" strike="noStrike">
                <a:solidFill>
                  <a:srgbClr val="12183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4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1"/>
          <p:cNvSpPr/>
          <p:nvPr/>
        </p:nvSpPr>
        <p:spPr>
          <a:xfrm>
            <a:off x="0" y="0"/>
            <a:ext cx="54900" cy="5143500"/>
          </a:xfrm>
          <a:prstGeom prst="rect">
            <a:avLst/>
          </a:prstGeom>
          <a:solidFill>
            <a:srgbClr val="0052CC"/>
          </a:solidFill>
          <a:ln cap="flat" cmpd="sng" w="12700">
            <a:solidFill>
              <a:srgbClr val="0052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21"/>
          <p:cNvSpPr/>
          <p:nvPr/>
        </p:nvSpPr>
        <p:spPr>
          <a:xfrm>
            <a:off x="411480" y="320040"/>
            <a:ext cx="6400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A608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AIRBUS  · IAM Convergence PROGRAMME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21"/>
          <p:cNvSpPr/>
          <p:nvPr/>
        </p:nvSpPr>
        <p:spPr>
          <a:xfrm>
            <a:off x="411480" y="1938528"/>
            <a:ext cx="82296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BA8D4"/>
              </a:buClr>
              <a:buSzPts val="2800"/>
              <a:buFont typeface="Calibri"/>
              <a:buNone/>
            </a:pPr>
            <a:r>
              <a:rPr lang="en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21"/>
          <p:cNvSpPr/>
          <p:nvPr/>
        </p:nvSpPr>
        <p:spPr>
          <a:xfrm>
            <a:off x="411480" y="2633472"/>
            <a:ext cx="2011800" cy="32100"/>
          </a:xfrm>
          <a:prstGeom prst="rect">
            <a:avLst/>
          </a:prstGeom>
          <a:solidFill>
            <a:srgbClr val="0052CC"/>
          </a:solidFill>
          <a:ln cap="flat" cmpd="sng" w="12700">
            <a:solidFill>
              <a:srgbClr val="0052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21"/>
          <p:cNvSpPr/>
          <p:nvPr/>
        </p:nvSpPr>
        <p:spPr>
          <a:xfrm>
            <a:off x="0" y="4882896"/>
            <a:ext cx="9144000" cy="260700"/>
          </a:xfrm>
          <a:prstGeom prst="rect">
            <a:avLst/>
          </a:prstGeom>
          <a:solidFill>
            <a:srgbClr val="030A14"/>
          </a:solidFill>
          <a:ln cap="flat" cmpd="sng" w="12700">
            <a:solidFill>
              <a:srgbClr val="030A1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21"/>
          <p:cNvSpPr/>
          <p:nvPr/>
        </p:nvSpPr>
        <p:spPr>
          <a:xfrm>
            <a:off x="411480" y="4892040"/>
            <a:ext cx="8229600" cy="21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A5070"/>
              </a:buClr>
              <a:buSzPts val="800"/>
              <a:buFont typeface="Calibri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Airbus Commercial  ·  IIDIA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