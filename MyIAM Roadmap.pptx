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Go-Live is March, delivered in canary mode by module, with Access following in April. Three enablers decide the date: Data Sync (mid Nov), Core API / AD Write (mid Dec) and Claude Code availability. If any one slips, Beta, Go-Live and Access all move. Beta means the internal 1% and pilot 10% canary stages; Go-Live is the ramp to all users. Asks: Claude Code licences confirmed for the pilot team, Core API / AD Write capacity protected through mid December, and DST and UAT review slots held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Completion dates only; no start dates. The amber path is the critical path: Data Sync (mid Nov) and Claude Code availability (end Oct) both feed Core API / AD Write (mid Dec), which feeds Integration and testing in mid Jan, then DST approval and UAT sign-off at the end of January, then the first go-live. Beta is end Feb and Go-Live is end Mar, shown as dashed guide lines. Password and Solutions go live at the end of March; Accounts and Access Control, which includes Groups, follow in April. Hypercare completes in May and legacy exit in June. The shaded zone to the right of the Core API gate is everything that depends on it. There is no buffer: each week Core API slips moves Beta, Go-Live and Access by a week. How the canary rollout works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Go-Live is not a single cutover. Each module moves through UAT, then an internal 1% cohort, then a 10% pilot, then a ramp to all users. The canary is the beta: internal is beta-internal and pilot is beta-pilot. Every step needs both a clean time window and a manual sign-off. Prerequisite: AD Write consolidation and the AD to DB Data Sync both complete before any module canary starts. Release order is Password, Solutions, Groups, Accounts and Access Control; the next module starts once the previous one clears its pilot gate. Access Control has a hard minimum of 3 weeks from pilot to ramp, and the April date may flex rather than compress that window. If a pilot does not succeed, the team falls back, replans and delivers again. MyAppConnect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20"/>
            <a:ext cx="10566400" cy="350441"/>
          </a:xfrm>
          <a:prstGeom prst="rect">
            <a:avLst/>
          </a:prstGeom>
          <a:noFill/>
          <a:ln/>
        </p:spPr>
        <p:txBody>
          <a:bodyPr wrap="square" lIns="0" tIns="0" rIns="0" bIns="0" rtlCol="0" anchor="t"/>
          <a:lstStyle>
            <a:lvl1pPr algn="l" indent="0" marL="0">
              <a:lnSpc>
                <a:spcPct val="115000"/>
              </a:lnSpc>
              <a:buNone/>
              <a:defRPr lang="en-US" sz="2400" dirty="0">
                <a:solidFill>
                  <a:srgbClr val="00205B"/>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605161"/>
            <a:ext cx="10566400" cy="4440039"/>
          </a:xfrm>
          <a:prstGeom prst="rect">
            <a:avLst/>
          </a:prstGeom>
          <a:noFill/>
          <a:ln/>
        </p:spPr>
        <p:txBody>
          <a:bodyPr wrap="square" lIns="0" tIns="0" rIns="0" bIns="0" rtlCol="0" anchor="t"/>
          <a:lstStyle>
            <a:lvl1pPr algn="l" indent="0" marL="0">
              <a:lnSpc>
                <a:spcPct val="140000"/>
              </a:lnSpc>
              <a:buNone/>
              <a:defRPr lang="en-US" sz="1600" dirty="0">
                <a:solidFill>
                  <a:srgbClr val="00205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9920"/>
            <a:ext cx="10566400" cy="350441"/>
          </a:xfrm>
          <a:prstGeom prst="rect">
            <a:avLst/>
          </a:prstGeom>
          <a:noFill/>
          <a:ln/>
        </p:spPr>
        <p:txBody>
          <a:bodyPr wrap="square" lIns="0" tIns="0" rIns="0" bIns="0" rtlCol="0" anchor="t"/>
          <a:lstStyle>
            <a:lvl1pPr algn="l" indent="0" marL="0">
              <a:lnSpc>
                <a:spcPct val="115000"/>
              </a:lnSpc>
              <a:buNone/>
              <a:defRPr lang="en-US" sz="2400" dirty="0">
                <a:solidFill>
                  <a:srgbClr val="00205B"/>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605161"/>
            <a:ext cx="10566400" cy="4440039"/>
          </a:xfrm>
          <a:prstGeom prst="rect">
            <a:avLst/>
          </a:prstGeom>
          <a:noFill/>
          <a:ln/>
        </p:spPr>
        <p:txBody>
          <a:bodyPr wrap="square" lIns="0" tIns="0" rIns="0" bIns="0" rtlCol="0" anchor="t"/>
          <a:lstStyle>
            <a:lvl1pPr algn="l" indent="0" marL="0">
              <a:lnSpc>
                <a:spcPct val="140000"/>
              </a:lnSpc>
              <a:buNone/>
              <a:defRPr lang="en-US" sz="1600" dirty="0">
                <a:solidFill>
                  <a:srgbClr val="00205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image" Target="../media/image-2-26.png"/><Relationship Id="rId27" Type="http://schemas.openxmlformats.org/officeDocument/2006/relationships/image" Target="../media/image-2-27.png"/><Relationship Id="rId28" Type="http://schemas.openxmlformats.org/officeDocument/2006/relationships/slideLayout" Target="../slideLayouts/slideLayout2.xml"/><Relationship Id="rId2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558800"/>
            <a:ext cx="400585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3D08"/>
                </a:solidFill>
                <a:latin typeface="Public Sans" pitchFamily="34" charset="0"/>
                <a:ea typeface="Public Sans" pitchFamily="34" charset="-122"/>
                <a:cs typeface="Public Sans" pitchFamily="34" charset="-120"/>
              </a:rPr>
              <a:t>MYIAM ROADMAP · EXECUTIVE VIEW</a:t>
            </a:r>
            <a:endParaRPr lang="en-US" sz="1200" dirty="0"/>
          </a:p>
        </p:txBody>
      </p:sp>
      <p:sp>
        <p:nvSpPr>
          <p:cNvPr id="3" name="Shape 1"/>
          <p:cNvSpPr/>
          <p:nvPr/>
        </p:nvSpPr>
        <p:spPr>
          <a:xfrm>
            <a:off x="10309523" y="601960"/>
            <a:ext cx="127000" cy="127000"/>
          </a:xfrm>
          <a:prstGeom prst="roundRect">
            <a:avLst>
              <a:gd name="adj" fmla="val 20000"/>
            </a:avLst>
          </a:prstGeom>
          <a:solidFill>
            <a:srgbClr val="E45011"/>
          </a:solidFill>
          <a:ln/>
        </p:spPr>
      </p:sp>
      <p:sp>
        <p:nvSpPr>
          <p:cNvPr id="4" name="Text 2"/>
          <p:cNvSpPr/>
          <p:nvPr/>
        </p:nvSpPr>
        <p:spPr>
          <a:xfrm>
            <a:off x="10512723" y="558800"/>
            <a:ext cx="10397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Critical path</a:t>
            </a:r>
            <a:endParaRPr lang="en-US" sz="1200" dirty="0"/>
          </a:p>
        </p:txBody>
      </p:sp>
      <p:sp>
        <p:nvSpPr>
          <p:cNvPr id="5" name="Text 3"/>
          <p:cNvSpPr/>
          <p:nvPr>
            <p:ph type="title"/>
          </p:nvPr>
        </p:nvSpPr>
        <p:spPr>
          <a:xfrm>
            <a:off x="812800" y="949920"/>
            <a:ext cx="10883392" cy="726281"/>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0205B"/>
                </a:solidFill>
                <a:latin typeface="Public Sans" pitchFamily="34" charset="0"/>
                <a:ea typeface="Public Sans" pitchFamily="34" charset="-122"/>
                <a:cs typeface="Public Sans" pitchFamily="34" charset="-120"/>
              </a:rPr>
              <a:t>Go-Live in March through canary rollout; Core API, Data Sync and Claude Code set the pace</a:t>
            </a:r>
            <a:endParaRPr lang="en-US" sz="2400" dirty="0"/>
          </a:p>
        </p:txBody>
      </p:sp>
      <p:sp>
        <p:nvSpPr>
          <p:cNvPr id="6" name="Shape 4"/>
          <p:cNvSpPr/>
          <p:nvPr/>
        </p:nvSpPr>
        <p:spPr>
          <a:xfrm>
            <a:off x="815975" y="1831777"/>
            <a:ext cx="3278684" cy="2467173"/>
          </a:xfrm>
          <a:prstGeom prst="roundRect">
            <a:avLst>
              <a:gd name="adj" fmla="val 3989"/>
            </a:avLst>
          </a:prstGeom>
          <a:solidFill>
            <a:srgbClr val="FDFDFE"/>
          </a:solidFill>
          <a:ln w="6350">
            <a:solidFill>
              <a:srgbClr val="D5DBE5"/>
            </a:solidFill>
            <a:prstDash val="solid"/>
          </a:ln>
        </p:spPr>
      </p:sp>
      <p:sp>
        <p:nvSpPr>
          <p:cNvPr id="7" name="Shape 5"/>
          <p:cNvSpPr/>
          <p:nvPr/>
        </p:nvSpPr>
        <p:spPr>
          <a:xfrm>
            <a:off x="996950" y="2382242"/>
            <a:ext cx="2916734" cy="0"/>
          </a:xfrm>
          <a:prstGeom prst="line">
            <a:avLst/>
          </a:prstGeom>
          <a:noFill/>
          <a:ln w="12700">
            <a:solidFill>
              <a:srgbClr val="D5DBE5"/>
            </a:solidFill>
            <a:prstDash val="solid"/>
          </a:ln>
        </p:spPr>
      </p:sp>
      <p:sp>
        <p:nvSpPr>
          <p:cNvPr id="8" name="Text 6"/>
          <p:cNvSpPr/>
          <p:nvPr/>
        </p:nvSpPr>
        <p:spPr>
          <a:xfrm>
            <a:off x="996950" y="2012752"/>
            <a:ext cx="67484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05B"/>
                </a:solidFill>
                <a:latin typeface="Public Sans" pitchFamily="34" charset="0"/>
                <a:ea typeface="Public Sans" pitchFamily="34" charset="-122"/>
                <a:cs typeface="Public Sans" pitchFamily="34" charset="-120"/>
              </a:rPr>
              <a:t>Build</a:t>
            </a:r>
            <a:endParaRPr lang="en-US" sz="1800" dirty="0"/>
          </a:p>
        </p:txBody>
      </p:sp>
      <p:sp>
        <p:nvSpPr>
          <p:cNvPr id="9" name="Text 7"/>
          <p:cNvSpPr/>
          <p:nvPr/>
        </p:nvSpPr>
        <p:spPr>
          <a:xfrm>
            <a:off x="2876173" y="2069902"/>
            <a:ext cx="103751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Oct–Dec '26</a:t>
            </a:r>
            <a:endParaRPr lang="en-US" sz="1200" dirty="0"/>
          </a:p>
        </p:txBody>
      </p:sp>
      <p:sp>
        <p:nvSpPr>
          <p:cNvPr id="10" name="Text 8"/>
          <p:cNvSpPr/>
          <p:nvPr/>
        </p:nvSpPr>
        <p:spPr>
          <a:xfrm>
            <a:off x="996950" y="2490192"/>
            <a:ext cx="406400" cy="474861"/>
          </a:xfrm>
          <a:prstGeom prst="roundRect">
            <a:avLst>
              <a:gd name="adj" fmla="val 15625"/>
            </a:avLst>
          </a:prstGeom>
          <a:solidFill>
            <a:srgbClr val="00205B"/>
          </a:solidFill>
          <a:ln/>
        </p:spPr>
        <p:txBody>
          <a:bodyPr wrap="square" lIns="0" tIns="0" rIns="0" bIns="0" rtlCol="0" anchor="ctr">
            <a:normAutofit/>
          </a:bodyPr>
          <a:lstStyle/>
          <a:p>
            <a:pPr algn="ctr" indent="0" marL="0">
              <a:lnSpc>
                <a:spcPts val="1960"/>
              </a:lnSpc>
              <a:buNone/>
            </a:pPr>
            <a:r>
              <a:rPr lang="en-US" sz="1400" b="1" dirty="0">
                <a:solidFill>
                  <a:srgbClr val="F8F9FB"/>
                </a:solidFill>
                <a:latin typeface="Public Sans" pitchFamily="34" charset="0"/>
                <a:ea typeface="Public Sans" pitchFamily="34" charset="-122"/>
                <a:cs typeface="Public Sans" pitchFamily="34" charset="-120"/>
              </a:rPr>
              <a:t>M1</a:t>
            </a:r>
            <a:endParaRPr lang="en-US" sz="1400" dirty="0"/>
          </a:p>
        </p:txBody>
      </p:sp>
      <p:sp>
        <p:nvSpPr>
          <p:cNvPr id="11" name="Text 9"/>
          <p:cNvSpPr/>
          <p:nvPr/>
        </p:nvSpPr>
        <p:spPr>
          <a:xfrm>
            <a:off x="1504950" y="2490192"/>
            <a:ext cx="232171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UX prototype delivered</a:t>
            </a:r>
            <a:endParaRPr lang="en-US" sz="1400" dirty="0"/>
          </a:p>
        </p:txBody>
      </p:sp>
      <p:sp>
        <p:nvSpPr>
          <p:cNvPr id="12" name="Text 10"/>
          <p:cNvSpPr/>
          <p:nvPr/>
        </p:nvSpPr>
        <p:spPr>
          <a:xfrm>
            <a:off x="1504950" y="2751733"/>
            <a:ext cx="19928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End Oct · in progress</a:t>
            </a:r>
            <a:endParaRPr lang="en-US" sz="1200" dirty="0"/>
          </a:p>
        </p:txBody>
      </p:sp>
      <p:sp>
        <p:nvSpPr>
          <p:cNvPr id="13" name="Text 11"/>
          <p:cNvSpPr/>
          <p:nvPr/>
        </p:nvSpPr>
        <p:spPr>
          <a:xfrm>
            <a:off x="996950" y="3066653"/>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E45011"/>
          </a:solidFill>
          <a:ln/>
        </p:spPr>
        <p:txBody>
          <a:bodyPr wrap="square" lIns="0" tIns="0" rIns="0" bIns="0" rtlCol="0" anchor="ctr">
            <a:normAutofit/>
          </a:bodyPr>
          <a:lstStyle/>
          <a:p>
            <a:pPr algn="ctr" indent="0" marL="0">
              <a:lnSpc>
                <a:spcPts val="1960"/>
              </a:lnSpc>
              <a:buNone/>
            </a:pPr>
            <a:r>
              <a:rPr lang="en-US" sz="1400" b="1" dirty="0">
                <a:solidFill>
                  <a:srgbClr val="FFF8F4"/>
                </a:solidFill>
                <a:latin typeface="Public Sans" pitchFamily="34" charset="0"/>
                <a:ea typeface="Public Sans" pitchFamily="34" charset="-122"/>
                <a:cs typeface="Public Sans" pitchFamily="34" charset="-120"/>
              </a:rPr>
              <a:t>M2</a:t>
            </a:r>
            <a:endParaRPr lang="en-US" sz="1400" dirty="0"/>
          </a:p>
        </p:txBody>
      </p:sp>
      <p:sp>
        <p:nvSpPr>
          <p:cNvPr id="14" name="Text 12"/>
          <p:cNvSpPr/>
          <p:nvPr/>
        </p:nvSpPr>
        <p:spPr>
          <a:xfrm>
            <a:off x="1504950" y="3066653"/>
            <a:ext cx="20101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Data Sync delivered</a:t>
            </a:r>
            <a:endParaRPr lang="en-US" sz="1400" dirty="0"/>
          </a:p>
        </p:txBody>
      </p:sp>
      <p:sp>
        <p:nvSpPr>
          <p:cNvPr id="15" name="Text 13"/>
          <p:cNvSpPr/>
          <p:nvPr/>
        </p:nvSpPr>
        <p:spPr>
          <a:xfrm>
            <a:off x="1504950" y="3328194"/>
            <a:ext cx="17259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Mid Nov</a:t>
            </a:r>
            <a:endParaRPr lang="en-US" sz="1200" dirty="0"/>
          </a:p>
        </p:txBody>
      </p:sp>
      <p:sp>
        <p:nvSpPr>
          <p:cNvPr id="16" name="Text 14"/>
          <p:cNvSpPr/>
          <p:nvPr/>
        </p:nvSpPr>
        <p:spPr>
          <a:xfrm>
            <a:off x="996950" y="3643114"/>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E45011"/>
          </a:solidFill>
          <a:ln/>
        </p:spPr>
        <p:txBody>
          <a:bodyPr wrap="square" lIns="0" tIns="0" rIns="0" bIns="0" rtlCol="0" anchor="ctr">
            <a:normAutofit/>
          </a:bodyPr>
          <a:lstStyle/>
          <a:p>
            <a:pPr algn="ctr" indent="0" marL="0">
              <a:lnSpc>
                <a:spcPts val="1960"/>
              </a:lnSpc>
              <a:buNone/>
            </a:pPr>
            <a:r>
              <a:rPr lang="en-US" sz="1400" b="1" dirty="0">
                <a:solidFill>
                  <a:srgbClr val="FFF8F4"/>
                </a:solidFill>
                <a:latin typeface="Public Sans" pitchFamily="34" charset="0"/>
                <a:ea typeface="Public Sans" pitchFamily="34" charset="-122"/>
                <a:cs typeface="Public Sans" pitchFamily="34" charset="-120"/>
              </a:rPr>
              <a:t>M3</a:t>
            </a:r>
            <a:endParaRPr lang="en-US" sz="1400" dirty="0"/>
          </a:p>
        </p:txBody>
      </p:sp>
      <p:sp>
        <p:nvSpPr>
          <p:cNvPr id="17" name="Text 15"/>
          <p:cNvSpPr/>
          <p:nvPr/>
        </p:nvSpPr>
        <p:spPr>
          <a:xfrm>
            <a:off x="1504950" y="3643114"/>
            <a:ext cx="18669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Core API delivered</a:t>
            </a:r>
            <a:endParaRPr lang="en-US" sz="1400" dirty="0"/>
          </a:p>
        </p:txBody>
      </p:sp>
      <p:sp>
        <p:nvSpPr>
          <p:cNvPr id="18" name="Text 16"/>
          <p:cNvSpPr/>
          <p:nvPr/>
        </p:nvSpPr>
        <p:spPr>
          <a:xfrm>
            <a:off x="1504950" y="3904655"/>
            <a:ext cx="1606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Mid Dec</a:t>
            </a:r>
            <a:endParaRPr lang="en-US" sz="1200" dirty="0"/>
          </a:p>
        </p:txBody>
      </p:sp>
      <p:pic>
        <p:nvPicPr>
          <p:cNvPr id="19" name="Image 0" descr="arrow-right">    </p:cNvPr>
          <p:cNvPicPr>
            <a:picLocks noChangeAspect="1"/>
          </p:cNvPicPr>
          <p:nvPr/>
        </p:nvPicPr>
        <p:blipFill>
          <a:blip r:embed="rId1"/>
          <a:srcRect l="0" r="0" t="0" b="0"/>
          <a:stretch/>
        </p:blipFill>
        <p:spPr>
          <a:xfrm>
            <a:off x="4174034" y="2989163"/>
            <a:ext cx="203200" cy="152400"/>
          </a:xfrm>
          <a:prstGeom prst="rect">
            <a:avLst/>
          </a:prstGeom>
        </p:spPr>
      </p:pic>
      <p:sp>
        <p:nvSpPr>
          <p:cNvPr id="20" name="Shape 17"/>
          <p:cNvSpPr/>
          <p:nvPr/>
        </p:nvSpPr>
        <p:spPr>
          <a:xfrm>
            <a:off x="4456609" y="1831777"/>
            <a:ext cx="3278783" cy="2467173"/>
          </a:xfrm>
          <a:prstGeom prst="roundRect">
            <a:avLst>
              <a:gd name="adj" fmla="val 3989"/>
            </a:avLst>
          </a:prstGeom>
          <a:solidFill>
            <a:srgbClr val="FDFDFE"/>
          </a:solidFill>
          <a:ln w="6350">
            <a:solidFill>
              <a:srgbClr val="D5DBE5"/>
            </a:solidFill>
            <a:prstDash val="solid"/>
          </a:ln>
        </p:spPr>
      </p:sp>
      <p:sp>
        <p:nvSpPr>
          <p:cNvPr id="21" name="Shape 18"/>
          <p:cNvSpPr/>
          <p:nvPr/>
        </p:nvSpPr>
        <p:spPr>
          <a:xfrm>
            <a:off x="4637584" y="2382242"/>
            <a:ext cx="2916833" cy="0"/>
          </a:xfrm>
          <a:prstGeom prst="line">
            <a:avLst/>
          </a:prstGeom>
          <a:noFill/>
          <a:ln w="12700">
            <a:solidFill>
              <a:srgbClr val="D5DBE5"/>
            </a:solidFill>
            <a:prstDash val="solid"/>
          </a:ln>
        </p:spPr>
      </p:sp>
      <p:sp>
        <p:nvSpPr>
          <p:cNvPr id="22" name="Text 19"/>
          <p:cNvSpPr/>
          <p:nvPr/>
        </p:nvSpPr>
        <p:spPr>
          <a:xfrm>
            <a:off x="4637584" y="2012752"/>
            <a:ext cx="108132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05B"/>
                </a:solidFill>
                <a:latin typeface="Public Sans" pitchFamily="34" charset="0"/>
                <a:ea typeface="Public Sans" pitchFamily="34" charset="-122"/>
                <a:cs typeface="Public Sans" pitchFamily="34" charset="-120"/>
              </a:rPr>
              <a:t>Validate</a:t>
            </a:r>
            <a:endParaRPr lang="en-US" sz="1800" dirty="0"/>
          </a:p>
        </p:txBody>
      </p:sp>
      <p:sp>
        <p:nvSpPr>
          <p:cNvPr id="23" name="Text 20"/>
          <p:cNvSpPr/>
          <p:nvPr/>
        </p:nvSpPr>
        <p:spPr>
          <a:xfrm>
            <a:off x="6968034" y="2069902"/>
            <a:ext cx="5863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Jan '27</a:t>
            </a:r>
            <a:endParaRPr lang="en-US" sz="1200" dirty="0"/>
          </a:p>
        </p:txBody>
      </p:sp>
      <p:sp>
        <p:nvSpPr>
          <p:cNvPr id="24" name="Text 21"/>
          <p:cNvSpPr/>
          <p:nvPr/>
        </p:nvSpPr>
        <p:spPr>
          <a:xfrm>
            <a:off x="4637584" y="2490192"/>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00205B"/>
          </a:solidFill>
          <a:ln/>
        </p:spPr>
        <p:txBody>
          <a:bodyPr wrap="square" lIns="0" tIns="0" rIns="0" bIns="0" rtlCol="0" anchor="ctr">
            <a:normAutofit/>
          </a:bodyPr>
          <a:lstStyle/>
          <a:p>
            <a:pPr algn="ctr" indent="0" marL="0">
              <a:lnSpc>
                <a:spcPts val="1960"/>
              </a:lnSpc>
              <a:buNone/>
            </a:pPr>
            <a:r>
              <a:rPr lang="en-US" sz="1400" b="1" dirty="0">
                <a:solidFill>
                  <a:srgbClr val="F8F9FB"/>
                </a:solidFill>
                <a:latin typeface="Public Sans" pitchFamily="34" charset="0"/>
                <a:ea typeface="Public Sans" pitchFamily="34" charset="-122"/>
                <a:cs typeface="Public Sans" pitchFamily="34" charset="-120"/>
              </a:rPr>
              <a:t>M4</a:t>
            </a:r>
            <a:endParaRPr lang="en-US" sz="1400" dirty="0"/>
          </a:p>
        </p:txBody>
      </p:sp>
      <p:sp>
        <p:nvSpPr>
          <p:cNvPr id="25" name="Text 22"/>
          <p:cNvSpPr/>
          <p:nvPr/>
        </p:nvSpPr>
        <p:spPr>
          <a:xfrm>
            <a:off x="5145584" y="2490192"/>
            <a:ext cx="208121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Integration &amp; testing</a:t>
            </a:r>
            <a:endParaRPr lang="en-US" sz="1400" dirty="0"/>
          </a:p>
        </p:txBody>
      </p:sp>
      <p:sp>
        <p:nvSpPr>
          <p:cNvPr id="26" name="Text 23"/>
          <p:cNvSpPr/>
          <p:nvPr/>
        </p:nvSpPr>
        <p:spPr>
          <a:xfrm>
            <a:off x="5145584" y="2751733"/>
            <a:ext cx="17863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Mid Jan</a:t>
            </a:r>
            <a:endParaRPr lang="en-US" sz="1200" dirty="0"/>
          </a:p>
        </p:txBody>
      </p:sp>
      <p:sp>
        <p:nvSpPr>
          <p:cNvPr id="27" name="Text 24"/>
          <p:cNvSpPr/>
          <p:nvPr/>
        </p:nvSpPr>
        <p:spPr>
          <a:xfrm>
            <a:off x="4637584" y="3066653"/>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00205B"/>
          </a:solidFill>
          <a:ln/>
        </p:spPr>
        <p:txBody>
          <a:bodyPr wrap="square" lIns="0" tIns="0" rIns="0" bIns="0" rtlCol="0" anchor="ctr">
            <a:normAutofit/>
          </a:bodyPr>
          <a:lstStyle/>
          <a:p>
            <a:pPr algn="ctr" indent="0" marL="0">
              <a:lnSpc>
                <a:spcPts val="1960"/>
              </a:lnSpc>
              <a:buNone/>
            </a:pPr>
            <a:r>
              <a:rPr lang="en-US" sz="1400" b="1" dirty="0">
                <a:solidFill>
                  <a:srgbClr val="F8F9FB"/>
                </a:solidFill>
                <a:latin typeface="Public Sans" pitchFamily="34" charset="0"/>
                <a:ea typeface="Public Sans" pitchFamily="34" charset="-122"/>
                <a:cs typeface="Public Sans" pitchFamily="34" charset="-120"/>
              </a:rPr>
              <a:t>M5</a:t>
            </a:r>
            <a:endParaRPr lang="en-US" sz="1400" dirty="0"/>
          </a:p>
        </p:txBody>
      </p:sp>
      <p:sp>
        <p:nvSpPr>
          <p:cNvPr id="28" name="Text 25"/>
          <p:cNvSpPr/>
          <p:nvPr/>
        </p:nvSpPr>
        <p:spPr>
          <a:xfrm>
            <a:off x="5145584" y="3066653"/>
            <a:ext cx="141005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DST approved</a:t>
            </a:r>
            <a:endParaRPr lang="en-US" sz="1400" dirty="0"/>
          </a:p>
        </p:txBody>
      </p:sp>
      <p:sp>
        <p:nvSpPr>
          <p:cNvPr id="29" name="Text 26"/>
          <p:cNvSpPr/>
          <p:nvPr/>
        </p:nvSpPr>
        <p:spPr>
          <a:xfrm>
            <a:off x="5145584" y="3328194"/>
            <a:ext cx="1225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Mid Jan</a:t>
            </a:r>
            <a:endParaRPr lang="en-US" sz="1200" dirty="0"/>
          </a:p>
        </p:txBody>
      </p:sp>
      <p:sp>
        <p:nvSpPr>
          <p:cNvPr id="30" name="Text 27"/>
          <p:cNvSpPr/>
          <p:nvPr/>
        </p:nvSpPr>
        <p:spPr>
          <a:xfrm>
            <a:off x="4637584" y="3643114"/>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00205B"/>
          </a:solidFill>
          <a:ln/>
        </p:spPr>
        <p:txBody>
          <a:bodyPr wrap="square" lIns="0" tIns="0" rIns="0" bIns="0" rtlCol="0" anchor="ctr">
            <a:normAutofit/>
          </a:bodyPr>
          <a:lstStyle/>
          <a:p>
            <a:pPr algn="ctr" indent="0" marL="0">
              <a:lnSpc>
                <a:spcPts val="1960"/>
              </a:lnSpc>
              <a:buNone/>
            </a:pPr>
            <a:r>
              <a:rPr lang="en-US" sz="1400" b="1" dirty="0">
                <a:solidFill>
                  <a:srgbClr val="F8F9FB"/>
                </a:solidFill>
                <a:latin typeface="Public Sans" pitchFamily="34" charset="0"/>
                <a:ea typeface="Public Sans" pitchFamily="34" charset="-122"/>
                <a:cs typeface="Public Sans" pitchFamily="34" charset="-120"/>
              </a:rPr>
              <a:t>M6</a:t>
            </a:r>
            <a:endParaRPr lang="en-US" sz="1400" dirty="0"/>
          </a:p>
        </p:txBody>
      </p:sp>
      <p:sp>
        <p:nvSpPr>
          <p:cNvPr id="31" name="Text 28"/>
          <p:cNvSpPr/>
          <p:nvPr/>
        </p:nvSpPr>
        <p:spPr>
          <a:xfrm>
            <a:off x="5145584" y="3643114"/>
            <a:ext cx="12500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UAT sign-off</a:t>
            </a:r>
            <a:endParaRPr lang="en-US" sz="1400" dirty="0"/>
          </a:p>
        </p:txBody>
      </p:sp>
      <p:sp>
        <p:nvSpPr>
          <p:cNvPr id="32" name="Text 29"/>
          <p:cNvSpPr/>
          <p:nvPr/>
        </p:nvSpPr>
        <p:spPr>
          <a:xfrm>
            <a:off x="5145584" y="3904655"/>
            <a:ext cx="109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End Jan</a:t>
            </a:r>
            <a:endParaRPr lang="en-US" sz="1200" dirty="0"/>
          </a:p>
        </p:txBody>
      </p:sp>
      <p:pic>
        <p:nvPicPr>
          <p:cNvPr id="33" name="Image 1" descr="arrow-right">    </p:cNvPr>
          <p:cNvPicPr>
            <a:picLocks noChangeAspect="1"/>
          </p:cNvPicPr>
          <p:nvPr/>
        </p:nvPicPr>
        <p:blipFill>
          <a:blip r:embed="rId2"/>
          <a:srcRect l="0" r="0" t="0" b="0"/>
          <a:stretch/>
        </p:blipFill>
        <p:spPr>
          <a:xfrm>
            <a:off x="7814766" y="2989163"/>
            <a:ext cx="203200" cy="152400"/>
          </a:xfrm>
          <a:prstGeom prst="rect">
            <a:avLst/>
          </a:prstGeom>
        </p:spPr>
      </p:pic>
      <p:sp>
        <p:nvSpPr>
          <p:cNvPr id="34" name="Shape 30"/>
          <p:cNvSpPr/>
          <p:nvPr/>
        </p:nvSpPr>
        <p:spPr>
          <a:xfrm>
            <a:off x="8097341" y="1831777"/>
            <a:ext cx="3278684" cy="2467173"/>
          </a:xfrm>
          <a:prstGeom prst="roundRect">
            <a:avLst>
              <a:gd name="adj" fmla="val 3989"/>
            </a:avLst>
          </a:prstGeom>
          <a:solidFill>
            <a:srgbClr val="FDFDFE"/>
          </a:solidFill>
          <a:ln w="6350">
            <a:solidFill>
              <a:srgbClr val="D5DBE5"/>
            </a:solidFill>
            <a:prstDash val="solid"/>
          </a:ln>
        </p:spPr>
      </p:sp>
      <p:sp>
        <p:nvSpPr>
          <p:cNvPr id="35" name="Shape 31"/>
          <p:cNvSpPr/>
          <p:nvPr/>
        </p:nvSpPr>
        <p:spPr>
          <a:xfrm>
            <a:off x="8278316" y="2382242"/>
            <a:ext cx="2916734" cy="0"/>
          </a:xfrm>
          <a:prstGeom prst="line">
            <a:avLst/>
          </a:prstGeom>
          <a:noFill/>
          <a:ln w="12700">
            <a:solidFill>
              <a:srgbClr val="D5DBE5"/>
            </a:solidFill>
            <a:prstDash val="solid"/>
          </a:ln>
        </p:spPr>
      </p:sp>
      <p:sp>
        <p:nvSpPr>
          <p:cNvPr id="36" name="Text 32"/>
          <p:cNvSpPr/>
          <p:nvPr/>
        </p:nvSpPr>
        <p:spPr>
          <a:xfrm>
            <a:off x="8278316" y="2012752"/>
            <a:ext cx="10400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05B"/>
                </a:solidFill>
                <a:latin typeface="Public Sans" pitchFamily="34" charset="0"/>
                <a:ea typeface="Public Sans" pitchFamily="34" charset="-122"/>
                <a:cs typeface="Public Sans" pitchFamily="34" charset="-120"/>
              </a:rPr>
              <a:t>Release</a:t>
            </a:r>
            <a:endParaRPr lang="en-US" sz="1800" dirty="0"/>
          </a:p>
        </p:txBody>
      </p:sp>
      <p:sp>
        <p:nvSpPr>
          <p:cNvPr id="37" name="Text 33"/>
          <p:cNvSpPr/>
          <p:nvPr/>
        </p:nvSpPr>
        <p:spPr>
          <a:xfrm>
            <a:off x="10158849" y="2069902"/>
            <a:ext cx="103620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Feb–Apr '27</a:t>
            </a:r>
            <a:endParaRPr lang="en-US" sz="1200" dirty="0"/>
          </a:p>
        </p:txBody>
      </p:sp>
      <p:sp>
        <p:nvSpPr>
          <p:cNvPr id="38" name="Text 34"/>
          <p:cNvSpPr/>
          <p:nvPr/>
        </p:nvSpPr>
        <p:spPr>
          <a:xfrm>
            <a:off x="8278316" y="2490192"/>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00205B"/>
          </a:solidFill>
          <a:ln/>
        </p:spPr>
        <p:txBody>
          <a:bodyPr wrap="square" lIns="0" tIns="0" rIns="0" bIns="0" rtlCol="0" anchor="ctr">
            <a:normAutofit/>
          </a:bodyPr>
          <a:lstStyle/>
          <a:p>
            <a:pPr algn="ctr" indent="0" marL="0">
              <a:lnSpc>
                <a:spcPts val="1960"/>
              </a:lnSpc>
              <a:buNone/>
            </a:pPr>
            <a:r>
              <a:rPr lang="en-US" sz="1400" b="1" dirty="0">
                <a:solidFill>
                  <a:srgbClr val="F8F9FB"/>
                </a:solidFill>
                <a:latin typeface="Public Sans" pitchFamily="34" charset="0"/>
                <a:ea typeface="Public Sans" pitchFamily="34" charset="-122"/>
                <a:cs typeface="Public Sans" pitchFamily="34" charset="-120"/>
              </a:rPr>
              <a:t>M7</a:t>
            </a:r>
            <a:endParaRPr lang="en-US" sz="1400" dirty="0"/>
          </a:p>
        </p:txBody>
      </p:sp>
      <p:sp>
        <p:nvSpPr>
          <p:cNvPr id="39" name="Text 35"/>
          <p:cNvSpPr/>
          <p:nvPr/>
        </p:nvSpPr>
        <p:spPr>
          <a:xfrm>
            <a:off x="8786316" y="2490192"/>
            <a:ext cx="19734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Beta release</a:t>
            </a:r>
            <a:endParaRPr lang="en-US" sz="1400" dirty="0"/>
          </a:p>
        </p:txBody>
      </p:sp>
      <p:sp>
        <p:nvSpPr>
          <p:cNvPr id="40" name="Text 36"/>
          <p:cNvSpPr/>
          <p:nvPr/>
        </p:nvSpPr>
        <p:spPr>
          <a:xfrm>
            <a:off x="8786316" y="2751733"/>
            <a:ext cx="22992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End Feb · canary 1% → 10%</a:t>
            </a:r>
            <a:endParaRPr lang="en-US" sz="1200" dirty="0"/>
          </a:p>
        </p:txBody>
      </p:sp>
      <p:sp>
        <p:nvSpPr>
          <p:cNvPr id="41" name="Text 37"/>
          <p:cNvSpPr/>
          <p:nvPr/>
        </p:nvSpPr>
        <p:spPr>
          <a:xfrm>
            <a:off x="8278316" y="3066653"/>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00205B"/>
          </a:solidFill>
          <a:ln/>
        </p:spPr>
        <p:txBody>
          <a:bodyPr wrap="square" lIns="0" tIns="0" rIns="0" bIns="0" rtlCol="0" anchor="ctr">
            <a:normAutofit/>
          </a:bodyPr>
          <a:lstStyle/>
          <a:p>
            <a:pPr algn="ctr" indent="0" marL="0">
              <a:lnSpc>
                <a:spcPts val="1960"/>
              </a:lnSpc>
              <a:buNone/>
            </a:pPr>
            <a:r>
              <a:rPr lang="en-US" sz="1400" b="1" dirty="0">
                <a:solidFill>
                  <a:srgbClr val="F8F9FB"/>
                </a:solidFill>
                <a:latin typeface="Public Sans" pitchFamily="34" charset="0"/>
                <a:ea typeface="Public Sans" pitchFamily="34" charset="-122"/>
                <a:cs typeface="Public Sans" pitchFamily="34" charset="-120"/>
              </a:rPr>
              <a:t>M8</a:t>
            </a:r>
            <a:endParaRPr lang="en-US" sz="1400" dirty="0"/>
          </a:p>
        </p:txBody>
      </p:sp>
      <p:sp>
        <p:nvSpPr>
          <p:cNvPr id="42" name="Text 38"/>
          <p:cNvSpPr/>
          <p:nvPr/>
        </p:nvSpPr>
        <p:spPr>
          <a:xfrm>
            <a:off x="8786316" y="3066653"/>
            <a:ext cx="16649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Go-Live</a:t>
            </a:r>
            <a:endParaRPr lang="en-US" sz="1400" dirty="0"/>
          </a:p>
        </p:txBody>
      </p:sp>
      <p:sp>
        <p:nvSpPr>
          <p:cNvPr id="43" name="Text 39"/>
          <p:cNvSpPr/>
          <p:nvPr/>
        </p:nvSpPr>
        <p:spPr>
          <a:xfrm>
            <a:off x="8786316" y="3328194"/>
            <a:ext cx="19370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3D08"/>
                </a:solidFill>
                <a:latin typeface="Public Sans" pitchFamily="34" charset="0"/>
                <a:ea typeface="Public Sans" pitchFamily="34" charset="-122"/>
                <a:cs typeface="Public Sans" pitchFamily="34" charset="-120"/>
              </a:rPr>
              <a:t>End Mar · canary ramp</a:t>
            </a:r>
            <a:endParaRPr lang="en-US" sz="1200" dirty="0"/>
          </a:p>
        </p:txBody>
      </p:sp>
      <p:sp>
        <p:nvSpPr>
          <p:cNvPr id="44" name="Text 40"/>
          <p:cNvSpPr/>
          <p:nvPr/>
        </p:nvSpPr>
        <p:spPr>
          <a:xfrm>
            <a:off x="8278316" y="3643114"/>
            <a:ext cx="406400" cy="474861"/>
          </a:xfrm>
          <a:custGeom>
            <a:avLst/>
            <a:gdLst/>
            <a:ahLst/>
            <a:cxnLst/>
            <a:rect l="l" t="t" r="r" b="b"/>
            <a:pathLst>
              <a:path w="406400" h="474861">
                <a:moveTo>
                  <a:pt x="63500" y="0"/>
                </a:moveTo>
                <a:lnTo>
                  <a:pt x="342900" y="0"/>
                </a:lnTo>
                <a:arcTo hR="63500" wR="63500" stAng="16200000" swAng="5400000"/>
                <a:lnTo>
                  <a:pt x="406400" y="411361"/>
                </a:lnTo>
                <a:arcTo hR="63500" wR="63500" stAng="0" swAng="5400000"/>
                <a:lnTo>
                  <a:pt x="63500" y="474861"/>
                </a:lnTo>
                <a:arcTo hR="63500" wR="63500" stAng="5400000" swAng="5400000"/>
                <a:lnTo>
                  <a:pt x="0" y="63500"/>
                </a:lnTo>
                <a:arcTo hR="63500" wR="63500" stAng="10800000" swAng="5400000"/>
                <a:close/>
              </a:path>
            </a:pathLst>
          </a:custGeom>
          <a:solidFill>
            <a:srgbClr val="00205B"/>
          </a:solidFill>
          <a:ln/>
        </p:spPr>
        <p:txBody>
          <a:bodyPr wrap="square" lIns="0" tIns="0" rIns="0" bIns="0" rtlCol="0" anchor="ctr">
            <a:normAutofit/>
          </a:bodyPr>
          <a:lstStyle/>
          <a:p>
            <a:pPr algn="ctr" indent="0" marL="0">
              <a:lnSpc>
                <a:spcPts val="1960"/>
              </a:lnSpc>
              <a:buNone/>
            </a:pPr>
            <a:r>
              <a:rPr lang="en-US" sz="1400" b="1" dirty="0">
                <a:solidFill>
                  <a:srgbClr val="F8F9FB"/>
                </a:solidFill>
                <a:latin typeface="Public Sans" pitchFamily="34" charset="0"/>
                <a:ea typeface="Public Sans" pitchFamily="34" charset="-122"/>
                <a:cs typeface="Public Sans" pitchFamily="34" charset="-120"/>
              </a:rPr>
              <a:t>M9</a:t>
            </a:r>
            <a:endParaRPr lang="en-US" sz="1400" dirty="0"/>
          </a:p>
        </p:txBody>
      </p:sp>
      <p:sp>
        <p:nvSpPr>
          <p:cNvPr id="45" name="Text 41"/>
          <p:cNvSpPr/>
          <p:nvPr/>
        </p:nvSpPr>
        <p:spPr>
          <a:xfrm>
            <a:off x="8786316" y="3643114"/>
            <a:ext cx="149006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5B"/>
                </a:solidFill>
                <a:latin typeface="Public Sans" pitchFamily="34" charset="0"/>
                <a:ea typeface="Public Sans" pitchFamily="34" charset="-122"/>
                <a:cs typeface="Public Sans" pitchFamily="34" charset="-120"/>
              </a:rPr>
              <a:t>Access live</a:t>
            </a:r>
            <a:endParaRPr lang="en-US" sz="1400" dirty="0"/>
          </a:p>
        </p:txBody>
      </p:sp>
      <p:sp>
        <p:nvSpPr>
          <p:cNvPr id="46" name="Text 42"/>
          <p:cNvSpPr/>
          <p:nvPr/>
        </p:nvSpPr>
        <p:spPr>
          <a:xfrm>
            <a:off x="8786316" y="3904655"/>
            <a:ext cx="17271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Apr · Access Control</a:t>
            </a:r>
            <a:endParaRPr lang="en-US" sz="1200" dirty="0"/>
          </a:p>
        </p:txBody>
      </p:sp>
      <p:sp>
        <p:nvSpPr>
          <p:cNvPr id="47" name="Shape 43"/>
          <p:cNvSpPr/>
          <p:nvPr/>
        </p:nvSpPr>
        <p:spPr>
          <a:xfrm>
            <a:off x="815975" y="4483100"/>
            <a:ext cx="4549477" cy="1332012"/>
          </a:xfrm>
          <a:prstGeom prst="roundRect">
            <a:avLst>
              <a:gd name="adj" fmla="val 7389"/>
            </a:avLst>
          </a:prstGeom>
          <a:solidFill>
            <a:srgbClr val="FDFDFE"/>
          </a:solidFill>
          <a:ln w="6350">
            <a:solidFill>
              <a:srgbClr val="D5DBE5"/>
            </a:solidFill>
            <a:prstDash val="solid"/>
          </a:ln>
        </p:spPr>
      </p:sp>
      <p:sp>
        <p:nvSpPr>
          <p:cNvPr id="48" name="Shape 44"/>
          <p:cNvSpPr/>
          <p:nvPr/>
        </p:nvSpPr>
        <p:spPr>
          <a:xfrm>
            <a:off x="819150" y="4486275"/>
            <a:ext cx="50800" cy="1325662"/>
          </a:xfrm>
          <a:custGeom>
            <a:avLst/>
            <a:gdLst/>
            <a:ahLst/>
            <a:cxnLst/>
            <a:rect l="l" t="t" r="r" b="b"/>
            <a:pathLst>
              <a:path w="50800" h="1325662">
                <a:moveTo>
                  <a:pt x="0" y="95250"/>
                </a:moveTo>
                <a:arcTo hR="95250" wR="95250" stAng="10800000" swAng="3730912"/>
                <a:lnTo>
                  <a:pt x="50800" y="1314654"/>
                </a:lnTo>
                <a:arcTo hR="95250" wR="95250" stAng="7069088" swAng="3730912"/>
                <a:close/>
              </a:path>
            </a:pathLst>
          </a:custGeom>
          <a:solidFill>
            <a:srgbClr val="E45011"/>
          </a:solidFill>
          <a:ln/>
        </p:spPr>
      </p:sp>
      <p:sp>
        <p:nvSpPr>
          <p:cNvPr id="49" name="Text 45"/>
          <p:cNvSpPr/>
          <p:nvPr/>
        </p:nvSpPr>
        <p:spPr>
          <a:xfrm>
            <a:off x="1073150" y="4664075"/>
            <a:ext cx="42085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3D08"/>
                </a:solidFill>
                <a:latin typeface="Public Sans" pitchFamily="34" charset="0"/>
                <a:ea typeface="Public Sans" pitchFamily="34" charset="-122"/>
                <a:cs typeface="Public Sans" pitchFamily="34" charset="-120"/>
              </a:rPr>
              <a:t>CRITICAL PATH</a:t>
            </a:r>
            <a:endParaRPr lang="en-US" sz="1200" dirty="0"/>
          </a:p>
        </p:txBody>
      </p:sp>
      <p:sp>
        <p:nvSpPr>
          <p:cNvPr id="50" name="Text 46"/>
          <p:cNvSpPr/>
          <p:nvPr/>
        </p:nvSpPr>
        <p:spPr>
          <a:xfrm>
            <a:off x="1073150" y="4940895"/>
            <a:ext cx="4208505"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44"/>
                </a:solidFill>
                <a:latin typeface="Public Sans" pitchFamily="34" charset="0"/>
                <a:ea typeface="Public Sans" pitchFamily="34" charset="-122"/>
                <a:cs typeface="Public Sans" pitchFamily="34" charset="-120"/>
              </a:rPr>
              <a:t>Data Sync</a:t>
            </a:r>
            <a:r>
              <a:rPr lang="en-US" sz="1300" dirty="0">
                <a:solidFill>
                  <a:srgbClr val="1F2A44"/>
                </a:solidFill>
                <a:latin typeface="Public Sans" pitchFamily="34" charset="0"/>
                <a:ea typeface="Public Sans" pitchFamily="34" charset="-122"/>
                <a:cs typeface="Public Sans" pitchFamily="34" charset="-120"/>
              </a:rPr>
              <a:t>, </a:t>
            </a:r>
            <a:r>
              <a:rPr lang="en-US" sz="1300" b="1" dirty="0">
                <a:solidFill>
                  <a:srgbClr val="1F2A44"/>
                </a:solidFill>
                <a:latin typeface="Public Sans" pitchFamily="34" charset="0"/>
                <a:ea typeface="Public Sans" pitchFamily="34" charset="-122"/>
                <a:cs typeface="Public Sans" pitchFamily="34" charset="-120"/>
              </a:rPr>
              <a:t>Core API / AD Write</a:t>
            </a:r>
            <a:r>
              <a:rPr lang="en-US" sz="1300" dirty="0">
                <a:solidFill>
                  <a:srgbClr val="1F2A44"/>
                </a:solidFill>
                <a:latin typeface="Public Sans" pitchFamily="34" charset="0"/>
                <a:ea typeface="Public Sans" pitchFamily="34" charset="-122"/>
                <a:cs typeface="Public Sans" pitchFamily="34" charset="-120"/>
              </a:rPr>
              <a:t> and </a:t>
            </a:r>
            <a:r>
              <a:rPr lang="en-US" sz="1300" b="1" dirty="0">
                <a:solidFill>
                  <a:srgbClr val="1F2A44"/>
                </a:solidFill>
                <a:latin typeface="Public Sans" pitchFamily="34" charset="0"/>
                <a:ea typeface="Public Sans" pitchFamily="34" charset="-122"/>
                <a:cs typeface="Public Sans" pitchFamily="34" charset="-120"/>
              </a:rPr>
              <a:t>Claude Code</a:t>
            </a:r>
            <a:r>
              <a:rPr lang="en-US" sz="1300" dirty="0">
                <a:solidFill>
                  <a:srgbClr val="1F2A44"/>
                </a:solidFill>
                <a:latin typeface="Public Sans" pitchFamily="34" charset="0"/>
                <a:ea typeface="Public Sans" pitchFamily="34" charset="-122"/>
                <a:cs typeface="Public Sans" pitchFamily="34" charset="-120"/>
              </a:rPr>
              <a:t> availability gate every release. If one slips, Beta, Go-Live and Access all move.</a:t>
            </a:r>
            <a:endParaRPr lang="en-US" sz="1300" dirty="0"/>
          </a:p>
        </p:txBody>
      </p:sp>
      <p:sp>
        <p:nvSpPr>
          <p:cNvPr id="51" name="Shape 47"/>
          <p:cNvSpPr/>
          <p:nvPr/>
        </p:nvSpPr>
        <p:spPr>
          <a:xfrm>
            <a:off x="5521027" y="4479925"/>
            <a:ext cx="5858173" cy="1338362"/>
          </a:xfrm>
          <a:prstGeom prst="roundRect">
            <a:avLst>
              <a:gd name="adj" fmla="val 7591"/>
            </a:avLst>
          </a:prstGeom>
          <a:solidFill>
            <a:srgbClr val="00205B"/>
          </a:solidFill>
          <a:ln/>
        </p:spPr>
      </p:sp>
      <p:sp>
        <p:nvSpPr>
          <p:cNvPr id="52" name="Text 48"/>
          <p:cNvSpPr/>
          <p:nvPr/>
        </p:nvSpPr>
        <p:spPr>
          <a:xfrm>
            <a:off x="5724227" y="4657725"/>
            <a:ext cx="561532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A57C"/>
                </a:solidFill>
                <a:latin typeface="Public Sans" pitchFamily="34" charset="0"/>
                <a:ea typeface="Public Sans" pitchFamily="34" charset="-122"/>
                <a:cs typeface="Public Sans" pitchFamily="34" charset="-120"/>
              </a:rPr>
              <a:t>NEEDS FROM LEADERSHIP</a:t>
            </a:r>
            <a:endParaRPr lang="en-US" sz="1200" dirty="0"/>
          </a:p>
        </p:txBody>
      </p:sp>
      <p:sp>
        <p:nvSpPr>
          <p:cNvPr id="53" name="Text 49"/>
          <p:cNvSpPr/>
          <p:nvPr/>
        </p:nvSpPr>
        <p:spPr>
          <a:xfrm>
            <a:off x="5822271" y="4934545"/>
            <a:ext cx="5509662" cy="718641"/>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F3F5F8"/>
                </a:solidFill>
                <a:latin typeface="Public Sans" pitchFamily="34" charset="0"/>
                <a:ea typeface="Public Sans" pitchFamily="34" charset="-122"/>
                <a:cs typeface="Public Sans" pitchFamily="34" charset="-120"/>
              </a:rPr>
              <a:t>Confirm Claude Code licences for the pilot team</a:t>
            </a:r>
            <a:endParaRPr lang="en-US" sz="1300" dirty="0"/>
          </a:p>
          <a:p>
            <a:pPr algn="l" marL="155956" indent="-155956">
              <a:lnSpc>
                <a:spcPts val="1820"/>
              </a:lnSpc>
              <a:buSzPct val="100000"/>
              <a:buChar char="•"/>
            </a:pPr>
            <a:r>
              <a:rPr lang="en-US" sz="1300" dirty="0">
                <a:solidFill>
                  <a:srgbClr val="F3F5F8"/>
                </a:solidFill>
                <a:latin typeface="Public Sans" pitchFamily="34" charset="0"/>
                <a:ea typeface="Public Sans" pitchFamily="34" charset="-122"/>
                <a:cs typeface="Public Sans" pitchFamily="34" charset="-120"/>
              </a:rPr>
              <a:t>Protect Core API / AD Write capacity through mid Dec</a:t>
            </a:r>
            <a:endParaRPr lang="en-US" sz="1300" dirty="0"/>
          </a:p>
          <a:p>
            <a:pPr algn="l" marL="155956" indent="-155956">
              <a:lnSpc>
                <a:spcPts val="1820"/>
              </a:lnSpc>
              <a:buSzPct val="100000"/>
              <a:buChar char="•"/>
            </a:pPr>
            <a:r>
              <a:rPr lang="en-US" sz="1300" dirty="0">
                <a:solidFill>
                  <a:srgbClr val="F3F5F8"/>
                </a:solidFill>
                <a:latin typeface="Public Sans" pitchFamily="34" charset="0"/>
                <a:ea typeface="Public Sans" pitchFamily="34" charset="-122"/>
                <a:cs typeface="Public Sans" pitchFamily="34" charset="-120"/>
              </a:rPr>
              <a:t>Hold DST and UAT review slots in January</a:t>
            </a:r>
            <a:endParaRPr lang="en-US" sz="1300" dirty="0"/>
          </a:p>
        </p:txBody>
      </p:sp>
      <p:sp>
        <p:nvSpPr>
          <p:cNvPr id="54" name="Text 50"/>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MyIAM · Executive roadmap · Oct 2026</a:t>
            </a:r>
            <a:endParaRPr lang="en-US" sz="1200" dirty="0"/>
          </a:p>
        </p:txBody>
      </p:sp>
      <p:sp>
        <p:nvSpPr>
          <p:cNvPr id="55" name="Text 51"/>
          <p:cNvSpPr/>
          <p:nvPr/>
        </p:nvSpPr>
        <p:spPr>
          <a:xfrm>
            <a:off x="4838700" y="6238280"/>
            <a:ext cx="65405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All dates are completion dates · Go-Live rolls out by module in canary mode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558800"/>
            <a:ext cx="31818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3D08"/>
                </a:solidFill>
                <a:latin typeface="Public Sans" pitchFamily="34" charset="0"/>
                <a:ea typeface="Public Sans" pitchFamily="34" charset="-122"/>
                <a:cs typeface="Public Sans" pitchFamily="34" charset="-120"/>
              </a:rPr>
              <a:t>MYIAM ROADMAP · TIMELINE</a:t>
            </a:r>
            <a:endParaRPr lang="en-US" sz="1200" dirty="0"/>
          </a:p>
        </p:txBody>
      </p:sp>
      <p:sp>
        <p:nvSpPr>
          <p:cNvPr id="3" name="Shape 1"/>
          <p:cNvSpPr/>
          <p:nvPr/>
        </p:nvSpPr>
        <p:spPr>
          <a:xfrm>
            <a:off x="10309523" y="601960"/>
            <a:ext cx="127000" cy="127000"/>
          </a:xfrm>
          <a:prstGeom prst="roundRect">
            <a:avLst>
              <a:gd name="adj" fmla="val 20000"/>
            </a:avLst>
          </a:prstGeom>
          <a:solidFill>
            <a:srgbClr val="E45011"/>
          </a:solidFill>
          <a:ln/>
        </p:spPr>
      </p:sp>
      <p:sp>
        <p:nvSpPr>
          <p:cNvPr id="4" name="Text 2"/>
          <p:cNvSpPr/>
          <p:nvPr/>
        </p:nvSpPr>
        <p:spPr>
          <a:xfrm>
            <a:off x="10512723" y="558800"/>
            <a:ext cx="10397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Critical path</a:t>
            </a:r>
            <a:endParaRPr lang="en-US" sz="1200" dirty="0"/>
          </a:p>
        </p:txBody>
      </p:sp>
      <p:sp>
        <p:nvSpPr>
          <p:cNvPr id="5" name="Text 3"/>
          <p:cNvSpPr/>
          <p:nvPr>
            <p:ph type="title"/>
          </p:nvPr>
        </p:nvSpPr>
        <p:spPr>
          <a:xfrm>
            <a:off x="812800" y="924520"/>
            <a:ext cx="10883392" cy="375841"/>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0205B"/>
                </a:solidFill>
                <a:latin typeface="Public Sans" pitchFamily="34" charset="0"/>
                <a:ea typeface="Public Sans" pitchFamily="34" charset="-122"/>
                <a:cs typeface="Public Sans" pitchFamily="34" charset="-120"/>
              </a:rPr>
              <a:t>Enablers done by mid Dec; Go-Live end Mar, Access Apr</a:t>
            </a:r>
            <a:endParaRPr lang="en-US" sz="2400" dirty="0"/>
          </a:p>
        </p:txBody>
      </p:sp>
      <p:sp>
        <p:nvSpPr>
          <p:cNvPr id="6" name="Shape 4"/>
          <p:cNvSpPr/>
          <p:nvPr/>
        </p:nvSpPr>
        <p:spPr>
          <a:xfrm>
            <a:off x="815975" y="1476375"/>
            <a:ext cx="10560050" cy="4260850"/>
          </a:xfrm>
          <a:prstGeom prst="roundRect">
            <a:avLst>
              <a:gd name="adj" fmla="val 2310"/>
            </a:avLst>
          </a:prstGeom>
          <a:solidFill>
            <a:srgbClr val="FDFDFE"/>
          </a:solidFill>
          <a:ln w="6350">
            <a:solidFill>
              <a:srgbClr val="D5DBE5"/>
            </a:solidFill>
            <a:prstDash val="solid"/>
          </a:ln>
        </p:spPr>
      </p:sp>
      <p:sp>
        <p:nvSpPr>
          <p:cNvPr id="7" name="Shape 5"/>
          <p:cNvSpPr/>
          <p:nvPr/>
        </p:nvSpPr>
        <p:spPr>
          <a:xfrm>
            <a:off x="3911600" y="1778000"/>
            <a:ext cx="914400" cy="3886200"/>
          </a:xfrm>
          <a:prstGeom prst="rect">
            <a:avLst/>
          </a:prstGeom>
          <a:solidFill>
            <a:srgbClr val="F5F7FA"/>
          </a:solidFill>
          <a:ln/>
        </p:spPr>
      </p:sp>
      <p:sp>
        <p:nvSpPr>
          <p:cNvPr id="8" name="Shape 6"/>
          <p:cNvSpPr/>
          <p:nvPr/>
        </p:nvSpPr>
        <p:spPr>
          <a:xfrm>
            <a:off x="5740400" y="1778000"/>
            <a:ext cx="914400" cy="3886200"/>
          </a:xfrm>
          <a:prstGeom prst="rect">
            <a:avLst/>
          </a:prstGeom>
          <a:solidFill>
            <a:srgbClr val="F5F7FA"/>
          </a:solidFill>
          <a:ln/>
        </p:spPr>
      </p:sp>
      <p:sp>
        <p:nvSpPr>
          <p:cNvPr id="9" name="Shape 7"/>
          <p:cNvSpPr/>
          <p:nvPr/>
        </p:nvSpPr>
        <p:spPr>
          <a:xfrm>
            <a:off x="7569200" y="1778000"/>
            <a:ext cx="914400" cy="3886200"/>
          </a:xfrm>
          <a:prstGeom prst="rect">
            <a:avLst/>
          </a:prstGeom>
          <a:solidFill>
            <a:srgbClr val="F5F7FA"/>
          </a:solidFill>
          <a:ln/>
        </p:spPr>
      </p:sp>
      <p:sp>
        <p:nvSpPr>
          <p:cNvPr id="10" name="Shape 8"/>
          <p:cNvSpPr/>
          <p:nvPr/>
        </p:nvSpPr>
        <p:spPr>
          <a:xfrm>
            <a:off x="9398000" y="1778000"/>
            <a:ext cx="914400" cy="3886200"/>
          </a:xfrm>
          <a:prstGeom prst="rect">
            <a:avLst/>
          </a:prstGeom>
          <a:solidFill>
            <a:srgbClr val="F5F7FA"/>
          </a:solidFill>
          <a:ln/>
        </p:spPr>
      </p:sp>
      <p:sp>
        <p:nvSpPr>
          <p:cNvPr id="11" name="Shape 9"/>
          <p:cNvSpPr/>
          <p:nvPr/>
        </p:nvSpPr>
        <p:spPr>
          <a:xfrm>
            <a:off x="819150" y="1778000"/>
            <a:ext cx="10553700" cy="228600"/>
          </a:xfrm>
          <a:prstGeom prst="rect">
            <a:avLst/>
          </a:prstGeom>
          <a:solidFill>
            <a:srgbClr val="EEF1F6"/>
          </a:solidFill>
          <a:ln/>
        </p:spPr>
      </p:sp>
      <p:sp>
        <p:nvSpPr>
          <p:cNvPr id="12" name="Shape 10"/>
          <p:cNvSpPr/>
          <p:nvPr/>
        </p:nvSpPr>
        <p:spPr>
          <a:xfrm>
            <a:off x="819150" y="2006600"/>
            <a:ext cx="10553700" cy="190500"/>
          </a:xfrm>
          <a:prstGeom prst="rect">
            <a:avLst/>
          </a:prstGeom>
          <a:solidFill>
            <a:srgbClr val="EEF1F6"/>
          </a:solidFill>
          <a:ln/>
        </p:spPr>
      </p:sp>
      <p:sp>
        <p:nvSpPr>
          <p:cNvPr id="13" name="Shape 11"/>
          <p:cNvSpPr/>
          <p:nvPr/>
        </p:nvSpPr>
        <p:spPr>
          <a:xfrm>
            <a:off x="819150" y="3060700"/>
            <a:ext cx="10553700" cy="190500"/>
          </a:xfrm>
          <a:prstGeom prst="rect">
            <a:avLst/>
          </a:prstGeom>
          <a:solidFill>
            <a:srgbClr val="EEF1F6"/>
          </a:solidFill>
          <a:ln/>
        </p:spPr>
      </p:sp>
      <p:sp>
        <p:nvSpPr>
          <p:cNvPr id="14" name="Shape 12"/>
          <p:cNvSpPr/>
          <p:nvPr/>
        </p:nvSpPr>
        <p:spPr>
          <a:xfrm>
            <a:off x="819150" y="3898900"/>
            <a:ext cx="10553700" cy="190500"/>
          </a:xfrm>
          <a:prstGeom prst="rect">
            <a:avLst/>
          </a:prstGeom>
          <a:solidFill>
            <a:srgbClr val="EEF1F6"/>
          </a:solidFill>
          <a:ln/>
        </p:spPr>
      </p:sp>
      <p:sp>
        <p:nvSpPr>
          <p:cNvPr id="15" name="Shape 13"/>
          <p:cNvSpPr/>
          <p:nvPr/>
        </p:nvSpPr>
        <p:spPr>
          <a:xfrm>
            <a:off x="819150" y="4826000"/>
            <a:ext cx="10553700" cy="190500"/>
          </a:xfrm>
          <a:prstGeom prst="rect">
            <a:avLst/>
          </a:prstGeom>
          <a:solidFill>
            <a:srgbClr val="EEF1F6"/>
          </a:solidFill>
          <a:ln/>
        </p:spPr>
      </p:sp>
      <p:sp>
        <p:nvSpPr>
          <p:cNvPr id="16" name="Shape 14"/>
          <p:cNvSpPr/>
          <p:nvPr/>
        </p:nvSpPr>
        <p:spPr>
          <a:xfrm>
            <a:off x="5283200" y="2006600"/>
            <a:ext cx="5943600" cy="3657600"/>
          </a:xfrm>
          <a:prstGeom prst="rect">
            <a:avLst/>
          </a:prstGeom>
          <a:solidFill>
            <a:srgbClr val="E45011">
              <a:alpha val="7000"/>
            </a:srgbClr>
          </a:solidFill>
          <a:ln/>
        </p:spPr>
      </p:sp>
      <p:sp>
        <p:nvSpPr>
          <p:cNvPr id="17" name="Shape 15"/>
          <p:cNvSpPr/>
          <p:nvPr/>
        </p:nvSpPr>
        <p:spPr>
          <a:xfrm>
            <a:off x="819150" y="1765300"/>
            <a:ext cx="10553700" cy="12700"/>
          </a:xfrm>
          <a:prstGeom prst="rect">
            <a:avLst/>
          </a:prstGeom>
          <a:solidFill>
            <a:srgbClr val="C9D1DD"/>
          </a:solidFill>
          <a:ln/>
        </p:spPr>
      </p:sp>
      <p:sp>
        <p:nvSpPr>
          <p:cNvPr id="18" name="Shape 16"/>
          <p:cNvSpPr/>
          <p:nvPr/>
        </p:nvSpPr>
        <p:spPr>
          <a:xfrm>
            <a:off x="2997200" y="1778000"/>
            <a:ext cx="6350" cy="3886200"/>
          </a:xfrm>
          <a:prstGeom prst="rect">
            <a:avLst/>
          </a:prstGeom>
          <a:solidFill>
            <a:srgbClr val="E1E6EE"/>
          </a:solidFill>
          <a:ln/>
        </p:spPr>
      </p:sp>
      <p:sp>
        <p:nvSpPr>
          <p:cNvPr id="19" name="Shape 17"/>
          <p:cNvSpPr/>
          <p:nvPr/>
        </p:nvSpPr>
        <p:spPr>
          <a:xfrm>
            <a:off x="3911600" y="1778000"/>
            <a:ext cx="6350" cy="3886200"/>
          </a:xfrm>
          <a:prstGeom prst="rect">
            <a:avLst/>
          </a:prstGeom>
          <a:solidFill>
            <a:srgbClr val="E1E6EE"/>
          </a:solidFill>
          <a:ln/>
        </p:spPr>
      </p:sp>
      <p:sp>
        <p:nvSpPr>
          <p:cNvPr id="20" name="Shape 18"/>
          <p:cNvSpPr/>
          <p:nvPr/>
        </p:nvSpPr>
        <p:spPr>
          <a:xfrm>
            <a:off x="4826000" y="1778000"/>
            <a:ext cx="6350" cy="3886200"/>
          </a:xfrm>
          <a:prstGeom prst="rect">
            <a:avLst/>
          </a:prstGeom>
          <a:solidFill>
            <a:srgbClr val="E1E6EE"/>
          </a:solidFill>
          <a:ln/>
        </p:spPr>
      </p:sp>
      <p:sp>
        <p:nvSpPr>
          <p:cNvPr id="21" name="Shape 19"/>
          <p:cNvSpPr/>
          <p:nvPr/>
        </p:nvSpPr>
        <p:spPr>
          <a:xfrm>
            <a:off x="5740400" y="1778000"/>
            <a:ext cx="6350" cy="3886200"/>
          </a:xfrm>
          <a:prstGeom prst="rect">
            <a:avLst/>
          </a:prstGeom>
          <a:solidFill>
            <a:srgbClr val="E1E6EE"/>
          </a:solidFill>
          <a:ln/>
        </p:spPr>
      </p:sp>
      <p:sp>
        <p:nvSpPr>
          <p:cNvPr id="22" name="Shape 20"/>
          <p:cNvSpPr/>
          <p:nvPr/>
        </p:nvSpPr>
        <p:spPr>
          <a:xfrm>
            <a:off x="6654800" y="1778000"/>
            <a:ext cx="6350" cy="3886200"/>
          </a:xfrm>
          <a:prstGeom prst="rect">
            <a:avLst/>
          </a:prstGeom>
          <a:solidFill>
            <a:srgbClr val="E1E6EE"/>
          </a:solidFill>
          <a:ln/>
        </p:spPr>
      </p:sp>
      <p:sp>
        <p:nvSpPr>
          <p:cNvPr id="23" name="Shape 21"/>
          <p:cNvSpPr/>
          <p:nvPr/>
        </p:nvSpPr>
        <p:spPr>
          <a:xfrm>
            <a:off x="7569200" y="1778000"/>
            <a:ext cx="6350" cy="3886200"/>
          </a:xfrm>
          <a:prstGeom prst="rect">
            <a:avLst/>
          </a:prstGeom>
          <a:solidFill>
            <a:srgbClr val="E1E6EE"/>
          </a:solidFill>
          <a:ln/>
        </p:spPr>
      </p:sp>
      <p:sp>
        <p:nvSpPr>
          <p:cNvPr id="24" name="Shape 22"/>
          <p:cNvSpPr/>
          <p:nvPr/>
        </p:nvSpPr>
        <p:spPr>
          <a:xfrm>
            <a:off x="8483600" y="1778000"/>
            <a:ext cx="6350" cy="3886200"/>
          </a:xfrm>
          <a:prstGeom prst="rect">
            <a:avLst/>
          </a:prstGeom>
          <a:solidFill>
            <a:srgbClr val="E1E6EE"/>
          </a:solidFill>
          <a:ln/>
        </p:spPr>
      </p:sp>
      <p:sp>
        <p:nvSpPr>
          <p:cNvPr id="25" name="Shape 23"/>
          <p:cNvSpPr/>
          <p:nvPr/>
        </p:nvSpPr>
        <p:spPr>
          <a:xfrm>
            <a:off x="9398000" y="1778000"/>
            <a:ext cx="6350" cy="3886200"/>
          </a:xfrm>
          <a:prstGeom prst="rect">
            <a:avLst/>
          </a:prstGeom>
          <a:solidFill>
            <a:srgbClr val="E1E6EE"/>
          </a:solidFill>
          <a:ln/>
        </p:spPr>
      </p:sp>
      <p:sp>
        <p:nvSpPr>
          <p:cNvPr id="26" name="Shape 24"/>
          <p:cNvSpPr/>
          <p:nvPr/>
        </p:nvSpPr>
        <p:spPr>
          <a:xfrm>
            <a:off x="10312400" y="1778000"/>
            <a:ext cx="6350" cy="3886200"/>
          </a:xfrm>
          <a:prstGeom prst="rect">
            <a:avLst/>
          </a:prstGeom>
          <a:solidFill>
            <a:srgbClr val="E1E6EE"/>
          </a:solidFill>
          <a:ln/>
        </p:spPr>
      </p:sp>
      <p:sp>
        <p:nvSpPr>
          <p:cNvPr id="27" name="Shape 25"/>
          <p:cNvSpPr/>
          <p:nvPr/>
        </p:nvSpPr>
        <p:spPr>
          <a:xfrm>
            <a:off x="11226800" y="1778000"/>
            <a:ext cx="6350" cy="3886200"/>
          </a:xfrm>
          <a:prstGeom prst="rect">
            <a:avLst/>
          </a:prstGeom>
          <a:solidFill>
            <a:srgbClr val="E1E6EE"/>
          </a:solidFill>
          <a:ln/>
        </p:spPr>
      </p:sp>
      <p:sp>
        <p:nvSpPr>
          <p:cNvPr id="28" name="Shape 26"/>
          <p:cNvSpPr/>
          <p:nvPr/>
        </p:nvSpPr>
        <p:spPr>
          <a:xfrm>
            <a:off x="1117600" y="2413000"/>
            <a:ext cx="10109200" cy="6350"/>
          </a:xfrm>
          <a:prstGeom prst="rect">
            <a:avLst/>
          </a:prstGeom>
          <a:solidFill>
            <a:srgbClr val="E6EAF1"/>
          </a:solidFill>
          <a:ln/>
        </p:spPr>
      </p:sp>
      <p:sp>
        <p:nvSpPr>
          <p:cNvPr id="29" name="Shape 27"/>
          <p:cNvSpPr/>
          <p:nvPr/>
        </p:nvSpPr>
        <p:spPr>
          <a:xfrm>
            <a:off x="1117600" y="2628900"/>
            <a:ext cx="10109200" cy="6350"/>
          </a:xfrm>
          <a:prstGeom prst="rect">
            <a:avLst/>
          </a:prstGeom>
          <a:solidFill>
            <a:srgbClr val="E6EAF1"/>
          </a:solidFill>
          <a:ln/>
        </p:spPr>
      </p:sp>
      <p:sp>
        <p:nvSpPr>
          <p:cNvPr id="30" name="Shape 28"/>
          <p:cNvSpPr/>
          <p:nvPr/>
        </p:nvSpPr>
        <p:spPr>
          <a:xfrm>
            <a:off x="1117600" y="2844800"/>
            <a:ext cx="10109200" cy="6350"/>
          </a:xfrm>
          <a:prstGeom prst="rect">
            <a:avLst/>
          </a:prstGeom>
          <a:solidFill>
            <a:srgbClr val="E6EAF1"/>
          </a:solidFill>
          <a:ln/>
        </p:spPr>
      </p:sp>
      <p:sp>
        <p:nvSpPr>
          <p:cNvPr id="31" name="Shape 29"/>
          <p:cNvSpPr/>
          <p:nvPr/>
        </p:nvSpPr>
        <p:spPr>
          <a:xfrm>
            <a:off x="1117600" y="3467100"/>
            <a:ext cx="10109200" cy="6350"/>
          </a:xfrm>
          <a:prstGeom prst="rect">
            <a:avLst/>
          </a:prstGeom>
          <a:solidFill>
            <a:srgbClr val="E6EAF1"/>
          </a:solidFill>
          <a:ln/>
        </p:spPr>
      </p:sp>
      <p:sp>
        <p:nvSpPr>
          <p:cNvPr id="32" name="Shape 30"/>
          <p:cNvSpPr/>
          <p:nvPr/>
        </p:nvSpPr>
        <p:spPr>
          <a:xfrm>
            <a:off x="1117600" y="3683000"/>
            <a:ext cx="10109200" cy="6350"/>
          </a:xfrm>
          <a:prstGeom prst="rect">
            <a:avLst/>
          </a:prstGeom>
          <a:solidFill>
            <a:srgbClr val="E6EAF1"/>
          </a:solidFill>
          <a:ln/>
        </p:spPr>
      </p:sp>
      <p:sp>
        <p:nvSpPr>
          <p:cNvPr id="33" name="Shape 31"/>
          <p:cNvSpPr/>
          <p:nvPr/>
        </p:nvSpPr>
        <p:spPr>
          <a:xfrm>
            <a:off x="1117600" y="4305300"/>
            <a:ext cx="10109200" cy="6350"/>
          </a:xfrm>
          <a:prstGeom prst="rect">
            <a:avLst/>
          </a:prstGeom>
          <a:solidFill>
            <a:srgbClr val="E6EAF1"/>
          </a:solidFill>
          <a:ln/>
        </p:spPr>
      </p:sp>
      <p:sp>
        <p:nvSpPr>
          <p:cNvPr id="34" name="Shape 32"/>
          <p:cNvSpPr/>
          <p:nvPr/>
        </p:nvSpPr>
        <p:spPr>
          <a:xfrm>
            <a:off x="1117600" y="4521200"/>
            <a:ext cx="10109200" cy="6350"/>
          </a:xfrm>
          <a:prstGeom prst="rect">
            <a:avLst/>
          </a:prstGeom>
          <a:solidFill>
            <a:srgbClr val="E6EAF1"/>
          </a:solidFill>
          <a:ln/>
        </p:spPr>
      </p:sp>
      <p:sp>
        <p:nvSpPr>
          <p:cNvPr id="35" name="Shape 33"/>
          <p:cNvSpPr/>
          <p:nvPr/>
        </p:nvSpPr>
        <p:spPr>
          <a:xfrm>
            <a:off x="1117600" y="5232400"/>
            <a:ext cx="10109200" cy="6350"/>
          </a:xfrm>
          <a:prstGeom prst="rect">
            <a:avLst/>
          </a:prstGeom>
          <a:solidFill>
            <a:srgbClr val="E6EAF1"/>
          </a:solidFill>
          <a:ln/>
        </p:spPr>
      </p:sp>
      <p:sp>
        <p:nvSpPr>
          <p:cNvPr id="36" name="Shape 34"/>
          <p:cNvSpPr/>
          <p:nvPr/>
        </p:nvSpPr>
        <p:spPr>
          <a:xfrm>
            <a:off x="1117600" y="5448300"/>
            <a:ext cx="10109200" cy="6350"/>
          </a:xfrm>
          <a:prstGeom prst="rect">
            <a:avLst/>
          </a:prstGeom>
          <a:solidFill>
            <a:srgbClr val="E6EAF1"/>
          </a:solidFill>
          <a:ln/>
        </p:spPr>
      </p:sp>
      <p:sp>
        <p:nvSpPr>
          <p:cNvPr id="37" name="Shape 35"/>
          <p:cNvSpPr/>
          <p:nvPr/>
        </p:nvSpPr>
        <p:spPr>
          <a:xfrm>
            <a:off x="914400" y="2222500"/>
            <a:ext cx="38100" cy="812800"/>
          </a:xfrm>
          <a:prstGeom prst="roundRect">
            <a:avLst>
              <a:gd name="adj" fmla="val 50000"/>
            </a:avLst>
          </a:prstGeom>
          <a:solidFill>
            <a:srgbClr val="00205B"/>
          </a:solidFill>
          <a:ln/>
        </p:spPr>
      </p:sp>
      <p:sp>
        <p:nvSpPr>
          <p:cNvPr id="38" name="Shape 36"/>
          <p:cNvSpPr/>
          <p:nvPr/>
        </p:nvSpPr>
        <p:spPr>
          <a:xfrm>
            <a:off x="914400" y="3276600"/>
            <a:ext cx="38100" cy="596900"/>
          </a:xfrm>
          <a:prstGeom prst="roundRect">
            <a:avLst>
              <a:gd name="adj" fmla="val 50000"/>
            </a:avLst>
          </a:prstGeom>
          <a:solidFill>
            <a:srgbClr val="00205B"/>
          </a:solidFill>
          <a:ln/>
        </p:spPr>
      </p:sp>
      <p:sp>
        <p:nvSpPr>
          <p:cNvPr id="39" name="Shape 37"/>
          <p:cNvSpPr/>
          <p:nvPr/>
        </p:nvSpPr>
        <p:spPr>
          <a:xfrm>
            <a:off x="914400" y="4114800"/>
            <a:ext cx="38100" cy="685800"/>
          </a:xfrm>
          <a:prstGeom prst="roundRect">
            <a:avLst>
              <a:gd name="adj" fmla="val 50000"/>
            </a:avLst>
          </a:prstGeom>
          <a:solidFill>
            <a:srgbClr val="00205B"/>
          </a:solidFill>
          <a:ln/>
        </p:spPr>
      </p:sp>
      <p:sp>
        <p:nvSpPr>
          <p:cNvPr id="40" name="Shape 38"/>
          <p:cNvSpPr/>
          <p:nvPr/>
        </p:nvSpPr>
        <p:spPr>
          <a:xfrm>
            <a:off x="914400" y="5041900"/>
            <a:ext cx="38100" cy="596900"/>
          </a:xfrm>
          <a:prstGeom prst="roundRect">
            <a:avLst>
              <a:gd name="adj" fmla="val 50000"/>
            </a:avLst>
          </a:prstGeom>
          <a:solidFill>
            <a:srgbClr val="00205B"/>
          </a:solidFill>
          <a:ln/>
        </p:spPr>
      </p:sp>
      <p:sp>
        <p:nvSpPr>
          <p:cNvPr id="41" name="Text 39"/>
          <p:cNvSpPr/>
          <p:nvPr/>
        </p:nvSpPr>
        <p:spPr>
          <a:xfrm>
            <a:off x="965200" y="1524000"/>
            <a:ext cx="1962150" cy="215900"/>
          </a:xfrm>
          <a:prstGeom prst="rect">
            <a:avLst/>
          </a:prstGeom>
          <a:noFill/>
          <a:ln/>
        </p:spPr>
        <p:txBody>
          <a:bodyPr wrap="square" lIns="0" tIns="0" rIns="0" bIns="0" rtlCol="0" anchor="t">
            <a:normAutofit/>
          </a:bodyPr>
          <a:lstStyle/>
          <a:p>
            <a:pPr algn="l" indent="0" marL="0">
              <a:lnSpc>
                <a:spcPts val="1500"/>
              </a:lnSpc>
              <a:buNone/>
            </a:pPr>
            <a:r>
              <a:rPr lang="en-US" sz="1200" b="1" spc="100" kern="0" dirty="0">
                <a:solidFill>
                  <a:srgbClr val="5B6577"/>
                </a:solidFill>
                <a:latin typeface="Public Sans" pitchFamily="34" charset="0"/>
                <a:ea typeface="Public Sans" pitchFamily="34" charset="-122"/>
                <a:cs typeface="Public Sans" pitchFamily="34" charset="-120"/>
              </a:rPr>
              <a:t>WORKSTREAM</a:t>
            </a:r>
            <a:endParaRPr lang="en-US" sz="1200" dirty="0"/>
          </a:p>
        </p:txBody>
      </p:sp>
      <p:sp>
        <p:nvSpPr>
          <p:cNvPr id="42" name="Text 40"/>
          <p:cNvSpPr/>
          <p:nvPr/>
        </p:nvSpPr>
        <p:spPr>
          <a:xfrm>
            <a:off x="29718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Oct '26</a:t>
            </a:r>
            <a:endParaRPr lang="en-US" sz="1200" dirty="0"/>
          </a:p>
        </p:txBody>
      </p:sp>
      <p:sp>
        <p:nvSpPr>
          <p:cNvPr id="43" name="Text 41"/>
          <p:cNvSpPr/>
          <p:nvPr/>
        </p:nvSpPr>
        <p:spPr>
          <a:xfrm>
            <a:off x="38862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Nov</a:t>
            </a:r>
            <a:endParaRPr lang="en-US" sz="1200" dirty="0"/>
          </a:p>
        </p:txBody>
      </p:sp>
      <p:sp>
        <p:nvSpPr>
          <p:cNvPr id="44" name="Text 42"/>
          <p:cNvSpPr/>
          <p:nvPr/>
        </p:nvSpPr>
        <p:spPr>
          <a:xfrm>
            <a:off x="48006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Dec</a:t>
            </a:r>
            <a:endParaRPr lang="en-US" sz="1200" dirty="0"/>
          </a:p>
        </p:txBody>
      </p:sp>
      <p:sp>
        <p:nvSpPr>
          <p:cNvPr id="45" name="Text 43"/>
          <p:cNvSpPr/>
          <p:nvPr/>
        </p:nvSpPr>
        <p:spPr>
          <a:xfrm>
            <a:off x="57150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Jan '27</a:t>
            </a:r>
            <a:endParaRPr lang="en-US" sz="1200" dirty="0"/>
          </a:p>
        </p:txBody>
      </p:sp>
      <p:sp>
        <p:nvSpPr>
          <p:cNvPr id="46" name="Text 44"/>
          <p:cNvSpPr/>
          <p:nvPr/>
        </p:nvSpPr>
        <p:spPr>
          <a:xfrm>
            <a:off x="66294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Feb</a:t>
            </a:r>
            <a:endParaRPr lang="en-US" sz="1200" dirty="0"/>
          </a:p>
        </p:txBody>
      </p:sp>
      <p:sp>
        <p:nvSpPr>
          <p:cNvPr id="47" name="Text 45"/>
          <p:cNvSpPr/>
          <p:nvPr/>
        </p:nvSpPr>
        <p:spPr>
          <a:xfrm>
            <a:off x="75438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Mar</a:t>
            </a:r>
            <a:endParaRPr lang="en-US" sz="1200" dirty="0"/>
          </a:p>
        </p:txBody>
      </p:sp>
      <p:sp>
        <p:nvSpPr>
          <p:cNvPr id="48" name="Text 46"/>
          <p:cNvSpPr/>
          <p:nvPr/>
        </p:nvSpPr>
        <p:spPr>
          <a:xfrm>
            <a:off x="84582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Apr</a:t>
            </a:r>
            <a:endParaRPr lang="en-US" sz="1200" dirty="0"/>
          </a:p>
        </p:txBody>
      </p:sp>
      <p:sp>
        <p:nvSpPr>
          <p:cNvPr id="49" name="Text 47"/>
          <p:cNvSpPr/>
          <p:nvPr/>
        </p:nvSpPr>
        <p:spPr>
          <a:xfrm>
            <a:off x="93726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May</a:t>
            </a:r>
            <a:endParaRPr lang="en-US" sz="1200" dirty="0"/>
          </a:p>
        </p:txBody>
      </p:sp>
      <p:sp>
        <p:nvSpPr>
          <p:cNvPr id="50" name="Text 48"/>
          <p:cNvSpPr/>
          <p:nvPr/>
        </p:nvSpPr>
        <p:spPr>
          <a:xfrm>
            <a:off x="10287000" y="152400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00205B"/>
                </a:solidFill>
                <a:latin typeface="Public Sans" pitchFamily="34" charset="0"/>
                <a:ea typeface="Public Sans" pitchFamily="34" charset="-122"/>
                <a:cs typeface="Public Sans" pitchFamily="34" charset="-120"/>
              </a:rPr>
              <a:t>Jun</a:t>
            </a:r>
            <a:endParaRPr lang="en-US" sz="1200" dirty="0"/>
          </a:p>
        </p:txBody>
      </p:sp>
      <p:sp>
        <p:nvSpPr>
          <p:cNvPr id="51" name="Text 49"/>
          <p:cNvSpPr/>
          <p:nvPr/>
        </p:nvSpPr>
        <p:spPr>
          <a:xfrm>
            <a:off x="965200" y="1778000"/>
            <a:ext cx="1962150" cy="254000"/>
          </a:xfrm>
          <a:prstGeom prst="rect">
            <a:avLst/>
          </a:prstGeom>
          <a:noFill/>
          <a:ln/>
        </p:spPr>
        <p:txBody>
          <a:bodyPr wrap="square" lIns="0" tIns="0" rIns="0" bIns="0" rtlCol="0" anchor="t">
            <a:normAutofit/>
          </a:bodyPr>
          <a:lstStyle/>
          <a:p>
            <a:pPr algn="l" indent="0" marL="0">
              <a:lnSpc>
                <a:spcPts val="1800"/>
              </a:lnSpc>
              <a:buNone/>
            </a:pPr>
            <a:r>
              <a:rPr lang="en-US" sz="1200" b="1" spc="100" kern="0" dirty="0">
                <a:solidFill>
                  <a:srgbClr val="B93D08"/>
                </a:solidFill>
                <a:latin typeface="Public Sans" pitchFamily="34" charset="0"/>
                <a:ea typeface="Public Sans" pitchFamily="34" charset="-122"/>
                <a:cs typeface="Public Sans" pitchFamily="34" charset="-120"/>
              </a:rPr>
              <a:t>MILESTONES</a:t>
            </a:r>
            <a:endParaRPr lang="en-US" sz="1200" dirty="0"/>
          </a:p>
        </p:txBody>
      </p:sp>
      <p:sp>
        <p:nvSpPr>
          <p:cNvPr id="52" name="Text 50"/>
          <p:cNvSpPr/>
          <p:nvPr/>
        </p:nvSpPr>
        <p:spPr>
          <a:xfrm>
            <a:off x="965200" y="2006600"/>
            <a:ext cx="1962150" cy="215900"/>
          </a:xfrm>
          <a:prstGeom prst="rect">
            <a:avLst/>
          </a:prstGeom>
          <a:noFill/>
          <a:ln/>
        </p:spPr>
        <p:txBody>
          <a:bodyPr wrap="square" lIns="0" tIns="0" rIns="0" bIns="0" rtlCol="0" anchor="t">
            <a:normAutofit/>
          </a:bodyPr>
          <a:lstStyle/>
          <a:p>
            <a:pPr algn="l" indent="0" marL="0">
              <a:lnSpc>
                <a:spcPts val="1500"/>
              </a:lnSpc>
              <a:buNone/>
            </a:pPr>
            <a:r>
              <a:rPr lang="en-US" sz="1200" b="1" spc="100" kern="0" dirty="0">
                <a:solidFill>
                  <a:srgbClr val="B93D08"/>
                </a:solidFill>
                <a:latin typeface="Public Sans" pitchFamily="34" charset="0"/>
                <a:ea typeface="Public Sans" pitchFamily="34" charset="-122"/>
                <a:cs typeface="Public Sans" pitchFamily="34" charset="-120"/>
              </a:rPr>
              <a:t>ENABLERS</a:t>
            </a:r>
            <a:endParaRPr lang="en-US" sz="1200" dirty="0"/>
          </a:p>
        </p:txBody>
      </p:sp>
      <p:sp>
        <p:nvSpPr>
          <p:cNvPr id="53" name="Text 51"/>
          <p:cNvSpPr/>
          <p:nvPr/>
        </p:nvSpPr>
        <p:spPr>
          <a:xfrm>
            <a:off x="965200" y="3060700"/>
            <a:ext cx="1962150" cy="215900"/>
          </a:xfrm>
          <a:prstGeom prst="rect">
            <a:avLst/>
          </a:prstGeom>
          <a:noFill/>
          <a:ln/>
        </p:spPr>
        <p:txBody>
          <a:bodyPr wrap="square" lIns="0" tIns="0" rIns="0" bIns="0" rtlCol="0" anchor="t">
            <a:normAutofit/>
          </a:bodyPr>
          <a:lstStyle/>
          <a:p>
            <a:pPr algn="l" indent="0" marL="0">
              <a:lnSpc>
                <a:spcPts val="1500"/>
              </a:lnSpc>
              <a:buNone/>
            </a:pPr>
            <a:r>
              <a:rPr lang="en-US" sz="1200" b="1" spc="100" kern="0" dirty="0">
                <a:solidFill>
                  <a:srgbClr val="B93D08"/>
                </a:solidFill>
                <a:latin typeface="Public Sans" pitchFamily="34" charset="0"/>
                <a:ea typeface="Public Sans" pitchFamily="34" charset="-122"/>
                <a:cs typeface="Public Sans" pitchFamily="34" charset="-120"/>
              </a:rPr>
              <a:t>VALIDATE</a:t>
            </a:r>
            <a:endParaRPr lang="en-US" sz="1200" dirty="0"/>
          </a:p>
        </p:txBody>
      </p:sp>
      <p:sp>
        <p:nvSpPr>
          <p:cNvPr id="54" name="Text 52"/>
          <p:cNvSpPr/>
          <p:nvPr/>
        </p:nvSpPr>
        <p:spPr>
          <a:xfrm>
            <a:off x="965200" y="3898900"/>
            <a:ext cx="1962150" cy="215900"/>
          </a:xfrm>
          <a:prstGeom prst="rect">
            <a:avLst/>
          </a:prstGeom>
          <a:noFill/>
          <a:ln/>
        </p:spPr>
        <p:txBody>
          <a:bodyPr wrap="square" lIns="0" tIns="0" rIns="0" bIns="0" rtlCol="0" anchor="t">
            <a:normAutofit/>
          </a:bodyPr>
          <a:lstStyle/>
          <a:p>
            <a:pPr algn="l" indent="0" marL="0">
              <a:lnSpc>
                <a:spcPts val="1500"/>
              </a:lnSpc>
              <a:buNone/>
            </a:pPr>
            <a:r>
              <a:rPr lang="en-US" sz="1200" b="1" spc="100" kern="0" dirty="0">
                <a:solidFill>
                  <a:srgbClr val="B93D08"/>
                </a:solidFill>
                <a:latin typeface="Public Sans" pitchFamily="34" charset="0"/>
                <a:ea typeface="Public Sans" pitchFamily="34" charset="-122"/>
                <a:cs typeface="Public Sans" pitchFamily="34" charset="-120"/>
              </a:rPr>
              <a:t>RELEASE</a:t>
            </a:r>
            <a:endParaRPr lang="en-US" sz="1200" dirty="0"/>
          </a:p>
        </p:txBody>
      </p:sp>
      <p:sp>
        <p:nvSpPr>
          <p:cNvPr id="55" name="Text 53"/>
          <p:cNvSpPr/>
          <p:nvPr/>
        </p:nvSpPr>
        <p:spPr>
          <a:xfrm>
            <a:off x="965200" y="4826000"/>
            <a:ext cx="1962150" cy="215900"/>
          </a:xfrm>
          <a:prstGeom prst="rect">
            <a:avLst/>
          </a:prstGeom>
          <a:noFill/>
          <a:ln/>
        </p:spPr>
        <p:txBody>
          <a:bodyPr wrap="square" lIns="0" tIns="0" rIns="0" bIns="0" rtlCol="0" anchor="t">
            <a:normAutofit/>
          </a:bodyPr>
          <a:lstStyle/>
          <a:p>
            <a:pPr algn="l" indent="0" marL="0">
              <a:lnSpc>
                <a:spcPts val="1500"/>
              </a:lnSpc>
              <a:buNone/>
            </a:pPr>
            <a:r>
              <a:rPr lang="en-US" sz="1200" b="1" spc="100" kern="0" dirty="0">
                <a:solidFill>
                  <a:srgbClr val="B93D08"/>
                </a:solidFill>
                <a:latin typeface="Public Sans" pitchFamily="34" charset="0"/>
                <a:ea typeface="Public Sans" pitchFamily="34" charset="-122"/>
                <a:cs typeface="Public Sans" pitchFamily="34" charset="-120"/>
              </a:rPr>
              <a:t>CLOSE-OUT</a:t>
            </a:r>
            <a:endParaRPr lang="en-US" sz="1200" dirty="0"/>
          </a:p>
        </p:txBody>
      </p:sp>
      <p:sp>
        <p:nvSpPr>
          <p:cNvPr id="56" name="Text 54"/>
          <p:cNvSpPr/>
          <p:nvPr/>
        </p:nvSpPr>
        <p:spPr>
          <a:xfrm>
            <a:off x="3048000" y="3898900"/>
            <a:ext cx="588645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5B6577"/>
                </a:solidFill>
                <a:latin typeface="Public Sans" pitchFamily="34" charset="0"/>
                <a:ea typeface="Public Sans" pitchFamily="34" charset="-122"/>
                <a:cs typeface="Public Sans" pitchFamily="34" charset="-120"/>
              </a:rPr>
              <a:t>Marker = module go-live</a:t>
            </a:r>
            <a:endParaRPr lang="en-US" sz="1200" dirty="0"/>
          </a:p>
        </p:txBody>
      </p:sp>
      <p:pic>
        <p:nvPicPr>
          <p:cNvPr id="57" name="Image 0" descr="connector">    </p:cNvPr>
          <p:cNvPicPr>
            <a:picLocks noChangeAspect="1"/>
          </p:cNvPicPr>
          <p:nvPr/>
        </p:nvPicPr>
        <p:blipFill>
          <a:blip r:embed="rId1"/>
          <a:srcRect l="0" r="0" t="0" b="0"/>
          <a:stretch/>
        </p:blipFill>
        <p:spPr>
          <a:xfrm>
            <a:off x="3321050" y="1955800"/>
            <a:ext cx="101600" cy="3759200"/>
          </a:xfrm>
          <a:prstGeom prst="rect">
            <a:avLst/>
          </a:prstGeom>
        </p:spPr>
      </p:pic>
      <p:pic>
        <p:nvPicPr>
          <p:cNvPr id="58" name="Image 1" descr="connector">    </p:cNvPr>
          <p:cNvPicPr>
            <a:picLocks noChangeAspect="1"/>
          </p:cNvPicPr>
          <p:nvPr/>
        </p:nvPicPr>
        <p:blipFill>
          <a:blip r:embed="rId2"/>
          <a:srcRect l="0" r="0" t="0" b="0"/>
          <a:stretch/>
        </p:blipFill>
        <p:spPr>
          <a:xfrm>
            <a:off x="7442200" y="1968500"/>
            <a:ext cx="76200" cy="3733800"/>
          </a:xfrm>
          <a:prstGeom prst="rect">
            <a:avLst/>
          </a:prstGeom>
        </p:spPr>
      </p:pic>
      <p:pic>
        <p:nvPicPr>
          <p:cNvPr id="59" name="Image 2" descr="connector">    </p:cNvPr>
          <p:cNvPicPr>
            <a:picLocks noChangeAspect="1"/>
          </p:cNvPicPr>
          <p:nvPr/>
        </p:nvPicPr>
        <p:blipFill>
          <a:blip r:embed="rId3"/>
          <a:srcRect l="0" r="0" t="0" b="0"/>
          <a:stretch/>
        </p:blipFill>
        <p:spPr>
          <a:xfrm>
            <a:off x="8356600" y="1968500"/>
            <a:ext cx="76200" cy="3733800"/>
          </a:xfrm>
          <a:prstGeom prst="rect">
            <a:avLst/>
          </a:prstGeom>
        </p:spPr>
      </p:pic>
      <p:sp>
        <p:nvSpPr>
          <p:cNvPr id="60" name="Text 55"/>
          <p:cNvSpPr/>
          <p:nvPr/>
        </p:nvSpPr>
        <p:spPr>
          <a:xfrm>
            <a:off x="3143250" y="1803400"/>
            <a:ext cx="457200" cy="177800"/>
          </a:xfrm>
          <a:custGeom>
            <a:avLst/>
            <a:gdLst/>
            <a:ahLst/>
            <a:cxnLst/>
            <a:rect l="l" t="t" r="r" b="b"/>
            <a:pathLst>
              <a:path w="457200" h="177800">
                <a:moveTo>
                  <a:pt x="88900" y="0"/>
                </a:moveTo>
                <a:lnTo>
                  <a:pt x="368300" y="0"/>
                </a:lnTo>
                <a:arcTo hR="88900" wR="88900" stAng="16200000" swAng="5400000"/>
                <a:lnTo>
                  <a:pt x="457200" y="88900"/>
                </a:lnTo>
                <a:arcTo hR="88900" wR="88900" stAng="0" swAng="5400000"/>
                <a:lnTo>
                  <a:pt x="88900" y="177800"/>
                </a:lnTo>
                <a:arcTo hR="88900" wR="88900" stAng="5400000" swAng="5400000"/>
                <a:lnTo>
                  <a:pt x="0" y="88900"/>
                </a:lnTo>
                <a:arcTo hR="88900" wR="88900" stAng="10800000" swAng="5400000"/>
                <a:close/>
              </a:path>
            </a:pathLst>
          </a:custGeom>
          <a:solidFill>
            <a:srgbClr val="E45011"/>
          </a:solidFill>
          <a:ln/>
        </p:spPr>
        <p:txBody>
          <a:bodyPr wrap="square" lIns="0" tIns="0" rIns="0" bIns="0" rtlCol="0" anchor="t">
            <a:normAutofit/>
          </a:bodyPr>
          <a:lstStyle/>
          <a:p>
            <a:pPr algn="ctr" indent="0" marL="0">
              <a:lnSpc>
                <a:spcPts val="1404"/>
              </a:lnSpc>
              <a:buNone/>
            </a:pPr>
            <a:r>
              <a:rPr lang="en-US" sz="1200" b="1" dirty="0">
                <a:solidFill>
                  <a:srgbClr val="FFF8F4"/>
                </a:solidFill>
                <a:latin typeface="Public Sans" pitchFamily="34" charset="0"/>
                <a:ea typeface="Public Sans" pitchFamily="34" charset="-122"/>
                <a:cs typeface="Public Sans" pitchFamily="34" charset="-120"/>
              </a:rPr>
              <a:t>Today</a:t>
            </a:r>
            <a:endParaRPr lang="en-US" sz="1200" dirty="0"/>
          </a:p>
        </p:txBody>
      </p:sp>
      <p:sp>
        <p:nvSpPr>
          <p:cNvPr id="61" name="Text 56"/>
          <p:cNvSpPr/>
          <p:nvPr/>
        </p:nvSpPr>
        <p:spPr>
          <a:xfrm>
            <a:off x="6108700" y="1803400"/>
            <a:ext cx="1371600" cy="177800"/>
          </a:xfrm>
          <a:custGeom>
            <a:avLst/>
            <a:gdLst/>
            <a:ahLst/>
            <a:cxnLst/>
            <a:rect l="l" t="t" r="r" b="b"/>
            <a:pathLst>
              <a:path w="1371600" h="177800">
                <a:moveTo>
                  <a:pt x="88900" y="0"/>
                </a:moveTo>
                <a:lnTo>
                  <a:pt x="1282700" y="0"/>
                </a:lnTo>
                <a:arcTo hR="88900" wR="88900" stAng="16200000" swAng="5400000"/>
                <a:lnTo>
                  <a:pt x="1371600" y="88900"/>
                </a:lnTo>
                <a:arcTo hR="88900" wR="88900" stAng="0" swAng="5400000"/>
                <a:lnTo>
                  <a:pt x="88900" y="177800"/>
                </a:lnTo>
                <a:arcTo hR="88900" wR="88900" stAng="5400000" swAng="5400000"/>
                <a:lnTo>
                  <a:pt x="0" y="88900"/>
                </a:lnTo>
                <a:arcTo hR="88900" wR="88900" stAng="10800000" swAng="5400000"/>
                <a:close/>
              </a:path>
            </a:pathLst>
          </a:custGeom>
          <a:solidFill>
            <a:srgbClr val="00205B"/>
          </a:solidFill>
          <a:ln/>
        </p:spPr>
        <p:txBody>
          <a:bodyPr wrap="none" lIns="0" tIns="0" rIns="0" bIns="0" rtlCol="0" anchor="t">
            <a:normAutofit/>
          </a:bodyPr>
          <a:lstStyle/>
          <a:p>
            <a:pPr algn="ctr" indent="0" marL="0">
              <a:lnSpc>
                <a:spcPts val="1404"/>
              </a:lnSpc>
              <a:buNone/>
            </a:pPr>
            <a:r>
              <a:rPr lang="en-US" sz="1200" b="1" dirty="0">
                <a:solidFill>
                  <a:srgbClr val="F8F9FB"/>
                </a:solidFill>
                <a:latin typeface="Public Sans" pitchFamily="34" charset="0"/>
                <a:ea typeface="Public Sans" pitchFamily="34" charset="-122"/>
                <a:cs typeface="Public Sans" pitchFamily="34" charset="-120"/>
              </a:rPr>
              <a:t>Beta · End Feb</a:t>
            </a:r>
            <a:endParaRPr lang="en-US" sz="1200" dirty="0"/>
          </a:p>
        </p:txBody>
      </p:sp>
      <p:sp>
        <p:nvSpPr>
          <p:cNvPr id="62" name="Text 57"/>
          <p:cNvSpPr/>
          <p:nvPr/>
        </p:nvSpPr>
        <p:spPr>
          <a:xfrm>
            <a:off x="8394700" y="1803400"/>
            <a:ext cx="1625600" cy="177800"/>
          </a:xfrm>
          <a:custGeom>
            <a:avLst/>
            <a:gdLst/>
            <a:ahLst/>
            <a:cxnLst/>
            <a:rect l="l" t="t" r="r" b="b"/>
            <a:pathLst>
              <a:path w="1625600" h="177800">
                <a:moveTo>
                  <a:pt x="88900" y="0"/>
                </a:moveTo>
                <a:lnTo>
                  <a:pt x="1536700" y="0"/>
                </a:lnTo>
                <a:arcTo hR="88900" wR="88900" stAng="16200000" swAng="5400000"/>
                <a:lnTo>
                  <a:pt x="1625600" y="88900"/>
                </a:lnTo>
                <a:arcTo hR="88900" wR="88900" stAng="0" swAng="5400000"/>
                <a:lnTo>
                  <a:pt x="88900" y="177800"/>
                </a:lnTo>
                <a:arcTo hR="88900" wR="88900" stAng="5400000" swAng="5400000"/>
                <a:lnTo>
                  <a:pt x="0" y="88900"/>
                </a:lnTo>
                <a:arcTo hR="88900" wR="88900" stAng="10800000" swAng="5400000"/>
                <a:close/>
              </a:path>
            </a:pathLst>
          </a:custGeom>
          <a:solidFill>
            <a:srgbClr val="00205B"/>
          </a:solidFill>
          <a:ln/>
        </p:spPr>
        <p:txBody>
          <a:bodyPr wrap="none" lIns="0" tIns="0" rIns="0" bIns="0" rtlCol="0" anchor="t">
            <a:normAutofit/>
          </a:bodyPr>
          <a:lstStyle/>
          <a:p>
            <a:pPr algn="ctr" indent="0" marL="0">
              <a:lnSpc>
                <a:spcPts val="1404"/>
              </a:lnSpc>
              <a:buNone/>
            </a:pPr>
            <a:r>
              <a:rPr lang="en-US" sz="1200" b="1" dirty="0">
                <a:solidFill>
                  <a:srgbClr val="F8F9FB"/>
                </a:solidFill>
                <a:latin typeface="Public Sans" pitchFamily="34" charset="0"/>
                <a:ea typeface="Public Sans" pitchFamily="34" charset="-122"/>
                <a:cs typeface="Public Sans" pitchFamily="34" charset="-120"/>
              </a:rPr>
              <a:t>Go-Live · End Mar</a:t>
            </a:r>
            <a:endParaRPr lang="en-US" sz="1200" dirty="0"/>
          </a:p>
        </p:txBody>
      </p:sp>
      <p:pic>
        <p:nvPicPr>
          <p:cNvPr id="63" name="Image 3" descr="connector">    </p:cNvPr>
          <p:cNvPicPr>
            <a:picLocks noChangeAspect="1"/>
          </p:cNvPicPr>
          <p:nvPr/>
        </p:nvPicPr>
        <p:blipFill>
          <a:blip r:embed="rId4"/>
          <a:srcRect l="0" r="0" t="0" b="0"/>
          <a:stretch/>
        </p:blipFill>
        <p:spPr>
          <a:xfrm>
            <a:off x="5245100" y="1968500"/>
            <a:ext cx="76200" cy="3733800"/>
          </a:xfrm>
          <a:prstGeom prst="rect">
            <a:avLst/>
          </a:prstGeom>
        </p:spPr>
      </p:pic>
      <p:sp>
        <p:nvSpPr>
          <p:cNvPr id="64" name="Text 58"/>
          <p:cNvSpPr/>
          <p:nvPr/>
        </p:nvSpPr>
        <p:spPr>
          <a:xfrm>
            <a:off x="4000500" y="1797050"/>
            <a:ext cx="1276350" cy="165100"/>
          </a:xfrm>
          <a:custGeom>
            <a:avLst/>
            <a:gdLst/>
            <a:ahLst/>
            <a:cxnLst/>
            <a:rect l="l" t="t" r="r" b="b"/>
            <a:pathLst>
              <a:path w="1276350" h="165100">
                <a:moveTo>
                  <a:pt x="82550" y="0"/>
                </a:moveTo>
                <a:lnTo>
                  <a:pt x="1193800" y="0"/>
                </a:lnTo>
                <a:arcTo hR="82550" wR="82550" stAng="16200000" swAng="5400000"/>
                <a:lnTo>
                  <a:pt x="1276350" y="82550"/>
                </a:lnTo>
                <a:arcTo hR="82550" wR="82550" stAng="0" swAng="5400000"/>
                <a:lnTo>
                  <a:pt x="82550" y="165100"/>
                </a:lnTo>
                <a:arcTo hR="82550" wR="82550" stAng="5400000" swAng="5400000"/>
                <a:lnTo>
                  <a:pt x="0" y="82550"/>
                </a:lnTo>
                <a:arcTo hR="82550" wR="82550" stAng="10800000" swAng="5400000"/>
                <a:close/>
              </a:path>
            </a:pathLst>
          </a:custGeom>
          <a:solidFill>
            <a:srgbClr val="FFF3EC"/>
          </a:solidFill>
          <a:ln w="12700">
            <a:solidFill>
              <a:srgbClr val="E45011"/>
            </a:solidFill>
            <a:prstDash val="solid"/>
          </a:ln>
        </p:spPr>
        <p:txBody>
          <a:bodyPr wrap="none" lIns="0" tIns="6350" rIns="0" bIns="0" rtlCol="0" anchor="t">
            <a:normAutofit/>
          </a:bodyPr>
          <a:lstStyle/>
          <a:p>
            <a:pPr algn="ctr" indent="0" marL="0">
              <a:lnSpc>
                <a:spcPts val="1224"/>
              </a:lnSpc>
              <a:buNone/>
            </a:pPr>
            <a:r>
              <a:rPr lang="en-US" sz="1046" b="1" dirty="0">
                <a:solidFill>
                  <a:srgbClr val="B93D08"/>
                </a:solidFill>
                <a:latin typeface="Public Sans" pitchFamily="34" charset="0"/>
                <a:ea typeface="Public Sans" pitchFamily="34" charset="-122"/>
                <a:cs typeface="Public Sans" pitchFamily="34" charset="-120"/>
              </a:rPr>
              <a:t>Core API gate</a:t>
            </a:r>
            <a:endParaRPr lang="en-US" sz="1046" dirty="0"/>
          </a:p>
        </p:txBody>
      </p:sp>
      <p:sp>
        <p:nvSpPr>
          <p:cNvPr id="65" name="Text 59"/>
          <p:cNvSpPr/>
          <p:nvPr/>
        </p:nvSpPr>
        <p:spPr>
          <a:xfrm>
            <a:off x="5467350" y="5029200"/>
            <a:ext cx="3924300" cy="406400"/>
          </a:xfrm>
          <a:prstGeom prst="roundRect">
            <a:avLst>
              <a:gd name="adj" fmla="val 14063"/>
            </a:avLst>
          </a:prstGeom>
          <a:solidFill>
            <a:srgbClr val="FFF3EC"/>
          </a:solidFill>
          <a:ln w="12700">
            <a:solidFill>
              <a:srgbClr val="E45011"/>
            </a:solidFill>
            <a:prstDash val="solid"/>
          </a:ln>
        </p:spPr>
        <p:txBody>
          <a:bodyPr wrap="square" lIns="116611" tIns="0" rIns="6883" bIns="0" rtlCol="0" anchor="ctr">
            <a:normAutofit/>
          </a:bodyPr>
          <a:lstStyle/>
          <a:p>
            <a:pPr algn="l" indent="0" marL="0">
              <a:lnSpc>
                <a:spcPts val="1440"/>
              </a:lnSpc>
              <a:buNone/>
            </a:pPr>
            <a:r>
              <a:rPr lang="en-US" sz="1200" b="1" dirty="0">
                <a:solidFill>
                  <a:srgbClr val="B93D08"/>
                </a:solidFill>
                <a:latin typeface="Public Sans" pitchFamily="34" charset="0"/>
                <a:ea typeface="Public Sans" pitchFamily="34" charset="-122"/>
                <a:cs typeface="Public Sans" pitchFamily="34" charset="-120"/>
              </a:rPr>
              <a:t>Zero buffer: each week Core API slips moves Go-Live by a week</a:t>
            </a:r>
            <a:endParaRPr lang="en-US" sz="1200" dirty="0"/>
          </a:p>
        </p:txBody>
      </p:sp>
      <p:sp>
        <p:nvSpPr>
          <p:cNvPr id="66" name="Text 60"/>
          <p:cNvSpPr/>
          <p:nvPr/>
        </p:nvSpPr>
        <p:spPr>
          <a:xfrm>
            <a:off x="1117600" y="21971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UX prototype</a:t>
            </a:r>
            <a:endParaRPr lang="en-US" sz="1200" dirty="0"/>
          </a:p>
        </p:txBody>
      </p:sp>
      <p:sp>
        <p:nvSpPr>
          <p:cNvPr id="67" name="Text 61"/>
          <p:cNvSpPr/>
          <p:nvPr/>
        </p:nvSpPr>
        <p:spPr>
          <a:xfrm>
            <a:off x="1117600" y="24130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Data Sync</a:t>
            </a:r>
            <a:endParaRPr lang="en-US" sz="1200" dirty="0"/>
          </a:p>
        </p:txBody>
      </p:sp>
      <p:sp>
        <p:nvSpPr>
          <p:cNvPr id="68" name="Text 62"/>
          <p:cNvSpPr/>
          <p:nvPr/>
        </p:nvSpPr>
        <p:spPr>
          <a:xfrm>
            <a:off x="1117600" y="26289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Claude Code available</a:t>
            </a:r>
            <a:endParaRPr lang="en-US" sz="1200" dirty="0"/>
          </a:p>
        </p:txBody>
      </p:sp>
      <p:sp>
        <p:nvSpPr>
          <p:cNvPr id="69" name="Text 63"/>
          <p:cNvSpPr/>
          <p:nvPr/>
        </p:nvSpPr>
        <p:spPr>
          <a:xfrm>
            <a:off x="1117600" y="28448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Core API / AD Write</a:t>
            </a:r>
            <a:endParaRPr lang="en-US" sz="1200" dirty="0"/>
          </a:p>
        </p:txBody>
      </p:sp>
      <p:sp>
        <p:nvSpPr>
          <p:cNvPr id="70" name="Text 64"/>
          <p:cNvSpPr/>
          <p:nvPr/>
        </p:nvSpPr>
        <p:spPr>
          <a:xfrm>
            <a:off x="1117600" y="32512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Integration &amp; testing</a:t>
            </a:r>
            <a:endParaRPr lang="en-US" sz="1200" dirty="0"/>
          </a:p>
        </p:txBody>
      </p:sp>
      <p:sp>
        <p:nvSpPr>
          <p:cNvPr id="71" name="Text 65"/>
          <p:cNvSpPr/>
          <p:nvPr/>
        </p:nvSpPr>
        <p:spPr>
          <a:xfrm>
            <a:off x="1117600" y="34671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DST approved</a:t>
            </a:r>
            <a:endParaRPr lang="en-US" sz="1200" dirty="0"/>
          </a:p>
        </p:txBody>
      </p:sp>
      <p:sp>
        <p:nvSpPr>
          <p:cNvPr id="72" name="Text 66"/>
          <p:cNvSpPr/>
          <p:nvPr/>
        </p:nvSpPr>
        <p:spPr>
          <a:xfrm>
            <a:off x="1117600" y="36830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UAT sign-off</a:t>
            </a:r>
            <a:endParaRPr lang="en-US" sz="1200" dirty="0"/>
          </a:p>
        </p:txBody>
      </p:sp>
      <p:sp>
        <p:nvSpPr>
          <p:cNvPr id="73" name="Text 67"/>
          <p:cNvSpPr/>
          <p:nvPr/>
        </p:nvSpPr>
        <p:spPr>
          <a:xfrm>
            <a:off x="1117600" y="40894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Password + Solutions</a:t>
            </a:r>
            <a:endParaRPr lang="en-US" sz="1200" dirty="0"/>
          </a:p>
        </p:txBody>
      </p:sp>
      <p:sp>
        <p:nvSpPr>
          <p:cNvPr id="74" name="Text 68"/>
          <p:cNvSpPr/>
          <p:nvPr/>
        </p:nvSpPr>
        <p:spPr>
          <a:xfrm>
            <a:off x="1117600" y="43053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Accounts</a:t>
            </a:r>
            <a:endParaRPr lang="en-US" sz="1200" dirty="0"/>
          </a:p>
        </p:txBody>
      </p:sp>
      <p:sp>
        <p:nvSpPr>
          <p:cNvPr id="75" name="Text 69"/>
          <p:cNvSpPr/>
          <p:nvPr/>
        </p:nvSpPr>
        <p:spPr>
          <a:xfrm>
            <a:off x="1117600" y="4521200"/>
            <a:ext cx="1896745" cy="330200"/>
          </a:xfrm>
          <a:prstGeom prst="rect">
            <a:avLst/>
          </a:prstGeom>
          <a:noFill/>
          <a:ln/>
        </p:spPr>
        <p:txBody>
          <a:bodyPr wrap="none" lIns="0" tIns="0" rIns="0" bIns="0" rtlCol="0" anchor="t">
            <a:normAutofit/>
          </a:bodyPr>
          <a:lstStyle/>
          <a:p>
            <a:pPr algn="l" indent="0" marL="0">
              <a:lnSpc>
                <a:spcPts val="1200"/>
              </a:lnSpc>
              <a:buNone/>
            </a:pPr>
            <a:r>
              <a:rPr lang="en-US" sz="1200" b="1" dirty="0">
                <a:solidFill>
                  <a:srgbClr val="00205B"/>
                </a:solidFill>
                <a:latin typeface="Public Sans" pitchFamily="34" charset="0"/>
                <a:ea typeface="Public Sans" pitchFamily="34" charset="-122"/>
                <a:cs typeface="Public Sans" pitchFamily="34" charset="-120"/>
              </a:rPr>
              <a:t>Access Control</a:t>
            </a:r>
            <a:endParaRPr lang="en-US" sz="1200" dirty="0"/>
          </a:p>
          <a:p>
            <a:pPr algn="l" indent="0" marL="0">
              <a:lnSpc>
                <a:spcPts val="1200"/>
              </a:lnSpc>
              <a:buNone/>
            </a:pPr>
            <a:r>
              <a:rPr lang="en-US" sz="1200" b="1" dirty="0">
                <a:solidFill>
                  <a:srgbClr val="5B6577"/>
                </a:solidFill>
                <a:latin typeface="Public Sans" pitchFamily="34" charset="0"/>
                <a:ea typeface="Public Sans" pitchFamily="34" charset="-122"/>
                <a:cs typeface="Public Sans" pitchFamily="34" charset="-120"/>
              </a:rPr>
              <a:t>incl. Groups</a:t>
            </a:r>
            <a:endParaRPr lang="en-US" sz="1200" dirty="0"/>
          </a:p>
        </p:txBody>
      </p:sp>
      <p:sp>
        <p:nvSpPr>
          <p:cNvPr id="76" name="Text 70"/>
          <p:cNvSpPr/>
          <p:nvPr/>
        </p:nvSpPr>
        <p:spPr>
          <a:xfrm>
            <a:off x="1117600" y="50165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Hypercare</a:t>
            </a:r>
            <a:endParaRPr lang="en-US" sz="1200" dirty="0"/>
          </a:p>
        </p:txBody>
      </p:sp>
      <p:sp>
        <p:nvSpPr>
          <p:cNvPr id="77" name="Text 71"/>
          <p:cNvSpPr/>
          <p:nvPr/>
        </p:nvSpPr>
        <p:spPr>
          <a:xfrm>
            <a:off x="1117600" y="52324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Legacy exit</a:t>
            </a:r>
            <a:endParaRPr lang="en-US" sz="1200" dirty="0"/>
          </a:p>
        </p:txBody>
      </p:sp>
      <p:sp>
        <p:nvSpPr>
          <p:cNvPr id="78" name="Text 72"/>
          <p:cNvSpPr/>
          <p:nvPr/>
        </p:nvSpPr>
        <p:spPr>
          <a:xfrm>
            <a:off x="1117600" y="5448300"/>
            <a:ext cx="1896745" cy="241300"/>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00205B"/>
                </a:solidFill>
                <a:latin typeface="Public Sans" pitchFamily="34" charset="0"/>
                <a:ea typeface="Public Sans" pitchFamily="34" charset="-122"/>
                <a:cs typeface="Public Sans" pitchFamily="34" charset="-120"/>
              </a:rPr>
              <a:t>Communications</a:t>
            </a:r>
            <a:endParaRPr lang="en-US" sz="1200" dirty="0"/>
          </a:p>
        </p:txBody>
      </p:sp>
      <p:pic>
        <p:nvPicPr>
          <p:cNvPr id="79" name="Image 4" descr="connector">    </p:cNvPr>
          <p:cNvPicPr>
            <a:picLocks noChangeAspect="1"/>
          </p:cNvPicPr>
          <p:nvPr/>
        </p:nvPicPr>
        <p:blipFill>
          <a:blip r:embed="rId5"/>
          <a:srcRect l="0" r="0" t="0" b="0"/>
          <a:stretch/>
        </p:blipFill>
        <p:spPr>
          <a:xfrm>
            <a:off x="4305300" y="2457450"/>
            <a:ext cx="1041400" cy="127000"/>
          </a:xfrm>
          <a:prstGeom prst="rect">
            <a:avLst/>
          </a:prstGeom>
        </p:spPr>
      </p:pic>
      <p:pic>
        <p:nvPicPr>
          <p:cNvPr id="80" name="Image 5" descr="connector">    </p:cNvPr>
          <p:cNvPicPr>
            <a:picLocks noChangeAspect="1"/>
          </p:cNvPicPr>
          <p:nvPr/>
        </p:nvPicPr>
        <p:blipFill>
          <a:blip r:embed="rId6"/>
          <a:srcRect l="0" r="0" t="0" b="0"/>
          <a:stretch/>
        </p:blipFill>
        <p:spPr>
          <a:xfrm>
            <a:off x="5219700" y="2457450"/>
            <a:ext cx="127000" cy="965200"/>
          </a:xfrm>
          <a:prstGeom prst="rect">
            <a:avLst/>
          </a:prstGeom>
        </p:spPr>
      </p:pic>
      <p:pic>
        <p:nvPicPr>
          <p:cNvPr id="81" name="Image 6" descr="connector">    </p:cNvPr>
          <p:cNvPicPr>
            <a:picLocks noChangeAspect="1"/>
          </p:cNvPicPr>
          <p:nvPr/>
        </p:nvPicPr>
        <p:blipFill>
          <a:blip r:embed="rId7"/>
          <a:srcRect l="0" r="0" t="0" b="0"/>
          <a:stretch/>
        </p:blipFill>
        <p:spPr>
          <a:xfrm>
            <a:off x="5219700" y="3295650"/>
            <a:ext cx="1041400" cy="127000"/>
          </a:xfrm>
          <a:prstGeom prst="rect">
            <a:avLst/>
          </a:prstGeom>
        </p:spPr>
      </p:pic>
      <p:pic>
        <p:nvPicPr>
          <p:cNvPr id="82" name="Image 7" descr="connector">    </p:cNvPr>
          <p:cNvPicPr>
            <a:picLocks noChangeAspect="1"/>
          </p:cNvPicPr>
          <p:nvPr/>
        </p:nvPicPr>
        <p:blipFill>
          <a:blip r:embed="rId8"/>
          <a:srcRect l="0" r="0" t="0" b="0"/>
          <a:stretch/>
        </p:blipFill>
        <p:spPr>
          <a:xfrm>
            <a:off x="3759200" y="2673350"/>
            <a:ext cx="127000" cy="234950"/>
          </a:xfrm>
          <a:prstGeom prst="rect">
            <a:avLst/>
          </a:prstGeom>
        </p:spPr>
      </p:pic>
      <p:pic>
        <p:nvPicPr>
          <p:cNvPr id="83" name="Image 8" descr="connector">    </p:cNvPr>
          <p:cNvPicPr>
            <a:picLocks noChangeAspect="1"/>
          </p:cNvPicPr>
          <p:nvPr/>
        </p:nvPicPr>
        <p:blipFill>
          <a:blip r:embed="rId9"/>
          <a:srcRect l="0" r="0" t="0" b="0"/>
          <a:stretch/>
        </p:blipFill>
        <p:spPr>
          <a:xfrm>
            <a:off x="3759200" y="2781300"/>
            <a:ext cx="1587500" cy="127000"/>
          </a:xfrm>
          <a:prstGeom prst="rect">
            <a:avLst/>
          </a:prstGeom>
        </p:spPr>
      </p:pic>
      <p:pic>
        <p:nvPicPr>
          <p:cNvPr id="84" name="Image 9" descr="connector">    </p:cNvPr>
          <p:cNvPicPr>
            <a:picLocks noChangeAspect="1"/>
          </p:cNvPicPr>
          <p:nvPr/>
        </p:nvPicPr>
        <p:blipFill>
          <a:blip r:embed="rId10"/>
          <a:srcRect l="0" r="0" t="0" b="0"/>
          <a:stretch/>
        </p:blipFill>
        <p:spPr>
          <a:xfrm>
            <a:off x="6134100" y="3295650"/>
            <a:ext cx="127000" cy="342900"/>
          </a:xfrm>
          <a:prstGeom prst="rect">
            <a:avLst/>
          </a:prstGeom>
        </p:spPr>
      </p:pic>
      <p:pic>
        <p:nvPicPr>
          <p:cNvPr id="85" name="Image 10" descr="connector">    </p:cNvPr>
          <p:cNvPicPr>
            <a:picLocks noChangeAspect="1"/>
          </p:cNvPicPr>
          <p:nvPr/>
        </p:nvPicPr>
        <p:blipFill>
          <a:blip r:embed="rId11"/>
          <a:srcRect l="0" r="0" t="0" b="0"/>
          <a:stretch/>
        </p:blipFill>
        <p:spPr>
          <a:xfrm>
            <a:off x="6134100" y="3511550"/>
            <a:ext cx="495300" cy="342900"/>
          </a:xfrm>
          <a:prstGeom prst="rect">
            <a:avLst/>
          </a:prstGeom>
        </p:spPr>
      </p:pic>
      <p:pic>
        <p:nvPicPr>
          <p:cNvPr id="86" name="Image 11" descr="connector">    </p:cNvPr>
          <p:cNvPicPr>
            <a:picLocks noChangeAspect="1"/>
          </p:cNvPicPr>
          <p:nvPr/>
        </p:nvPicPr>
        <p:blipFill>
          <a:blip r:embed="rId12"/>
          <a:srcRect l="0" r="0" t="0" b="0"/>
          <a:stretch/>
        </p:blipFill>
        <p:spPr>
          <a:xfrm>
            <a:off x="6502400" y="3727450"/>
            <a:ext cx="1955800" cy="533400"/>
          </a:xfrm>
          <a:prstGeom prst="rect">
            <a:avLst/>
          </a:prstGeom>
        </p:spPr>
      </p:pic>
      <p:pic>
        <p:nvPicPr>
          <p:cNvPr id="87" name="Image 12" descr="diamond">    </p:cNvPr>
          <p:cNvPicPr>
            <a:picLocks noChangeAspect="1"/>
          </p:cNvPicPr>
          <p:nvPr/>
        </p:nvPicPr>
        <p:blipFill>
          <a:blip r:embed="rId13"/>
          <a:srcRect l="0" r="0" t="0" b="0"/>
          <a:stretch/>
        </p:blipFill>
        <p:spPr>
          <a:xfrm>
            <a:off x="3733800" y="2216150"/>
            <a:ext cx="177800" cy="177800"/>
          </a:xfrm>
          <a:prstGeom prst="rect">
            <a:avLst/>
          </a:prstGeom>
        </p:spPr>
      </p:pic>
      <p:sp>
        <p:nvSpPr>
          <p:cNvPr id="88" name="Text 73"/>
          <p:cNvSpPr/>
          <p:nvPr/>
        </p:nvSpPr>
        <p:spPr>
          <a:xfrm>
            <a:off x="3975100" y="2197100"/>
            <a:ext cx="939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End Oct</a:t>
            </a:r>
            <a:endParaRPr lang="en-US" sz="1200" dirty="0"/>
          </a:p>
        </p:txBody>
      </p:sp>
      <p:pic>
        <p:nvPicPr>
          <p:cNvPr id="89" name="Image 13" descr="diamond">    </p:cNvPr>
          <p:cNvPicPr>
            <a:picLocks noChangeAspect="1"/>
          </p:cNvPicPr>
          <p:nvPr/>
        </p:nvPicPr>
        <p:blipFill>
          <a:blip r:embed="rId14"/>
          <a:srcRect l="0" r="0" t="0" b="0"/>
          <a:stretch/>
        </p:blipFill>
        <p:spPr>
          <a:xfrm>
            <a:off x="4279900" y="2432050"/>
            <a:ext cx="177800" cy="177800"/>
          </a:xfrm>
          <a:prstGeom prst="rect">
            <a:avLst/>
          </a:prstGeom>
        </p:spPr>
      </p:pic>
      <p:sp>
        <p:nvSpPr>
          <p:cNvPr id="90" name="Text 74"/>
          <p:cNvSpPr/>
          <p:nvPr/>
        </p:nvSpPr>
        <p:spPr>
          <a:xfrm>
            <a:off x="3276600" y="2413000"/>
            <a:ext cx="939800" cy="241300"/>
          </a:xfrm>
          <a:prstGeom prst="rect">
            <a:avLst/>
          </a:prstGeom>
          <a:noFill/>
          <a:ln/>
        </p:spPr>
        <p:txBody>
          <a:bodyPr wrap="none" lIns="0" tIns="0" rIns="0" bIns="0" rtlCol="0" anchor="t">
            <a:normAutofit/>
          </a:bodyPr>
          <a:lstStyle/>
          <a:p>
            <a:pPr algn="r"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Mid Nov</a:t>
            </a:r>
            <a:endParaRPr lang="en-US" sz="1200" dirty="0"/>
          </a:p>
        </p:txBody>
      </p:sp>
      <p:pic>
        <p:nvPicPr>
          <p:cNvPr id="91" name="Image 14" descr="diamond">    </p:cNvPr>
          <p:cNvPicPr>
            <a:picLocks noChangeAspect="1"/>
          </p:cNvPicPr>
          <p:nvPr/>
        </p:nvPicPr>
        <p:blipFill>
          <a:blip r:embed="rId15"/>
          <a:srcRect l="0" r="0" t="0" b="0"/>
          <a:stretch/>
        </p:blipFill>
        <p:spPr>
          <a:xfrm>
            <a:off x="3733800" y="2647950"/>
            <a:ext cx="177800" cy="177800"/>
          </a:xfrm>
          <a:prstGeom prst="rect">
            <a:avLst/>
          </a:prstGeom>
        </p:spPr>
      </p:pic>
      <p:sp>
        <p:nvSpPr>
          <p:cNvPr id="92" name="Text 75"/>
          <p:cNvSpPr/>
          <p:nvPr/>
        </p:nvSpPr>
        <p:spPr>
          <a:xfrm>
            <a:off x="3975100" y="2628900"/>
            <a:ext cx="939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End Oct</a:t>
            </a:r>
            <a:endParaRPr lang="en-US" sz="1200" dirty="0"/>
          </a:p>
        </p:txBody>
      </p:sp>
      <p:pic>
        <p:nvPicPr>
          <p:cNvPr id="93" name="Image 15" descr="diamond">    </p:cNvPr>
          <p:cNvPicPr>
            <a:picLocks noChangeAspect="1"/>
          </p:cNvPicPr>
          <p:nvPr/>
        </p:nvPicPr>
        <p:blipFill>
          <a:blip r:embed="rId16"/>
          <a:srcRect l="0" r="0" t="0" b="0"/>
          <a:stretch/>
        </p:blipFill>
        <p:spPr>
          <a:xfrm>
            <a:off x="5194300" y="2863850"/>
            <a:ext cx="177800" cy="177800"/>
          </a:xfrm>
          <a:prstGeom prst="rect">
            <a:avLst/>
          </a:prstGeom>
        </p:spPr>
      </p:pic>
      <p:sp>
        <p:nvSpPr>
          <p:cNvPr id="94" name="Text 76"/>
          <p:cNvSpPr/>
          <p:nvPr/>
        </p:nvSpPr>
        <p:spPr>
          <a:xfrm>
            <a:off x="4191000" y="2844800"/>
            <a:ext cx="939800" cy="241300"/>
          </a:xfrm>
          <a:prstGeom prst="rect">
            <a:avLst/>
          </a:prstGeom>
          <a:noFill/>
          <a:ln/>
        </p:spPr>
        <p:txBody>
          <a:bodyPr wrap="none" lIns="0" tIns="0" rIns="0" bIns="0" rtlCol="0" anchor="t">
            <a:normAutofit/>
          </a:bodyPr>
          <a:lstStyle/>
          <a:p>
            <a:pPr algn="r"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Mid Dec</a:t>
            </a:r>
            <a:endParaRPr lang="en-US" sz="1200" dirty="0"/>
          </a:p>
        </p:txBody>
      </p:sp>
      <p:pic>
        <p:nvPicPr>
          <p:cNvPr id="95" name="Image 16" descr="diamond">    </p:cNvPr>
          <p:cNvPicPr>
            <a:picLocks noChangeAspect="1"/>
          </p:cNvPicPr>
          <p:nvPr/>
        </p:nvPicPr>
        <p:blipFill>
          <a:blip r:embed="rId17"/>
          <a:srcRect l="0" r="0" t="0" b="0"/>
          <a:stretch/>
        </p:blipFill>
        <p:spPr>
          <a:xfrm>
            <a:off x="6108700" y="3270250"/>
            <a:ext cx="177800" cy="177800"/>
          </a:xfrm>
          <a:prstGeom prst="rect">
            <a:avLst/>
          </a:prstGeom>
        </p:spPr>
      </p:pic>
      <p:sp>
        <p:nvSpPr>
          <p:cNvPr id="96" name="Text 77"/>
          <p:cNvSpPr/>
          <p:nvPr/>
        </p:nvSpPr>
        <p:spPr>
          <a:xfrm>
            <a:off x="6350000" y="3251200"/>
            <a:ext cx="939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Mid Jan</a:t>
            </a:r>
            <a:endParaRPr lang="en-US" sz="1200" dirty="0"/>
          </a:p>
        </p:txBody>
      </p:sp>
      <p:pic>
        <p:nvPicPr>
          <p:cNvPr id="97" name="Image 17" descr="diamond">    </p:cNvPr>
          <p:cNvPicPr>
            <a:picLocks noChangeAspect="1"/>
          </p:cNvPicPr>
          <p:nvPr/>
        </p:nvPicPr>
        <p:blipFill>
          <a:blip r:embed="rId18"/>
          <a:srcRect l="0" r="0" t="0" b="0"/>
          <a:stretch/>
        </p:blipFill>
        <p:spPr>
          <a:xfrm>
            <a:off x="6108700" y="3486150"/>
            <a:ext cx="177800" cy="177800"/>
          </a:xfrm>
          <a:prstGeom prst="rect">
            <a:avLst/>
          </a:prstGeom>
        </p:spPr>
      </p:pic>
      <p:sp>
        <p:nvSpPr>
          <p:cNvPr id="98" name="Text 78"/>
          <p:cNvSpPr/>
          <p:nvPr/>
        </p:nvSpPr>
        <p:spPr>
          <a:xfrm>
            <a:off x="6350000" y="3467100"/>
            <a:ext cx="939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Mid Jan</a:t>
            </a:r>
            <a:endParaRPr lang="en-US" sz="1200" dirty="0"/>
          </a:p>
        </p:txBody>
      </p:sp>
      <p:pic>
        <p:nvPicPr>
          <p:cNvPr id="99" name="Image 18" descr="diamond">    </p:cNvPr>
          <p:cNvPicPr>
            <a:picLocks noChangeAspect="1"/>
          </p:cNvPicPr>
          <p:nvPr/>
        </p:nvPicPr>
        <p:blipFill>
          <a:blip r:embed="rId19"/>
          <a:srcRect l="0" r="0" t="0" b="0"/>
          <a:stretch/>
        </p:blipFill>
        <p:spPr>
          <a:xfrm>
            <a:off x="6477000" y="3702050"/>
            <a:ext cx="177800" cy="177800"/>
          </a:xfrm>
          <a:prstGeom prst="rect">
            <a:avLst/>
          </a:prstGeom>
        </p:spPr>
      </p:pic>
      <p:sp>
        <p:nvSpPr>
          <p:cNvPr id="100" name="Text 79"/>
          <p:cNvSpPr/>
          <p:nvPr/>
        </p:nvSpPr>
        <p:spPr>
          <a:xfrm>
            <a:off x="6718300" y="3683000"/>
            <a:ext cx="7493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End Jan</a:t>
            </a:r>
            <a:endParaRPr lang="en-US" sz="1200" dirty="0"/>
          </a:p>
        </p:txBody>
      </p:sp>
      <p:pic>
        <p:nvPicPr>
          <p:cNvPr id="101" name="Image 19" descr="diamond">    </p:cNvPr>
          <p:cNvPicPr>
            <a:picLocks noChangeAspect="1"/>
          </p:cNvPicPr>
          <p:nvPr/>
        </p:nvPicPr>
        <p:blipFill>
          <a:blip r:embed="rId20"/>
          <a:srcRect l="0" r="0" t="0" b="0"/>
          <a:stretch/>
        </p:blipFill>
        <p:spPr>
          <a:xfrm>
            <a:off x="8305800" y="4108450"/>
            <a:ext cx="177800" cy="177800"/>
          </a:xfrm>
          <a:prstGeom prst="rect">
            <a:avLst/>
          </a:prstGeom>
        </p:spPr>
      </p:pic>
      <p:sp>
        <p:nvSpPr>
          <p:cNvPr id="102" name="Text 80"/>
          <p:cNvSpPr/>
          <p:nvPr/>
        </p:nvSpPr>
        <p:spPr>
          <a:xfrm>
            <a:off x="8547100" y="4089400"/>
            <a:ext cx="812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End Mar</a:t>
            </a:r>
            <a:endParaRPr lang="en-US" sz="1200" dirty="0"/>
          </a:p>
        </p:txBody>
      </p:sp>
      <p:pic>
        <p:nvPicPr>
          <p:cNvPr id="103" name="Image 20" descr="diamond">    </p:cNvPr>
          <p:cNvPicPr>
            <a:picLocks noChangeAspect="1"/>
          </p:cNvPicPr>
          <p:nvPr/>
        </p:nvPicPr>
        <p:blipFill>
          <a:blip r:embed="rId21"/>
          <a:srcRect l="0" r="0" t="0" b="0"/>
          <a:stretch/>
        </p:blipFill>
        <p:spPr>
          <a:xfrm>
            <a:off x="8851900" y="4324350"/>
            <a:ext cx="177800" cy="177800"/>
          </a:xfrm>
          <a:prstGeom prst="rect">
            <a:avLst/>
          </a:prstGeom>
        </p:spPr>
      </p:pic>
      <p:sp>
        <p:nvSpPr>
          <p:cNvPr id="104" name="Text 81"/>
          <p:cNvSpPr/>
          <p:nvPr/>
        </p:nvSpPr>
        <p:spPr>
          <a:xfrm>
            <a:off x="9093200" y="4305300"/>
            <a:ext cx="685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Apr</a:t>
            </a:r>
            <a:endParaRPr lang="en-US" sz="1200" dirty="0"/>
          </a:p>
        </p:txBody>
      </p:sp>
      <p:pic>
        <p:nvPicPr>
          <p:cNvPr id="105" name="Image 21" descr="diamond">    </p:cNvPr>
          <p:cNvPicPr>
            <a:picLocks noChangeAspect="1"/>
          </p:cNvPicPr>
          <p:nvPr/>
        </p:nvPicPr>
        <p:blipFill>
          <a:blip r:embed="rId22"/>
          <a:srcRect l="0" r="0" t="0" b="0"/>
          <a:stretch/>
        </p:blipFill>
        <p:spPr>
          <a:xfrm>
            <a:off x="8851900" y="4584700"/>
            <a:ext cx="177800" cy="177800"/>
          </a:xfrm>
          <a:prstGeom prst="rect">
            <a:avLst/>
          </a:prstGeom>
        </p:spPr>
      </p:pic>
      <p:sp>
        <p:nvSpPr>
          <p:cNvPr id="106" name="Text 82"/>
          <p:cNvSpPr/>
          <p:nvPr/>
        </p:nvSpPr>
        <p:spPr>
          <a:xfrm>
            <a:off x="9093200" y="4521200"/>
            <a:ext cx="685800" cy="330200"/>
          </a:xfrm>
          <a:prstGeom prst="rect">
            <a:avLst/>
          </a:prstGeom>
          <a:noFill/>
          <a:ln/>
        </p:spPr>
        <p:txBody>
          <a:bodyPr wrap="none" lIns="0" tIns="0" rIns="0" bIns="0" rtlCol="0" anchor="t">
            <a:normAutofit/>
          </a:bodyPr>
          <a:lstStyle/>
          <a:p>
            <a:pPr algn="l" indent="0" marL="0">
              <a:lnSpc>
                <a:spcPts val="2400"/>
              </a:lnSpc>
              <a:buNone/>
            </a:pPr>
            <a:r>
              <a:rPr lang="en-US" sz="1200" dirty="0">
                <a:solidFill>
                  <a:srgbClr val="5B6577"/>
                </a:solidFill>
                <a:latin typeface="Public Sans" pitchFamily="34" charset="0"/>
                <a:ea typeface="Public Sans" pitchFamily="34" charset="-122"/>
                <a:cs typeface="Public Sans" pitchFamily="34" charset="-120"/>
              </a:rPr>
              <a:t>Apr</a:t>
            </a:r>
            <a:endParaRPr lang="en-US" sz="1200" dirty="0"/>
          </a:p>
        </p:txBody>
      </p:sp>
      <p:pic>
        <p:nvPicPr>
          <p:cNvPr id="107" name="Image 22" descr="diamond">    </p:cNvPr>
          <p:cNvPicPr>
            <a:picLocks noChangeAspect="1"/>
          </p:cNvPicPr>
          <p:nvPr/>
        </p:nvPicPr>
        <p:blipFill>
          <a:blip r:embed="rId23"/>
          <a:srcRect l="0" r="0" t="0" b="0"/>
          <a:stretch/>
        </p:blipFill>
        <p:spPr>
          <a:xfrm>
            <a:off x="10134600" y="5035550"/>
            <a:ext cx="177800" cy="177800"/>
          </a:xfrm>
          <a:prstGeom prst="rect">
            <a:avLst/>
          </a:prstGeom>
        </p:spPr>
      </p:pic>
      <p:sp>
        <p:nvSpPr>
          <p:cNvPr id="108" name="Text 83"/>
          <p:cNvSpPr/>
          <p:nvPr/>
        </p:nvSpPr>
        <p:spPr>
          <a:xfrm>
            <a:off x="9385300" y="5016500"/>
            <a:ext cx="685800" cy="241300"/>
          </a:xfrm>
          <a:prstGeom prst="rect">
            <a:avLst/>
          </a:prstGeom>
          <a:noFill/>
          <a:ln/>
        </p:spPr>
        <p:txBody>
          <a:bodyPr wrap="none" lIns="0" tIns="0" rIns="0" bIns="0" rtlCol="0" anchor="t">
            <a:normAutofit/>
          </a:bodyPr>
          <a:lstStyle/>
          <a:p>
            <a:pPr algn="r"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May</a:t>
            </a:r>
            <a:endParaRPr lang="en-US" sz="1200" dirty="0"/>
          </a:p>
        </p:txBody>
      </p:sp>
      <p:pic>
        <p:nvPicPr>
          <p:cNvPr id="109" name="Image 23" descr="diamond">    </p:cNvPr>
          <p:cNvPicPr>
            <a:picLocks noChangeAspect="1"/>
          </p:cNvPicPr>
          <p:nvPr/>
        </p:nvPicPr>
        <p:blipFill>
          <a:blip r:embed="rId24"/>
          <a:srcRect l="0" r="0" t="0" b="0"/>
          <a:stretch/>
        </p:blipFill>
        <p:spPr>
          <a:xfrm>
            <a:off x="10680700" y="5251450"/>
            <a:ext cx="177800" cy="177800"/>
          </a:xfrm>
          <a:prstGeom prst="rect">
            <a:avLst/>
          </a:prstGeom>
        </p:spPr>
      </p:pic>
      <p:sp>
        <p:nvSpPr>
          <p:cNvPr id="110" name="Text 84"/>
          <p:cNvSpPr/>
          <p:nvPr/>
        </p:nvSpPr>
        <p:spPr>
          <a:xfrm>
            <a:off x="9931400" y="5232400"/>
            <a:ext cx="685800" cy="241300"/>
          </a:xfrm>
          <a:prstGeom prst="rect">
            <a:avLst/>
          </a:prstGeom>
          <a:noFill/>
          <a:ln/>
        </p:spPr>
        <p:txBody>
          <a:bodyPr wrap="none" lIns="0" tIns="0" rIns="0" bIns="0" rtlCol="0" anchor="t">
            <a:normAutofit/>
          </a:bodyPr>
          <a:lstStyle/>
          <a:p>
            <a:pPr algn="r"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Jun</a:t>
            </a:r>
            <a:endParaRPr lang="en-US" sz="1200" dirty="0"/>
          </a:p>
        </p:txBody>
      </p:sp>
      <p:pic>
        <p:nvPicPr>
          <p:cNvPr id="111" name="Image 24" descr="ellipse">    </p:cNvPr>
          <p:cNvPicPr>
            <a:picLocks noChangeAspect="1"/>
          </p:cNvPicPr>
          <p:nvPr/>
        </p:nvPicPr>
        <p:blipFill>
          <a:blip r:embed="rId25"/>
          <a:srcRect l="0" r="0" t="0" b="0"/>
          <a:stretch/>
        </p:blipFill>
        <p:spPr>
          <a:xfrm>
            <a:off x="4673600" y="5492750"/>
            <a:ext cx="127000" cy="127000"/>
          </a:xfrm>
          <a:prstGeom prst="rect">
            <a:avLst/>
          </a:prstGeom>
        </p:spPr>
      </p:pic>
      <p:sp>
        <p:nvSpPr>
          <p:cNvPr id="112" name="Text 85"/>
          <p:cNvSpPr/>
          <p:nvPr/>
        </p:nvSpPr>
        <p:spPr>
          <a:xfrm>
            <a:off x="4876800" y="5448300"/>
            <a:ext cx="1320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Pre-release</a:t>
            </a:r>
            <a:endParaRPr lang="en-US" sz="1200" dirty="0"/>
          </a:p>
        </p:txBody>
      </p:sp>
      <p:pic>
        <p:nvPicPr>
          <p:cNvPr id="113" name="Image 25" descr="ellipse">    </p:cNvPr>
          <p:cNvPicPr>
            <a:picLocks noChangeAspect="1"/>
          </p:cNvPicPr>
          <p:nvPr/>
        </p:nvPicPr>
        <p:blipFill>
          <a:blip r:embed="rId26"/>
          <a:srcRect l="0" r="0" t="0" b="0"/>
          <a:stretch/>
        </p:blipFill>
        <p:spPr>
          <a:xfrm>
            <a:off x="7962900" y="5492750"/>
            <a:ext cx="127000" cy="127000"/>
          </a:xfrm>
          <a:prstGeom prst="rect">
            <a:avLst/>
          </a:prstGeom>
        </p:spPr>
      </p:pic>
      <p:sp>
        <p:nvSpPr>
          <p:cNvPr id="114" name="Text 86"/>
          <p:cNvSpPr/>
          <p:nvPr/>
        </p:nvSpPr>
        <p:spPr>
          <a:xfrm>
            <a:off x="8166100" y="5448300"/>
            <a:ext cx="685800" cy="241300"/>
          </a:xfrm>
          <a:prstGeom prst="rect">
            <a:avLst/>
          </a:prstGeom>
          <a:noFill/>
          <a:ln/>
        </p:spPr>
        <p:txBody>
          <a:bodyPr wrap="none" lIns="0" tIns="0" rIns="0" bIns="0" rtlCol="0" anchor="t">
            <a:normAutofit/>
          </a:bodyPr>
          <a:lstStyle/>
          <a:p>
            <a:pPr algn="l"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Release</a:t>
            </a:r>
            <a:endParaRPr lang="en-US" sz="1200" dirty="0"/>
          </a:p>
        </p:txBody>
      </p:sp>
      <p:pic>
        <p:nvPicPr>
          <p:cNvPr id="115" name="Image 26" descr="ellipse">    </p:cNvPr>
          <p:cNvPicPr>
            <a:picLocks noChangeAspect="1"/>
          </p:cNvPicPr>
          <p:nvPr/>
        </p:nvPicPr>
        <p:blipFill>
          <a:blip r:embed="rId27"/>
          <a:srcRect l="0" r="0" t="0" b="0"/>
          <a:stretch/>
        </p:blipFill>
        <p:spPr>
          <a:xfrm>
            <a:off x="10706100" y="5492750"/>
            <a:ext cx="127000" cy="127000"/>
          </a:xfrm>
          <a:prstGeom prst="rect">
            <a:avLst/>
          </a:prstGeom>
        </p:spPr>
      </p:pic>
      <p:sp>
        <p:nvSpPr>
          <p:cNvPr id="116" name="Text 87"/>
          <p:cNvSpPr/>
          <p:nvPr/>
        </p:nvSpPr>
        <p:spPr>
          <a:xfrm>
            <a:off x="9118600" y="5448300"/>
            <a:ext cx="1511300" cy="241300"/>
          </a:xfrm>
          <a:prstGeom prst="rect">
            <a:avLst/>
          </a:prstGeom>
          <a:noFill/>
          <a:ln/>
        </p:spPr>
        <p:txBody>
          <a:bodyPr wrap="none" lIns="0" tIns="0" rIns="0" bIns="0" rtlCol="0" anchor="t">
            <a:normAutofit/>
          </a:bodyPr>
          <a:lstStyle/>
          <a:p>
            <a:pPr algn="r" indent="0" marL="0">
              <a:lnSpc>
                <a:spcPts val="1704"/>
              </a:lnSpc>
              <a:buNone/>
            </a:pPr>
            <a:r>
              <a:rPr lang="en-US" sz="1200" dirty="0">
                <a:solidFill>
                  <a:srgbClr val="5B6577"/>
                </a:solidFill>
                <a:latin typeface="Public Sans" pitchFamily="34" charset="0"/>
                <a:ea typeface="Public Sans" pitchFamily="34" charset="-122"/>
                <a:cs typeface="Public Sans" pitchFamily="34" charset="-120"/>
              </a:rPr>
              <a:t>Closure + survey</a:t>
            </a:r>
            <a:endParaRPr lang="en-US" sz="1200" dirty="0"/>
          </a:p>
        </p:txBody>
      </p:sp>
      <p:sp>
        <p:nvSpPr>
          <p:cNvPr id="117" name="Text 8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Markers show completion dates only · MyAppConnect is out of scope</a:t>
            </a:r>
            <a:endParaRPr lang="en-US" sz="1200" dirty="0"/>
          </a:p>
        </p:txBody>
      </p:sp>
      <p:sp>
        <p:nvSpPr>
          <p:cNvPr id="118" name="Text 89"/>
          <p:cNvSpPr/>
          <p:nvPr/>
        </p:nvSpPr>
        <p:spPr>
          <a:xfrm>
            <a:off x="7716520" y="6238280"/>
            <a:ext cx="36626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Canary detail: next slide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3D08"/>
                </a:solidFill>
                <a:latin typeface="Public Sans" pitchFamily="34" charset="0"/>
                <a:ea typeface="Public Sans" pitchFamily="34" charset="-122"/>
                <a:cs typeface="Public Sans" pitchFamily="34" charset="-120"/>
              </a:rPr>
              <a:t>MYIAM ROADMAP · HOW GO-LIVE HAPPENS</a:t>
            </a:r>
            <a:endParaRPr lang="en-US" sz="1200" dirty="0"/>
          </a:p>
        </p:txBody>
      </p:sp>
      <p:sp>
        <p:nvSpPr>
          <p:cNvPr id="3" name="Text 1"/>
          <p:cNvSpPr/>
          <p:nvPr>
            <p:ph type="title"/>
          </p:nvPr>
        </p:nvSpPr>
        <p:spPr>
          <a:xfrm>
            <a:off x="812800" y="975320"/>
            <a:ext cx="10883392" cy="375841"/>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00205B"/>
                </a:solidFill>
                <a:latin typeface="Public Sans" pitchFamily="34" charset="0"/>
                <a:ea typeface="Public Sans" pitchFamily="34" charset="-122"/>
                <a:cs typeface="Public Sans" pitchFamily="34" charset="-120"/>
              </a:rPr>
              <a:t>Go-Live is a gated canary, released module by module</a:t>
            </a:r>
            <a:endParaRPr lang="en-US" sz="2400" dirty="0"/>
          </a:p>
        </p:txBody>
      </p:sp>
      <p:sp>
        <p:nvSpPr>
          <p:cNvPr id="4" name="Text 2"/>
          <p:cNvSpPr/>
          <p:nvPr/>
        </p:nvSpPr>
        <p:spPr>
          <a:xfrm>
            <a:off x="812800" y="1528961"/>
            <a:ext cx="82355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3D08"/>
                </a:solidFill>
                <a:latin typeface="Public Sans" pitchFamily="34" charset="0"/>
                <a:ea typeface="Public Sans" pitchFamily="34" charset="-122"/>
                <a:cs typeface="Public Sans" pitchFamily="34" charset="-120"/>
              </a:rPr>
              <a:t>STAGES</a:t>
            </a:r>
            <a:endParaRPr lang="en-US" sz="1200" dirty="0"/>
          </a:p>
        </p:txBody>
      </p:sp>
      <p:sp>
        <p:nvSpPr>
          <p:cNvPr id="5" name="Text 3"/>
          <p:cNvSpPr/>
          <p:nvPr/>
        </p:nvSpPr>
        <p:spPr>
          <a:xfrm>
            <a:off x="6281658" y="1528961"/>
            <a:ext cx="509754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Every step needs a clean time window and a manual sign-off</a:t>
            </a:r>
            <a:endParaRPr lang="en-US" sz="1200" dirty="0"/>
          </a:p>
        </p:txBody>
      </p:sp>
      <p:sp>
        <p:nvSpPr>
          <p:cNvPr id="6" name="Shape 4"/>
          <p:cNvSpPr/>
          <p:nvPr/>
        </p:nvSpPr>
        <p:spPr>
          <a:xfrm>
            <a:off x="815975" y="1834356"/>
            <a:ext cx="2371725" cy="1062831"/>
          </a:xfrm>
          <a:prstGeom prst="roundRect">
            <a:avLst>
              <a:gd name="adj" fmla="val 9261"/>
            </a:avLst>
          </a:prstGeom>
          <a:solidFill>
            <a:srgbClr val="FDFDFE"/>
          </a:solidFill>
          <a:ln w="6350">
            <a:solidFill>
              <a:srgbClr val="D5DBE5"/>
            </a:solidFill>
            <a:prstDash val="solid"/>
          </a:ln>
        </p:spPr>
      </p:sp>
      <p:sp>
        <p:nvSpPr>
          <p:cNvPr id="7" name="Text 5"/>
          <p:cNvSpPr/>
          <p:nvPr/>
        </p:nvSpPr>
        <p:spPr>
          <a:xfrm>
            <a:off x="996950" y="1989931"/>
            <a:ext cx="20700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05B"/>
                </a:solidFill>
                <a:latin typeface="Public Sans" pitchFamily="34" charset="0"/>
                <a:ea typeface="Public Sans" pitchFamily="34" charset="-122"/>
                <a:cs typeface="Public Sans" pitchFamily="34" charset="-120"/>
              </a:rPr>
              <a:t>UAT</a:t>
            </a:r>
            <a:endParaRPr lang="en-US" sz="1800" dirty="0"/>
          </a:p>
        </p:txBody>
      </p:sp>
      <p:sp>
        <p:nvSpPr>
          <p:cNvPr id="8" name="Text 6"/>
          <p:cNvSpPr/>
          <p:nvPr/>
        </p:nvSpPr>
        <p:spPr>
          <a:xfrm>
            <a:off x="996950" y="2314972"/>
            <a:ext cx="20700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Formal testing and business sign-off</a:t>
            </a:r>
            <a:endParaRPr lang="en-US" sz="1200" dirty="0"/>
          </a:p>
        </p:txBody>
      </p:sp>
      <p:pic>
        <p:nvPicPr>
          <p:cNvPr id="9" name="Image 0" descr="arrow-right">    </p:cNvPr>
          <p:cNvPicPr>
            <a:picLocks noChangeAspect="1"/>
          </p:cNvPicPr>
          <p:nvPr/>
        </p:nvPicPr>
        <p:blipFill>
          <a:blip r:embed="rId1"/>
          <a:srcRect l="0" r="0" t="0" b="0"/>
          <a:stretch/>
        </p:blipFill>
        <p:spPr>
          <a:xfrm>
            <a:off x="3267075" y="2289572"/>
            <a:ext cx="203200" cy="152400"/>
          </a:xfrm>
          <a:prstGeom prst="rect">
            <a:avLst/>
          </a:prstGeom>
        </p:spPr>
      </p:pic>
      <p:sp>
        <p:nvSpPr>
          <p:cNvPr id="10" name="Shape 7"/>
          <p:cNvSpPr/>
          <p:nvPr/>
        </p:nvSpPr>
        <p:spPr>
          <a:xfrm>
            <a:off x="3549650" y="1834356"/>
            <a:ext cx="2371725" cy="1062831"/>
          </a:xfrm>
          <a:prstGeom prst="roundRect">
            <a:avLst>
              <a:gd name="adj" fmla="val 9261"/>
            </a:avLst>
          </a:prstGeom>
          <a:solidFill>
            <a:srgbClr val="FDFDFE"/>
          </a:solidFill>
          <a:ln w="6350">
            <a:solidFill>
              <a:srgbClr val="D5DBE5"/>
            </a:solidFill>
            <a:prstDash val="solid"/>
          </a:ln>
        </p:spPr>
      </p:sp>
      <p:sp>
        <p:nvSpPr>
          <p:cNvPr id="11" name="Text 8"/>
          <p:cNvSpPr/>
          <p:nvPr/>
        </p:nvSpPr>
        <p:spPr>
          <a:xfrm>
            <a:off x="3730625" y="1989931"/>
            <a:ext cx="20700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05B"/>
                </a:solidFill>
                <a:latin typeface="Public Sans" pitchFamily="34" charset="0"/>
                <a:ea typeface="Public Sans" pitchFamily="34" charset="-122"/>
                <a:cs typeface="Public Sans" pitchFamily="34" charset="-120"/>
              </a:rPr>
              <a:t>Internal · 1%</a:t>
            </a:r>
            <a:endParaRPr lang="en-US" sz="1800" dirty="0"/>
          </a:p>
        </p:txBody>
      </p:sp>
      <p:sp>
        <p:nvSpPr>
          <p:cNvPr id="12" name="Text 9"/>
          <p:cNvSpPr/>
          <p:nvPr/>
        </p:nvSpPr>
        <p:spPr>
          <a:xfrm>
            <a:off x="3730625" y="2314972"/>
            <a:ext cx="20700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Beta-internal cohort</a:t>
            </a:r>
            <a:endParaRPr lang="en-US" sz="1200" dirty="0"/>
          </a:p>
        </p:txBody>
      </p:sp>
      <p:pic>
        <p:nvPicPr>
          <p:cNvPr id="13" name="Image 1" descr="arrow-right">    </p:cNvPr>
          <p:cNvPicPr>
            <a:picLocks noChangeAspect="1"/>
          </p:cNvPicPr>
          <p:nvPr/>
        </p:nvPicPr>
        <p:blipFill>
          <a:blip r:embed="rId2"/>
          <a:srcRect l="0" r="0" t="0" b="0"/>
          <a:stretch/>
        </p:blipFill>
        <p:spPr>
          <a:xfrm>
            <a:off x="6000750" y="2289572"/>
            <a:ext cx="203200" cy="152400"/>
          </a:xfrm>
          <a:prstGeom prst="rect">
            <a:avLst/>
          </a:prstGeom>
        </p:spPr>
      </p:pic>
      <p:sp>
        <p:nvSpPr>
          <p:cNvPr id="14" name="Shape 10"/>
          <p:cNvSpPr/>
          <p:nvPr/>
        </p:nvSpPr>
        <p:spPr>
          <a:xfrm>
            <a:off x="6283325" y="1834356"/>
            <a:ext cx="2371725" cy="1062831"/>
          </a:xfrm>
          <a:prstGeom prst="roundRect">
            <a:avLst>
              <a:gd name="adj" fmla="val 9261"/>
            </a:avLst>
          </a:prstGeom>
          <a:solidFill>
            <a:srgbClr val="FDFDFE"/>
          </a:solidFill>
          <a:ln w="6350">
            <a:solidFill>
              <a:srgbClr val="D5DBE5"/>
            </a:solidFill>
            <a:prstDash val="solid"/>
          </a:ln>
        </p:spPr>
      </p:sp>
      <p:sp>
        <p:nvSpPr>
          <p:cNvPr id="15" name="Text 11"/>
          <p:cNvSpPr/>
          <p:nvPr/>
        </p:nvSpPr>
        <p:spPr>
          <a:xfrm>
            <a:off x="6464300" y="1989931"/>
            <a:ext cx="20700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205B"/>
                </a:solidFill>
                <a:latin typeface="Public Sans" pitchFamily="34" charset="0"/>
                <a:ea typeface="Public Sans" pitchFamily="34" charset="-122"/>
                <a:cs typeface="Public Sans" pitchFamily="34" charset="-120"/>
              </a:rPr>
              <a:t>Pilot · 10%</a:t>
            </a:r>
            <a:endParaRPr lang="en-US" sz="1800" dirty="0"/>
          </a:p>
        </p:txBody>
      </p:sp>
      <p:sp>
        <p:nvSpPr>
          <p:cNvPr id="16" name="Text 12"/>
          <p:cNvSpPr/>
          <p:nvPr/>
        </p:nvSpPr>
        <p:spPr>
          <a:xfrm>
            <a:off x="6464300" y="2314972"/>
            <a:ext cx="20700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Beta-pilot cohort</a:t>
            </a:r>
            <a:endParaRPr lang="en-US" sz="1200" dirty="0"/>
          </a:p>
        </p:txBody>
      </p:sp>
      <p:pic>
        <p:nvPicPr>
          <p:cNvPr id="17" name="Image 2" descr="arrow-right">    </p:cNvPr>
          <p:cNvPicPr>
            <a:picLocks noChangeAspect="1"/>
          </p:cNvPicPr>
          <p:nvPr/>
        </p:nvPicPr>
        <p:blipFill>
          <a:blip r:embed="rId3"/>
          <a:srcRect l="0" r="0" t="0" b="0"/>
          <a:stretch/>
        </p:blipFill>
        <p:spPr>
          <a:xfrm>
            <a:off x="8734425" y="2289572"/>
            <a:ext cx="203200" cy="152400"/>
          </a:xfrm>
          <a:prstGeom prst="rect">
            <a:avLst/>
          </a:prstGeom>
        </p:spPr>
      </p:pic>
      <p:sp>
        <p:nvSpPr>
          <p:cNvPr id="18" name="Shape 13"/>
          <p:cNvSpPr/>
          <p:nvPr/>
        </p:nvSpPr>
        <p:spPr>
          <a:xfrm>
            <a:off x="9013825" y="1831181"/>
            <a:ext cx="2365375" cy="1069181"/>
          </a:xfrm>
          <a:prstGeom prst="roundRect">
            <a:avLst>
              <a:gd name="adj" fmla="val 9503"/>
            </a:avLst>
          </a:prstGeom>
          <a:solidFill>
            <a:srgbClr val="00205B"/>
          </a:solidFill>
          <a:ln/>
        </p:spPr>
      </p:sp>
      <p:sp>
        <p:nvSpPr>
          <p:cNvPr id="19" name="Text 14"/>
          <p:cNvSpPr/>
          <p:nvPr/>
        </p:nvSpPr>
        <p:spPr>
          <a:xfrm>
            <a:off x="9191625" y="1983581"/>
            <a:ext cx="20700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5F8"/>
                </a:solidFill>
                <a:latin typeface="Public Sans" pitchFamily="34" charset="0"/>
                <a:ea typeface="Public Sans" pitchFamily="34" charset="-122"/>
                <a:cs typeface="Public Sans" pitchFamily="34" charset="-120"/>
              </a:rPr>
              <a:t>Live</a:t>
            </a:r>
            <a:endParaRPr lang="en-US" sz="1800" dirty="0"/>
          </a:p>
        </p:txBody>
      </p:sp>
      <p:sp>
        <p:nvSpPr>
          <p:cNvPr id="20" name="Text 15"/>
          <p:cNvSpPr/>
          <p:nvPr/>
        </p:nvSpPr>
        <p:spPr>
          <a:xfrm>
            <a:off x="9191625" y="2308622"/>
            <a:ext cx="20700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7C"/>
                </a:solidFill>
                <a:latin typeface="Public Sans" pitchFamily="34" charset="0"/>
                <a:ea typeface="Public Sans" pitchFamily="34" charset="-122"/>
                <a:cs typeface="Public Sans" pitchFamily="34" charset="-120"/>
              </a:rPr>
              <a:t>Ramp to all users = Go-Live</a:t>
            </a:r>
            <a:endParaRPr lang="en-US" sz="1200" dirty="0"/>
          </a:p>
        </p:txBody>
      </p:sp>
      <p:sp>
        <p:nvSpPr>
          <p:cNvPr id="21" name="Text 16"/>
          <p:cNvSpPr/>
          <p:nvPr/>
        </p:nvSpPr>
        <p:spPr>
          <a:xfrm>
            <a:off x="812800" y="3103563"/>
            <a:ext cx="17197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3D08"/>
                </a:solidFill>
                <a:latin typeface="Public Sans" pitchFamily="34" charset="0"/>
                <a:ea typeface="Public Sans" pitchFamily="34" charset="-122"/>
                <a:cs typeface="Public Sans" pitchFamily="34" charset="-120"/>
              </a:rPr>
              <a:t>RELEASE ORDER</a:t>
            </a:r>
            <a:endParaRPr lang="en-US" sz="1200" dirty="0"/>
          </a:p>
        </p:txBody>
      </p:sp>
      <p:sp>
        <p:nvSpPr>
          <p:cNvPr id="22" name="Text 17"/>
          <p:cNvSpPr/>
          <p:nvPr/>
        </p:nvSpPr>
        <p:spPr>
          <a:xfrm>
            <a:off x="8800544" y="3103563"/>
            <a:ext cx="257865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MyAppConnect is out of scope</a:t>
            </a:r>
            <a:endParaRPr lang="en-US" sz="1200" dirty="0"/>
          </a:p>
        </p:txBody>
      </p:sp>
      <p:sp>
        <p:nvSpPr>
          <p:cNvPr id="23" name="Shape 18"/>
          <p:cNvSpPr/>
          <p:nvPr/>
        </p:nvSpPr>
        <p:spPr>
          <a:xfrm>
            <a:off x="815975" y="3408958"/>
            <a:ext cx="2025650" cy="463550"/>
          </a:xfrm>
          <a:prstGeom prst="roundRect">
            <a:avLst>
              <a:gd name="adj" fmla="val 15753"/>
            </a:avLst>
          </a:prstGeom>
          <a:solidFill>
            <a:srgbClr val="FDFDFE"/>
          </a:solidFill>
          <a:ln w="6350">
            <a:solidFill>
              <a:srgbClr val="D5DBE5"/>
            </a:solidFill>
            <a:prstDash val="solid"/>
          </a:ln>
        </p:spPr>
      </p:sp>
      <p:sp>
        <p:nvSpPr>
          <p:cNvPr id="24" name="Text 19"/>
          <p:cNvSpPr/>
          <p:nvPr/>
        </p:nvSpPr>
        <p:spPr>
          <a:xfrm>
            <a:off x="920750" y="351373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00205B"/>
          </a:solidFill>
          <a:ln/>
        </p:spPr>
        <p:txBody>
          <a:bodyPr wrap="square" lIns="0" tIns="0" rIns="0" bIns="0" rtlCol="0" anchor="ctr">
            <a:normAutofit/>
          </a:bodyPr>
          <a:lstStyle/>
          <a:p>
            <a:pPr algn="ctr" indent="0" marL="0">
              <a:lnSpc>
                <a:spcPts val="1680"/>
              </a:lnSpc>
              <a:buNone/>
            </a:pPr>
            <a:r>
              <a:rPr lang="en-US" sz="1200" b="1" dirty="0">
                <a:solidFill>
                  <a:srgbClr val="F8F9FB"/>
                </a:solidFill>
                <a:latin typeface="Public Sans" pitchFamily="34" charset="0"/>
                <a:ea typeface="Public Sans" pitchFamily="34" charset="-122"/>
                <a:cs typeface="Public Sans" pitchFamily="34" charset="-120"/>
              </a:rPr>
              <a:t>1</a:t>
            </a:r>
            <a:endParaRPr lang="en-US" sz="1200" dirty="0"/>
          </a:p>
        </p:txBody>
      </p:sp>
      <p:sp>
        <p:nvSpPr>
          <p:cNvPr id="25" name="Text 20"/>
          <p:cNvSpPr/>
          <p:nvPr/>
        </p:nvSpPr>
        <p:spPr>
          <a:xfrm>
            <a:off x="1263650" y="3525143"/>
            <a:ext cx="803970"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0205B"/>
                </a:solidFill>
                <a:latin typeface="Public Sans" pitchFamily="34" charset="0"/>
                <a:ea typeface="Public Sans" pitchFamily="34" charset="-122"/>
                <a:cs typeface="Public Sans" pitchFamily="34" charset="-120"/>
              </a:rPr>
              <a:t>Password</a:t>
            </a:r>
            <a:endParaRPr lang="en-US" sz="1300" dirty="0"/>
          </a:p>
        </p:txBody>
      </p:sp>
      <p:sp>
        <p:nvSpPr>
          <p:cNvPr id="26" name="Shape 21"/>
          <p:cNvSpPr/>
          <p:nvPr/>
        </p:nvSpPr>
        <p:spPr>
          <a:xfrm>
            <a:off x="2949575" y="3408958"/>
            <a:ext cx="2025650" cy="463550"/>
          </a:xfrm>
          <a:prstGeom prst="roundRect">
            <a:avLst>
              <a:gd name="adj" fmla="val 15753"/>
            </a:avLst>
          </a:prstGeom>
          <a:solidFill>
            <a:srgbClr val="FDFDFE"/>
          </a:solidFill>
          <a:ln w="6350">
            <a:solidFill>
              <a:srgbClr val="D5DBE5"/>
            </a:solidFill>
            <a:prstDash val="solid"/>
          </a:ln>
        </p:spPr>
      </p:sp>
      <p:sp>
        <p:nvSpPr>
          <p:cNvPr id="27" name="Text 22"/>
          <p:cNvSpPr/>
          <p:nvPr/>
        </p:nvSpPr>
        <p:spPr>
          <a:xfrm>
            <a:off x="3054350" y="351373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00205B"/>
          </a:solidFill>
          <a:ln/>
        </p:spPr>
        <p:txBody>
          <a:bodyPr wrap="square" lIns="0" tIns="0" rIns="0" bIns="0" rtlCol="0" anchor="ctr">
            <a:normAutofit/>
          </a:bodyPr>
          <a:lstStyle/>
          <a:p>
            <a:pPr algn="ctr" indent="0" marL="0">
              <a:lnSpc>
                <a:spcPts val="1680"/>
              </a:lnSpc>
              <a:buNone/>
            </a:pPr>
            <a:r>
              <a:rPr lang="en-US" sz="1200" b="1" dirty="0">
                <a:solidFill>
                  <a:srgbClr val="F8F9FB"/>
                </a:solidFill>
                <a:latin typeface="Public Sans" pitchFamily="34" charset="0"/>
                <a:ea typeface="Public Sans" pitchFamily="34" charset="-122"/>
                <a:cs typeface="Public Sans" pitchFamily="34" charset="-120"/>
              </a:rPr>
              <a:t>2</a:t>
            </a:r>
            <a:endParaRPr lang="en-US" sz="1200" dirty="0"/>
          </a:p>
        </p:txBody>
      </p:sp>
      <p:sp>
        <p:nvSpPr>
          <p:cNvPr id="28" name="Text 23"/>
          <p:cNvSpPr/>
          <p:nvPr/>
        </p:nvSpPr>
        <p:spPr>
          <a:xfrm>
            <a:off x="3397250" y="3525143"/>
            <a:ext cx="789682"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0205B"/>
                </a:solidFill>
                <a:latin typeface="Public Sans" pitchFamily="34" charset="0"/>
                <a:ea typeface="Public Sans" pitchFamily="34" charset="-122"/>
                <a:cs typeface="Public Sans" pitchFamily="34" charset="-120"/>
              </a:rPr>
              <a:t>Solutions</a:t>
            </a:r>
            <a:endParaRPr lang="en-US" sz="1300" dirty="0"/>
          </a:p>
        </p:txBody>
      </p:sp>
      <p:sp>
        <p:nvSpPr>
          <p:cNvPr id="29" name="Shape 24"/>
          <p:cNvSpPr/>
          <p:nvPr/>
        </p:nvSpPr>
        <p:spPr>
          <a:xfrm>
            <a:off x="5083175" y="3408958"/>
            <a:ext cx="2025650" cy="463550"/>
          </a:xfrm>
          <a:prstGeom prst="roundRect">
            <a:avLst>
              <a:gd name="adj" fmla="val 15753"/>
            </a:avLst>
          </a:prstGeom>
          <a:solidFill>
            <a:srgbClr val="FDFDFE"/>
          </a:solidFill>
          <a:ln w="6350">
            <a:solidFill>
              <a:srgbClr val="D5DBE5"/>
            </a:solidFill>
            <a:prstDash val="solid"/>
          </a:ln>
        </p:spPr>
      </p:sp>
      <p:sp>
        <p:nvSpPr>
          <p:cNvPr id="30" name="Text 25"/>
          <p:cNvSpPr/>
          <p:nvPr/>
        </p:nvSpPr>
        <p:spPr>
          <a:xfrm>
            <a:off x="5187950" y="351373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00205B"/>
          </a:solidFill>
          <a:ln/>
        </p:spPr>
        <p:txBody>
          <a:bodyPr wrap="square" lIns="0" tIns="0" rIns="0" bIns="0" rtlCol="0" anchor="ctr">
            <a:normAutofit/>
          </a:bodyPr>
          <a:lstStyle/>
          <a:p>
            <a:pPr algn="ctr" indent="0" marL="0">
              <a:lnSpc>
                <a:spcPts val="1680"/>
              </a:lnSpc>
              <a:buNone/>
            </a:pPr>
            <a:r>
              <a:rPr lang="en-US" sz="1200" b="1" dirty="0">
                <a:solidFill>
                  <a:srgbClr val="F8F9FB"/>
                </a:solidFill>
                <a:latin typeface="Public Sans" pitchFamily="34" charset="0"/>
                <a:ea typeface="Public Sans" pitchFamily="34" charset="-122"/>
                <a:cs typeface="Public Sans" pitchFamily="34" charset="-120"/>
              </a:rPr>
              <a:t>3</a:t>
            </a:r>
            <a:endParaRPr lang="en-US" sz="1200" dirty="0"/>
          </a:p>
        </p:txBody>
      </p:sp>
      <p:sp>
        <p:nvSpPr>
          <p:cNvPr id="31" name="Text 26"/>
          <p:cNvSpPr/>
          <p:nvPr/>
        </p:nvSpPr>
        <p:spPr>
          <a:xfrm>
            <a:off x="5530850" y="3525143"/>
            <a:ext cx="616148"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0205B"/>
                </a:solidFill>
                <a:latin typeface="Public Sans" pitchFamily="34" charset="0"/>
                <a:ea typeface="Public Sans" pitchFamily="34" charset="-122"/>
                <a:cs typeface="Public Sans" pitchFamily="34" charset="-120"/>
              </a:rPr>
              <a:t>Groups</a:t>
            </a:r>
            <a:endParaRPr lang="en-US" sz="1300" dirty="0"/>
          </a:p>
        </p:txBody>
      </p:sp>
      <p:sp>
        <p:nvSpPr>
          <p:cNvPr id="32" name="Shape 27"/>
          <p:cNvSpPr/>
          <p:nvPr/>
        </p:nvSpPr>
        <p:spPr>
          <a:xfrm>
            <a:off x="7216775" y="3408958"/>
            <a:ext cx="2025650" cy="463550"/>
          </a:xfrm>
          <a:prstGeom prst="roundRect">
            <a:avLst>
              <a:gd name="adj" fmla="val 15753"/>
            </a:avLst>
          </a:prstGeom>
          <a:solidFill>
            <a:srgbClr val="FDFDFE"/>
          </a:solidFill>
          <a:ln w="6350">
            <a:solidFill>
              <a:srgbClr val="D5DBE5"/>
            </a:solidFill>
            <a:prstDash val="solid"/>
          </a:ln>
        </p:spPr>
      </p:sp>
      <p:sp>
        <p:nvSpPr>
          <p:cNvPr id="33" name="Text 28"/>
          <p:cNvSpPr/>
          <p:nvPr/>
        </p:nvSpPr>
        <p:spPr>
          <a:xfrm>
            <a:off x="7321550" y="351373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00205B"/>
          </a:solidFill>
          <a:ln/>
        </p:spPr>
        <p:txBody>
          <a:bodyPr wrap="square" lIns="0" tIns="0" rIns="0" bIns="0" rtlCol="0" anchor="ctr">
            <a:normAutofit/>
          </a:bodyPr>
          <a:lstStyle/>
          <a:p>
            <a:pPr algn="ctr" indent="0" marL="0">
              <a:lnSpc>
                <a:spcPts val="1680"/>
              </a:lnSpc>
              <a:buNone/>
            </a:pPr>
            <a:r>
              <a:rPr lang="en-US" sz="1200" b="1" dirty="0">
                <a:solidFill>
                  <a:srgbClr val="F8F9FB"/>
                </a:solidFill>
                <a:latin typeface="Public Sans" pitchFamily="34" charset="0"/>
                <a:ea typeface="Public Sans" pitchFamily="34" charset="-122"/>
                <a:cs typeface="Public Sans" pitchFamily="34" charset="-120"/>
              </a:rPr>
              <a:t>4</a:t>
            </a:r>
            <a:endParaRPr lang="en-US" sz="1200" dirty="0"/>
          </a:p>
        </p:txBody>
      </p:sp>
      <p:sp>
        <p:nvSpPr>
          <p:cNvPr id="34" name="Text 29"/>
          <p:cNvSpPr/>
          <p:nvPr/>
        </p:nvSpPr>
        <p:spPr>
          <a:xfrm>
            <a:off x="7664450" y="3525143"/>
            <a:ext cx="783233"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0205B"/>
                </a:solidFill>
                <a:latin typeface="Public Sans" pitchFamily="34" charset="0"/>
                <a:ea typeface="Public Sans" pitchFamily="34" charset="-122"/>
                <a:cs typeface="Public Sans" pitchFamily="34" charset="-120"/>
              </a:rPr>
              <a:t>Accounts</a:t>
            </a:r>
            <a:endParaRPr lang="en-US" sz="1300" dirty="0"/>
          </a:p>
        </p:txBody>
      </p:sp>
      <p:sp>
        <p:nvSpPr>
          <p:cNvPr id="35" name="Shape 30"/>
          <p:cNvSpPr/>
          <p:nvPr/>
        </p:nvSpPr>
        <p:spPr>
          <a:xfrm>
            <a:off x="9350375" y="3408958"/>
            <a:ext cx="2025650" cy="463550"/>
          </a:xfrm>
          <a:prstGeom prst="roundRect">
            <a:avLst>
              <a:gd name="adj" fmla="val 15753"/>
            </a:avLst>
          </a:prstGeom>
          <a:solidFill>
            <a:srgbClr val="FDFDFE"/>
          </a:solidFill>
          <a:ln w="6350">
            <a:solidFill>
              <a:srgbClr val="D5DBE5"/>
            </a:solidFill>
            <a:prstDash val="solid"/>
          </a:ln>
        </p:spPr>
      </p:sp>
      <p:sp>
        <p:nvSpPr>
          <p:cNvPr id="36" name="Text 31"/>
          <p:cNvSpPr/>
          <p:nvPr/>
        </p:nvSpPr>
        <p:spPr>
          <a:xfrm>
            <a:off x="9455150" y="351373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00205B"/>
          </a:solidFill>
          <a:ln/>
        </p:spPr>
        <p:txBody>
          <a:bodyPr wrap="square" lIns="0" tIns="0" rIns="0" bIns="0" rtlCol="0" anchor="ctr">
            <a:normAutofit/>
          </a:bodyPr>
          <a:lstStyle/>
          <a:p>
            <a:pPr algn="ctr" indent="0" marL="0">
              <a:lnSpc>
                <a:spcPts val="1680"/>
              </a:lnSpc>
              <a:buNone/>
            </a:pPr>
            <a:r>
              <a:rPr lang="en-US" sz="1200" b="1" dirty="0">
                <a:solidFill>
                  <a:srgbClr val="F8F9FB"/>
                </a:solidFill>
                <a:latin typeface="Public Sans" pitchFamily="34" charset="0"/>
                <a:ea typeface="Public Sans" pitchFamily="34" charset="-122"/>
                <a:cs typeface="Public Sans" pitchFamily="34" charset="-120"/>
              </a:rPr>
              <a:t>5</a:t>
            </a:r>
            <a:endParaRPr lang="en-US" sz="1200" dirty="0"/>
          </a:p>
        </p:txBody>
      </p:sp>
      <p:sp>
        <p:nvSpPr>
          <p:cNvPr id="37" name="Text 32"/>
          <p:cNvSpPr/>
          <p:nvPr/>
        </p:nvSpPr>
        <p:spPr>
          <a:xfrm>
            <a:off x="9798050" y="3525143"/>
            <a:ext cx="1231602"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0205B"/>
                </a:solidFill>
                <a:latin typeface="Public Sans" pitchFamily="34" charset="0"/>
                <a:ea typeface="Public Sans" pitchFamily="34" charset="-122"/>
                <a:cs typeface="Public Sans" pitchFamily="34" charset="-120"/>
              </a:rPr>
              <a:t>Access Control</a:t>
            </a:r>
            <a:endParaRPr lang="en-US" sz="1300" dirty="0"/>
          </a:p>
        </p:txBody>
      </p:sp>
      <p:sp>
        <p:nvSpPr>
          <p:cNvPr id="38" name="Shape 33"/>
          <p:cNvSpPr/>
          <p:nvPr/>
        </p:nvSpPr>
        <p:spPr>
          <a:xfrm>
            <a:off x="815975" y="4082058"/>
            <a:ext cx="3414117" cy="1281212"/>
          </a:xfrm>
          <a:prstGeom prst="roundRect">
            <a:avLst>
              <a:gd name="adj" fmla="val 7682"/>
            </a:avLst>
          </a:prstGeom>
          <a:solidFill>
            <a:srgbClr val="FDFDFE"/>
          </a:solidFill>
          <a:ln w="6350">
            <a:solidFill>
              <a:srgbClr val="D5DBE5"/>
            </a:solidFill>
            <a:prstDash val="solid"/>
          </a:ln>
        </p:spPr>
      </p:sp>
      <p:sp>
        <p:nvSpPr>
          <p:cNvPr id="39" name="Shape 34"/>
          <p:cNvSpPr/>
          <p:nvPr/>
        </p:nvSpPr>
        <p:spPr>
          <a:xfrm>
            <a:off x="819150" y="4085233"/>
            <a:ext cx="50800" cy="1274862"/>
          </a:xfrm>
          <a:custGeom>
            <a:avLst/>
            <a:gdLst/>
            <a:ahLst/>
            <a:cxnLst/>
            <a:rect l="l" t="t" r="r" b="b"/>
            <a:pathLst>
              <a:path w="50800" h="1274862">
                <a:moveTo>
                  <a:pt x="0" y="95250"/>
                </a:moveTo>
                <a:arcTo hR="95250" wR="95250" stAng="10800000" swAng="3730912"/>
                <a:lnTo>
                  <a:pt x="50800" y="1263854"/>
                </a:lnTo>
                <a:arcTo hR="95250" wR="95250" stAng="7069088" swAng="3730912"/>
                <a:close/>
              </a:path>
            </a:pathLst>
          </a:custGeom>
          <a:solidFill>
            <a:srgbClr val="E45011"/>
          </a:solidFill>
          <a:ln/>
        </p:spPr>
      </p:sp>
      <p:sp>
        <p:nvSpPr>
          <p:cNvPr id="40" name="Text 35"/>
          <p:cNvSpPr/>
          <p:nvPr/>
        </p:nvSpPr>
        <p:spPr>
          <a:xfrm>
            <a:off x="1047750" y="4237633"/>
            <a:ext cx="30914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3D08"/>
                </a:solidFill>
                <a:latin typeface="Public Sans" pitchFamily="34" charset="0"/>
                <a:ea typeface="Public Sans" pitchFamily="34" charset="-122"/>
                <a:cs typeface="Public Sans" pitchFamily="34" charset="-120"/>
              </a:rPr>
              <a:t>PREREQUISITES</a:t>
            </a:r>
            <a:endParaRPr lang="en-US" sz="1200" dirty="0"/>
          </a:p>
        </p:txBody>
      </p:sp>
      <p:sp>
        <p:nvSpPr>
          <p:cNvPr id="41" name="Text 36"/>
          <p:cNvSpPr/>
          <p:nvPr/>
        </p:nvSpPr>
        <p:spPr>
          <a:xfrm>
            <a:off x="1047750" y="4514453"/>
            <a:ext cx="309140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44"/>
                </a:solidFill>
                <a:latin typeface="Public Sans" pitchFamily="34" charset="0"/>
                <a:ea typeface="Public Sans" pitchFamily="34" charset="-122"/>
                <a:cs typeface="Public Sans" pitchFamily="34" charset="-120"/>
              </a:rPr>
              <a:t>AD Write consolidation and AD → DB Data Sync must both complete before any module canary starts.</a:t>
            </a:r>
            <a:endParaRPr lang="en-US" sz="1300" dirty="0"/>
          </a:p>
        </p:txBody>
      </p:sp>
      <p:sp>
        <p:nvSpPr>
          <p:cNvPr id="42" name="Shape 37"/>
          <p:cNvSpPr/>
          <p:nvPr/>
        </p:nvSpPr>
        <p:spPr>
          <a:xfrm>
            <a:off x="4388842" y="4082058"/>
            <a:ext cx="3414216" cy="1281212"/>
          </a:xfrm>
          <a:prstGeom prst="roundRect">
            <a:avLst>
              <a:gd name="adj" fmla="val 7682"/>
            </a:avLst>
          </a:prstGeom>
          <a:solidFill>
            <a:srgbClr val="FDFDFE"/>
          </a:solidFill>
          <a:ln w="6350">
            <a:solidFill>
              <a:srgbClr val="D5DBE5"/>
            </a:solidFill>
            <a:prstDash val="solid"/>
          </a:ln>
        </p:spPr>
      </p:sp>
      <p:sp>
        <p:nvSpPr>
          <p:cNvPr id="43" name="Shape 38"/>
          <p:cNvSpPr/>
          <p:nvPr/>
        </p:nvSpPr>
        <p:spPr>
          <a:xfrm>
            <a:off x="4392017" y="4085233"/>
            <a:ext cx="50800" cy="1274862"/>
          </a:xfrm>
          <a:custGeom>
            <a:avLst/>
            <a:gdLst/>
            <a:ahLst/>
            <a:cxnLst/>
            <a:rect l="l" t="t" r="r" b="b"/>
            <a:pathLst>
              <a:path w="50800" h="1274862">
                <a:moveTo>
                  <a:pt x="0" y="95250"/>
                </a:moveTo>
                <a:arcTo hR="95250" wR="95250" stAng="10800000" swAng="3730912"/>
                <a:lnTo>
                  <a:pt x="50800" y="1263854"/>
                </a:lnTo>
                <a:arcTo hR="95250" wR="95250" stAng="7069088" swAng="3730912"/>
                <a:close/>
              </a:path>
            </a:pathLst>
          </a:custGeom>
          <a:solidFill>
            <a:srgbClr val="00205B"/>
          </a:solidFill>
          <a:ln/>
        </p:spPr>
      </p:sp>
      <p:sp>
        <p:nvSpPr>
          <p:cNvPr id="44" name="Text 39"/>
          <p:cNvSpPr/>
          <p:nvPr/>
        </p:nvSpPr>
        <p:spPr>
          <a:xfrm>
            <a:off x="4620617" y="4237633"/>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3D08"/>
                </a:solidFill>
                <a:latin typeface="Public Sans" pitchFamily="34" charset="0"/>
                <a:ea typeface="Public Sans" pitchFamily="34" charset="-122"/>
                <a:cs typeface="Public Sans" pitchFamily="34" charset="-120"/>
              </a:rPr>
              <a:t>ONE MODULE AT A TIME</a:t>
            </a:r>
            <a:endParaRPr lang="en-US" sz="1200" dirty="0"/>
          </a:p>
        </p:txBody>
      </p:sp>
      <p:sp>
        <p:nvSpPr>
          <p:cNvPr id="45" name="Text 40"/>
          <p:cNvSpPr/>
          <p:nvPr/>
        </p:nvSpPr>
        <p:spPr>
          <a:xfrm>
            <a:off x="4620617" y="4514453"/>
            <a:ext cx="309151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44"/>
                </a:solidFill>
                <a:latin typeface="Public Sans" pitchFamily="34" charset="0"/>
                <a:ea typeface="Public Sans" pitchFamily="34" charset="-122"/>
                <a:cs typeface="Public Sans" pitchFamily="34" charset="-120"/>
              </a:rPr>
              <a:t>Each module has its own cohort. The next module starts once the previous one clears its pilot gate.</a:t>
            </a:r>
            <a:endParaRPr lang="en-US" sz="1300" dirty="0"/>
          </a:p>
        </p:txBody>
      </p:sp>
      <p:sp>
        <p:nvSpPr>
          <p:cNvPr id="46" name="Shape 41"/>
          <p:cNvSpPr/>
          <p:nvPr/>
        </p:nvSpPr>
        <p:spPr>
          <a:xfrm>
            <a:off x="7961809" y="4082058"/>
            <a:ext cx="3414216" cy="1281212"/>
          </a:xfrm>
          <a:prstGeom prst="roundRect">
            <a:avLst>
              <a:gd name="adj" fmla="val 7682"/>
            </a:avLst>
          </a:prstGeom>
          <a:solidFill>
            <a:srgbClr val="FDFDFE"/>
          </a:solidFill>
          <a:ln w="6350">
            <a:solidFill>
              <a:srgbClr val="D5DBE5"/>
            </a:solidFill>
            <a:prstDash val="solid"/>
          </a:ln>
        </p:spPr>
      </p:sp>
      <p:sp>
        <p:nvSpPr>
          <p:cNvPr id="47" name="Shape 42"/>
          <p:cNvSpPr/>
          <p:nvPr/>
        </p:nvSpPr>
        <p:spPr>
          <a:xfrm>
            <a:off x="7964984" y="4085233"/>
            <a:ext cx="50800" cy="1274862"/>
          </a:xfrm>
          <a:custGeom>
            <a:avLst/>
            <a:gdLst/>
            <a:ahLst/>
            <a:cxnLst/>
            <a:rect l="l" t="t" r="r" b="b"/>
            <a:pathLst>
              <a:path w="50800" h="1274862">
                <a:moveTo>
                  <a:pt x="0" y="95250"/>
                </a:moveTo>
                <a:arcTo hR="95250" wR="95250" stAng="10800000" swAng="3730912"/>
                <a:lnTo>
                  <a:pt x="50800" y="1263854"/>
                </a:lnTo>
                <a:arcTo hR="95250" wR="95250" stAng="7069088" swAng="3730912"/>
                <a:close/>
              </a:path>
            </a:pathLst>
          </a:custGeom>
          <a:solidFill>
            <a:srgbClr val="00205B"/>
          </a:solidFill>
          <a:ln/>
        </p:spPr>
      </p:sp>
      <p:sp>
        <p:nvSpPr>
          <p:cNvPr id="48" name="Text 43"/>
          <p:cNvSpPr/>
          <p:nvPr/>
        </p:nvSpPr>
        <p:spPr>
          <a:xfrm>
            <a:off x="8193584" y="4237633"/>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3D08"/>
                </a:solidFill>
                <a:latin typeface="Public Sans" pitchFamily="34" charset="0"/>
                <a:ea typeface="Public Sans" pitchFamily="34" charset="-122"/>
                <a:cs typeface="Public Sans" pitchFamily="34" charset="-120"/>
              </a:rPr>
              <a:t>SAFETY NETS</a:t>
            </a:r>
            <a:endParaRPr lang="en-US" sz="1200" dirty="0"/>
          </a:p>
        </p:txBody>
      </p:sp>
      <p:sp>
        <p:nvSpPr>
          <p:cNvPr id="49" name="Text 44"/>
          <p:cNvSpPr/>
          <p:nvPr/>
        </p:nvSpPr>
        <p:spPr>
          <a:xfrm>
            <a:off x="8193584" y="4514453"/>
            <a:ext cx="309151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44"/>
                </a:solidFill>
                <a:latin typeface="Public Sans" pitchFamily="34" charset="0"/>
                <a:ea typeface="Public Sans" pitchFamily="34" charset="-122"/>
                <a:cs typeface="Public Sans" pitchFamily="34" charset="-120"/>
              </a:rPr>
              <a:t>Access Control needs at least 3 weeks from pilot to ramp. A failed pilot means fall back, replan, redeliver.</a:t>
            </a:r>
            <a:endParaRPr lang="en-US" sz="1300" dirty="0"/>
          </a:p>
        </p:txBody>
      </p:sp>
      <p:sp>
        <p:nvSpPr>
          <p:cNvPr id="50"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Module status: Not released → UAT → Internal → Pilot → Live</a:t>
            </a:r>
            <a:endParaRPr lang="en-US" sz="1200" dirty="0"/>
          </a:p>
        </p:txBody>
      </p:sp>
      <p:sp>
        <p:nvSpPr>
          <p:cNvPr id="51" name="Text 46"/>
          <p:cNvSpPr/>
          <p:nvPr/>
        </p:nvSpPr>
        <p:spPr>
          <a:xfrm>
            <a:off x="7716520" y="6238280"/>
            <a:ext cx="36626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Public Sans" pitchFamily="34" charset="0"/>
                <a:ea typeface="Public Sans" pitchFamily="34" charset="-122"/>
                <a:cs typeface="Public Sans" pitchFamily="34" charset="-120"/>
              </a:rPr>
              <a:t>Dates: previous slide</a:t>
            </a:r>
            <a:endParaRPr lang="en-US" sz="1200" dirty="0"/>
          </a:p>
        </p:txBody>
      </p:sp>
    </p:spTree>
  </p:cSld>
  <p:clrMapOvr>
    <a:masterClrMapping/>
  </p:clrMapOvr>
</p:sld>
</file>

<file path=ppt/theme/theme1.xml><?xml version="1.0" encoding="utf-8"?>
<a:theme xmlns:a="http://schemas.openxmlformats.org/drawingml/2006/main" name="MyIAM Roadmap">
  <a:themeElements>
    <a:clrScheme name="MyIAM Roadmap">
      <a:dk1>
        <a:srgbClr val="00205B"/>
      </a:dk1>
      <a:lt1>
        <a:srgbClr val="F3F5F8"/>
      </a:lt1>
      <a:dk2>
        <a:srgbClr val="3D5582"/>
      </a:dk2>
      <a:lt2>
        <a:srgbClr val="DBE0E8"/>
      </a:lt2>
      <a:accent1>
        <a:srgbClr val="B93D08"/>
      </a:accent1>
      <a:accent2>
        <a:srgbClr val="E45011"/>
      </a:accent2>
      <a:accent3>
        <a:srgbClr val="F5A57C"/>
      </a:accent3>
      <a:accent4>
        <a:srgbClr val="5B6577"/>
      </a:accent4>
      <a:accent5>
        <a:srgbClr val="1F2A44"/>
      </a:accent5>
      <a:accent6>
        <a:srgbClr val="C9D1DD"/>
      </a:accent6>
      <a:hlink>
        <a:srgbClr val="0563C1"/>
      </a:hlink>
      <a:folHlink>
        <a:srgbClr val="954F72"/>
      </a:folHlink>
    </a:clrScheme>
    <a:fontScheme name="MyIAM Roadmap">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MyIAM Roadmap</dc:title>
  <dc:subject/>
  <dc:creator/>
  <cp:lastModifiedBy/>
  <cp:revision>1</cp:revision>
  <dcterms:created xsi:type="dcterms:W3CDTF">2026-10-13T02:52:29Z</dcterms:created>
  <dcterms:modified xsi:type="dcterms:W3CDTF">2026-10-13T02:52:29Z</dcterms:modified>
</cp:coreProperties>
</file>