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(30 seconds):
We have 395,000 lines of code to migrate from .NET/Angular to Python/React.
Using Claude Sonnet's API on a pay-as-you-go basis — no seat licenses, no minimums.
The formula: 395K LOC × 15 tokens per line × 20 migration passes × 3× context overhead
gives us 355.5M input tokens. With 125% output ratio, total is ~800M tokens.
At Anthropic standard pricing ($3 input, $15 output), that's:
  Input cost:  $1,067
  Output cost: $6,665
  Total:       $7,732
Split across 6 developers: $1,289 each over 6 months, or $215 per developer per month.
IF ASKED why output costs more: Output tokens are 5× more expensive than input.
We generate more code than we read in — 125% ratio reflects test generation + docs.
IF ASKED about the context multiplier: Every API call includes related files, imports,
prior conversation, and build errors — not just the file being changed. 3× is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514350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77640"/>
            <a:ext cx="2331720" cy="116586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2011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· Pay-as-you-go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1810512"/>
            <a:ext cx="1920240" cy="20117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395,000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" y="2651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1168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" y="31089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" y="3566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Passes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seats · No minimums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146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FORMULA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14600" y="566928"/>
            <a:ext cx="3749040" cy="557784"/>
          </a:xfrm>
          <a:prstGeom prst="roundRect">
            <a:avLst>
              <a:gd name="adj" fmla="val 11475"/>
            </a:avLst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621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395,000  LOC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07408" y="6217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size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1188720"/>
            <a:ext cx="3749040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1243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07408" y="12435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/ LOC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243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5.925M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53070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14600" y="1810512"/>
            <a:ext cx="3749040" cy="557784"/>
          </a:xfrm>
          <a:prstGeom prst="roundRect">
            <a:avLst>
              <a:gd name="adj" fmla="val 11475"/>
            </a:avLst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865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07408" y="18653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passes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865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118.5M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15249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514600" y="2432304"/>
            <a:ext cx="3749040" cy="557784"/>
          </a:xfrm>
          <a:prstGeom prst="roundRect">
            <a:avLst>
              <a:gd name="adj" fmla="val 11475"/>
            </a:avLst>
          </a:prstGeom>
          <a:solidFill>
            <a:srgbClr val="1A3A6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3.0×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07408" y="2487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overhead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355.5M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77429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514600" y="3054096"/>
            <a:ext cx="3749040" cy="557784"/>
          </a:xfrm>
          <a:prstGeom prst="roundRect">
            <a:avLst>
              <a:gd name="adj" fmla="val 11475"/>
            </a:avLst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125%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07408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ratio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444.4M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39608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514600" y="3675888"/>
            <a:ext cx="3749040" cy="557784"/>
          </a:xfrm>
          <a:prstGeom prst="roundRect">
            <a:avLst>
              <a:gd name="adj" fmla="val 11475"/>
            </a:avLst>
          </a:prstGeom>
          <a:solidFill>
            <a:srgbClr val="00205B"/>
          </a:solidFill>
          <a:ln w="19050">
            <a:solidFill>
              <a:srgbClr val="E450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65176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355.5M + 444.4M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07408" y="37307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+ output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0" y="3730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799.9M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94960" y="401787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473952" y="2011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73952" y="566928"/>
            <a:ext cx="2487168" cy="1078992"/>
          </a:xfrm>
          <a:prstGeom prst="roundRect">
            <a:avLst>
              <a:gd name="adj" fmla="val 6780"/>
            </a:avLst>
          </a:prstGeom>
          <a:solidFill>
            <a:srgbClr val="EEF2FA"/>
          </a:solidFill>
          <a:ln w="9525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83680" y="62179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0" y="82296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355.5M tokens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1024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$3 / 1M tokens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12070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$1,067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473952" y="1755648"/>
            <a:ext cx="2487168" cy="1078992"/>
          </a:xfrm>
          <a:prstGeom prst="roundRect">
            <a:avLst>
              <a:gd name="adj" fmla="val 6780"/>
            </a:avLst>
          </a:prstGeom>
          <a:solidFill>
            <a:srgbClr val="EEF2FA"/>
          </a:solidFill>
          <a:ln w="9525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83680" y="181051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83680" y="201168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444.4M tokens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83680" y="2212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$15 / 1M tokens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83680" y="239572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$6,665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6473952" y="2944368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00205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583680" y="299923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PROJECT COST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0" y="320040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$7,732</a:t>
            </a:r>
            <a:endParaRPr lang="en-US" sz="3200" dirty="0"/>
          </a:p>
        </p:txBody>
      </p:sp>
      <p:sp>
        <p:nvSpPr>
          <p:cNvPr id="60" name="Shape 58"/>
          <p:cNvSpPr/>
          <p:nvPr/>
        </p:nvSpPr>
        <p:spPr>
          <a:xfrm>
            <a:off x="6473952" y="3968496"/>
            <a:ext cx="2487168" cy="969264"/>
          </a:xfrm>
          <a:prstGeom prst="roundRect">
            <a:avLst>
              <a:gd name="adj" fmla="val 7547"/>
            </a:avLst>
          </a:prstGeom>
          <a:solidFill>
            <a:srgbClr val="E4501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583680" y="402336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DEVELOPER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83680" y="4233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$1,289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583680" y="4553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717536" y="4078224"/>
            <a:ext cx="18288" cy="713232"/>
          </a:xfrm>
          <a:prstGeom prst="rect">
            <a:avLst/>
          </a:prstGeom>
          <a:solidFill>
            <a:srgbClr val="FDDECE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827264" y="4233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$215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827264" y="4553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800" dirty="0"/>
          </a:p>
        </p:txBody>
      </p:sp>
      <p:sp>
        <p:nvSpPr>
          <p:cNvPr id="67" name="TextBox 66"/>
          <p:cNvSpPr txBox="1"/>
          <p:nvPr/>
        </p:nvSpPr>
        <p:spPr>
          <a:xfrm>
            <a:off x="2514600" y="4828032"/>
            <a:ext cx="6446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E45011"/>
                </a:solidFill>
                <a:latin typeface="Arial"/>
              </a:rPr>
              <a:t>⚠  </a:t>
            </a:r>
            <a:r>
              <a:rPr sz="850" i="1">
                <a:solidFill>
                  <a:srgbClr val="64748B"/>
                </a:solidFill>
                <a:latin typeface="Arial"/>
              </a:rPr>
              <a:t>Estimate based on human-interactive mode only (developer-in-the-loop). </a:t>
            </a:r>
            <a:r>
              <a:rPr sz="850" i="1">
                <a:solidFill>
                  <a:srgbClr val="64748B"/>
                </a:solidFill>
                <a:latin typeface="Arial"/>
              </a:rPr>
              <a:t>Agentic / autonomous (no human interaction) usage will incur significantly higher token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2026-07-08T10:35:13Z</dcterms:created>
  <dcterms:modified xsi:type="dcterms:W3CDTF">2026-07-08T10:35:13Z</dcterms:modified>
</cp:coreProperties>
</file>