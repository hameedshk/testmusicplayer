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4098124d0bf_0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g4098124d0bf_0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" name="Google Shape;54;g4098124d0bf_0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409b03df839_0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g409b03df839_0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g409b03df839_0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4098253c30d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4098253c30d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4098124d0bf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g4098124d0bf_0_190:notes"/>
          <p:cNvSpPr/>
          <p:nvPr>
            <p:ph idx="2" type="sldImg"/>
          </p:nvPr>
        </p:nvSpPr>
        <p:spPr>
          <a:xfrm>
            <a:off x="1030721" y="685800"/>
            <a:ext cx="479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4098124d0bf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4098124d0bf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4098124d0bf_0_40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g4098124d0bf_0_40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0" name="Google Shape;350;g4098124d0bf_0_40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4098124d0bf_0_43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g4098124d0bf_0_43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2" name="Google Shape;382;g4098124d0bf_0_43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Relationship Id="rId7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05B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ky.png" id="56" name="Google Shape;5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4032504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/>
          <p:nvPr/>
        </p:nvSpPr>
        <p:spPr>
          <a:xfrm>
            <a:off x="0" y="4032504"/>
            <a:ext cx="9144000" cy="111120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377190" y="205740"/>
            <a:ext cx="54864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00205B"/>
                </a:solidFill>
                <a:latin typeface="Arial"/>
                <a:ea typeface="Arial"/>
                <a:cs typeface="Arial"/>
                <a:sym typeface="Arial"/>
              </a:rPr>
              <a:t>AIRBUS  ·  </a:t>
            </a:r>
            <a:r>
              <a:rPr b="1" lang="en" sz="800">
                <a:solidFill>
                  <a:srgbClr val="00205B"/>
                </a:solidFill>
              </a:rPr>
              <a:t>Converged IAM Programme</a:t>
            </a:r>
            <a:endParaRPr sz="1100"/>
          </a:p>
        </p:txBody>
      </p:sp>
      <p:sp>
        <p:nvSpPr>
          <p:cNvPr id="59" name="Google Shape;59;p14"/>
          <p:cNvSpPr txBox="1"/>
          <p:nvPr/>
        </p:nvSpPr>
        <p:spPr>
          <a:xfrm>
            <a:off x="6789420" y="82296"/>
            <a:ext cx="2126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7425" spcFirstLastPara="1" rIns="27425" wrap="square" tIns="13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E45011"/>
                </a:solidFill>
                <a:latin typeface="Arial"/>
                <a:ea typeface="Arial"/>
                <a:cs typeface="Arial"/>
                <a:sym typeface="Arial"/>
              </a:rPr>
              <a:t>Airbus Amber</a:t>
            </a:r>
            <a:endParaRPr sz="1100"/>
          </a:p>
        </p:txBody>
      </p:sp>
      <p:sp>
        <p:nvSpPr>
          <p:cNvPr id="60" name="Google Shape;60;p14"/>
          <p:cNvSpPr txBox="1"/>
          <p:nvPr/>
        </p:nvSpPr>
        <p:spPr>
          <a:xfrm>
            <a:off x="377190" y="2160270"/>
            <a:ext cx="6515100" cy="11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100" u="none" cap="none" strike="noStrike">
                <a:solidFill>
                  <a:srgbClr val="00205B"/>
                </a:solidFill>
                <a:latin typeface="Arial"/>
                <a:ea typeface="Arial"/>
                <a:cs typeface="Arial"/>
                <a:sym typeface="Arial"/>
              </a:rPr>
              <a:t>MyIAM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205B"/>
                </a:solidFill>
                <a:latin typeface="Arial"/>
                <a:ea typeface="Arial"/>
                <a:cs typeface="Arial"/>
                <a:sym typeface="Arial"/>
              </a:rPr>
              <a:t>One Self-Service Cockpit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44F92"/>
                </a:solidFill>
                <a:latin typeface="Arial"/>
                <a:ea typeface="Arial"/>
                <a:cs typeface="Arial"/>
                <a:sym typeface="Arial"/>
              </a:rPr>
              <a:t>Foundational Journey  ·  </a:t>
            </a:r>
            <a:r>
              <a:rPr lang="en" sz="1100">
                <a:solidFill>
                  <a:srgbClr val="244F92"/>
                </a:solidFill>
              </a:rPr>
              <a:t>May </a:t>
            </a:r>
            <a:r>
              <a:rPr b="0" i="0" lang="en" sz="1100" u="none" cap="none" strike="noStrike">
                <a:solidFill>
                  <a:srgbClr val="244F92"/>
                </a:solidFill>
                <a:latin typeface="Arial"/>
                <a:ea typeface="Arial"/>
                <a:cs typeface="Arial"/>
                <a:sym typeface="Arial"/>
              </a:rPr>
              <a:t>2026 – Apr 2028  ·  4 Phases</a:t>
            </a:r>
            <a:endParaRPr sz="1100"/>
          </a:p>
        </p:txBody>
      </p:sp>
      <p:sp>
        <p:nvSpPr>
          <p:cNvPr id="61" name="Google Shape;61;p14"/>
          <p:cNvSpPr txBox="1"/>
          <p:nvPr/>
        </p:nvSpPr>
        <p:spPr>
          <a:xfrm>
            <a:off x="377190" y="4238244"/>
            <a:ext cx="1891500" cy="4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4→1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B0BFD4"/>
                </a:solidFill>
                <a:latin typeface="Arial"/>
                <a:ea typeface="Arial"/>
                <a:cs typeface="Arial"/>
                <a:sym typeface="Arial"/>
              </a:rPr>
              <a:t>IAM self-service tools</a:t>
            </a:r>
            <a:endParaRPr sz="1100"/>
          </a:p>
        </p:txBody>
      </p:sp>
      <p:sp>
        <p:nvSpPr>
          <p:cNvPr id="62" name="Google Shape;62;p14"/>
          <p:cNvSpPr txBox="1"/>
          <p:nvPr/>
        </p:nvSpPr>
        <p:spPr>
          <a:xfrm>
            <a:off x="2474594" y="4238244"/>
            <a:ext cx="1891500" cy="4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 URL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B0BFD4"/>
                </a:solidFill>
                <a:latin typeface="Arial"/>
                <a:ea typeface="Arial"/>
                <a:cs typeface="Arial"/>
                <a:sym typeface="Arial"/>
              </a:rPr>
              <a:t>One experience · ~100k users</a:t>
            </a:r>
            <a:endParaRPr sz="1100"/>
          </a:p>
        </p:txBody>
      </p:sp>
      <p:sp>
        <p:nvSpPr>
          <p:cNvPr id="63" name="Google Shape;63;p14"/>
          <p:cNvSpPr txBox="1"/>
          <p:nvPr/>
        </p:nvSpPr>
        <p:spPr>
          <a:xfrm>
            <a:off x="4571999" y="4238244"/>
            <a:ext cx="1891500" cy="4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B0BFD4"/>
                </a:solidFill>
                <a:latin typeface="Arial"/>
                <a:ea typeface="Arial"/>
                <a:cs typeface="Arial"/>
                <a:sym typeface="Arial"/>
              </a:rPr>
              <a:t>Modernized</a:t>
            </a:r>
            <a:endParaRPr sz="1100"/>
          </a:p>
        </p:txBody>
      </p:sp>
      <p:sp>
        <p:nvSpPr>
          <p:cNvPr id="64" name="Google Shape;64;p14"/>
          <p:cNvSpPr txBox="1"/>
          <p:nvPr/>
        </p:nvSpPr>
        <p:spPr>
          <a:xfrm>
            <a:off x="6669404" y="4238244"/>
            <a:ext cx="1891500" cy="4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 Apps</a:t>
            </a:r>
            <a:endParaRPr sz="1100"/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B0BFD4"/>
                </a:solidFill>
                <a:latin typeface="Arial"/>
                <a:ea typeface="Arial"/>
                <a:cs typeface="Arial"/>
                <a:sym typeface="Arial"/>
              </a:rPr>
              <a:t>Legacy MyX apps retired</a:t>
            </a:r>
            <a:endParaRPr sz="1100"/>
          </a:p>
        </p:txBody>
      </p:sp>
      <p:pic>
        <p:nvPicPr>
          <p:cNvPr descr="logo_white.png" id="65" name="Google Shape;6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15299" y="4855464"/>
            <a:ext cx="809244" cy="1513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" name="Google Shape;66;p14"/>
          <p:cNvGrpSpPr/>
          <p:nvPr/>
        </p:nvGrpSpPr>
        <p:grpSpPr>
          <a:xfrm>
            <a:off x="8193181" y="238125"/>
            <a:ext cx="666900" cy="209700"/>
            <a:chOff x="0" y="0"/>
            <a:chExt cx="666900" cy="209700"/>
          </a:xfrm>
        </p:grpSpPr>
        <p:sp>
          <p:nvSpPr>
            <p:cNvPr id="67" name="Google Shape;67;p14"/>
            <p:cNvSpPr/>
            <p:nvPr/>
          </p:nvSpPr>
          <p:spPr>
            <a:xfrm>
              <a:off x="0" y="0"/>
              <a:ext cx="666900" cy="209700"/>
            </a:xfrm>
            <a:prstGeom prst="roundRect">
              <a:avLst>
                <a:gd fmla="val 18181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4"/>
            <p:cNvSpPr txBox="1"/>
            <p:nvPr/>
          </p:nvSpPr>
          <p:spPr>
            <a:xfrm>
              <a:off x="0" y="0"/>
              <a:ext cx="6669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DRAFT</a:t>
              </a:r>
              <a:endPara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7086599" y="0"/>
            <a:ext cx="2057400" cy="514350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7306055" y="582930"/>
            <a:ext cx="1728300" cy="11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Strategic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Phase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endParaRPr sz="1100"/>
          </a:p>
        </p:txBody>
      </p:sp>
      <p:sp>
        <p:nvSpPr>
          <p:cNvPr id="76" name="Google Shape;76;p15"/>
          <p:cNvSpPr/>
          <p:nvPr/>
        </p:nvSpPr>
        <p:spPr>
          <a:xfrm>
            <a:off x="7319771" y="1831086"/>
            <a:ext cx="960000" cy="2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7306055" y="1968246"/>
            <a:ext cx="16803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C8D2E2"/>
                </a:solidFill>
                <a:latin typeface="Arial"/>
                <a:ea typeface="Arial"/>
                <a:cs typeface="Arial"/>
                <a:sym typeface="Arial"/>
              </a:rPr>
              <a:t>MyIAM Foundational Journey</a:t>
            </a:r>
            <a:endParaRPr b="0" i="0" sz="900" u="none" cap="none" strike="noStrike">
              <a:solidFill>
                <a:srgbClr val="C8D2E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C8D2E2"/>
                </a:solidFill>
                <a:latin typeface="Arial"/>
                <a:ea typeface="Arial"/>
                <a:cs typeface="Arial"/>
                <a:sym typeface="Arial"/>
              </a:rPr>
              <a:t> · May 2026 → Apr 2028</a:t>
            </a:r>
            <a:endParaRPr sz="1100"/>
          </a:p>
        </p:txBody>
      </p:sp>
      <p:sp>
        <p:nvSpPr>
          <p:cNvPr id="78" name="Google Shape;78;p15"/>
          <p:cNvSpPr/>
          <p:nvPr/>
        </p:nvSpPr>
        <p:spPr>
          <a:xfrm>
            <a:off x="377190" y="208931"/>
            <a:ext cx="1473300" cy="3806100"/>
          </a:xfrm>
          <a:prstGeom prst="roundRect">
            <a:avLst>
              <a:gd fmla="val 3500" name="adj"/>
            </a:avLst>
          </a:prstGeom>
          <a:solidFill>
            <a:srgbClr val="E0F2FE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 txBox="1"/>
          <p:nvPr/>
        </p:nvSpPr>
        <p:spPr>
          <a:xfrm>
            <a:off x="486918" y="465416"/>
            <a:ext cx="1267800" cy="373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" lIns="28575" spcFirstLastPara="1" rIns="28575" wrap="square" tIns="95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1" sz="2300">
              <a:solidFill>
                <a:srgbClr val="0284C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486918" y="988971"/>
            <a:ext cx="1267800" cy="12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" lIns="28575" spcFirstLastPara="1" rIns="28575" wrap="square" tIns="95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0369A1"/>
                </a:solidFill>
                <a:latin typeface="Arial"/>
                <a:ea typeface="Arial"/>
                <a:cs typeface="Arial"/>
                <a:sym typeface="Arial"/>
              </a:rPr>
              <a:t>PHASE 1 · UI Consolidation</a:t>
            </a:r>
            <a:endParaRPr b="1" sz="700">
              <a:solidFill>
                <a:srgbClr val="0369A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486918" y="1277031"/>
            <a:ext cx="12678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0205B"/>
                </a:solidFill>
                <a:latin typeface="Arial"/>
                <a:ea typeface="Arial"/>
                <a:cs typeface="Arial"/>
                <a:sym typeface="Arial"/>
              </a:rPr>
              <a:t>Unified Cockpit Live · Mar 2027</a:t>
            </a:r>
            <a:endParaRPr sz="1000"/>
          </a:p>
        </p:txBody>
      </p:sp>
      <p:sp>
        <p:nvSpPr>
          <p:cNvPr id="82" name="Google Shape;82;p15"/>
          <p:cNvSpPr txBox="1"/>
          <p:nvPr/>
        </p:nvSpPr>
        <p:spPr>
          <a:xfrm>
            <a:off x="486918" y="1695216"/>
            <a:ext cx="1267800" cy="7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rPr>
              <a:t>• Release 1: MyAccess UI convergence (technical merge)</a:t>
            </a:r>
            <a:endParaRPr sz="1100"/>
          </a:p>
          <a:p>
            <a:pPr indent="0" lvl="0" marL="0" marR="0" rtl="0"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rPr>
              <a:t>• Release 2: MFE Shell </a:t>
            </a:r>
            <a:r>
              <a:rPr lang="en" sz="800">
                <a:solidFill>
                  <a:srgbClr val="1A2A4A"/>
                </a:solidFill>
              </a:rPr>
              <a:t>- </a:t>
            </a:r>
            <a:r>
              <a:rPr b="0" i="0" lang="en" sz="800" u="none" cap="none" strike="noStrike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rPr>
              <a:t>refined UX · Apr 2028</a:t>
            </a:r>
            <a:endParaRPr sz="1100"/>
          </a:p>
        </p:txBody>
      </p:sp>
      <p:sp>
        <p:nvSpPr>
          <p:cNvPr id="83" name="Google Shape;83;p15"/>
          <p:cNvSpPr txBox="1"/>
          <p:nvPr/>
        </p:nvSpPr>
        <p:spPr>
          <a:xfrm>
            <a:off x="486918" y="2618829"/>
            <a:ext cx="12678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607080"/>
                </a:solidFill>
                <a:latin typeface="Arial"/>
                <a:ea typeface="Arial"/>
                <a:cs typeface="Arial"/>
                <a:sym typeface="Arial"/>
              </a:rPr>
              <a:t>PROGRAMME DELIVERS</a:t>
            </a:r>
            <a:endParaRPr sz="1100"/>
          </a:p>
        </p:txBody>
      </p:sp>
      <p:sp>
        <p:nvSpPr>
          <p:cNvPr id="84" name="Google Shape;84;p15"/>
          <p:cNvSpPr txBox="1"/>
          <p:nvPr/>
        </p:nvSpPr>
        <p:spPr>
          <a:xfrm>
            <a:off x="486918" y="2790279"/>
            <a:ext cx="1267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rPr>
              <a:t>MFE Shell · Kendo Framework · 4 MFE modules · legacy UIs retired</a:t>
            </a:r>
            <a:endParaRPr sz="1100"/>
          </a:p>
        </p:txBody>
      </p:sp>
      <p:sp>
        <p:nvSpPr>
          <p:cNvPr id="85" name="Google Shape;85;p15"/>
          <p:cNvSpPr/>
          <p:nvPr/>
        </p:nvSpPr>
        <p:spPr>
          <a:xfrm>
            <a:off x="377190" y="3480196"/>
            <a:ext cx="1473300" cy="534900"/>
          </a:xfrm>
          <a:prstGeom prst="roundRect">
            <a:avLst>
              <a:gd fmla="val 3500" name="adj"/>
            </a:avLst>
          </a:prstGeom>
          <a:solidFill>
            <a:srgbClr val="0085A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377190" y="3480196"/>
            <a:ext cx="1473300" cy="274200"/>
          </a:xfrm>
          <a:prstGeom prst="rect">
            <a:avLst/>
          </a:prstGeom>
          <a:solidFill>
            <a:srgbClr val="0085A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486918" y="3563536"/>
            <a:ext cx="12678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⬥ </a:t>
            </a:r>
            <a:r>
              <a:rPr b="1" lang="en" sz="700">
                <a:solidFill>
                  <a:srgbClr val="FFFFFF"/>
                </a:solidFill>
              </a:rPr>
              <a:t>D</a:t>
            </a: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 &amp; </a:t>
            </a:r>
            <a:r>
              <a:rPr b="1" lang="en" sz="700">
                <a:solidFill>
                  <a:srgbClr val="FFFFFF"/>
                </a:solidFill>
              </a:rPr>
              <a:t>D</a:t>
            </a: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 · Unified cockpit live · 1</a:t>
            </a:r>
            <a:r>
              <a:rPr b="1" lang="en" sz="700">
                <a:solidFill>
                  <a:srgbClr val="FFFFFF"/>
                </a:solidFill>
              </a:rPr>
              <a:t>0</a:t>
            </a: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0K+ users onboarded</a:t>
            </a:r>
            <a:endParaRPr sz="1100"/>
          </a:p>
        </p:txBody>
      </p:sp>
      <p:sp>
        <p:nvSpPr>
          <p:cNvPr id="88" name="Google Shape;88;p15"/>
          <p:cNvSpPr/>
          <p:nvPr/>
        </p:nvSpPr>
        <p:spPr>
          <a:xfrm>
            <a:off x="2042541" y="208931"/>
            <a:ext cx="1473300" cy="3806100"/>
          </a:xfrm>
          <a:prstGeom prst="roundRect">
            <a:avLst>
              <a:gd fmla="val 3500" name="adj"/>
            </a:avLst>
          </a:prstGeom>
          <a:solidFill>
            <a:srgbClr val="F1F5F9"/>
          </a:solidFill>
          <a:ln cap="flat" cmpd="sng" w="952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5"/>
          <p:cNvSpPr txBox="1"/>
          <p:nvPr/>
        </p:nvSpPr>
        <p:spPr>
          <a:xfrm>
            <a:off x="2152269" y="465416"/>
            <a:ext cx="1267800" cy="373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" lIns="28575" spcFirstLastPara="1" rIns="28575" wrap="square" tIns="95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1" sz="2300">
              <a:solidFill>
                <a:srgbClr val="0F76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2152269" y="1002954"/>
            <a:ext cx="1267800" cy="234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" lIns="28575" spcFirstLastPara="1" rIns="28575" wrap="square" tIns="95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PHASE 2 · Core Backend &amp; Integration</a:t>
            </a:r>
            <a:endParaRPr b="1" sz="700">
              <a:solidFill>
                <a:srgbClr val="0F76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2042541" y="3480197"/>
            <a:ext cx="1473300" cy="534900"/>
          </a:xfrm>
          <a:prstGeom prst="roundRect">
            <a:avLst>
              <a:gd fmla="val 3499" name="adj"/>
            </a:avLst>
          </a:prstGeom>
          <a:solidFill>
            <a:srgbClr val="0F766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2042541" y="3480197"/>
            <a:ext cx="1473300" cy="274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5"/>
          <p:cNvSpPr txBox="1"/>
          <p:nvPr/>
        </p:nvSpPr>
        <p:spPr>
          <a:xfrm>
            <a:off x="2152268" y="3570524"/>
            <a:ext cx="12678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⬥ </a:t>
            </a:r>
            <a:r>
              <a:rPr b="1" lang="en" sz="700">
                <a:solidFill>
                  <a:srgbClr val="FFFFFF"/>
                </a:solidFill>
              </a:rPr>
              <a:t>D</a:t>
            </a: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· Secure foundation live · faster sync &amp; write</a:t>
            </a:r>
            <a:endParaRPr sz="1100"/>
          </a:p>
        </p:txBody>
      </p:sp>
      <p:sp>
        <p:nvSpPr>
          <p:cNvPr id="94" name="Google Shape;94;p15"/>
          <p:cNvSpPr/>
          <p:nvPr/>
        </p:nvSpPr>
        <p:spPr>
          <a:xfrm>
            <a:off x="3707892" y="208931"/>
            <a:ext cx="1473300" cy="3806100"/>
          </a:xfrm>
          <a:prstGeom prst="roundRect">
            <a:avLst>
              <a:gd fmla="val 3500" name="adj"/>
            </a:avLst>
          </a:prstGeom>
          <a:solidFill>
            <a:srgbClr val="F1F5F9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5"/>
          <p:cNvSpPr txBox="1"/>
          <p:nvPr/>
        </p:nvSpPr>
        <p:spPr>
          <a:xfrm>
            <a:off x="3817620" y="458428"/>
            <a:ext cx="1267800" cy="373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" lIns="28575" spcFirstLastPara="1" rIns="28575" wrap="square" tIns="95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1" sz="2300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3817620" y="995963"/>
            <a:ext cx="1267800" cy="234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" lIns="28575" spcFirstLastPara="1" rIns="28575" wrap="square" tIns="95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PHASE 3 · Module APIs + Secure by Design</a:t>
            </a:r>
            <a:endParaRPr b="1" sz="700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3707892" y="3480197"/>
            <a:ext cx="1473300" cy="534900"/>
          </a:xfrm>
          <a:prstGeom prst="roundRect">
            <a:avLst>
              <a:gd fmla="val 3499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"/>
          <p:cNvSpPr/>
          <p:nvPr/>
        </p:nvSpPr>
        <p:spPr>
          <a:xfrm>
            <a:off x="3707892" y="3480197"/>
            <a:ext cx="1473300" cy="274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5"/>
          <p:cNvSpPr txBox="1"/>
          <p:nvPr/>
        </p:nvSpPr>
        <p:spPr>
          <a:xfrm>
            <a:off x="3817619" y="3549559"/>
            <a:ext cx="12678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⬥ </a:t>
            </a:r>
            <a:r>
              <a:rPr b="1" lang="en" sz="700">
                <a:solidFill>
                  <a:srgbClr val="FFFFFF"/>
                </a:solidFill>
              </a:rPr>
              <a:t>D</a:t>
            </a: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· Backbone live </a:t>
            </a:r>
            <a:endParaRPr b="1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1" lang="en" sz="700">
                <a:solidFill>
                  <a:srgbClr val="FFFFFF"/>
                </a:solidFill>
              </a:rPr>
              <a:t>R</a:t>
            </a: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eady for MyX Apps decommission</a:t>
            </a:r>
            <a:endParaRPr sz="1100"/>
          </a:p>
        </p:txBody>
      </p:sp>
      <p:sp>
        <p:nvSpPr>
          <p:cNvPr id="100" name="Google Shape;100;p15"/>
          <p:cNvSpPr/>
          <p:nvPr/>
        </p:nvSpPr>
        <p:spPr>
          <a:xfrm>
            <a:off x="5373243" y="208931"/>
            <a:ext cx="1473300" cy="3806100"/>
          </a:xfrm>
          <a:prstGeom prst="roundRect">
            <a:avLst>
              <a:gd fmla="val 3500" name="adj"/>
            </a:avLst>
          </a:prstGeom>
          <a:solidFill>
            <a:srgbClr val="F1F5F9"/>
          </a:solidFill>
          <a:ln cap="flat" cmpd="sng" w="9525">
            <a:solidFill>
              <a:srgbClr val="9D1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5482971" y="444451"/>
            <a:ext cx="1267800" cy="373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" lIns="28575" spcFirstLastPara="1" rIns="28575" wrap="square" tIns="95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9D174D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1" sz="2300">
              <a:solidFill>
                <a:srgbClr val="9D17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5482971" y="1023918"/>
            <a:ext cx="1267800" cy="234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" lIns="28575" spcFirstLastPara="1" rIns="28575" wrap="square" tIns="95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9D174D"/>
                </a:solidFill>
                <a:latin typeface="Arial"/>
                <a:ea typeface="Arial"/>
                <a:cs typeface="Arial"/>
                <a:sym typeface="Arial"/>
              </a:rPr>
              <a:t>PHASE 4 · Decommissioning</a:t>
            </a:r>
            <a:endParaRPr b="1" sz="700">
              <a:solidFill>
                <a:srgbClr val="9D17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5373243" y="3480197"/>
            <a:ext cx="1473300" cy="534900"/>
          </a:xfrm>
          <a:prstGeom prst="roundRect">
            <a:avLst>
              <a:gd fmla="val 3499" name="adj"/>
            </a:avLst>
          </a:prstGeom>
          <a:solidFill>
            <a:srgbClr val="9D174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5373243" y="3480197"/>
            <a:ext cx="1473300" cy="274200"/>
          </a:xfrm>
          <a:prstGeom prst="rect">
            <a:avLst/>
          </a:prstGeom>
          <a:solidFill>
            <a:srgbClr val="9D174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482970" y="3549559"/>
            <a:ext cx="12678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⬥ </a:t>
            </a:r>
            <a:r>
              <a:rPr b="1" lang="en" sz="700">
                <a:solidFill>
                  <a:srgbClr val="FFFFFF"/>
                </a:solidFill>
              </a:rPr>
              <a:t>D</a:t>
            </a: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 · MyX apps decommissioned · 4 apps retired</a:t>
            </a:r>
            <a:endParaRPr sz="1100"/>
          </a:p>
        </p:txBody>
      </p:sp>
      <p:sp>
        <p:nvSpPr>
          <p:cNvPr id="106" name="Google Shape;106;p15"/>
          <p:cNvSpPr txBox="1"/>
          <p:nvPr/>
        </p:nvSpPr>
        <p:spPr>
          <a:xfrm>
            <a:off x="6789420" y="117238"/>
            <a:ext cx="2126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7425" spcFirstLastPara="1" rIns="27425" wrap="square" tIns="13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E45011"/>
                </a:solidFill>
                <a:latin typeface="Arial"/>
                <a:ea typeface="Arial"/>
                <a:cs typeface="Arial"/>
                <a:sym typeface="Arial"/>
              </a:rPr>
              <a:t>Airbus Amber</a:t>
            </a:r>
            <a:endParaRPr sz="1100"/>
          </a:p>
        </p:txBody>
      </p:sp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5299" y="4855464"/>
            <a:ext cx="809244" cy="151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205740" y="4882896"/>
            <a:ext cx="4803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096A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/>
          </a:p>
        </p:txBody>
      </p:sp>
      <p:sp>
        <p:nvSpPr>
          <p:cNvPr id="109" name="Google Shape;109;p15"/>
          <p:cNvSpPr txBox="1"/>
          <p:nvPr/>
        </p:nvSpPr>
        <p:spPr>
          <a:xfrm>
            <a:off x="377200" y="4178275"/>
            <a:ext cx="6469500" cy="5883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Vision</a:t>
            </a:r>
            <a:r>
              <a:rPr b="1"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lang="en" sz="14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Establish MyIAM as the unified entry point and definitive source of truth, effectively eliminating the need for direct Active Directory (AD) access.</a:t>
            </a:r>
            <a:endParaRPr b="1" sz="1400">
              <a:solidFill>
                <a:srgbClr val="38BDF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7306046" y="2750229"/>
            <a:ext cx="386700" cy="154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7306046" y="3234547"/>
            <a:ext cx="386700" cy="1548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7711906" y="2666981"/>
            <a:ext cx="12678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</a:rPr>
              <a:t>Converged IAM Scope</a:t>
            </a:r>
            <a:endParaRPr sz="800">
              <a:solidFill>
                <a:schemeClr val="lt1"/>
              </a:solidFill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7715214" y="3170266"/>
            <a:ext cx="13917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</a:rPr>
              <a:t>PSL Vision on Self Service</a:t>
            </a:r>
            <a:endParaRPr sz="800">
              <a:solidFill>
                <a:schemeClr val="lt1"/>
              </a:solidFill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1229" y="513035"/>
            <a:ext cx="329700" cy="32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88340" y="485086"/>
            <a:ext cx="329700" cy="32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7587" y="464106"/>
            <a:ext cx="329700" cy="329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56742" y="466340"/>
            <a:ext cx="274200" cy="27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2152269" y="1298305"/>
            <a:ext cx="1267800" cy="33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3675" lIns="27425" spcFirstLastPara="1" rIns="27425" wrap="square" tIns="13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strike="noStrike">
                <a:solidFill>
                  <a:srgbClr val="00205B"/>
                </a:solidFill>
                <a:latin typeface="Arial"/>
                <a:ea typeface="Arial"/>
                <a:cs typeface="Arial"/>
                <a:sym typeface="Arial"/>
              </a:rPr>
              <a:t>Secure Foundation Live</a:t>
            </a:r>
            <a:endParaRPr b="1" i="0" sz="1000" u="none" strike="noStrike">
              <a:solidFill>
                <a:srgbClr val="0020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2152269" y="1716186"/>
            <a:ext cx="1267800" cy="52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3675" lIns="27425" spcFirstLastPara="1" rIns="27425" wrap="square" tIns="13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strike="noStrike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rPr>
              <a:t>• One pipeline in, one authorised write path out</a:t>
            </a:r>
            <a:endParaRPr b="0" i="0" sz="800" u="none" strike="noStrike">
              <a:solidFill>
                <a:srgbClr val="1A2A4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strike="noStrike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rPr>
              <a:t>• Full data sync with auditability from day one</a:t>
            </a:r>
            <a:endParaRPr b="0" i="0" sz="800" u="none" strike="noStrike">
              <a:solidFill>
                <a:srgbClr val="1A2A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0" name="Google Shape;120;p15"/>
          <p:cNvGrpSpPr/>
          <p:nvPr/>
        </p:nvGrpSpPr>
        <p:grpSpPr>
          <a:xfrm>
            <a:off x="377190" y="247650"/>
            <a:ext cx="1473300" cy="152400"/>
            <a:chOff x="0" y="0"/>
            <a:chExt cx="1473300" cy="152400"/>
          </a:xfrm>
        </p:grpSpPr>
        <p:sp>
          <p:nvSpPr>
            <p:cNvPr id="121" name="Google Shape;121;p15"/>
            <p:cNvSpPr/>
            <p:nvPr/>
          </p:nvSpPr>
          <p:spPr>
            <a:xfrm>
              <a:off x="0" y="0"/>
              <a:ext cx="1473300" cy="152400"/>
            </a:xfrm>
            <a:prstGeom prst="roundRect">
              <a:avLst>
                <a:gd fmla="val 18750" name="adj"/>
              </a:avLst>
            </a:prstGeom>
            <a:solidFill>
              <a:srgbClr val="0284C7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5"/>
            <p:cNvSpPr txBox="1"/>
            <p:nvPr/>
          </p:nvSpPr>
          <p:spPr>
            <a:xfrm>
              <a:off x="0" y="0"/>
              <a:ext cx="14733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50">
                  <a:solidFill>
                    <a:srgbClr val="0284C7"/>
                  </a:solidFill>
                  <a:latin typeface="Arial"/>
                  <a:ea typeface="Arial"/>
                  <a:cs typeface="Arial"/>
                  <a:sym typeface="Arial"/>
                </a:rPr>
                <a:t>CONVERGED IAM SCOPE</a:t>
              </a:r>
              <a:endParaRPr b="1" sz="65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Google Shape;123;p15"/>
          <p:cNvGrpSpPr/>
          <p:nvPr/>
        </p:nvGrpSpPr>
        <p:grpSpPr>
          <a:xfrm>
            <a:off x="2042541" y="247650"/>
            <a:ext cx="1473300" cy="152400"/>
            <a:chOff x="0" y="0"/>
            <a:chExt cx="1473300" cy="152400"/>
          </a:xfrm>
        </p:grpSpPr>
        <p:sp>
          <p:nvSpPr>
            <p:cNvPr id="124" name="Google Shape;124;p15"/>
            <p:cNvSpPr/>
            <p:nvPr/>
          </p:nvSpPr>
          <p:spPr>
            <a:xfrm>
              <a:off x="0" y="0"/>
              <a:ext cx="1473300" cy="152400"/>
            </a:xfrm>
            <a:prstGeom prst="roundRect">
              <a:avLst>
                <a:gd fmla="val 18750" name="adj"/>
              </a:avLst>
            </a:prstGeom>
            <a:solidFill>
              <a:srgbClr val="64748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5"/>
            <p:cNvSpPr txBox="1"/>
            <p:nvPr/>
          </p:nvSpPr>
          <p:spPr>
            <a:xfrm>
              <a:off x="0" y="0"/>
              <a:ext cx="14733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PSL VISION ON SELF SERVICE</a:t>
              </a:r>
              <a:endParaRPr b="1" sz="6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" name="Google Shape;126;p15"/>
          <p:cNvGrpSpPr/>
          <p:nvPr/>
        </p:nvGrpSpPr>
        <p:grpSpPr>
          <a:xfrm>
            <a:off x="3707892" y="247650"/>
            <a:ext cx="1473300" cy="152400"/>
            <a:chOff x="0" y="0"/>
            <a:chExt cx="1473300" cy="152400"/>
          </a:xfrm>
        </p:grpSpPr>
        <p:sp>
          <p:nvSpPr>
            <p:cNvPr id="127" name="Google Shape;127;p15"/>
            <p:cNvSpPr/>
            <p:nvPr/>
          </p:nvSpPr>
          <p:spPr>
            <a:xfrm>
              <a:off x="0" y="0"/>
              <a:ext cx="1473300" cy="152400"/>
            </a:xfrm>
            <a:prstGeom prst="roundRect">
              <a:avLst>
                <a:gd fmla="val 18750" name="adj"/>
              </a:avLst>
            </a:prstGeom>
            <a:solidFill>
              <a:srgbClr val="64748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5"/>
            <p:cNvSpPr txBox="1"/>
            <p:nvPr/>
          </p:nvSpPr>
          <p:spPr>
            <a:xfrm>
              <a:off x="0" y="0"/>
              <a:ext cx="14733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PSL VISION ON SELF SERVICE</a:t>
              </a:r>
              <a:endParaRPr b="1" sz="6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" name="Google Shape;129;p15"/>
          <p:cNvGrpSpPr/>
          <p:nvPr/>
        </p:nvGrpSpPr>
        <p:grpSpPr>
          <a:xfrm>
            <a:off x="5373243" y="247650"/>
            <a:ext cx="1473300" cy="152400"/>
            <a:chOff x="0" y="0"/>
            <a:chExt cx="1473300" cy="152400"/>
          </a:xfrm>
        </p:grpSpPr>
        <p:sp>
          <p:nvSpPr>
            <p:cNvPr id="130" name="Google Shape;130;p15"/>
            <p:cNvSpPr/>
            <p:nvPr/>
          </p:nvSpPr>
          <p:spPr>
            <a:xfrm>
              <a:off x="0" y="0"/>
              <a:ext cx="1473300" cy="152400"/>
            </a:xfrm>
            <a:prstGeom prst="roundRect">
              <a:avLst>
                <a:gd fmla="val 18750" name="adj"/>
              </a:avLst>
            </a:prstGeom>
            <a:solidFill>
              <a:srgbClr val="64748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5"/>
            <p:cNvSpPr txBox="1"/>
            <p:nvPr/>
          </p:nvSpPr>
          <p:spPr>
            <a:xfrm>
              <a:off x="0" y="0"/>
              <a:ext cx="14733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PSL VISION ON SELF SERVICE</a:t>
              </a:r>
              <a:endParaRPr b="1" sz="6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2" name="Google Shape;132;p15"/>
          <p:cNvSpPr txBox="1"/>
          <p:nvPr/>
        </p:nvSpPr>
        <p:spPr>
          <a:xfrm>
            <a:off x="2152269" y="2618832"/>
            <a:ext cx="1267800" cy="12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3675" lIns="27425" spcFirstLastPara="1" rIns="27425" wrap="square" tIns="13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strike="noStrike">
                <a:solidFill>
                  <a:srgbClr val="607080"/>
                </a:solidFill>
                <a:latin typeface="Arial"/>
                <a:ea typeface="Arial"/>
                <a:cs typeface="Arial"/>
                <a:sym typeface="Arial"/>
              </a:rPr>
              <a:t>PROGRAMME DELIVERS</a:t>
            </a:r>
            <a:endParaRPr b="1" i="0" sz="600" u="none" strike="noStrike">
              <a:solidFill>
                <a:srgbClr val="6070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2152269" y="2790282"/>
            <a:ext cx="1267800" cy="39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3675" lIns="27425" spcFirstLastPara="1" rIns="27425" wrap="square" tIns="13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strike="noStrike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rPr>
              <a:t>MyIAM DB Cluster · Apache NiFi (data read)· Core API (data write)</a:t>
            </a:r>
            <a:endParaRPr b="0" i="0" sz="800" u="none" strike="noStrike">
              <a:solidFill>
                <a:srgbClr val="1A2A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3817620" y="1291314"/>
            <a:ext cx="1267800" cy="33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3675" lIns="27425" spcFirstLastPara="1" rIns="27425" wrap="square" tIns="13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strike="noStrike">
                <a:solidFill>
                  <a:srgbClr val="00205B"/>
                </a:solidFill>
                <a:latin typeface="Arial"/>
                <a:ea typeface="Arial"/>
                <a:cs typeface="Arial"/>
                <a:sym typeface="Arial"/>
              </a:rPr>
              <a:t>Platform Backbone Live</a:t>
            </a:r>
            <a:endParaRPr b="1" i="0" sz="1000" u="none" strike="noStrike">
              <a:solidFill>
                <a:srgbClr val="0020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3817620" y="1709195"/>
            <a:ext cx="1267800" cy="643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3675" lIns="27425" spcFirstLastPara="1" rIns="27425" wrap="square" tIns="13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strike="noStrike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rPr>
              <a:t>• Scalable, resilient, Zero Trust enforced microservice</a:t>
            </a:r>
            <a:endParaRPr b="0" i="0" sz="800" u="none" strike="noStrike">
              <a:solidFill>
                <a:srgbClr val="1A2A4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strike="noStrike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rPr>
              <a:t>• Legacy systems fully marked for decommission</a:t>
            </a:r>
            <a:endParaRPr b="0" i="0" sz="800" u="none" strike="noStrike">
              <a:solidFill>
                <a:srgbClr val="1A2A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3817620" y="2611841"/>
            <a:ext cx="1267800" cy="12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3675" lIns="27425" spcFirstLastPara="1" rIns="27425" wrap="square" tIns="13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strike="noStrike">
                <a:solidFill>
                  <a:srgbClr val="607080"/>
                </a:solidFill>
                <a:latin typeface="Arial"/>
                <a:ea typeface="Arial"/>
                <a:cs typeface="Arial"/>
                <a:sym typeface="Arial"/>
              </a:rPr>
              <a:t>PROGRAMME DELIVERS</a:t>
            </a:r>
            <a:endParaRPr b="1" i="0" sz="600" u="none" strike="noStrike">
              <a:solidFill>
                <a:srgbClr val="6070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3817620" y="2783291"/>
            <a:ext cx="1267800" cy="52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3675" lIns="27425" spcFirstLastPara="1" rIns="27425" wrap="square" tIns="13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strike="noStrike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rPr>
              <a:t>API microservice</a:t>
            </a:r>
            <a:endParaRPr b="0" i="0" sz="800" u="none" strike="noStrike">
              <a:solidFill>
                <a:srgbClr val="1A2A4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strike="noStrike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rPr>
              <a:t>· 4 Module APIs + CIGA API’s revamp · logic migrated</a:t>
            </a:r>
            <a:endParaRPr b="0" i="0" sz="800" u="none" strike="noStrike">
              <a:solidFill>
                <a:srgbClr val="1A2A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5482971" y="1357808"/>
            <a:ext cx="1267800" cy="18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3675" lIns="27425" spcFirstLastPara="1" rIns="27425" wrap="square" tIns="13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strike="noStrike">
                <a:solidFill>
                  <a:srgbClr val="00205B"/>
                </a:solidFill>
                <a:latin typeface="Arial"/>
                <a:ea typeface="Arial"/>
                <a:cs typeface="Arial"/>
                <a:sym typeface="Arial"/>
              </a:rPr>
              <a:t>MyX Apps Sunset</a:t>
            </a:r>
            <a:endParaRPr b="1" i="0" sz="1000" u="none" strike="noStrike">
              <a:solidFill>
                <a:srgbClr val="0020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5482971" y="1737150"/>
            <a:ext cx="1267800" cy="643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3675" lIns="27425" spcFirstLastPara="1" rIns="27425" wrap="square" tIns="13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strike="noStrike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rPr>
              <a:t>• MyX apps retired as MyIAM becomes platform of record</a:t>
            </a:r>
            <a:endParaRPr b="0" i="0" sz="800" u="none" strike="noStrike">
              <a:solidFill>
                <a:srgbClr val="1A2A4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strike="noStrike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rPr>
              <a:t>• Annual upgrade cadence from 2029 (Jul–Aug)</a:t>
            </a:r>
            <a:endParaRPr b="0" i="0" sz="800" u="none" strike="noStrike">
              <a:solidFill>
                <a:srgbClr val="1A2A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5482971" y="2653770"/>
            <a:ext cx="1267800" cy="12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3675" lIns="27425" spcFirstLastPara="1" rIns="27425" wrap="square" tIns="13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strike="noStrike">
                <a:solidFill>
                  <a:srgbClr val="607080"/>
                </a:solidFill>
                <a:latin typeface="Arial"/>
                <a:ea typeface="Arial"/>
                <a:cs typeface="Arial"/>
                <a:sym typeface="Arial"/>
              </a:rPr>
              <a:t>PROGRAMME DELIVERS</a:t>
            </a:r>
            <a:endParaRPr b="1" i="0" sz="600" u="none" strike="noStrike">
              <a:solidFill>
                <a:srgbClr val="6070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5482971" y="2825220"/>
            <a:ext cx="1267800" cy="27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3675" lIns="27425" spcFirstLastPara="1" rIns="27425" wrap="square" tIns="13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strike="noStrike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rPr>
              <a:t>MyX Apps sunset · 4 apps retired · decom complete</a:t>
            </a:r>
            <a:endParaRPr b="0" i="0" sz="800" u="none" strike="noStrike">
              <a:solidFill>
                <a:srgbClr val="1A2A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2" name="Google Shape;142;p15"/>
          <p:cNvGrpSpPr/>
          <p:nvPr/>
        </p:nvGrpSpPr>
        <p:grpSpPr>
          <a:xfrm>
            <a:off x="8253693" y="244849"/>
            <a:ext cx="666900" cy="209700"/>
            <a:chOff x="0" y="0"/>
            <a:chExt cx="666900" cy="209700"/>
          </a:xfrm>
        </p:grpSpPr>
        <p:sp>
          <p:nvSpPr>
            <p:cNvPr id="143" name="Google Shape;143;p15"/>
            <p:cNvSpPr/>
            <p:nvPr/>
          </p:nvSpPr>
          <p:spPr>
            <a:xfrm>
              <a:off x="0" y="0"/>
              <a:ext cx="666900" cy="209700"/>
            </a:xfrm>
            <a:prstGeom prst="roundRect">
              <a:avLst>
                <a:gd fmla="val 18181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5"/>
            <p:cNvSpPr txBox="1"/>
            <p:nvPr/>
          </p:nvSpPr>
          <p:spPr>
            <a:xfrm>
              <a:off x="0" y="0"/>
              <a:ext cx="6669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DRAFT</a:t>
              </a:r>
              <a:endPara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/>
          <p:nvPr/>
        </p:nvSpPr>
        <p:spPr>
          <a:xfrm>
            <a:off x="7086599" y="0"/>
            <a:ext cx="2057400" cy="514350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7306055" y="582930"/>
            <a:ext cx="1728300" cy="8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Out of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Scope</a:t>
            </a:r>
            <a:endParaRPr sz="1100"/>
          </a:p>
        </p:txBody>
      </p:sp>
      <p:sp>
        <p:nvSpPr>
          <p:cNvPr id="151" name="Google Shape;151;p16"/>
          <p:cNvSpPr/>
          <p:nvPr/>
        </p:nvSpPr>
        <p:spPr>
          <a:xfrm>
            <a:off x="7319771" y="1511046"/>
            <a:ext cx="960000" cy="2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7306055" y="1648206"/>
            <a:ext cx="16803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C8D2E2"/>
                </a:solidFill>
                <a:latin typeface="Arial"/>
                <a:ea typeface="Arial"/>
                <a:cs typeface="Arial"/>
                <a:sym typeface="Arial"/>
              </a:rPr>
              <a:t>Descoped &amp; deferred items </a:t>
            </a:r>
            <a:endParaRPr b="0" i="0" sz="900" u="none" cap="none" strike="noStrike">
              <a:solidFill>
                <a:srgbClr val="C8D2E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C8D2E2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lang="en" sz="900">
                <a:solidFill>
                  <a:srgbClr val="C8D2E2"/>
                </a:solidFill>
              </a:rPr>
              <a:t>R</a:t>
            </a:r>
            <a:r>
              <a:rPr b="0" i="0" lang="en" sz="900" u="none" cap="none" strike="noStrike">
                <a:solidFill>
                  <a:srgbClr val="C8D2E2"/>
                </a:solidFill>
                <a:latin typeface="Arial"/>
                <a:ea typeface="Arial"/>
                <a:cs typeface="Arial"/>
                <a:sym typeface="Arial"/>
              </a:rPr>
              <a:t>eassessed for future phases</a:t>
            </a:r>
            <a:endParaRPr b="0" i="0" sz="900" u="none" cap="none" strike="noStrike">
              <a:solidFill>
                <a:srgbClr val="C8D2E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C8D2E2"/>
                </a:solidFill>
              </a:rPr>
              <a:t>.Coding </a:t>
            </a:r>
            <a:r>
              <a:rPr lang="en" sz="900">
                <a:solidFill>
                  <a:srgbClr val="C8D2E2"/>
                </a:solidFill>
              </a:rPr>
              <a:t>assistant</a:t>
            </a:r>
            <a:r>
              <a:rPr lang="en" sz="900">
                <a:solidFill>
                  <a:srgbClr val="C8D2E2"/>
                </a:solidFill>
              </a:rPr>
              <a:t>  Claude Code  </a:t>
            </a:r>
            <a:r>
              <a:rPr lang="en" sz="900">
                <a:solidFill>
                  <a:srgbClr val="C8D2E2"/>
                </a:solidFill>
              </a:rPr>
              <a:t>availability</a:t>
            </a:r>
            <a:endParaRPr sz="900">
              <a:solidFill>
                <a:srgbClr val="C8D2E2"/>
              </a:solidFill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377190" y="994410"/>
            <a:ext cx="2030700" cy="24003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D7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528066" y="1165860"/>
            <a:ext cx="308700" cy="308700"/>
          </a:xfrm>
          <a:prstGeom prst="ellipse">
            <a:avLst/>
          </a:prstGeom>
          <a:solidFill>
            <a:srgbClr val="009F4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500634" y="1543050"/>
            <a:ext cx="17838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205B"/>
                </a:solidFill>
              </a:rPr>
              <a:t>MyIAM </a:t>
            </a:r>
            <a:r>
              <a:rPr b="1" i="0" lang="en" sz="1100" u="none" cap="none" strike="noStrike">
                <a:solidFill>
                  <a:srgbClr val="00205B"/>
                </a:solidFill>
                <a:latin typeface="Arial"/>
                <a:ea typeface="Arial"/>
                <a:cs typeface="Arial"/>
                <a:sym typeface="Arial"/>
              </a:rPr>
              <a:t>Mobile Platform + Airbus Passport Decom</a:t>
            </a:r>
            <a:endParaRPr sz="1100"/>
          </a:p>
        </p:txBody>
      </p:sp>
      <p:sp>
        <p:nvSpPr>
          <p:cNvPr id="156" name="Google Shape;156;p16"/>
          <p:cNvSpPr txBox="1"/>
          <p:nvPr/>
        </p:nvSpPr>
        <p:spPr>
          <a:xfrm>
            <a:off x="500634" y="2023110"/>
            <a:ext cx="17838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rPr>
              <a:t>iOS + Android · Airbus Passport decom · platform hardening. One MyIAM platform across Web + Mobile, with Passport functionality absorbed into the cockpit.</a:t>
            </a:r>
            <a:endParaRPr sz="1100"/>
          </a:p>
        </p:txBody>
      </p:sp>
      <p:sp>
        <p:nvSpPr>
          <p:cNvPr id="157" name="Google Shape;157;p16"/>
          <p:cNvSpPr/>
          <p:nvPr/>
        </p:nvSpPr>
        <p:spPr>
          <a:xfrm>
            <a:off x="480060" y="2853360"/>
            <a:ext cx="1824900" cy="480300"/>
          </a:xfrm>
          <a:prstGeom prst="roundRect">
            <a:avLst>
              <a:gd fmla="val 6000" name="adj"/>
            </a:avLst>
          </a:prstGeom>
          <a:solidFill>
            <a:srgbClr val="F4F7FC"/>
          </a:solidFill>
          <a:ln cap="flat" cmpd="sng" w="7150">
            <a:solidFill>
              <a:srgbClr val="D7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493776" y="2937221"/>
            <a:ext cx="17976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009F4D"/>
                </a:solidFill>
                <a:latin typeface="Arial"/>
                <a:ea typeface="Arial"/>
                <a:cs typeface="Arial"/>
                <a:sym typeface="Arial"/>
              </a:rPr>
              <a:t>STATUS:  </a:t>
            </a:r>
            <a:r>
              <a:rPr b="0" i="0" lang="en" sz="700" u="none" cap="none" strike="noStrike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rPr>
              <a:t>Scope TBD · post-</a:t>
            </a:r>
            <a:r>
              <a:rPr lang="en" sz="700">
                <a:solidFill>
                  <a:srgbClr val="1A2A4A"/>
                </a:solidFill>
              </a:rPr>
              <a:t>D</a:t>
            </a:r>
            <a:r>
              <a:rPr b="0" i="0" lang="en" sz="700" u="none" cap="none" strike="noStrike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rPr>
              <a:t>3 decision · HO approval required before scheduling.</a:t>
            </a:r>
            <a:endParaRPr sz="1100"/>
          </a:p>
        </p:txBody>
      </p:sp>
      <p:sp>
        <p:nvSpPr>
          <p:cNvPr id="159" name="Google Shape;159;p16"/>
          <p:cNvSpPr/>
          <p:nvPr/>
        </p:nvSpPr>
        <p:spPr>
          <a:xfrm>
            <a:off x="2596514" y="994410"/>
            <a:ext cx="2030700" cy="24003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D7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2747390" y="1165860"/>
            <a:ext cx="308700" cy="308700"/>
          </a:xfrm>
          <a:prstGeom prst="ellipse">
            <a:avLst/>
          </a:prstGeom>
          <a:solidFill>
            <a:srgbClr val="A5189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2719958" y="1543050"/>
            <a:ext cx="17838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205B"/>
                </a:solidFill>
                <a:latin typeface="Arial"/>
                <a:ea typeface="Arial"/>
                <a:cs typeface="Arial"/>
                <a:sym typeface="Arial"/>
              </a:rPr>
              <a:t>IAM Assistant chatbot</a:t>
            </a:r>
            <a:endParaRPr sz="1100"/>
          </a:p>
        </p:txBody>
      </p:sp>
      <p:sp>
        <p:nvSpPr>
          <p:cNvPr id="162" name="Google Shape;162;p16"/>
          <p:cNvSpPr txBox="1"/>
          <p:nvPr/>
        </p:nvSpPr>
        <p:spPr>
          <a:xfrm>
            <a:off x="2719958" y="2023110"/>
            <a:ext cx="17838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rPr>
              <a:t>Agentic AI-assisted self-service chatbot for IAM queries. Not part of the current MyIAM Foundational Journey build.</a:t>
            </a:r>
            <a:endParaRPr sz="1100"/>
          </a:p>
        </p:txBody>
      </p:sp>
      <p:sp>
        <p:nvSpPr>
          <p:cNvPr id="163" name="Google Shape;163;p16"/>
          <p:cNvSpPr/>
          <p:nvPr/>
        </p:nvSpPr>
        <p:spPr>
          <a:xfrm>
            <a:off x="2699384" y="2853360"/>
            <a:ext cx="1824900" cy="480300"/>
          </a:xfrm>
          <a:prstGeom prst="roundRect">
            <a:avLst>
              <a:gd fmla="val 6000" name="adj"/>
            </a:avLst>
          </a:prstGeom>
          <a:solidFill>
            <a:srgbClr val="F4F7FC"/>
          </a:solidFill>
          <a:ln cap="flat" cmpd="sng" w="7150">
            <a:solidFill>
              <a:srgbClr val="D7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2713100" y="2916256"/>
            <a:ext cx="17976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A51890"/>
                </a:solidFill>
                <a:latin typeface="Arial"/>
                <a:ea typeface="Arial"/>
                <a:cs typeface="Arial"/>
                <a:sym typeface="Arial"/>
              </a:rPr>
              <a:t>STATUS:  </a:t>
            </a:r>
            <a:r>
              <a:rPr b="0" i="0" lang="en" sz="700" u="none" cap="none" strike="noStrike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rPr>
              <a:t>Out of scope for this programme. No build, design, or roadmap </a:t>
            </a:r>
            <a:r>
              <a:rPr lang="en" sz="700">
                <a:solidFill>
                  <a:srgbClr val="1A2A4A"/>
                </a:solidFill>
              </a:rPr>
              <a:t>commitment as its part of new MFT</a:t>
            </a:r>
            <a:endParaRPr sz="1100"/>
          </a:p>
        </p:txBody>
      </p:sp>
      <p:sp>
        <p:nvSpPr>
          <p:cNvPr id="165" name="Google Shape;165;p16"/>
          <p:cNvSpPr/>
          <p:nvPr/>
        </p:nvSpPr>
        <p:spPr>
          <a:xfrm>
            <a:off x="4815838" y="994410"/>
            <a:ext cx="2030700" cy="2400300"/>
          </a:xfrm>
          <a:prstGeom prst="roundRect">
            <a:avLst>
              <a:gd fmla="val 4000" name="adj"/>
            </a:avLst>
          </a:prstGeom>
          <a:solidFill>
            <a:schemeClr val="accent6"/>
          </a:solidFill>
          <a:ln cap="flat" cmpd="sng" w="9525">
            <a:solidFill>
              <a:srgbClr val="D7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4966715" y="1165860"/>
            <a:ext cx="308700" cy="308700"/>
          </a:xfrm>
          <a:prstGeom prst="ellipse">
            <a:avLst/>
          </a:prstGeom>
          <a:solidFill>
            <a:srgbClr val="EFDF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4939283" y="1543050"/>
            <a:ext cx="17838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205B"/>
                </a:solidFill>
                <a:latin typeface="Arial"/>
                <a:ea typeface="Arial"/>
                <a:cs typeface="Arial"/>
                <a:sym typeface="Arial"/>
              </a:rPr>
              <a:t>Restricted Standard Tech Stack</a:t>
            </a:r>
            <a:endParaRPr sz="1100"/>
          </a:p>
        </p:txBody>
      </p:sp>
      <p:sp>
        <p:nvSpPr>
          <p:cNvPr id="168" name="Google Shape;168;p16"/>
          <p:cNvSpPr txBox="1"/>
          <p:nvPr/>
        </p:nvSpPr>
        <p:spPr>
          <a:xfrm>
            <a:off x="4939283" y="2023110"/>
            <a:ext cx="17838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rPr>
              <a:t>.Net </a:t>
            </a:r>
            <a:r>
              <a:rPr lang="en" sz="800">
                <a:solidFill>
                  <a:srgbClr val="1A2A4A"/>
                </a:solidFill>
              </a:rPr>
              <a:t>,</a:t>
            </a:r>
            <a:r>
              <a:rPr b="0" i="0" lang="en" sz="800" u="none" cap="none" strike="noStrike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rPr>
              <a:t> Angular</a:t>
            </a:r>
            <a:r>
              <a:rPr lang="en" sz="800">
                <a:solidFill>
                  <a:srgbClr val="1A2A4A"/>
                </a:solidFill>
              </a:rPr>
              <a:t> &amp; </a:t>
            </a:r>
            <a:r>
              <a:rPr b="0" i="0" lang="en" sz="800" u="none" cap="none" strike="noStrike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rPr>
              <a:t>PowerShell is the current </a:t>
            </a:r>
            <a:r>
              <a:rPr lang="en" sz="800">
                <a:solidFill>
                  <a:srgbClr val="1A2A4A"/>
                </a:solidFill>
              </a:rPr>
              <a:t>team tech </a:t>
            </a:r>
            <a:r>
              <a:rPr b="0" i="0" lang="en" sz="800" u="none" cap="none" strike="noStrike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rPr>
              <a:t>stack. Claude Code expected Jul '26 as a future enabler for any shift.</a:t>
            </a:r>
            <a:endParaRPr sz="1100"/>
          </a:p>
        </p:txBody>
      </p:sp>
      <p:sp>
        <p:nvSpPr>
          <p:cNvPr id="169" name="Google Shape;169;p16"/>
          <p:cNvSpPr/>
          <p:nvPr/>
        </p:nvSpPr>
        <p:spPr>
          <a:xfrm>
            <a:off x="4918709" y="2853360"/>
            <a:ext cx="1824900" cy="480300"/>
          </a:xfrm>
          <a:prstGeom prst="roundRect">
            <a:avLst>
              <a:gd fmla="val 6000" name="adj"/>
            </a:avLst>
          </a:prstGeom>
          <a:solidFill>
            <a:srgbClr val="F4F7FC"/>
          </a:solidFill>
          <a:ln cap="flat" cmpd="sng" w="7150">
            <a:solidFill>
              <a:srgbClr val="D7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4932425" y="2853360"/>
            <a:ext cx="17976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00205B"/>
                </a:solidFill>
                <a:latin typeface="Arial"/>
                <a:ea typeface="Arial"/>
                <a:cs typeface="Arial"/>
                <a:sym typeface="Arial"/>
              </a:rPr>
              <a:t>STATUS:  </a:t>
            </a:r>
            <a:r>
              <a:rPr b="0" i="0" lang="en" sz="700" u="none" cap="none" strike="noStrike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rPr>
              <a:t>Out of scope ·</a:t>
            </a:r>
            <a:r>
              <a:rPr lang="en" sz="700">
                <a:solidFill>
                  <a:srgbClr val="1A2A4A"/>
                </a:solidFill>
              </a:rPr>
              <a:t>Existing</a:t>
            </a:r>
            <a:r>
              <a:rPr b="0" i="0" lang="en" sz="700" u="none" cap="none" strike="noStrike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rPr>
              <a:t>  team skill </a:t>
            </a:r>
            <a:r>
              <a:rPr lang="en" sz="700">
                <a:solidFill>
                  <a:srgbClr val="1A2A4A"/>
                </a:solidFill>
              </a:rPr>
              <a:t>is .net stack</a:t>
            </a:r>
            <a:endParaRPr sz="1100"/>
          </a:p>
        </p:txBody>
      </p:sp>
      <p:sp>
        <p:nvSpPr>
          <p:cNvPr id="171" name="Google Shape;171;p16"/>
          <p:cNvSpPr/>
          <p:nvPr/>
        </p:nvSpPr>
        <p:spPr>
          <a:xfrm>
            <a:off x="377190" y="3634740"/>
            <a:ext cx="6469500" cy="548400"/>
          </a:xfrm>
          <a:prstGeom prst="roundRect">
            <a:avLst>
              <a:gd fmla="val 5000" name="adj"/>
            </a:avLst>
          </a:prstGeom>
          <a:solidFill>
            <a:srgbClr val="FCEEDF"/>
          </a:solidFill>
          <a:ln cap="flat" cmpd="sng" w="9525">
            <a:solidFill>
              <a:srgbClr val="E450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548640" y="3753544"/>
            <a:ext cx="4803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E45011"/>
                </a:solidFill>
                <a:latin typeface="Arial"/>
                <a:ea typeface="Arial"/>
                <a:cs typeface="Arial"/>
                <a:sym typeface="Arial"/>
              </a:rPr>
              <a:t>⚠</a:t>
            </a:r>
            <a:endParaRPr sz="1100"/>
          </a:p>
        </p:txBody>
      </p:sp>
      <p:sp>
        <p:nvSpPr>
          <p:cNvPr id="173" name="Google Shape;173;p16"/>
          <p:cNvSpPr txBox="1"/>
          <p:nvPr/>
        </p:nvSpPr>
        <p:spPr>
          <a:xfrm>
            <a:off x="960120" y="3718601"/>
            <a:ext cx="57837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E45011"/>
                </a:solidFill>
                <a:latin typeface="Arial"/>
                <a:ea typeface="Arial"/>
                <a:cs typeface="Arial"/>
                <a:sym typeface="Arial"/>
              </a:rPr>
              <a:t>Re-evaluation point </a:t>
            </a:r>
            <a:r>
              <a:rPr b="1" lang="en" sz="900">
                <a:solidFill>
                  <a:srgbClr val="E45011"/>
                </a:solidFill>
              </a:rPr>
              <a:t>-</a:t>
            </a:r>
            <a:r>
              <a:rPr b="1" i="0" lang="en" sz="900" u="none" cap="none" strike="noStrike">
                <a:solidFill>
                  <a:srgbClr val="E450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900">
                <a:solidFill>
                  <a:srgbClr val="1A2A4A"/>
                </a:solidFill>
              </a:rPr>
              <a:t>Above</a:t>
            </a:r>
            <a:r>
              <a:rPr b="0" i="0" lang="en" sz="900" u="none" cap="none" strike="noStrike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900">
                <a:solidFill>
                  <a:srgbClr val="1A2A4A"/>
                </a:solidFill>
              </a:rPr>
              <a:t>2 </a:t>
            </a:r>
            <a:r>
              <a:rPr b="0" i="0" lang="en" sz="900" u="none" cap="none" strike="noStrike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rPr>
              <a:t>items will be reassessed for future phases based on priority and capacity availability.</a:t>
            </a:r>
            <a:endParaRPr sz="1100"/>
          </a:p>
        </p:txBody>
      </p:sp>
      <p:sp>
        <p:nvSpPr>
          <p:cNvPr id="174" name="Google Shape;174;p16"/>
          <p:cNvSpPr txBox="1"/>
          <p:nvPr/>
        </p:nvSpPr>
        <p:spPr>
          <a:xfrm>
            <a:off x="6789420" y="82296"/>
            <a:ext cx="2126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7425" spcFirstLastPara="1" rIns="27425" wrap="square" tIns="13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E45011"/>
                </a:solidFill>
                <a:latin typeface="Arial"/>
                <a:ea typeface="Arial"/>
                <a:cs typeface="Arial"/>
                <a:sym typeface="Arial"/>
              </a:rPr>
              <a:t>Airbus Amber</a:t>
            </a:r>
            <a:endParaRPr sz="1100"/>
          </a:p>
        </p:txBody>
      </p:sp>
      <p:pic>
        <p:nvPicPr>
          <p:cNvPr descr="image.png" id="175" name="Google Shape;17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5299" y="4855464"/>
            <a:ext cx="809244" cy="151347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6"/>
          <p:cNvSpPr txBox="1"/>
          <p:nvPr/>
        </p:nvSpPr>
        <p:spPr>
          <a:xfrm>
            <a:off x="205740" y="4882896"/>
            <a:ext cx="4803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096A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/>
          </a:p>
        </p:txBody>
      </p:sp>
      <p:pic>
        <p:nvPicPr>
          <p:cNvPr id="177" name="Google Shape;17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788" y="1227582"/>
            <a:ext cx="185166" cy="185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09112" y="1227582"/>
            <a:ext cx="185166" cy="185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8437" y="1227582"/>
            <a:ext cx="185166" cy="18516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6"/>
          <p:cNvSpPr txBox="1"/>
          <p:nvPr/>
        </p:nvSpPr>
        <p:spPr>
          <a:xfrm>
            <a:off x="4945749" y="2629702"/>
            <a:ext cx="1852200" cy="1257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t" bIns="10375" lIns="20750" spcFirstLastPara="1" rIns="20750" wrap="square" tIns="10375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81">
                <a:solidFill>
                  <a:srgbClr val="1A2A4A"/>
                </a:solidFill>
              </a:rPr>
              <a:t>Availability of Claude Code by July’26</a:t>
            </a:r>
            <a:endParaRPr b="1" sz="832"/>
          </a:p>
        </p:txBody>
      </p:sp>
      <p:grpSp>
        <p:nvGrpSpPr>
          <p:cNvPr id="181" name="Google Shape;181;p16"/>
          <p:cNvGrpSpPr/>
          <p:nvPr/>
        </p:nvGrpSpPr>
        <p:grpSpPr>
          <a:xfrm>
            <a:off x="8206628" y="238125"/>
            <a:ext cx="666900" cy="209700"/>
            <a:chOff x="0" y="0"/>
            <a:chExt cx="666900" cy="209700"/>
          </a:xfrm>
        </p:grpSpPr>
        <p:sp>
          <p:nvSpPr>
            <p:cNvPr id="182" name="Google Shape;182;p16"/>
            <p:cNvSpPr/>
            <p:nvPr/>
          </p:nvSpPr>
          <p:spPr>
            <a:xfrm>
              <a:off x="0" y="0"/>
              <a:ext cx="666900" cy="209700"/>
            </a:xfrm>
            <a:prstGeom prst="roundRect">
              <a:avLst>
                <a:gd fmla="val 18181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6"/>
            <p:cNvSpPr txBox="1"/>
            <p:nvPr/>
          </p:nvSpPr>
          <p:spPr>
            <a:xfrm>
              <a:off x="0" y="0"/>
              <a:ext cx="6669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DRAFT</a:t>
              </a:r>
              <a:endPara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p17"/>
          <p:cNvGrpSpPr/>
          <p:nvPr/>
        </p:nvGrpSpPr>
        <p:grpSpPr>
          <a:xfrm>
            <a:off x="0" y="0"/>
            <a:ext cx="9334546" cy="5143500"/>
            <a:chOff x="0" y="0"/>
            <a:chExt cx="9334546" cy="5143500"/>
          </a:xfrm>
        </p:grpSpPr>
        <p:sp>
          <p:nvSpPr>
            <p:cNvPr id="189" name="Google Shape;189;p1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17"/>
            <p:cNvSpPr/>
            <p:nvPr/>
          </p:nvSpPr>
          <p:spPr>
            <a:xfrm>
              <a:off x="0" y="0"/>
              <a:ext cx="979500" cy="5143500"/>
            </a:xfrm>
            <a:prstGeom prst="rect">
              <a:avLst/>
            </a:prstGeom>
            <a:solidFill>
              <a:srgbClr val="0D1A2E"/>
            </a:solidFill>
            <a:ln>
              <a:noFill/>
            </a:ln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17"/>
            <p:cNvSpPr txBox="1"/>
            <p:nvPr/>
          </p:nvSpPr>
          <p:spPr>
            <a:xfrm>
              <a:off x="29847" y="63019"/>
              <a:ext cx="9198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MyIAM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7"/>
            <p:cNvSpPr txBox="1"/>
            <p:nvPr/>
          </p:nvSpPr>
          <p:spPr>
            <a:xfrm>
              <a:off x="29847" y="192018"/>
              <a:ext cx="919800" cy="9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1" lang="en" sz="600" u="none" cap="none" strike="noStrike">
                  <a:solidFill>
                    <a:srgbClr val="B8C4D8"/>
                  </a:solidFill>
                  <a:latin typeface="Calibri"/>
                  <a:ea typeface="Calibri"/>
                  <a:cs typeface="Calibri"/>
                  <a:sym typeface="Calibri"/>
                </a:rPr>
                <a:t>Programme Roadmap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7"/>
            <p:cNvSpPr/>
            <p:nvPr/>
          </p:nvSpPr>
          <p:spPr>
            <a:xfrm>
              <a:off x="979351" y="0"/>
              <a:ext cx="2827800" cy="128100"/>
            </a:xfrm>
            <a:prstGeom prst="rect">
              <a:avLst/>
            </a:prstGeom>
            <a:solidFill>
              <a:srgbClr val="1A2A4A"/>
            </a:solidFill>
            <a:ln>
              <a:noFill/>
            </a:ln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17"/>
            <p:cNvSpPr txBox="1"/>
            <p:nvPr/>
          </p:nvSpPr>
          <p:spPr>
            <a:xfrm>
              <a:off x="979351" y="0"/>
              <a:ext cx="28278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" sz="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FY 2026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3810779" y="0"/>
              <a:ext cx="3551100" cy="128100"/>
            </a:xfrm>
            <a:prstGeom prst="rect">
              <a:avLst/>
            </a:prstGeom>
            <a:solidFill>
              <a:srgbClr val="29406E"/>
            </a:solidFill>
            <a:ln>
              <a:noFill/>
            </a:ln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17"/>
            <p:cNvSpPr txBox="1"/>
            <p:nvPr/>
          </p:nvSpPr>
          <p:spPr>
            <a:xfrm>
              <a:off x="4151452" y="0"/>
              <a:ext cx="35511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" sz="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FY 2027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7"/>
            <p:cNvSpPr/>
            <p:nvPr/>
          </p:nvSpPr>
          <p:spPr>
            <a:xfrm>
              <a:off x="7368589" y="0"/>
              <a:ext cx="1775400" cy="128100"/>
            </a:xfrm>
            <a:prstGeom prst="rect">
              <a:avLst/>
            </a:prstGeom>
            <a:solidFill>
              <a:srgbClr val="0F1A33"/>
            </a:solidFill>
            <a:ln>
              <a:noFill/>
            </a:ln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17"/>
            <p:cNvSpPr txBox="1"/>
            <p:nvPr/>
          </p:nvSpPr>
          <p:spPr>
            <a:xfrm>
              <a:off x="7937859" y="0"/>
              <a:ext cx="11193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" sz="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FY 2028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7"/>
            <p:cNvSpPr/>
            <p:nvPr/>
          </p:nvSpPr>
          <p:spPr>
            <a:xfrm>
              <a:off x="3788334" y="0"/>
              <a:ext cx="18000" cy="223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25175" lIns="50375" spcFirstLastPara="1" rIns="50375" wrap="square" tIns="25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7339305" y="0"/>
              <a:ext cx="18000" cy="223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25175" lIns="50375" spcFirstLastPara="1" rIns="50375" wrap="square" tIns="25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979355" y="128254"/>
              <a:ext cx="1043100" cy="205800"/>
            </a:xfrm>
            <a:prstGeom prst="rect">
              <a:avLst/>
            </a:prstGeom>
            <a:solidFill>
              <a:srgbClr val="00205B"/>
            </a:solidFill>
            <a:ln>
              <a:noFill/>
            </a:ln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17"/>
            <p:cNvSpPr txBox="1"/>
            <p:nvPr/>
          </p:nvSpPr>
          <p:spPr>
            <a:xfrm>
              <a:off x="979355" y="128254"/>
              <a:ext cx="1043100" cy="9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" sz="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Q</a:t>
              </a:r>
              <a:r>
                <a:rPr b="1" lang="en" sz="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7"/>
            <p:cNvSpPr txBox="1"/>
            <p:nvPr/>
          </p:nvSpPr>
          <p:spPr>
            <a:xfrm>
              <a:off x="979355" y="223887"/>
              <a:ext cx="1043100" cy="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en" sz="500" u="none" cap="none" strike="noStrike">
                  <a:solidFill>
                    <a:srgbClr val="C8D2E2"/>
                  </a:solidFill>
                  <a:latin typeface="Calibri"/>
                  <a:ea typeface="Calibri"/>
                  <a:cs typeface="Calibri"/>
                  <a:sym typeface="Calibri"/>
                </a:rPr>
                <a:t>Apr–Jun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2022614" y="128254"/>
              <a:ext cx="887700" cy="205800"/>
            </a:xfrm>
            <a:prstGeom prst="rect">
              <a:avLst/>
            </a:prstGeom>
            <a:solidFill>
              <a:srgbClr val="00205B"/>
            </a:solidFill>
            <a:ln>
              <a:noFill/>
            </a:ln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17"/>
            <p:cNvSpPr txBox="1"/>
            <p:nvPr/>
          </p:nvSpPr>
          <p:spPr>
            <a:xfrm>
              <a:off x="2022614" y="128254"/>
              <a:ext cx="887700" cy="9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lang="en" sz="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Q2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7"/>
            <p:cNvSpPr txBox="1"/>
            <p:nvPr/>
          </p:nvSpPr>
          <p:spPr>
            <a:xfrm>
              <a:off x="2022614" y="223887"/>
              <a:ext cx="887700" cy="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en" sz="500" u="none" cap="none" strike="noStrike">
                  <a:solidFill>
                    <a:srgbClr val="C8D2E2"/>
                  </a:solidFill>
                  <a:latin typeface="Calibri"/>
                  <a:ea typeface="Calibri"/>
                  <a:cs typeface="Calibri"/>
                  <a:sym typeface="Calibri"/>
                </a:rPr>
                <a:t>Jul–Sep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7"/>
            <p:cNvSpPr/>
            <p:nvPr/>
          </p:nvSpPr>
          <p:spPr>
            <a:xfrm>
              <a:off x="2910357" y="128254"/>
              <a:ext cx="887700" cy="205800"/>
            </a:xfrm>
            <a:prstGeom prst="rect">
              <a:avLst/>
            </a:prstGeom>
            <a:solidFill>
              <a:srgbClr val="00205B"/>
            </a:solidFill>
            <a:ln>
              <a:noFill/>
            </a:ln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17"/>
            <p:cNvSpPr txBox="1"/>
            <p:nvPr/>
          </p:nvSpPr>
          <p:spPr>
            <a:xfrm>
              <a:off x="2910357" y="128254"/>
              <a:ext cx="887700" cy="9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lang="en" sz="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Q3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7"/>
            <p:cNvSpPr txBox="1"/>
            <p:nvPr/>
          </p:nvSpPr>
          <p:spPr>
            <a:xfrm>
              <a:off x="2910357" y="223887"/>
              <a:ext cx="887700" cy="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en" sz="500" u="none" cap="none" strike="noStrike">
                  <a:solidFill>
                    <a:srgbClr val="C8D2E2"/>
                  </a:solidFill>
                  <a:latin typeface="Calibri"/>
                  <a:ea typeface="Calibri"/>
                  <a:cs typeface="Calibri"/>
                  <a:sym typeface="Calibri"/>
                </a:rPr>
                <a:t>Oct–Dec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7"/>
            <p:cNvSpPr/>
            <p:nvPr/>
          </p:nvSpPr>
          <p:spPr>
            <a:xfrm>
              <a:off x="3798100" y="128254"/>
              <a:ext cx="887700" cy="205800"/>
            </a:xfrm>
            <a:prstGeom prst="rect">
              <a:avLst/>
            </a:prstGeom>
            <a:solidFill>
              <a:srgbClr val="00205B"/>
            </a:solidFill>
            <a:ln>
              <a:noFill/>
            </a:ln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17"/>
            <p:cNvSpPr txBox="1"/>
            <p:nvPr/>
          </p:nvSpPr>
          <p:spPr>
            <a:xfrm>
              <a:off x="3798100" y="128254"/>
              <a:ext cx="887700" cy="9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lang="en" sz="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Q1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7"/>
            <p:cNvSpPr txBox="1"/>
            <p:nvPr/>
          </p:nvSpPr>
          <p:spPr>
            <a:xfrm>
              <a:off x="3798100" y="223887"/>
              <a:ext cx="887700" cy="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en" sz="500" u="none" cap="none" strike="noStrike">
                  <a:solidFill>
                    <a:srgbClr val="C8D2E2"/>
                  </a:solidFill>
                  <a:latin typeface="Calibri"/>
                  <a:ea typeface="Calibri"/>
                  <a:cs typeface="Calibri"/>
                  <a:sym typeface="Calibri"/>
                </a:rPr>
                <a:t>Jan–Mar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7"/>
            <p:cNvSpPr/>
            <p:nvPr/>
          </p:nvSpPr>
          <p:spPr>
            <a:xfrm>
              <a:off x="4685842" y="128254"/>
              <a:ext cx="887700" cy="205800"/>
            </a:xfrm>
            <a:prstGeom prst="rect">
              <a:avLst/>
            </a:prstGeom>
            <a:solidFill>
              <a:srgbClr val="00205B"/>
            </a:solidFill>
            <a:ln>
              <a:noFill/>
            </a:ln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17"/>
            <p:cNvSpPr txBox="1"/>
            <p:nvPr/>
          </p:nvSpPr>
          <p:spPr>
            <a:xfrm>
              <a:off x="4685842" y="128254"/>
              <a:ext cx="887700" cy="9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lang="en" sz="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Q2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7"/>
            <p:cNvSpPr txBox="1"/>
            <p:nvPr/>
          </p:nvSpPr>
          <p:spPr>
            <a:xfrm>
              <a:off x="4685842" y="223887"/>
              <a:ext cx="887700" cy="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en" sz="500" u="none" cap="none" strike="noStrike">
                  <a:solidFill>
                    <a:srgbClr val="C8D2E2"/>
                  </a:solidFill>
                  <a:latin typeface="Calibri"/>
                  <a:ea typeface="Calibri"/>
                  <a:cs typeface="Calibri"/>
                  <a:sym typeface="Calibri"/>
                </a:rPr>
                <a:t>Apr–Jun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7"/>
            <p:cNvSpPr/>
            <p:nvPr/>
          </p:nvSpPr>
          <p:spPr>
            <a:xfrm>
              <a:off x="5573585" y="128254"/>
              <a:ext cx="887700" cy="205800"/>
            </a:xfrm>
            <a:prstGeom prst="rect">
              <a:avLst/>
            </a:prstGeom>
            <a:solidFill>
              <a:srgbClr val="00205B"/>
            </a:solidFill>
            <a:ln>
              <a:noFill/>
            </a:ln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17"/>
            <p:cNvSpPr txBox="1"/>
            <p:nvPr/>
          </p:nvSpPr>
          <p:spPr>
            <a:xfrm>
              <a:off x="5573585" y="128254"/>
              <a:ext cx="887700" cy="9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lang="en" sz="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Q3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17"/>
            <p:cNvSpPr txBox="1"/>
            <p:nvPr/>
          </p:nvSpPr>
          <p:spPr>
            <a:xfrm>
              <a:off x="5573585" y="223887"/>
              <a:ext cx="887700" cy="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en" sz="500" u="none" cap="none" strike="noStrike">
                  <a:solidFill>
                    <a:srgbClr val="C8D2E2"/>
                  </a:solidFill>
                  <a:latin typeface="Calibri"/>
                  <a:ea typeface="Calibri"/>
                  <a:cs typeface="Calibri"/>
                  <a:sym typeface="Calibri"/>
                </a:rPr>
                <a:t>Jul–Sep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7"/>
            <p:cNvSpPr/>
            <p:nvPr/>
          </p:nvSpPr>
          <p:spPr>
            <a:xfrm>
              <a:off x="6461327" y="128254"/>
              <a:ext cx="887700" cy="205800"/>
            </a:xfrm>
            <a:prstGeom prst="rect">
              <a:avLst/>
            </a:prstGeom>
            <a:solidFill>
              <a:srgbClr val="00205B"/>
            </a:solidFill>
            <a:ln>
              <a:noFill/>
            </a:ln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17"/>
            <p:cNvSpPr txBox="1"/>
            <p:nvPr/>
          </p:nvSpPr>
          <p:spPr>
            <a:xfrm>
              <a:off x="6461327" y="128254"/>
              <a:ext cx="887700" cy="9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lang="en" sz="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Q4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7"/>
            <p:cNvSpPr txBox="1"/>
            <p:nvPr/>
          </p:nvSpPr>
          <p:spPr>
            <a:xfrm>
              <a:off x="6461327" y="223887"/>
              <a:ext cx="887700" cy="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en" sz="500" u="none" cap="none" strike="noStrike">
                  <a:solidFill>
                    <a:srgbClr val="C8D2E2"/>
                  </a:solidFill>
                  <a:latin typeface="Calibri"/>
                  <a:ea typeface="Calibri"/>
                  <a:cs typeface="Calibri"/>
                  <a:sym typeface="Calibri"/>
                </a:rPr>
                <a:t>Oct–Dec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7"/>
            <p:cNvSpPr/>
            <p:nvPr/>
          </p:nvSpPr>
          <p:spPr>
            <a:xfrm>
              <a:off x="7349070" y="128254"/>
              <a:ext cx="887700" cy="205800"/>
            </a:xfrm>
            <a:prstGeom prst="rect">
              <a:avLst/>
            </a:prstGeom>
            <a:solidFill>
              <a:srgbClr val="00205B"/>
            </a:solidFill>
            <a:ln>
              <a:noFill/>
            </a:ln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17"/>
            <p:cNvSpPr txBox="1"/>
            <p:nvPr/>
          </p:nvSpPr>
          <p:spPr>
            <a:xfrm>
              <a:off x="7349070" y="128254"/>
              <a:ext cx="887700" cy="9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lang="en" sz="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Q1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7"/>
            <p:cNvSpPr txBox="1"/>
            <p:nvPr/>
          </p:nvSpPr>
          <p:spPr>
            <a:xfrm>
              <a:off x="7349070" y="223887"/>
              <a:ext cx="887700" cy="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en" sz="500" u="none" cap="none" strike="noStrike">
                  <a:solidFill>
                    <a:srgbClr val="C8D2E2"/>
                  </a:solidFill>
                  <a:latin typeface="Calibri"/>
                  <a:ea typeface="Calibri"/>
                  <a:cs typeface="Calibri"/>
                  <a:sym typeface="Calibri"/>
                </a:rPr>
                <a:t>Jan–Mar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7"/>
            <p:cNvSpPr/>
            <p:nvPr/>
          </p:nvSpPr>
          <p:spPr>
            <a:xfrm>
              <a:off x="8236812" y="128254"/>
              <a:ext cx="907200" cy="205800"/>
            </a:xfrm>
            <a:prstGeom prst="rect">
              <a:avLst/>
            </a:prstGeom>
            <a:solidFill>
              <a:srgbClr val="00205B"/>
            </a:solidFill>
            <a:ln>
              <a:noFill/>
            </a:ln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17"/>
            <p:cNvSpPr txBox="1"/>
            <p:nvPr/>
          </p:nvSpPr>
          <p:spPr>
            <a:xfrm>
              <a:off x="8236812" y="128254"/>
              <a:ext cx="907200" cy="9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lang="en" sz="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Q2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17"/>
            <p:cNvSpPr txBox="1"/>
            <p:nvPr/>
          </p:nvSpPr>
          <p:spPr>
            <a:xfrm>
              <a:off x="8236812" y="223887"/>
              <a:ext cx="907200" cy="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en" sz="500" u="none" cap="none" strike="noStrike">
                  <a:solidFill>
                    <a:srgbClr val="C8D2E2"/>
                  </a:solidFill>
                  <a:latin typeface="Calibri"/>
                  <a:ea typeface="Calibri"/>
                  <a:cs typeface="Calibri"/>
                  <a:sym typeface="Calibri"/>
                </a:rPr>
                <a:t>Apr–Jun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17"/>
            <p:cNvSpPr/>
            <p:nvPr/>
          </p:nvSpPr>
          <p:spPr>
            <a:xfrm>
              <a:off x="979355" y="334074"/>
              <a:ext cx="8164500" cy="1094100"/>
            </a:xfrm>
            <a:prstGeom prst="rect">
              <a:avLst/>
            </a:prstGeom>
            <a:solidFill>
              <a:srgbClr val="ECF0F7"/>
            </a:solidFill>
            <a:ln>
              <a:noFill/>
            </a:ln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7"/>
            <p:cNvSpPr/>
            <p:nvPr/>
          </p:nvSpPr>
          <p:spPr>
            <a:xfrm>
              <a:off x="979355" y="1428108"/>
              <a:ext cx="8164500" cy="1390500"/>
            </a:xfrm>
            <a:prstGeom prst="rect">
              <a:avLst/>
            </a:prstGeom>
            <a:solidFill>
              <a:srgbClr val="F4F7FC"/>
            </a:solidFill>
            <a:ln>
              <a:noFill/>
            </a:ln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7"/>
            <p:cNvSpPr/>
            <p:nvPr/>
          </p:nvSpPr>
          <p:spPr>
            <a:xfrm>
              <a:off x="979355" y="2818717"/>
              <a:ext cx="8164500" cy="1328700"/>
            </a:xfrm>
            <a:prstGeom prst="rect">
              <a:avLst/>
            </a:prstGeom>
            <a:solidFill>
              <a:srgbClr val="ECF0F7"/>
            </a:solidFill>
            <a:ln>
              <a:noFill/>
            </a:ln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7"/>
            <p:cNvSpPr/>
            <p:nvPr/>
          </p:nvSpPr>
          <p:spPr>
            <a:xfrm>
              <a:off x="979355" y="4084734"/>
              <a:ext cx="8164500" cy="861600"/>
            </a:xfrm>
            <a:prstGeom prst="rect">
              <a:avLst/>
            </a:prstGeom>
            <a:solidFill>
              <a:srgbClr val="FBEEEE"/>
            </a:solidFill>
            <a:ln>
              <a:noFill/>
            </a:ln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7"/>
            <p:cNvSpPr/>
            <p:nvPr/>
          </p:nvSpPr>
          <p:spPr>
            <a:xfrm>
              <a:off x="979355" y="334074"/>
              <a:ext cx="10200" cy="4670700"/>
            </a:xfrm>
            <a:prstGeom prst="rect">
              <a:avLst/>
            </a:prstGeom>
            <a:solidFill>
              <a:srgbClr val="CBD5E0"/>
            </a:solidFill>
            <a:ln>
              <a:noFill/>
            </a:ln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7"/>
            <p:cNvSpPr/>
            <p:nvPr/>
          </p:nvSpPr>
          <p:spPr>
            <a:xfrm>
              <a:off x="2022614" y="334074"/>
              <a:ext cx="8700" cy="4670700"/>
            </a:xfrm>
            <a:prstGeom prst="rect">
              <a:avLst/>
            </a:prstGeom>
            <a:solidFill>
              <a:srgbClr val="CBD5E0"/>
            </a:solidFill>
            <a:ln>
              <a:noFill/>
            </a:ln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7"/>
            <p:cNvSpPr/>
            <p:nvPr/>
          </p:nvSpPr>
          <p:spPr>
            <a:xfrm>
              <a:off x="2910357" y="334074"/>
              <a:ext cx="8700" cy="4670700"/>
            </a:xfrm>
            <a:prstGeom prst="rect">
              <a:avLst/>
            </a:prstGeom>
            <a:solidFill>
              <a:srgbClr val="CBD5E0"/>
            </a:solidFill>
            <a:ln>
              <a:noFill/>
            </a:ln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17"/>
            <p:cNvSpPr/>
            <p:nvPr/>
          </p:nvSpPr>
          <p:spPr>
            <a:xfrm>
              <a:off x="3798100" y="334074"/>
              <a:ext cx="8700" cy="4670700"/>
            </a:xfrm>
            <a:prstGeom prst="rect">
              <a:avLst/>
            </a:prstGeom>
            <a:solidFill>
              <a:srgbClr val="CBD5E0"/>
            </a:solidFill>
            <a:ln>
              <a:noFill/>
            </a:ln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17"/>
            <p:cNvSpPr/>
            <p:nvPr/>
          </p:nvSpPr>
          <p:spPr>
            <a:xfrm>
              <a:off x="4685842" y="334074"/>
              <a:ext cx="8700" cy="4670700"/>
            </a:xfrm>
            <a:prstGeom prst="rect">
              <a:avLst/>
            </a:prstGeom>
            <a:solidFill>
              <a:srgbClr val="CBD5E0"/>
            </a:solidFill>
            <a:ln>
              <a:noFill/>
            </a:ln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17"/>
            <p:cNvSpPr/>
            <p:nvPr/>
          </p:nvSpPr>
          <p:spPr>
            <a:xfrm>
              <a:off x="5573585" y="334074"/>
              <a:ext cx="8700" cy="4670700"/>
            </a:xfrm>
            <a:prstGeom prst="rect">
              <a:avLst/>
            </a:prstGeom>
            <a:solidFill>
              <a:srgbClr val="CBD5E0"/>
            </a:solidFill>
            <a:ln>
              <a:noFill/>
            </a:ln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7"/>
            <p:cNvSpPr/>
            <p:nvPr/>
          </p:nvSpPr>
          <p:spPr>
            <a:xfrm>
              <a:off x="6461327" y="334074"/>
              <a:ext cx="8700" cy="4670700"/>
            </a:xfrm>
            <a:prstGeom prst="rect">
              <a:avLst/>
            </a:prstGeom>
            <a:solidFill>
              <a:srgbClr val="CBD5E0"/>
            </a:solidFill>
            <a:ln>
              <a:noFill/>
            </a:ln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7"/>
            <p:cNvSpPr/>
            <p:nvPr/>
          </p:nvSpPr>
          <p:spPr>
            <a:xfrm>
              <a:off x="7349070" y="334074"/>
              <a:ext cx="8700" cy="4670700"/>
            </a:xfrm>
            <a:prstGeom prst="rect">
              <a:avLst/>
            </a:prstGeom>
            <a:solidFill>
              <a:srgbClr val="CBD5E0"/>
            </a:solidFill>
            <a:ln>
              <a:noFill/>
            </a:ln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7"/>
            <p:cNvSpPr/>
            <p:nvPr/>
          </p:nvSpPr>
          <p:spPr>
            <a:xfrm>
              <a:off x="8236812" y="334074"/>
              <a:ext cx="9000" cy="4670700"/>
            </a:xfrm>
            <a:prstGeom prst="rect">
              <a:avLst/>
            </a:prstGeom>
            <a:solidFill>
              <a:srgbClr val="CBD5E0"/>
            </a:solidFill>
            <a:ln>
              <a:noFill/>
            </a:ln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7"/>
            <p:cNvSpPr/>
            <p:nvPr/>
          </p:nvSpPr>
          <p:spPr>
            <a:xfrm>
              <a:off x="9143994" y="334074"/>
              <a:ext cx="9000" cy="4670700"/>
            </a:xfrm>
            <a:prstGeom prst="rect">
              <a:avLst/>
            </a:prstGeom>
            <a:solidFill>
              <a:srgbClr val="CBD5E0"/>
            </a:solidFill>
            <a:ln>
              <a:noFill/>
            </a:ln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7"/>
            <p:cNvSpPr/>
            <p:nvPr/>
          </p:nvSpPr>
          <p:spPr>
            <a:xfrm>
              <a:off x="0" y="334074"/>
              <a:ext cx="979500" cy="1094100"/>
            </a:xfrm>
            <a:prstGeom prst="rect">
              <a:avLst/>
            </a:prstGeom>
            <a:solidFill>
              <a:srgbClr val="6B3F7A"/>
            </a:solidFill>
            <a:ln>
              <a:noFill/>
            </a:ln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7"/>
            <p:cNvSpPr txBox="1"/>
            <p:nvPr/>
          </p:nvSpPr>
          <p:spPr>
            <a:xfrm>
              <a:off x="60341" y="766142"/>
              <a:ext cx="929400" cy="34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1" lang="en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UI</a:t>
              </a:r>
              <a:endPara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Consolidation</a:t>
              </a:r>
              <a:endPara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7"/>
            <p:cNvSpPr/>
            <p:nvPr/>
          </p:nvSpPr>
          <p:spPr>
            <a:xfrm>
              <a:off x="0" y="1428108"/>
              <a:ext cx="979500" cy="1390500"/>
            </a:xfrm>
            <a:prstGeom prst="rect">
              <a:avLst/>
            </a:prstGeom>
            <a:solidFill>
              <a:srgbClr val="1B6CA8"/>
            </a:solidFill>
            <a:ln>
              <a:noFill/>
            </a:ln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7"/>
            <p:cNvSpPr txBox="1"/>
            <p:nvPr/>
          </p:nvSpPr>
          <p:spPr>
            <a:xfrm>
              <a:off x="44830" y="1958245"/>
              <a:ext cx="929400" cy="34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Core Backend</a:t>
              </a:r>
              <a:endPara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&amp; Integration</a:t>
              </a:r>
              <a:endPara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7"/>
            <p:cNvSpPr/>
            <p:nvPr/>
          </p:nvSpPr>
          <p:spPr>
            <a:xfrm>
              <a:off x="0" y="2818717"/>
              <a:ext cx="979500" cy="1328700"/>
            </a:xfrm>
            <a:prstGeom prst="rect">
              <a:avLst/>
            </a:prstGeom>
            <a:solidFill>
              <a:srgbClr val="C84B00"/>
            </a:solidFill>
            <a:ln>
              <a:noFill/>
            </a:ln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7"/>
            <p:cNvSpPr txBox="1"/>
            <p:nvPr/>
          </p:nvSpPr>
          <p:spPr>
            <a:xfrm>
              <a:off x="76469" y="3045974"/>
              <a:ext cx="929400" cy="76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" sz="1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Module APIs</a:t>
              </a:r>
              <a:endPara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" sz="1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+ DevOps + IAM security principles</a:t>
              </a:r>
              <a:endPara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7"/>
            <p:cNvSpPr/>
            <p:nvPr/>
          </p:nvSpPr>
          <p:spPr>
            <a:xfrm>
              <a:off x="0" y="4022951"/>
              <a:ext cx="979500" cy="923400"/>
            </a:xfrm>
            <a:prstGeom prst="rect">
              <a:avLst/>
            </a:prstGeom>
            <a:solidFill>
              <a:srgbClr val="5C2222"/>
            </a:solidFill>
            <a:ln>
              <a:noFill/>
            </a:ln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17"/>
            <p:cNvSpPr txBox="1"/>
            <p:nvPr/>
          </p:nvSpPr>
          <p:spPr>
            <a:xfrm>
              <a:off x="45211" y="4150772"/>
              <a:ext cx="929400" cy="52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Decommissioning</a:t>
              </a:r>
              <a:endPara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17"/>
            <p:cNvSpPr/>
            <p:nvPr/>
          </p:nvSpPr>
          <p:spPr>
            <a:xfrm>
              <a:off x="979355" y="789922"/>
              <a:ext cx="3706500" cy="192300"/>
            </a:xfrm>
            <a:prstGeom prst="rect">
              <a:avLst/>
            </a:prstGeom>
            <a:solidFill>
              <a:srgbClr val="7B4F9E"/>
            </a:solidFill>
            <a:ln>
              <a:noFill/>
            </a:ln>
          </p:spPr>
          <p:txBody>
            <a:bodyPr anchorCtr="0" anchor="ctr" bIns="0" lIns="50375" spcFirstLastPara="1" rIns="25175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lang="en" sz="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UI (</a:t>
              </a:r>
              <a:r>
                <a:rPr b="1" i="0" lang="en" sz="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MFE) Consolidation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7"/>
            <p:cNvSpPr/>
            <p:nvPr/>
          </p:nvSpPr>
          <p:spPr>
            <a:xfrm>
              <a:off x="1085635" y="390962"/>
              <a:ext cx="729900" cy="234000"/>
            </a:xfrm>
            <a:prstGeom prst="roundRect">
              <a:avLst>
                <a:gd fmla="val 50000" name="adj"/>
              </a:avLst>
            </a:prstGeom>
            <a:noFill/>
            <a:ln cap="flat" cmpd="sng" w="8750">
              <a:solidFill>
                <a:srgbClr val="37474F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400" lIns="19850" spcFirstLastPara="1" rIns="19850" wrap="square" tIns="4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1" lang="en" sz="500" u="none" cap="none" strike="noStrike">
                  <a:solidFill>
                    <a:srgbClr val="37474F"/>
                  </a:solidFill>
                  <a:latin typeface="Calibri"/>
                  <a:ea typeface="Calibri"/>
                  <a:cs typeface="Calibri"/>
                  <a:sym typeface="Calibri"/>
                </a:rPr>
                <a:t>⬡ MFE Design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17"/>
            <p:cNvSpPr/>
            <p:nvPr/>
          </p:nvSpPr>
          <p:spPr>
            <a:xfrm>
              <a:off x="3079884" y="809283"/>
              <a:ext cx="160200" cy="152400"/>
            </a:xfrm>
            <a:prstGeom prst="ellipse">
              <a:avLst/>
            </a:prstGeom>
            <a:solidFill>
              <a:srgbClr val="2E7D32"/>
            </a:solidFill>
            <a:ln cap="flat" cmpd="sng" w="175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4981" rotWithShape="0" dir="5400000" dist="17491">
                <a:srgbClr val="000000">
                  <a:alpha val="50200"/>
                </a:srgbClr>
              </a:outerShdw>
            </a:effectLst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17"/>
            <p:cNvSpPr txBox="1"/>
            <p:nvPr/>
          </p:nvSpPr>
          <p:spPr>
            <a:xfrm>
              <a:off x="1879805" y="789922"/>
              <a:ext cx="1268700" cy="19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25175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" sz="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 Apps Absorbed into MyAccess UI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17"/>
            <p:cNvSpPr txBox="1"/>
            <p:nvPr/>
          </p:nvSpPr>
          <p:spPr>
            <a:xfrm>
              <a:off x="2717729" y="1024297"/>
              <a:ext cx="8877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1" i="0" lang="en" sz="500" u="none" cap="none" strike="noStrike">
                  <a:solidFill>
                    <a:srgbClr val="2E7D32"/>
                  </a:solidFill>
                  <a:latin typeface="Calibri"/>
                  <a:ea typeface="Calibri"/>
                  <a:cs typeface="Calibri"/>
                  <a:sym typeface="Calibri"/>
                </a:rPr>
                <a:t>✓ Cockpit  Beta Release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1" i="0" lang="en" sz="500" u="none" cap="none" strike="noStrike">
                  <a:solidFill>
                    <a:srgbClr val="2E7D32"/>
                  </a:solidFill>
                  <a:latin typeface="Calibri"/>
                  <a:ea typeface="Calibri"/>
                  <a:cs typeface="Calibri"/>
                  <a:sym typeface="Calibri"/>
                </a:rPr>
                <a:t>· R1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7"/>
            <p:cNvSpPr txBox="1"/>
            <p:nvPr/>
          </p:nvSpPr>
          <p:spPr>
            <a:xfrm>
              <a:off x="4196877" y="1024297"/>
              <a:ext cx="795000" cy="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1" i="0" lang="en" sz="500" u="none" cap="none" strike="noStrike">
                  <a:solidFill>
                    <a:srgbClr val="2E7D32"/>
                  </a:solidFill>
                  <a:latin typeface="Calibri"/>
                  <a:ea typeface="Calibri"/>
                  <a:cs typeface="Calibri"/>
                  <a:sym typeface="Calibri"/>
                </a:rPr>
                <a:t>✓  Go-Live R2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7"/>
            <p:cNvSpPr/>
            <p:nvPr/>
          </p:nvSpPr>
          <p:spPr>
            <a:xfrm>
              <a:off x="4605864" y="809283"/>
              <a:ext cx="160200" cy="152400"/>
            </a:xfrm>
            <a:prstGeom prst="ellipse">
              <a:avLst/>
            </a:prstGeom>
            <a:solidFill>
              <a:srgbClr val="2E7D32"/>
            </a:solidFill>
            <a:ln cap="flat" cmpd="sng" w="175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4981" rotWithShape="0" dir="5400000" dist="17491">
                <a:srgbClr val="000000">
                  <a:alpha val="50200"/>
                </a:srgbClr>
              </a:outerShdw>
            </a:effectLst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57" name="Google Shape;257;p17"/>
            <p:cNvCxnSpPr/>
            <p:nvPr/>
          </p:nvCxnSpPr>
          <p:spPr>
            <a:xfrm>
              <a:off x="4790486" y="900377"/>
              <a:ext cx="758100" cy="0"/>
            </a:xfrm>
            <a:prstGeom prst="straightConnector1">
              <a:avLst/>
            </a:prstGeom>
            <a:noFill/>
            <a:ln cap="flat" cmpd="sng" w="12250">
              <a:solidFill>
                <a:srgbClr val="556070"/>
              </a:solidFill>
              <a:prstDash val="dash"/>
              <a:round/>
              <a:headEnd len="sm" w="sm" type="none"/>
              <a:tailEnd len="sm" w="sm" type="none"/>
            </a:ln>
            <a:effectLst>
              <a:outerShdw blurRad="22035" rotWithShape="0" dir="5400000" dist="11018">
                <a:srgbClr val="000000">
                  <a:alpha val="38040"/>
                </a:srgbClr>
              </a:outerShdw>
            </a:effectLst>
          </p:spPr>
        </p:cxnSp>
        <p:sp>
          <p:nvSpPr>
            <p:cNvPr id="258" name="Google Shape;258;p17"/>
            <p:cNvSpPr/>
            <p:nvPr/>
          </p:nvSpPr>
          <p:spPr>
            <a:xfrm>
              <a:off x="3943267" y="1017886"/>
              <a:ext cx="283500" cy="270300"/>
            </a:xfrm>
            <a:prstGeom prst="diamond">
              <a:avLst/>
            </a:prstGeom>
            <a:solidFill>
              <a:srgbClr val="FFFFFF"/>
            </a:solidFill>
            <a:ln cap="flat" cmpd="sng" w="17500">
              <a:solidFill>
                <a:srgbClr val="0D1A2E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1978" rotWithShape="0" dir="5400000" dist="20989">
                <a:srgbClr val="000000">
                  <a:alpha val="549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lang="en" sz="600">
                  <a:solidFill>
                    <a:srgbClr val="7B4F9E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1" i="0" lang="en" sz="600" u="none" cap="none" strike="noStrike">
                  <a:solidFill>
                    <a:srgbClr val="7B4F9E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7"/>
            <p:cNvSpPr txBox="1"/>
            <p:nvPr/>
          </p:nvSpPr>
          <p:spPr>
            <a:xfrm>
              <a:off x="3604304" y="1293670"/>
              <a:ext cx="887700" cy="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1" lang="en" sz="500" u="none" cap="none" strike="noStrike">
                  <a:solidFill>
                    <a:srgbClr val="556070"/>
                  </a:solidFill>
                  <a:latin typeface="Calibri"/>
                  <a:ea typeface="Calibri"/>
                  <a:cs typeface="Calibri"/>
                  <a:sym typeface="Calibri"/>
                </a:rPr>
                <a:t>Consolidation complete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7"/>
            <p:cNvSpPr/>
            <p:nvPr/>
          </p:nvSpPr>
          <p:spPr>
            <a:xfrm>
              <a:off x="5573589" y="789922"/>
              <a:ext cx="2663100" cy="192300"/>
            </a:xfrm>
            <a:prstGeom prst="rect">
              <a:avLst/>
            </a:prstGeom>
            <a:solidFill>
              <a:srgbClr val="7B4F9E"/>
            </a:solidFill>
            <a:ln>
              <a:noFill/>
            </a:ln>
          </p:spPr>
          <p:txBody>
            <a:bodyPr anchorCtr="0" anchor="ctr" bIns="0" lIns="50375" spcFirstLastPara="1" rIns="25175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" sz="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MyIAM Full Build  ·  Frontend + Backend Together </a:t>
              </a:r>
              <a:endParaRPr b="1" i="0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17"/>
            <p:cNvSpPr/>
            <p:nvPr/>
          </p:nvSpPr>
          <p:spPr>
            <a:xfrm>
              <a:off x="7706331" y="1016015"/>
              <a:ext cx="283500" cy="270300"/>
            </a:xfrm>
            <a:prstGeom prst="diamond">
              <a:avLst/>
            </a:prstGeom>
            <a:solidFill>
              <a:srgbClr val="FFFFFF"/>
            </a:solidFill>
            <a:ln cap="flat" cmpd="sng" w="17500">
              <a:solidFill>
                <a:srgbClr val="0D1A2E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1978" rotWithShape="0" dir="5400000" dist="20989">
                <a:srgbClr val="000000">
                  <a:alpha val="549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lang="en" sz="600">
                  <a:solidFill>
                    <a:srgbClr val="8A35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1" i="0" lang="en" sz="600" u="none" cap="none" strike="noStrike">
                  <a:solidFill>
                    <a:srgbClr val="8A35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7"/>
            <p:cNvSpPr txBox="1"/>
            <p:nvPr/>
          </p:nvSpPr>
          <p:spPr>
            <a:xfrm>
              <a:off x="7961633" y="1031798"/>
              <a:ext cx="777300" cy="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1" i="0" lang="en" sz="500" u="none" cap="none" strike="noStrike">
                  <a:solidFill>
                    <a:srgbClr val="2E7D32"/>
                  </a:solidFill>
                  <a:latin typeface="Calibri"/>
                  <a:ea typeface="Calibri"/>
                  <a:cs typeface="Calibri"/>
                  <a:sym typeface="Calibri"/>
                </a:rPr>
                <a:t>✓ MFE Live · R6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7"/>
            <p:cNvSpPr/>
            <p:nvPr/>
          </p:nvSpPr>
          <p:spPr>
            <a:xfrm>
              <a:off x="2022614" y="1625884"/>
              <a:ext cx="2663100" cy="1695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  <p:txBody>
            <a:bodyPr anchorCtr="0" anchor="ctr" bIns="0" lIns="50375" spcFirstLastPara="1" rIns="25175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1" i="0" lang="en" sz="5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Data Tier  ·  Source X → MyIAM DB Sync (NiFi)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7"/>
            <p:cNvSpPr/>
            <p:nvPr/>
          </p:nvSpPr>
          <p:spPr>
            <a:xfrm>
              <a:off x="1085635" y="1576126"/>
              <a:ext cx="729900" cy="234000"/>
            </a:xfrm>
            <a:prstGeom prst="roundRect">
              <a:avLst>
                <a:gd fmla="val 50000" name="adj"/>
              </a:avLst>
            </a:prstGeom>
            <a:noFill/>
            <a:ln cap="flat" cmpd="sng" w="8750">
              <a:solidFill>
                <a:srgbClr val="37474F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400" lIns="19850" spcFirstLastPara="1" rIns="19850" wrap="square" tIns="4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i="1" lang="en" sz="500" u="none" cap="none" strike="noStrike">
                  <a:solidFill>
                    <a:srgbClr val="37474F"/>
                  </a:solidFill>
                  <a:latin typeface="Calibri"/>
                  <a:ea typeface="Calibri"/>
                  <a:cs typeface="Calibri"/>
                  <a:sym typeface="Calibri"/>
                </a:rPr>
                <a:t>⬡</a:t>
              </a:r>
              <a:r>
                <a:rPr b="0" i="0" lang="en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1" lang="en" sz="500" u="none" cap="none" strike="noStrike">
                  <a:solidFill>
                    <a:srgbClr val="37474F"/>
                  </a:solidFill>
                  <a:latin typeface="Calibri"/>
                  <a:ea typeface="Calibri"/>
                  <a:cs typeface="Calibri"/>
                  <a:sym typeface="Calibri"/>
                </a:rPr>
                <a:t>NiFi Design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7"/>
            <p:cNvSpPr txBox="1"/>
            <p:nvPr/>
          </p:nvSpPr>
          <p:spPr>
            <a:xfrm>
              <a:off x="2910357" y="1832435"/>
              <a:ext cx="8877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en" sz="500" u="none" cap="none" strike="noStrike">
                  <a:solidFill>
                    <a:srgbClr val="556070"/>
                  </a:solidFill>
                  <a:latin typeface="Calibri"/>
                  <a:ea typeface="Calibri"/>
                  <a:cs typeface="Calibri"/>
                  <a:sym typeface="Calibri"/>
                </a:rPr>
                <a:t>NiFi Pipelines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en" sz="500" u="none" cap="none" strike="noStrike">
                  <a:solidFill>
                    <a:srgbClr val="556070"/>
                  </a:solidFill>
                  <a:latin typeface="Calibri"/>
                  <a:ea typeface="Calibri"/>
                  <a:cs typeface="Calibri"/>
                  <a:sym typeface="Calibri"/>
                </a:rPr>
                <a:t>AD→MyIAM  Sync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7"/>
            <p:cNvSpPr txBox="1"/>
            <p:nvPr/>
          </p:nvSpPr>
          <p:spPr>
            <a:xfrm>
              <a:off x="3798100" y="1832435"/>
              <a:ext cx="8877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en" sz="500" u="none" cap="none" strike="noStrike">
                  <a:solidFill>
                    <a:srgbClr val="556070"/>
                  </a:solidFill>
                  <a:latin typeface="Calibri"/>
                  <a:ea typeface="Calibri"/>
                  <a:cs typeface="Calibri"/>
                  <a:sym typeface="Calibri"/>
                </a:rPr>
                <a:t>Schema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en" sz="500" u="none" cap="none" strike="noStrike">
                  <a:solidFill>
                    <a:srgbClr val="556070"/>
                  </a:solidFill>
                  <a:latin typeface="Calibri"/>
                  <a:ea typeface="Calibri"/>
                  <a:cs typeface="Calibri"/>
                  <a:sym typeface="Calibri"/>
                </a:rPr>
                <a:t>Validation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17"/>
            <p:cNvSpPr/>
            <p:nvPr/>
          </p:nvSpPr>
          <p:spPr>
            <a:xfrm>
              <a:off x="4605864" y="1633898"/>
              <a:ext cx="160200" cy="152400"/>
            </a:xfrm>
            <a:prstGeom prst="ellipse">
              <a:avLst/>
            </a:prstGeom>
            <a:solidFill>
              <a:srgbClr val="2E7D32"/>
            </a:solidFill>
            <a:ln cap="flat" cmpd="sng" w="175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4981" rotWithShape="0" dir="5400000" dist="17491">
                <a:srgbClr val="000000">
                  <a:alpha val="50200"/>
                </a:srgbClr>
              </a:outerShdw>
            </a:effectLst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17"/>
            <p:cNvSpPr txBox="1"/>
            <p:nvPr/>
          </p:nvSpPr>
          <p:spPr>
            <a:xfrm>
              <a:off x="4473286" y="1870420"/>
              <a:ext cx="887700" cy="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1" i="0" lang="en" sz="500" u="none" cap="none" strike="noStrike">
                  <a:solidFill>
                    <a:srgbClr val="2E7D32"/>
                  </a:solidFill>
                  <a:latin typeface="Calibri"/>
                  <a:ea typeface="Calibri"/>
                  <a:cs typeface="Calibri"/>
                  <a:sym typeface="Calibri"/>
                </a:rPr>
                <a:t>✓ Foundation -1 · R3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17"/>
            <p:cNvSpPr/>
            <p:nvPr/>
          </p:nvSpPr>
          <p:spPr>
            <a:xfrm>
              <a:off x="3807077" y="2153249"/>
              <a:ext cx="2663100" cy="1695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  <p:txBody>
            <a:bodyPr anchorCtr="0" anchor="ctr" bIns="0" lIns="50375" spcFirstLastPara="1" rIns="25175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1" i="0" lang="en" sz="5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Core API  ·  Data Source X Write Ops  ·  AD Write Authority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17"/>
            <p:cNvSpPr/>
            <p:nvPr/>
          </p:nvSpPr>
          <p:spPr>
            <a:xfrm>
              <a:off x="1003779" y="2082537"/>
              <a:ext cx="729900" cy="234000"/>
            </a:xfrm>
            <a:prstGeom prst="roundRect">
              <a:avLst>
                <a:gd fmla="val 50000" name="adj"/>
              </a:avLst>
            </a:prstGeom>
            <a:noFill/>
            <a:ln cap="flat" cmpd="sng" w="8750">
              <a:solidFill>
                <a:srgbClr val="37474F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400" lIns="19850" spcFirstLastPara="1" rIns="19850" wrap="square" tIns="4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1" lang="en" sz="500" u="none" cap="none" strike="noStrike">
                  <a:solidFill>
                    <a:srgbClr val="37474F"/>
                  </a:solidFill>
                  <a:latin typeface="Calibri"/>
                  <a:ea typeface="Calibri"/>
                  <a:cs typeface="Calibri"/>
                  <a:sym typeface="Calibri"/>
                </a:rPr>
                <a:t>⬡ Core API Arch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17"/>
            <p:cNvSpPr txBox="1"/>
            <p:nvPr/>
          </p:nvSpPr>
          <p:spPr>
            <a:xfrm>
              <a:off x="3709539" y="2359788"/>
              <a:ext cx="8877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en" sz="500" u="none" cap="none" strike="noStrike">
                  <a:solidFill>
                    <a:srgbClr val="556070"/>
                  </a:solidFill>
                  <a:latin typeface="Calibri"/>
                  <a:ea typeface="Calibri"/>
                  <a:cs typeface="Calibri"/>
                  <a:sym typeface="Calibri"/>
                </a:rPr>
                <a:t>Proto: Arch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en" sz="500" u="none" cap="none" strike="noStrike">
                  <a:solidFill>
                    <a:srgbClr val="556070"/>
                  </a:solidFill>
                  <a:latin typeface="Calibri"/>
                  <a:ea typeface="Calibri"/>
                  <a:cs typeface="Calibri"/>
                  <a:sym typeface="Calibri"/>
                </a:rPr>
                <a:t>+ Interface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17"/>
            <p:cNvSpPr/>
            <p:nvPr/>
          </p:nvSpPr>
          <p:spPr>
            <a:xfrm>
              <a:off x="5912305" y="2393240"/>
              <a:ext cx="283500" cy="270300"/>
            </a:xfrm>
            <a:prstGeom prst="diamond">
              <a:avLst/>
            </a:prstGeom>
            <a:solidFill>
              <a:srgbClr val="FFFFFF"/>
            </a:solidFill>
            <a:ln cap="flat" cmpd="sng" w="17500">
              <a:solidFill>
                <a:srgbClr val="0D1A2E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1978" rotWithShape="0" dir="5400000" dist="20989">
                <a:srgbClr val="000000">
                  <a:alpha val="549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lang="en" sz="600">
                  <a:solidFill>
                    <a:srgbClr val="1565C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1" i="0" lang="en" sz="600" u="none" cap="none" strike="noStrike">
                  <a:solidFill>
                    <a:srgbClr val="1565C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17"/>
            <p:cNvSpPr txBox="1"/>
            <p:nvPr/>
          </p:nvSpPr>
          <p:spPr>
            <a:xfrm>
              <a:off x="6266438" y="2378775"/>
              <a:ext cx="10431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1" i="0" lang="en" sz="500" u="none" cap="none" strike="noStrike">
                  <a:solidFill>
                    <a:srgbClr val="2E7D32"/>
                  </a:solidFill>
                  <a:latin typeface="Calibri"/>
                  <a:ea typeface="Calibri"/>
                  <a:cs typeface="Calibri"/>
                  <a:sym typeface="Calibri"/>
                </a:rPr>
                <a:t>✓ Foundation -2 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1" i="0" lang="en" sz="500" u="none" cap="none" strike="noStrike">
                  <a:solidFill>
                    <a:srgbClr val="2E7D32"/>
                  </a:solidFill>
                  <a:latin typeface="Calibri"/>
                  <a:ea typeface="Calibri"/>
                  <a:cs typeface="Calibri"/>
                  <a:sym typeface="Calibri"/>
                </a:rPr>
                <a:t>· R4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17"/>
            <p:cNvSpPr/>
            <p:nvPr/>
          </p:nvSpPr>
          <p:spPr>
            <a:xfrm>
              <a:off x="4243014" y="2962743"/>
              <a:ext cx="3551100" cy="169500"/>
            </a:xfrm>
            <a:prstGeom prst="rect">
              <a:avLst/>
            </a:prstGeom>
            <a:solidFill>
              <a:srgbClr val="C84B00"/>
            </a:solidFill>
            <a:ln>
              <a:noFill/>
            </a:ln>
          </p:spPr>
          <p:txBody>
            <a:bodyPr anchorCtr="0" anchor="ctr" bIns="0" lIns="50375" spcFirstLastPara="1" rIns="25175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" sz="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API Microservice                                           · 4  MyX APIs modules migration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17"/>
            <p:cNvSpPr txBox="1"/>
            <p:nvPr/>
          </p:nvSpPr>
          <p:spPr>
            <a:xfrm>
              <a:off x="4690413" y="3169294"/>
              <a:ext cx="8877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en" sz="500" u="none" cap="none" strike="noStrike">
                  <a:solidFill>
                    <a:srgbClr val="556070"/>
                  </a:solidFill>
                  <a:latin typeface="Calibri"/>
                  <a:ea typeface="Calibri"/>
                  <a:cs typeface="Calibri"/>
                  <a:sym typeface="Calibri"/>
                </a:rPr>
                <a:t>API microservice 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en" sz="500" u="none" cap="none" strike="noStrike">
                  <a:solidFill>
                    <a:srgbClr val="556070"/>
                  </a:solidFill>
                  <a:latin typeface="Calibri"/>
                  <a:ea typeface="Calibri"/>
                  <a:cs typeface="Calibri"/>
                  <a:sym typeface="Calibri"/>
                </a:rPr>
                <a:t>Design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17"/>
            <p:cNvSpPr txBox="1"/>
            <p:nvPr/>
          </p:nvSpPr>
          <p:spPr>
            <a:xfrm>
              <a:off x="5465235" y="3169294"/>
              <a:ext cx="8877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en" sz="500" u="none" cap="none" strike="noStrike">
                  <a:solidFill>
                    <a:srgbClr val="556070"/>
                  </a:solidFill>
                  <a:latin typeface="Calibri"/>
                  <a:ea typeface="Calibri"/>
                  <a:cs typeface="Calibri"/>
                  <a:sym typeface="Calibri"/>
                </a:rPr>
                <a:t>Password +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en" sz="500" u="none" cap="none" strike="noStrike">
                  <a:solidFill>
                    <a:srgbClr val="556070"/>
                  </a:solidFill>
                  <a:latin typeface="Calibri"/>
                  <a:ea typeface="Calibri"/>
                  <a:cs typeface="Calibri"/>
                  <a:sym typeface="Calibri"/>
                </a:rPr>
                <a:t>Account APIs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17"/>
            <p:cNvSpPr txBox="1"/>
            <p:nvPr/>
          </p:nvSpPr>
          <p:spPr>
            <a:xfrm>
              <a:off x="6246700" y="3169294"/>
              <a:ext cx="8877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en" sz="500" u="none" cap="none" strike="noStrike">
                  <a:solidFill>
                    <a:srgbClr val="556070"/>
                  </a:solidFill>
                  <a:latin typeface="Calibri"/>
                  <a:ea typeface="Calibri"/>
                  <a:cs typeface="Calibri"/>
                  <a:sym typeface="Calibri"/>
                </a:rPr>
                <a:t>Group +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en" sz="500" u="none" cap="none" strike="noStrike">
                  <a:solidFill>
                    <a:srgbClr val="556070"/>
                  </a:solidFill>
                  <a:latin typeface="Calibri"/>
                  <a:ea typeface="Calibri"/>
                  <a:cs typeface="Calibri"/>
                  <a:sym typeface="Calibri"/>
                </a:rPr>
                <a:t>SSO APIs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17"/>
            <p:cNvSpPr/>
            <p:nvPr/>
          </p:nvSpPr>
          <p:spPr>
            <a:xfrm>
              <a:off x="7193497" y="3147146"/>
              <a:ext cx="283500" cy="270300"/>
            </a:xfrm>
            <a:prstGeom prst="diamond">
              <a:avLst/>
            </a:prstGeom>
            <a:solidFill>
              <a:srgbClr val="FFFFFF"/>
            </a:solidFill>
            <a:ln cap="flat" cmpd="sng" w="17500">
              <a:solidFill>
                <a:srgbClr val="0D1A2E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1978" rotWithShape="0" dir="5400000" dist="20989">
                <a:srgbClr val="000000">
                  <a:alpha val="549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lang="en" sz="600">
                  <a:solidFill>
                    <a:srgbClr val="C84B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1" i="0" lang="en" sz="600" u="none" cap="none" strike="noStrike">
                  <a:solidFill>
                    <a:srgbClr val="C84B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17"/>
            <p:cNvSpPr txBox="1"/>
            <p:nvPr/>
          </p:nvSpPr>
          <p:spPr>
            <a:xfrm>
              <a:off x="7433348" y="3169294"/>
              <a:ext cx="887700" cy="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1" i="0" lang="en" sz="500" u="none" cap="none" strike="noStrike">
                  <a:solidFill>
                    <a:srgbClr val="2E7D32"/>
                  </a:solidFill>
                  <a:latin typeface="Calibri"/>
                  <a:ea typeface="Calibri"/>
                  <a:cs typeface="Calibri"/>
                  <a:sym typeface="Calibri"/>
                </a:rPr>
                <a:t>✓ API Live R5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17"/>
            <p:cNvSpPr/>
            <p:nvPr/>
          </p:nvSpPr>
          <p:spPr>
            <a:xfrm>
              <a:off x="2614443" y="3705121"/>
              <a:ext cx="2959200" cy="169500"/>
            </a:xfrm>
            <a:prstGeom prst="rect">
              <a:avLst/>
            </a:prstGeom>
            <a:solidFill>
              <a:srgbClr val="0E6B50"/>
            </a:solidFill>
            <a:ln>
              <a:noFill/>
            </a:ln>
          </p:spPr>
          <p:txBody>
            <a:bodyPr anchorCtr="0" anchor="ctr" bIns="0" lIns="50375" spcFirstLastPara="1" rIns="25175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1" i="0" lang="en" sz="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· Infrastructure · </a:t>
              </a:r>
              <a:r>
                <a:rPr b="1" i="0" lang="en" sz="5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DevSecOps  ·  LPA, Zero Trust  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17"/>
            <p:cNvSpPr/>
            <p:nvPr/>
          </p:nvSpPr>
          <p:spPr>
            <a:xfrm>
              <a:off x="5573587" y="3705126"/>
              <a:ext cx="1513800" cy="169500"/>
            </a:xfrm>
            <a:prstGeom prst="rect">
              <a:avLst/>
            </a:prstGeom>
            <a:solidFill>
              <a:srgbClr val="A9D4C5"/>
            </a:solidFill>
            <a:ln>
              <a:noFill/>
            </a:ln>
          </p:spPr>
          <p:txBody>
            <a:bodyPr anchorCtr="0" anchor="ctr" bIns="0" lIns="50375" spcFirstLastPara="1" rIns="25175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1" i="1" lang="en" sz="5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Continues through project close →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17"/>
            <p:cNvSpPr/>
            <p:nvPr/>
          </p:nvSpPr>
          <p:spPr>
            <a:xfrm>
              <a:off x="7594482" y="1740206"/>
              <a:ext cx="1513800" cy="346200"/>
            </a:xfrm>
            <a:prstGeom prst="roundRect">
              <a:avLst>
                <a:gd fmla="val 8000" name="adj"/>
              </a:avLst>
            </a:prstGeom>
            <a:solidFill>
              <a:srgbClr val="EEF2F7"/>
            </a:solidFill>
            <a:ln cap="flat" cmpd="sng" w="7150">
              <a:solidFill>
                <a:srgbClr val="B8C4D8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22025" lIns="33050" spcFirstLastPara="1" rIns="33050" wrap="square" tIns="220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1" i="0" lang="en" sz="500" u="none" cap="none" strike="noStrike">
                  <a:solidFill>
                    <a:srgbClr val="212B3D"/>
                  </a:solidFill>
                  <a:latin typeface="Calibri"/>
                  <a:ea typeface="Calibri"/>
                  <a:cs typeface="Calibri"/>
                  <a:sym typeface="Calibri"/>
                </a:rPr>
                <a:t>↻ From 2029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1" lang="en" sz="500" u="none" cap="none" strike="noStrike">
                  <a:solidFill>
                    <a:srgbClr val="556070"/>
                  </a:solidFill>
                  <a:latin typeface="Calibri"/>
                  <a:ea typeface="Calibri"/>
                  <a:cs typeface="Calibri"/>
                  <a:sym typeface="Calibri"/>
                </a:rPr>
                <a:t>Annual upgrade (Jul–Aug)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17"/>
            <p:cNvSpPr/>
            <p:nvPr/>
          </p:nvSpPr>
          <p:spPr>
            <a:xfrm>
              <a:off x="5573597" y="4271125"/>
              <a:ext cx="1775400" cy="169500"/>
            </a:xfrm>
            <a:prstGeom prst="rect">
              <a:avLst/>
            </a:prstGeom>
            <a:solidFill>
              <a:srgbClr val="8B3A3A"/>
            </a:solidFill>
            <a:ln>
              <a:noFill/>
            </a:ln>
          </p:spPr>
          <p:txBody>
            <a:bodyPr anchorCtr="0" anchor="ctr" bIns="0" lIns="50375" spcFirstLastPara="1" rIns="25175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" sz="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·  MyX Apps Sunset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17"/>
            <p:cNvSpPr txBox="1"/>
            <p:nvPr/>
          </p:nvSpPr>
          <p:spPr>
            <a:xfrm>
              <a:off x="5496337" y="4536583"/>
              <a:ext cx="622200" cy="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en" sz="500" u="none" cap="none" strike="noStrike">
                  <a:solidFill>
                    <a:srgbClr val="556070"/>
                  </a:solidFill>
                  <a:latin typeface="Calibri"/>
                  <a:ea typeface="Calibri"/>
                  <a:cs typeface="Calibri"/>
                  <a:sym typeface="Calibri"/>
                </a:rPr>
                <a:t>MyPassword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17"/>
            <p:cNvSpPr txBox="1"/>
            <p:nvPr/>
          </p:nvSpPr>
          <p:spPr>
            <a:xfrm>
              <a:off x="6098690" y="4477680"/>
              <a:ext cx="887700" cy="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en" sz="500" u="none" cap="none" strike="noStrike">
                  <a:solidFill>
                    <a:srgbClr val="556070"/>
                  </a:solidFill>
                  <a:latin typeface="Calibri"/>
                  <a:ea typeface="Calibri"/>
                  <a:cs typeface="Calibri"/>
                  <a:sym typeface="Calibri"/>
                </a:rPr>
                <a:t>MyAppConnect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17"/>
            <p:cNvSpPr/>
            <p:nvPr/>
          </p:nvSpPr>
          <p:spPr>
            <a:xfrm>
              <a:off x="8118880" y="4279143"/>
              <a:ext cx="160200" cy="152400"/>
            </a:xfrm>
            <a:prstGeom prst="ellipse">
              <a:avLst/>
            </a:prstGeom>
            <a:solidFill>
              <a:srgbClr val="2E7D32"/>
            </a:solidFill>
            <a:ln cap="flat" cmpd="sng" w="175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4981" rotWithShape="0" dir="5400000" dist="17491">
                <a:srgbClr val="000000">
                  <a:alpha val="50200"/>
                </a:srgbClr>
              </a:outerShdw>
            </a:effectLst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17"/>
            <p:cNvSpPr txBox="1"/>
            <p:nvPr/>
          </p:nvSpPr>
          <p:spPr>
            <a:xfrm>
              <a:off x="8268385" y="4507132"/>
              <a:ext cx="8877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1" i="0" lang="en" sz="500" u="none" cap="none" strike="noStrike">
                  <a:solidFill>
                    <a:srgbClr val="2E7D32"/>
                  </a:solidFill>
                  <a:latin typeface="Calibri"/>
                  <a:ea typeface="Calibri"/>
                  <a:cs typeface="Calibri"/>
                  <a:sym typeface="Calibri"/>
                </a:rPr>
                <a:t>✓ Decom.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1" i="0" lang="en" sz="500" u="none" cap="none" strike="noStrike">
                  <a:solidFill>
                    <a:srgbClr val="2E7D32"/>
                  </a:solidFill>
                  <a:latin typeface="Calibri"/>
                  <a:ea typeface="Calibri"/>
                  <a:cs typeface="Calibri"/>
                  <a:sym typeface="Calibri"/>
                </a:rPr>
                <a:t>Complete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17"/>
            <p:cNvSpPr txBox="1"/>
            <p:nvPr/>
          </p:nvSpPr>
          <p:spPr>
            <a:xfrm>
              <a:off x="8407520" y="4271130"/>
              <a:ext cx="742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1" i="1" lang="en" sz="500" u="none" cap="none" strike="noStrike">
                  <a:solidFill>
                    <a:srgbClr val="8B3A3A"/>
                  </a:solidFill>
                  <a:latin typeface="Calibri"/>
                  <a:ea typeface="Calibri"/>
                  <a:cs typeface="Calibri"/>
                  <a:sym typeface="Calibri"/>
                </a:rPr>
                <a:t>4 Apps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1" i="1" lang="en" sz="500" u="none" cap="none" strike="noStrike">
                  <a:solidFill>
                    <a:srgbClr val="8B3A3A"/>
                  </a:solidFill>
                  <a:latin typeface="Calibri"/>
                  <a:ea typeface="Calibri"/>
                  <a:cs typeface="Calibri"/>
                  <a:sym typeface="Calibri"/>
                </a:rPr>
                <a:t>Retired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9" name="Google Shape;289;p17"/>
            <p:cNvCxnSpPr>
              <a:endCxn id="231" idx="0"/>
            </p:cNvCxnSpPr>
            <p:nvPr/>
          </p:nvCxnSpPr>
          <p:spPr>
            <a:xfrm flipH="1">
              <a:off x="5061605" y="291234"/>
              <a:ext cx="21600" cy="3793500"/>
            </a:xfrm>
            <a:prstGeom prst="straightConnector1">
              <a:avLst/>
            </a:prstGeom>
            <a:noFill/>
            <a:ln cap="flat" cmpd="sng" w="10500">
              <a:solidFill>
                <a:srgbClr val="556070"/>
              </a:solidFill>
              <a:prstDash val="dot"/>
              <a:round/>
              <a:headEnd len="sm" w="sm" type="none"/>
              <a:tailEnd len="sm" w="sm" type="none"/>
            </a:ln>
            <a:effectLst>
              <a:outerShdw blurRad="22035" rotWithShape="0" dir="5400000" dist="11018">
                <a:srgbClr val="000000">
                  <a:alpha val="38040"/>
                </a:srgbClr>
              </a:outerShdw>
            </a:effectLst>
          </p:spPr>
        </p:cxnSp>
        <p:sp>
          <p:nvSpPr>
            <p:cNvPr id="290" name="Google Shape;290;p17"/>
            <p:cNvSpPr/>
            <p:nvPr/>
          </p:nvSpPr>
          <p:spPr>
            <a:xfrm>
              <a:off x="979355" y="4964041"/>
              <a:ext cx="8164500" cy="6000"/>
            </a:xfrm>
            <a:prstGeom prst="rect">
              <a:avLst/>
            </a:prstGeom>
            <a:solidFill>
              <a:srgbClr val="CBD5E0"/>
            </a:solidFill>
            <a:ln>
              <a:noFill/>
            </a:ln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17"/>
            <p:cNvSpPr/>
            <p:nvPr/>
          </p:nvSpPr>
          <p:spPr>
            <a:xfrm>
              <a:off x="1002156" y="5007278"/>
              <a:ext cx="85200" cy="85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7"/>
            <p:cNvSpPr txBox="1"/>
            <p:nvPr/>
          </p:nvSpPr>
          <p:spPr>
            <a:xfrm>
              <a:off x="1142864" y="5008669"/>
              <a:ext cx="1299900" cy="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en" sz="500" u="none" cap="none" strike="noStrike">
                  <a:solidFill>
                    <a:srgbClr val="212B3D"/>
                  </a:solidFill>
                  <a:latin typeface="Calibri"/>
                  <a:ea typeface="Calibri"/>
                  <a:cs typeface="Calibri"/>
                  <a:sym typeface="Calibri"/>
                </a:rPr>
                <a:t>Go-live / release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17"/>
            <p:cNvSpPr/>
            <p:nvPr/>
          </p:nvSpPr>
          <p:spPr>
            <a:xfrm>
              <a:off x="2120558" y="5003313"/>
              <a:ext cx="86100" cy="86100"/>
            </a:xfrm>
            <a:prstGeom prst="diamond">
              <a:avLst/>
            </a:prstGeom>
            <a:solidFill>
              <a:srgbClr val="7B4F9E"/>
            </a:solidFill>
            <a:ln>
              <a:noFill/>
            </a:ln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17"/>
            <p:cNvSpPr txBox="1"/>
            <p:nvPr/>
          </p:nvSpPr>
          <p:spPr>
            <a:xfrm>
              <a:off x="2255311" y="5008669"/>
              <a:ext cx="1296000" cy="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en" sz="500" u="none" cap="none" strike="noStrike">
                  <a:solidFill>
                    <a:srgbClr val="212B3D"/>
                  </a:solidFill>
                  <a:latin typeface="Calibri"/>
                  <a:ea typeface="Calibri"/>
                  <a:cs typeface="Calibri"/>
                  <a:sym typeface="Calibri"/>
                </a:rPr>
                <a:t>G1–G4 decision gate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17"/>
            <p:cNvSpPr/>
            <p:nvPr/>
          </p:nvSpPr>
          <p:spPr>
            <a:xfrm>
              <a:off x="3456056" y="5018233"/>
              <a:ext cx="510300" cy="95700"/>
            </a:xfrm>
            <a:prstGeom prst="roundRect">
              <a:avLst>
                <a:gd fmla="val 50000" name="adj"/>
              </a:avLst>
            </a:prstGeom>
            <a:noFill/>
            <a:ln cap="flat" cmpd="sng" w="8750">
              <a:solidFill>
                <a:srgbClr val="37474F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400" lIns="19850" spcFirstLastPara="1" rIns="19850" wrap="square" tIns="4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17"/>
            <p:cNvSpPr txBox="1"/>
            <p:nvPr/>
          </p:nvSpPr>
          <p:spPr>
            <a:xfrm>
              <a:off x="4014718" y="5008669"/>
              <a:ext cx="705000" cy="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en" sz="500" u="none" cap="none" strike="noStrike">
                  <a:solidFill>
                    <a:srgbClr val="212B3D"/>
                  </a:solidFill>
                  <a:latin typeface="Calibri"/>
                  <a:ea typeface="Calibri"/>
                  <a:cs typeface="Calibri"/>
                  <a:sym typeface="Calibri"/>
                </a:rPr>
                <a:t>Prototype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97" name="Google Shape;297;p17"/>
            <p:cNvCxnSpPr/>
            <p:nvPr/>
          </p:nvCxnSpPr>
          <p:spPr>
            <a:xfrm>
              <a:off x="4732346" y="5003313"/>
              <a:ext cx="0" cy="86100"/>
            </a:xfrm>
            <a:prstGeom prst="straightConnector1">
              <a:avLst/>
            </a:prstGeom>
            <a:noFill/>
            <a:ln cap="flat" cmpd="sng" w="10500">
              <a:solidFill>
                <a:srgbClr val="556070"/>
              </a:solidFill>
              <a:prstDash val="dot"/>
              <a:round/>
              <a:headEnd len="sm" w="sm" type="none"/>
              <a:tailEnd len="sm" w="sm" type="none"/>
            </a:ln>
          </p:spPr>
        </p:cxnSp>
        <p:sp>
          <p:nvSpPr>
            <p:cNvPr id="298" name="Google Shape;298;p17"/>
            <p:cNvSpPr txBox="1"/>
            <p:nvPr/>
          </p:nvSpPr>
          <p:spPr>
            <a:xfrm>
              <a:off x="4825617" y="5008669"/>
              <a:ext cx="1119300" cy="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en" sz="500" u="none" cap="none" strike="noStrike">
                  <a:solidFill>
                    <a:srgbClr val="212B3D"/>
                  </a:solidFill>
                  <a:latin typeface="Calibri"/>
                  <a:ea typeface="Calibri"/>
                  <a:cs typeface="Calibri"/>
                  <a:sym typeface="Calibri"/>
                </a:rPr>
                <a:t>MyIAM Evolvement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99" name="Google Shape;299;p17"/>
            <p:cNvCxnSpPr/>
            <p:nvPr/>
          </p:nvCxnSpPr>
          <p:spPr>
            <a:xfrm>
              <a:off x="6084952" y="5056485"/>
              <a:ext cx="164100" cy="0"/>
            </a:xfrm>
            <a:prstGeom prst="straightConnector1">
              <a:avLst/>
            </a:prstGeom>
            <a:noFill/>
            <a:ln cap="flat" cmpd="sng" w="10500">
              <a:solidFill>
                <a:srgbClr val="556070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300" name="Google Shape;300;p17"/>
            <p:cNvSpPr txBox="1"/>
            <p:nvPr/>
          </p:nvSpPr>
          <p:spPr>
            <a:xfrm>
              <a:off x="6297611" y="5008669"/>
              <a:ext cx="1006500" cy="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en" sz="500" u="none" cap="none" strike="noStrike">
                  <a:solidFill>
                    <a:srgbClr val="212B3D"/>
                  </a:solidFill>
                  <a:latin typeface="Calibri"/>
                  <a:ea typeface="Calibri"/>
                  <a:cs typeface="Calibri"/>
                  <a:sym typeface="Calibri"/>
                </a:rPr>
                <a:t>Transition gap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17"/>
            <p:cNvSpPr txBox="1"/>
            <p:nvPr/>
          </p:nvSpPr>
          <p:spPr>
            <a:xfrm>
              <a:off x="7202802" y="5008669"/>
              <a:ext cx="990900" cy="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en" sz="500" u="none" cap="none" strike="noStrike">
                  <a:solidFill>
                    <a:srgbClr val="212B3D"/>
                  </a:solidFill>
                  <a:latin typeface="Calibri"/>
                  <a:ea typeface="Calibri"/>
                  <a:cs typeface="Calibri"/>
                  <a:sym typeface="Calibri"/>
                </a:rPr>
                <a:t>Phase boundary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17"/>
            <p:cNvSpPr/>
            <p:nvPr/>
          </p:nvSpPr>
          <p:spPr>
            <a:xfrm>
              <a:off x="8198934" y="5011858"/>
              <a:ext cx="148500" cy="89100"/>
            </a:xfrm>
            <a:prstGeom prst="roundRect">
              <a:avLst>
                <a:gd fmla="val 20000" name="adj"/>
              </a:avLst>
            </a:prstGeom>
            <a:solidFill>
              <a:srgbClr val="EEF2F7"/>
            </a:solidFill>
            <a:ln cap="flat" cmpd="sng" w="7150">
              <a:solidFill>
                <a:srgbClr val="B8C4D8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17"/>
            <p:cNvSpPr txBox="1"/>
            <p:nvPr/>
          </p:nvSpPr>
          <p:spPr>
            <a:xfrm>
              <a:off x="8395846" y="5008669"/>
              <a:ext cx="938700" cy="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en" sz="500" u="none" cap="none" strike="noStrike">
                  <a:solidFill>
                    <a:srgbClr val="212B3D"/>
                  </a:solidFill>
                  <a:latin typeface="Calibri"/>
                  <a:ea typeface="Calibri"/>
                  <a:cs typeface="Calibri"/>
                  <a:sym typeface="Calibri"/>
                </a:rPr>
                <a:t>Planning note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17"/>
            <p:cNvSpPr/>
            <p:nvPr/>
          </p:nvSpPr>
          <p:spPr>
            <a:xfrm>
              <a:off x="8160174" y="808112"/>
              <a:ext cx="160200" cy="152400"/>
            </a:xfrm>
            <a:prstGeom prst="ellipse">
              <a:avLst/>
            </a:prstGeom>
            <a:solidFill>
              <a:srgbClr val="2E7D32"/>
            </a:solidFill>
            <a:ln cap="flat" cmpd="sng" w="175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4981" rotWithShape="0" dir="5400000" dist="17491">
                <a:srgbClr val="000000">
                  <a:alpha val="50200"/>
                </a:srgbClr>
              </a:outerShdw>
            </a:effectLst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7"/>
            <p:cNvSpPr txBox="1"/>
            <p:nvPr/>
          </p:nvSpPr>
          <p:spPr>
            <a:xfrm>
              <a:off x="5572104" y="2683216"/>
              <a:ext cx="887700" cy="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1" lang="en" sz="500" u="none" cap="none" strike="noStrike">
                  <a:solidFill>
                    <a:srgbClr val="556070"/>
                  </a:solidFill>
                  <a:latin typeface="Calibri"/>
                  <a:ea typeface="Calibri"/>
                  <a:cs typeface="Calibri"/>
                  <a:sym typeface="Calibri"/>
                </a:rPr>
                <a:t>Core foundation complete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17"/>
            <p:cNvSpPr/>
            <p:nvPr/>
          </p:nvSpPr>
          <p:spPr>
            <a:xfrm>
              <a:off x="6388255" y="2154610"/>
              <a:ext cx="160200" cy="152400"/>
            </a:xfrm>
            <a:prstGeom prst="ellipse">
              <a:avLst/>
            </a:prstGeom>
            <a:solidFill>
              <a:srgbClr val="2E7D32"/>
            </a:solidFill>
            <a:ln cap="flat" cmpd="sng" w="175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4981" rotWithShape="0" dir="5400000" dist="17491">
                <a:srgbClr val="000000">
                  <a:alpha val="50200"/>
                </a:srgbClr>
              </a:outerShdw>
            </a:effectLst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17"/>
            <p:cNvSpPr/>
            <p:nvPr/>
          </p:nvSpPr>
          <p:spPr>
            <a:xfrm>
              <a:off x="7745752" y="2962478"/>
              <a:ext cx="160200" cy="152400"/>
            </a:xfrm>
            <a:prstGeom prst="ellipse">
              <a:avLst/>
            </a:prstGeom>
            <a:solidFill>
              <a:srgbClr val="2E7D32"/>
            </a:solidFill>
            <a:ln cap="flat" cmpd="sng" w="175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4981" rotWithShape="0" dir="5400000" dist="17491">
                <a:srgbClr val="000000">
                  <a:alpha val="50200"/>
                </a:srgbClr>
              </a:outerShdw>
            </a:effectLst>
          </p:spPr>
          <p:txBody>
            <a:bodyPr anchorCtr="0" anchor="ctr" bIns="25175" lIns="50375" spcFirstLastPara="1" rIns="50375" wrap="square" tIns="251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17"/>
            <p:cNvSpPr txBox="1"/>
            <p:nvPr/>
          </p:nvSpPr>
          <p:spPr>
            <a:xfrm>
              <a:off x="6829172" y="3461633"/>
              <a:ext cx="887700" cy="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1" lang="en" sz="500" u="none" cap="none" strike="noStrike">
                  <a:solidFill>
                    <a:srgbClr val="556070"/>
                  </a:solidFill>
                  <a:latin typeface="Calibri"/>
                  <a:ea typeface="Calibri"/>
                  <a:cs typeface="Calibri"/>
                  <a:sym typeface="Calibri"/>
                </a:rPr>
                <a:t>microservices complete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17"/>
            <p:cNvSpPr txBox="1"/>
            <p:nvPr/>
          </p:nvSpPr>
          <p:spPr>
            <a:xfrm>
              <a:off x="5949969" y="4696507"/>
              <a:ext cx="622200" cy="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en" sz="500" u="none" cap="none" strike="noStrike">
                  <a:solidFill>
                    <a:srgbClr val="556070"/>
                  </a:solidFill>
                  <a:latin typeface="Calibri"/>
                  <a:ea typeface="Calibri"/>
                  <a:cs typeface="Calibri"/>
                  <a:sym typeface="Calibri"/>
                </a:rPr>
                <a:t>MyAccount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7"/>
            <p:cNvSpPr txBox="1"/>
            <p:nvPr/>
          </p:nvSpPr>
          <p:spPr>
            <a:xfrm>
              <a:off x="6759630" y="4674425"/>
              <a:ext cx="705000" cy="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en" sz="500" u="none" cap="none" strike="noStrike">
                  <a:solidFill>
                    <a:srgbClr val="556070"/>
                  </a:solidFill>
                  <a:latin typeface="Calibri"/>
                  <a:ea typeface="Calibri"/>
                  <a:cs typeface="Calibri"/>
                  <a:sym typeface="Calibri"/>
                </a:rPr>
                <a:t>MyAccess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17"/>
            <p:cNvSpPr txBox="1"/>
            <p:nvPr/>
          </p:nvSpPr>
          <p:spPr>
            <a:xfrm>
              <a:off x="7472538" y="1350513"/>
              <a:ext cx="887700" cy="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1" lang="en" sz="500" u="none" cap="none" strike="noStrike">
                  <a:solidFill>
                    <a:srgbClr val="556070"/>
                  </a:solidFill>
                  <a:latin typeface="Calibri"/>
                  <a:ea typeface="Calibri"/>
                  <a:cs typeface="Calibri"/>
                  <a:sym typeface="Calibri"/>
                </a:rPr>
                <a:t>full build complete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17"/>
            <p:cNvSpPr/>
            <p:nvPr/>
          </p:nvSpPr>
          <p:spPr>
            <a:xfrm rot="10800000">
              <a:off x="5697634" y="4444864"/>
              <a:ext cx="68400" cy="48300"/>
            </a:xfrm>
            <a:prstGeom prst="triangle">
              <a:avLst>
                <a:gd fmla="val 50000" name="adj"/>
              </a:avLst>
            </a:prstGeom>
            <a:solidFill>
              <a:srgbClr val="8B3A3A"/>
            </a:solidFill>
            <a:ln>
              <a:noFill/>
            </a:ln>
          </p:spPr>
          <p:txBody>
            <a:bodyPr anchorCtr="0" anchor="t" bIns="25175" lIns="50375" spcFirstLastPara="1" rIns="50375" wrap="square" tIns="25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17"/>
            <p:cNvSpPr/>
            <p:nvPr/>
          </p:nvSpPr>
          <p:spPr>
            <a:xfrm rot="10800000">
              <a:off x="6226862" y="4589430"/>
              <a:ext cx="68400" cy="48300"/>
            </a:xfrm>
            <a:prstGeom prst="triangle">
              <a:avLst>
                <a:gd fmla="val 50000" name="adj"/>
              </a:avLst>
            </a:prstGeom>
            <a:solidFill>
              <a:srgbClr val="8B3A3A"/>
            </a:solidFill>
            <a:ln>
              <a:noFill/>
            </a:ln>
          </p:spPr>
          <p:txBody>
            <a:bodyPr anchorCtr="0" anchor="t" bIns="25175" lIns="50375" spcFirstLastPara="1" rIns="50375" wrap="square" tIns="25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17"/>
            <p:cNvSpPr/>
            <p:nvPr/>
          </p:nvSpPr>
          <p:spPr>
            <a:xfrm rot="10800000">
              <a:off x="6508327" y="4444864"/>
              <a:ext cx="68400" cy="48300"/>
            </a:xfrm>
            <a:prstGeom prst="triangle">
              <a:avLst>
                <a:gd fmla="val 50000" name="adj"/>
              </a:avLst>
            </a:prstGeom>
            <a:solidFill>
              <a:srgbClr val="8B3A3A"/>
            </a:solidFill>
            <a:ln>
              <a:noFill/>
            </a:ln>
          </p:spPr>
          <p:txBody>
            <a:bodyPr anchorCtr="0" anchor="t" bIns="25175" lIns="50375" spcFirstLastPara="1" rIns="50375" wrap="square" tIns="25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7"/>
            <p:cNvSpPr/>
            <p:nvPr/>
          </p:nvSpPr>
          <p:spPr>
            <a:xfrm rot="10800000">
              <a:off x="7140968" y="4610083"/>
              <a:ext cx="68400" cy="48300"/>
            </a:xfrm>
            <a:prstGeom prst="triangle">
              <a:avLst>
                <a:gd fmla="val 50000" name="adj"/>
              </a:avLst>
            </a:prstGeom>
            <a:solidFill>
              <a:srgbClr val="8B3A3A"/>
            </a:solidFill>
            <a:ln>
              <a:noFill/>
            </a:ln>
          </p:spPr>
          <p:txBody>
            <a:bodyPr anchorCtr="0" anchor="t" bIns="25175" lIns="50375" spcFirstLastPara="1" rIns="50375" wrap="square" tIns="25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17"/>
            <p:cNvSpPr/>
            <p:nvPr/>
          </p:nvSpPr>
          <p:spPr>
            <a:xfrm>
              <a:off x="1117496" y="2914410"/>
              <a:ext cx="729900" cy="234000"/>
            </a:xfrm>
            <a:prstGeom prst="roundRect">
              <a:avLst>
                <a:gd fmla="val 50000" name="adj"/>
              </a:avLst>
            </a:prstGeom>
            <a:noFill/>
            <a:ln cap="flat" cmpd="sng" w="8750">
              <a:solidFill>
                <a:srgbClr val="37474F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400" lIns="19850" spcFirstLastPara="1" rIns="19850" wrap="square" tIns="4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1" lang="en" sz="500" u="none" cap="none" strike="noStrike">
                  <a:solidFill>
                    <a:srgbClr val="37474F"/>
                  </a:solidFill>
                  <a:latin typeface="Calibri"/>
                  <a:ea typeface="Calibri"/>
                  <a:cs typeface="Calibri"/>
                  <a:sym typeface="Calibri"/>
                </a:rPr>
                <a:t>⬡ Initial design microservice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17"/>
            <p:cNvSpPr txBox="1"/>
            <p:nvPr/>
          </p:nvSpPr>
          <p:spPr>
            <a:xfrm>
              <a:off x="59694" y="4985352"/>
              <a:ext cx="969900" cy="14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"/>
                <a:buFont typeface="Arial"/>
                <a:buNone/>
              </a:pPr>
              <a:r>
                <a:rPr b="1" i="0" lang="en" sz="300" u="none" cap="none" strike="noStrike">
                  <a:solidFill>
                    <a:srgbClr val="B8C4D8"/>
                  </a:solidFill>
                  <a:latin typeface="Calibri"/>
                  <a:ea typeface="Calibri"/>
                  <a:cs typeface="Calibri"/>
                  <a:sym typeface="Calibri"/>
                </a:rPr>
                <a:t>IIDIA · Airbus India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"/>
                <a:buFont typeface="Arial"/>
                <a:buNone/>
              </a:pPr>
              <a:r>
                <a:rPr b="0" i="0" lang="en" sz="300" u="none" cap="none" strike="noStrike">
                  <a:solidFill>
                    <a:srgbClr val="7D8FAE"/>
                  </a:solidFill>
                  <a:latin typeface="Calibri"/>
                  <a:ea typeface="Calibri"/>
                  <a:cs typeface="Calibri"/>
                  <a:sym typeface="Calibri"/>
                </a:rPr>
                <a:t>Internal – v1.0 · Jun 2026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_navy.png" id="318" name="Google Shape;31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5277" y="4855464"/>
            <a:ext cx="809244" cy="151347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7"/>
          <p:cNvSpPr/>
          <p:nvPr/>
        </p:nvSpPr>
        <p:spPr>
          <a:xfrm>
            <a:off x="7347850" y="4270524"/>
            <a:ext cx="774900" cy="1695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0" lIns="50375" spcFirstLastPara="1" rIns="251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b="1" i="1" lang="en" sz="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Buffer due to complex business </a:t>
            </a:r>
            <a:r>
              <a:rPr b="1" i="1" lang="en" sz="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→</a:t>
            </a: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0" name="Google Shape;320;p17"/>
          <p:cNvGrpSpPr/>
          <p:nvPr/>
        </p:nvGrpSpPr>
        <p:grpSpPr>
          <a:xfrm>
            <a:off x="7836847" y="4594975"/>
            <a:ext cx="666900" cy="209700"/>
            <a:chOff x="0" y="0"/>
            <a:chExt cx="666900" cy="209700"/>
          </a:xfrm>
        </p:grpSpPr>
        <p:sp>
          <p:nvSpPr>
            <p:cNvPr id="321" name="Google Shape;321;p17"/>
            <p:cNvSpPr/>
            <p:nvPr/>
          </p:nvSpPr>
          <p:spPr>
            <a:xfrm>
              <a:off x="0" y="0"/>
              <a:ext cx="666900" cy="209700"/>
            </a:xfrm>
            <a:prstGeom prst="roundRect">
              <a:avLst>
                <a:gd fmla="val 18181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7"/>
            <p:cNvSpPr txBox="1"/>
            <p:nvPr/>
          </p:nvSpPr>
          <p:spPr>
            <a:xfrm>
              <a:off x="0" y="0"/>
              <a:ext cx="6669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DRAFT</a:t>
              </a:r>
              <a:endPara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8"/>
          <p:cNvSpPr/>
          <p:nvPr/>
        </p:nvSpPr>
        <p:spPr>
          <a:xfrm>
            <a:off x="7086600" y="0"/>
            <a:ext cx="2057400" cy="514350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8"/>
          <p:cNvSpPr txBox="1"/>
          <p:nvPr/>
        </p:nvSpPr>
        <p:spPr>
          <a:xfrm>
            <a:off x="7305675" y="581025"/>
            <a:ext cx="1744500" cy="6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Parallel</a:t>
            </a:r>
            <a:endParaRPr b="1"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Studies</a:t>
            </a:r>
            <a:endParaRPr b="1"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8"/>
          <p:cNvSpPr/>
          <p:nvPr/>
        </p:nvSpPr>
        <p:spPr>
          <a:xfrm>
            <a:off x="7315200" y="1398208"/>
            <a:ext cx="952500" cy="2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8"/>
          <p:cNvSpPr txBox="1"/>
          <p:nvPr/>
        </p:nvSpPr>
        <p:spPr>
          <a:xfrm>
            <a:off x="7305675" y="1601442"/>
            <a:ext cx="1676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C8D2E2"/>
                </a:solidFill>
                <a:latin typeface="Arial"/>
                <a:ea typeface="Arial"/>
                <a:cs typeface="Arial"/>
                <a:sym typeface="Arial"/>
              </a:rPr>
              <a:t>Comparative analysis of application transition streams</a:t>
            </a:r>
            <a:endParaRPr b="0" sz="900">
              <a:solidFill>
                <a:srgbClr val="C8D2E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1" name="Google Shape;331;p18"/>
          <p:cNvGrpSpPr/>
          <p:nvPr/>
        </p:nvGrpSpPr>
        <p:grpSpPr>
          <a:xfrm>
            <a:off x="346075" y="742800"/>
            <a:ext cx="6381900" cy="1714500"/>
            <a:chOff x="381000" y="762000"/>
            <a:chExt cx="6381900" cy="1714500"/>
          </a:xfrm>
        </p:grpSpPr>
        <p:sp>
          <p:nvSpPr>
            <p:cNvPr id="332" name="Google Shape;332;p18"/>
            <p:cNvSpPr/>
            <p:nvPr/>
          </p:nvSpPr>
          <p:spPr>
            <a:xfrm>
              <a:off x="381000" y="762000"/>
              <a:ext cx="6381900" cy="1714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D7DD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8"/>
            <p:cNvSpPr/>
            <p:nvPr/>
          </p:nvSpPr>
          <p:spPr>
            <a:xfrm>
              <a:off x="523875" y="904875"/>
              <a:ext cx="1143000" cy="285900"/>
            </a:xfrm>
            <a:prstGeom prst="roundRect">
              <a:avLst>
                <a:gd fmla="val 13333" name="adj"/>
              </a:avLst>
            </a:prstGeom>
            <a:solidFill>
              <a:srgbClr val="0020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8"/>
            <p:cNvSpPr txBox="1"/>
            <p:nvPr/>
          </p:nvSpPr>
          <p:spPr>
            <a:xfrm>
              <a:off x="523875" y="904875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PWM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18"/>
            <p:cNvSpPr txBox="1"/>
            <p:nvPr/>
          </p:nvSpPr>
          <p:spPr>
            <a:xfrm>
              <a:off x="523875" y="1285875"/>
              <a:ext cx="6096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A2A4A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1A2A4A"/>
                  </a:solidFill>
                  <a:latin typeface="Arial"/>
                  <a:ea typeface="Arial"/>
                  <a:cs typeface="Arial"/>
                  <a:sym typeface="Arial"/>
                </a:rPr>
                <a:t>IDFED to replace PWM in future</a:t>
              </a:r>
              <a:endParaRPr sz="1100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A2A4A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1A2A4A"/>
                  </a:solidFill>
                  <a:latin typeface="Arial"/>
                  <a:ea typeface="Arial"/>
                  <a:cs typeface="Arial"/>
                  <a:sym typeface="Arial"/>
                </a:rPr>
                <a:t>Under leadership of DIAA</a:t>
              </a:r>
              <a:endParaRPr sz="1100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A2A4A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1A2A4A"/>
                  </a:solidFill>
                  <a:latin typeface="Arial"/>
                  <a:ea typeface="Arial"/>
                  <a:cs typeface="Arial"/>
                  <a:sym typeface="Arial"/>
                </a:rPr>
                <a:t>Blockers solved</a:t>
              </a:r>
              <a:endParaRPr sz="1100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A2A4A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1A2A4A"/>
                  </a:solidFill>
                  <a:latin typeface="Arial"/>
                  <a:ea typeface="Arial"/>
                  <a:cs typeface="Arial"/>
                  <a:sym typeface="Arial"/>
                </a:rPr>
                <a:t>Once done, PWM will be decomm</a:t>
              </a:r>
              <a:endParaRPr sz="1100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6" name="Google Shape;336;p18"/>
          <p:cNvGrpSpPr/>
          <p:nvPr/>
        </p:nvGrpSpPr>
        <p:grpSpPr>
          <a:xfrm>
            <a:off x="381000" y="2667000"/>
            <a:ext cx="6381900" cy="2000100"/>
            <a:chOff x="381000" y="2667000"/>
            <a:chExt cx="6381900" cy="2000100"/>
          </a:xfrm>
        </p:grpSpPr>
        <p:sp>
          <p:nvSpPr>
            <p:cNvPr id="337" name="Google Shape;337;p18"/>
            <p:cNvSpPr/>
            <p:nvPr/>
          </p:nvSpPr>
          <p:spPr>
            <a:xfrm>
              <a:off x="381000" y="2667000"/>
              <a:ext cx="6381900" cy="2000100"/>
            </a:xfrm>
            <a:prstGeom prst="roundRect">
              <a:avLst>
                <a:gd fmla="val 3809" name="adj"/>
              </a:avLst>
            </a:prstGeom>
            <a:solidFill>
              <a:srgbClr val="F4F7FC"/>
            </a:solidFill>
            <a:ln cap="flat" cmpd="sng" w="9525">
              <a:solidFill>
                <a:srgbClr val="D7DD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8"/>
            <p:cNvSpPr/>
            <p:nvPr/>
          </p:nvSpPr>
          <p:spPr>
            <a:xfrm>
              <a:off x="523875" y="2809875"/>
              <a:ext cx="1428900" cy="285900"/>
            </a:xfrm>
            <a:prstGeom prst="roundRect">
              <a:avLst>
                <a:gd fmla="val 13333" name="adj"/>
              </a:avLst>
            </a:prstGeom>
            <a:solidFill>
              <a:srgbClr val="0077C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18"/>
            <p:cNvSpPr txBox="1"/>
            <p:nvPr/>
          </p:nvSpPr>
          <p:spPr>
            <a:xfrm>
              <a:off x="523875" y="2809875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MyAppConnect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18"/>
            <p:cNvSpPr txBox="1"/>
            <p:nvPr/>
          </p:nvSpPr>
          <p:spPr>
            <a:xfrm>
              <a:off x="523875" y="3190875"/>
              <a:ext cx="6096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A2A4A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1A2A4A"/>
                  </a:solidFill>
                  <a:latin typeface="Arial"/>
                  <a:ea typeface="Arial"/>
                  <a:cs typeface="Arial"/>
                  <a:sym typeface="Arial"/>
                </a:rPr>
                <a:t>Evaluation to start with Ping team on features</a:t>
              </a:r>
              <a:endParaRPr sz="1100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A2A4A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1A2A4A"/>
                  </a:solidFill>
                  <a:latin typeface="Arial"/>
                  <a:ea typeface="Arial"/>
                  <a:cs typeface="Arial"/>
                  <a:sym typeface="Arial"/>
                </a:rPr>
                <a:t>As-Is vs To-Be analysis to be performed</a:t>
              </a:r>
              <a:endParaRPr sz="1100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A2A4A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1A2A4A"/>
                  </a:solidFill>
                  <a:latin typeface="Arial"/>
                  <a:ea typeface="Arial"/>
                  <a:cs typeface="Arial"/>
                  <a:sym typeface="Arial"/>
                </a:rPr>
                <a:t>Post that a business case as needed will be performed</a:t>
              </a:r>
              <a:endParaRPr sz="1100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A2A4A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1A2A4A"/>
                  </a:solidFill>
                  <a:latin typeface="Arial"/>
                  <a:ea typeface="Arial"/>
                  <a:cs typeface="Arial"/>
                  <a:sym typeface="Arial"/>
                </a:rPr>
                <a:t>As a result, MyAppConnect is the last application to be scoped for decomm</a:t>
              </a:r>
              <a:endParaRPr sz="1100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1" name="Google Shape;341;p18"/>
          <p:cNvSpPr txBox="1"/>
          <p:nvPr/>
        </p:nvSpPr>
        <p:spPr>
          <a:xfrm>
            <a:off x="6781800" y="76200"/>
            <a:ext cx="2124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45011"/>
                </a:solidFill>
                <a:latin typeface="Arial"/>
                <a:ea typeface="Arial"/>
                <a:cs typeface="Arial"/>
                <a:sym typeface="Arial"/>
              </a:rPr>
              <a:t>Airbus Amber</a:t>
            </a:r>
            <a:endParaRPr b="1" sz="800">
              <a:solidFill>
                <a:srgbClr val="E450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2" name="Google Shape;342;p18"/>
          <p:cNvPicPr preferRelativeResize="0"/>
          <p:nvPr/>
        </p:nvPicPr>
        <p:blipFill rotWithShape="1">
          <a:blip r:embed="rId3">
            <a:alphaModFix/>
          </a:blip>
          <a:srcRect b="0" l="318" r="328" t="0"/>
          <a:stretch/>
        </p:blipFill>
        <p:spPr>
          <a:xfrm>
            <a:off x="8115300" y="4848225"/>
            <a:ext cx="8097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8"/>
          <p:cNvSpPr txBox="1"/>
          <p:nvPr/>
        </p:nvSpPr>
        <p:spPr>
          <a:xfrm>
            <a:off x="200025" y="4876800"/>
            <a:ext cx="476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9096A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sz="800">
              <a:solidFill>
                <a:srgbClr val="9096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4" name="Google Shape;344;p18"/>
          <p:cNvGrpSpPr/>
          <p:nvPr/>
        </p:nvGrpSpPr>
        <p:grpSpPr>
          <a:xfrm>
            <a:off x="8253693" y="238125"/>
            <a:ext cx="666900" cy="209700"/>
            <a:chOff x="0" y="0"/>
            <a:chExt cx="666900" cy="209700"/>
          </a:xfrm>
        </p:grpSpPr>
        <p:sp>
          <p:nvSpPr>
            <p:cNvPr id="345" name="Google Shape;345;p18"/>
            <p:cNvSpPr/>
            <p:nvPr/>
          </p:nvSpPr>
          <p:spPr>
            <a:xfrm>
              <a:off x="0" y="0"/>
              <a:ext cx="666900" cy="209700"/>
            </a:xfrm>
            <a:prstGeom prst="roundRect">
              <a:avLst>
                <a:gd fmla="val 18181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8"/>
            <p:cNvSpPr txBox="1"/>
            <p:nvPr/>
          </p:nvSpPr>
          <p:spPr>
            <a:xfrm>
              <a:off x="0" y="0"/>
              <a:ext cx="6669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DRAFT</a:t>
              </a:r>
              <a:endPara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9"/>
          <p:cNvSpPr/>
          <p:nvPr/>
        </p:nvSpPr>
        <p:spPr>
          <a:xfrm>
            <a:off x="7086599" y="0"/>
            <a:ext cx="2057400" cy="514350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9"/>
          <p:cNvSpPr txBox="1"/>
          <p:nvPr/>
        </p:nvSpPr>
        <p:spPr>
          <a:xfrm>
            <a:off x="7306055" y="582930"/>
            <a:ext cx="1728300" cy="8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Call for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 sz="1100"/>
          </a:p>
        </p:txBody>
      </p:sp>
      <p:sp>
        <p:nvSpPr>
          <p:cNvPr id="354" name="Google Shape;354;p19"/>
          <p:cNvSpPr/>
          <p:nvPr/>
        </p:nvSpPr>
        <p:spPr>
          <a:xfrm>
            <a:off x="7319771" y="1511046"/>
            <a:ext cx="960000" cy="2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9"/>
          <p:cNvSpPr txBox="1"/>
          <p:nvPr/>
        </p:nvSpPr>
        <p:spPr>
          <a:xfrm>
            <a:off x="7306055" y="1648206"/>
            <a:ext cx="16803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C8D2E2"/>
                </a:solidFill>
                <a:latin typeface="Arial"/>
                <a:ea typeface="Arial"/>
                <a:cs typeface="Arial"/>
                <a:sym typeface="Arial"/>
              </a:rPr>
              <a:t>Critical dependencies requiring HO decision</a:t>
            </a:r>
            <a:endParaRPr sz="1100"/>
          </a:p>
        </p:txBody>
      </p:sp>
      <p:sp>
        <p:nvSpPr>
          <p:cNvPr id="356" name="Google Shape;356;p19"/>
          <p:cNvSpPr/>
          <p:nvPr/>
        </p:nvSpPr>
        <p:spPr>
          <a:xfrm>
            <a:off x="377190" y="994410"/>
            <a:ext cx="3097500" cy="24003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D7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9"/>
          <p:cNvSpPr txBox="1"/>
          <p:nvPr/>
        </p:nvSpPr>
        <p:spPr>
          <a:xfrm>
            <a:off x="1028700" y="1172718"/>
            <a:ext cx="23433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205B"/>
                </a:solidFill>
                <a:latin typeface="Arial"/>
                <a:ea typeface="Arial"/>
                <a:cs typeface="Arial"/>
                <a:sym typeface="Arial"/>
              </a:rPr>
              <a:t>Capacity Escalation Path</a:t>
            </a:r>
            <a:endParaRPr sz="1100"/>
          </a:p>
        </p:txBody>
      </p:sp>
      <p:sp>
        <p:nvSpPr>
          <p:cNvPr id="358" name="Google Shape;358;p19"/>
          <p:cNvSpPr txBox="1"/>
          <p:nvPr/>
        </p:nvSpPr>
        <p:spPr>
          <a:xfrm>
            <a:off x="541782" y="1783079"/>
            <a:ext cx="27684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rPr>
              <a:t>The team is at capacity across all active phases. No mitigation exists today </a:t>
            </a:r>
            <a:r>
              <a:rPr lang="en" sz="900">
                <a:solidFill>
                  <a:srgbClr val="1A2A4A"/>
                </a:solidFill>
              </a:rPr>
              <a:t>- </a:t>
            </a:r>
            <a:r>
              <a:rPr b="0" i="0" lang="en" sz="900" u="none" cap="none" strike="noStrike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rPr>
              <a:t>if delivery is squeezed further, we need PM &amp; HO backing to prioritize scope, not compress the roadmap.</a:t>
            </a:r>
            <a:endParaRPr sz="1100"/>
          </a:p>
        </p:txBody>
      </p:sp>
      <p:sp>
        <p:nvSpPr>
          <p:cNvPr id="359" name="Google Shape;359;p19"/>
          <p:cNvSpPr/>
          <p:nvPr/>
        </p:nvSpPr>
        <p:spPr>
          <a:xfrm>
            <a:off x="541782" y="2674620"/>
            <a:ext cx="2768400" cy="582900"/>
          </a:xfrm>
          <a:prstGeom prst="roundRect">
            <a:avLst>
              <a:gd fmla="val 6000" name="adj"/>
            </a:avLst>
          </a:prstGeom>
          <a:solidFill>
            <a:srgbClr val="F4F7FC"/>
          </a:solidFill>
          <a:ln cap="flat" cmpd="sng" w="7150">
            <a:solidFill>
              <a:srgbClr val="D7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9"/>
          <p:cNvSpPr txBox="1"/>
          <p:nvPr/>
        </p:nvSpPr>
        <p:spPr>
          <a:xfrm>
            <a:off x="624075" y="2708899"/>
            <a:ext cx="2617500" cy="5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ASK:  </a:t>
            </a:r>
            <a:r>
              <a:rPr b="0" i="0" lang="en" sz="800" u="none" cap="none" strike="noStrike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rPr>
              <a:t>Approve an escalation path: capacity issues go to reprioritization, not timeline compression.</a:t>
            </a:r>
            <a:endParaRPr b="0" i="0" sz="800" u="none" cap="none" strike="noStrike">
              <a:solidFill>
                <a:srgbClr val="1A2A4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1A2A4A"/>
              </a:solidFill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A2A4A"/>
                </a:solidFill>
              </a:rPr>
              <a:t>DIAM - SelfService</a:t>
            </a:r>
            <a:endParaRPr b="1" sz="800">
              <a:solidFill>
                <a:srgbClr val="1A2A4A"/>
              </a:solidFill>
            </a:endParaRPr>
          </a:p>
        </p:txBody>
      </p:sp>
      <p:sp>
        <p:nvSpPr>
          <p:cNvPr id="361" name="Google Shape;361;p19"/>
          <p:cNvSpPr/>
          <p:nvPr/>
        </p:nvSpPr>
        <p:spPr>
          <a:xfrm>
            <a:off x="3749039" y="994410"/>
            <a:ext cx="3097500" cy="24003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D7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9"/>
          <p:cNvSpPr txBox="1"/>
          <p:nvPr/>
        </p:nvSpPr>
        <p:spPr>
          <a:xfrm>
            <a:off x="4400549" y="1172718"/>
            <a:ext cx="23433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205B"/>
                </a:solidFill>
                <a:latin typeface="Arial"/>
                <a:ea typeface="Arial"/>
                <a:cs typeface="Arial"/>
                <a:sym typeface="Arial"/>
              </a:rPr>
              <a:t>AD Team Commitment</a:t>
            </a:r>
            <a:endParaRPr sz="1100"/>
          </a:p>
        </p:txBody>
      </p:sp>
      <p:sp>
        <p:nvSpPr>
          <p:cNvPr id="363" name="Google Shape;363;p19"/>
          <p:cNvSpPr txBox="1"/>
          <p:nvPr/>
        </p:nvSpPr>
        <p:spPr>
          <a:xfrm>
            <a:off x="3913631" y="1783079"/>
            <a:ext cx="27684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rPr>
              <a:t>Phases 1 &amp; 2 depend on continuous Active Directory support. This is an external dependency for infrastructure ,Accounts etc  </a:t>
            </a:r>
            <a:r>
              <a:rPr lang="en" sz="900">
                <a:solidFill>
                  <a:srgbClr val="1A2A4A"/>
                </a:solidFill>
              </a:rPr>
              <a:t>-</a:t>
            </a:r>
            <a:r>
              <a:rPr b="0" i="0" lang="en" sz="900" u="none" cap="none" strike="noStrike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rPr>
              <a:t> it requires executive commitment, as MyIAM's source of truth is AD.</a:t>
            </a:r>
            <a:endParaRPr sz="1100"/>
          </a:p>
        </p:txBody>
      </p:sp>
      <p:sp>
        <p:nvSpPr>
          <p:cNvPr id="364" name="Google Shape;364;p19"/>
          <p:cNvSpPr/>
          <p:nvPr/>
        </p:nvSpPr>
        <p:spPr>
          <a:xfrm>
            <a:off x="3913631" y="2674620"/>
            <a:ext cx="2768400" cy="582900"/>
          </a:xfrm>
          <a:prstGeom prst="roundRect">
            <a:avLst>
              <a:gd fmla="val 6000" name="adj"/>
            </a:avLst>
          </a:prstGeom>
          <a:solidFill>
            <a:srgbClr val="F4F7FC"/>
          </a:solidFill>
          <a:ln cap="flat" cmpd="sng" w="7150">
            <a:solidFill>
              <a:srgbClr val="D7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9"/>
          <p:cNvSpPr txBox="1"/>
          <p:nvPr/>
        </p:nvSpPr>
        <p:spPr>
          <a:xfrm>
            <a:off x="3995927" y="2708910"/>
            <a:ext cx="2617500" cy="5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0077C8"/>
                </a:solidFill>
                <a:latin typeface="Arial"/>
                <a:ea typeface="Arial"/>
                <a:cs typeface="Arial"/>
                <a:sym typeface="Arial"/>
              </a:rPr>
              <a:t>ASK:  </a:t>
            </a:r>
            <a:r>
              <a:rPr b="0" i="0" lang="en" sz="800" u="none" cap="none" strike="noStrike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rPr>
              <a:t>Confirm a dedicated AD liaison for MyIAM through Phases 1–2, with an early joint working session.</a:t>
            </a:r>
            <a:endParaRPr b="0" i="0" sz="800" u="none" cap="none" strike="noStrike">
              <a:solidFill>
                <a:srgbClr val="1A2A4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1A2A4A"/>
              </a:solidFill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A2A4A"/>
                </a:solidFill>
              </a:rPr>
              <a:t>DIAC - IAM Core Services</a:t>
            </a:r>
            <a:endParaRPr b="1" sz="800">
              <a:solidFill>
                <a:srgbClr val="1A2A4A"/>
              </a:solidFill>
            </a:endParaRPr>
          </a:p>
        </p:txBody>
      </p:sp>
      <p:sp>
        <p:nvSpPr>
          <p:cNvPr id="366" name="Google Shape;366;p19"/>
          <p:cNvSpPr/>
          <p:nvPr/>
        </p:nvSpPr>
        <p:spPr>
          <a:xfrm>
            <a:off x="377190" y="3634740"/>
            <a:ext cx="6469500" cy="548400"/>
          </a:xfrm>
          <a:prstGeom prst="roundRect">
            <a:avLst>
              <a:gd fmla="val 5000" name="adj"/>
            </a:avLst>
          </a:prstGeom>
          <a:solidFill>
            <a:srgbClr val="FCEEDF"/>
          </a:solidFill>
          <a:ln cap="flat" cmpd="sng" w="9525">
            <a:solidFill>
              <a:srgbClr val="E450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9"/>
          <p:cNvSpPr txBox="1"/>
          <p:nvPr/>
        </p:nvSpPr>
        <p:spPr>
          <a:xfrm>
            <a:off x="548640" y="3760532"/>
            <a:ext cx="4803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E45011"/>
                </a:solidFill>
                <a:latin typeface="Arial"/>
                <a:ea typeface="Arial"/>
                <a:cs typeface="Arial"/>
                <a:sym typeface="Arial"/>
              </a:rPr>
              <a:t>⚠</a:t>
            </a:r>
            <a:endParaRPr sz="1100"/>
          </a:p>
        </p:txBody>
      </p:sp>
      <p:sp>
        <p:nvSpPr>
          <p:cNvPr id="368" name="Google Shape;368;p19"/>
          <p:cNvSpPr txBox="1"/>
          <p:nvPr/>
        </p:nvSpPr>
        <p:spPr>
          <a:xfrm>
            <a:off x="960120" y="3718601"/>
            <a:ext cx="57837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E45011"/>
                </a:solidFill>
                <a:latin typeface="Arial"/>
                <a:ea typeface="Arial"/>
                <a:cs typeface="Arial"/>
                <a:sym typeface="Arial"/>
              </a:rPr>
              <a:t>Also flagged </a:t>
            </a:r>
            <a:r>
              <a:rPr b="1" lang="en" sz="900">
                <a:solidFill>
                  <a:srgbClr val="E45011"/>
                </a:solidFill>
              </a:rPr>
              <a:t>-</a:t>
            </a:r>
            <a:r>
              <a:rPr b="1" i="0" lang="en" sz="900" u="none" cap="none" strike="noStrike">
                <a:solidFill>
                  <a:srgbClr val="E450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900" u="sng" cap="none" strike="noStrike">
                <a:solidFill>
                  <a:srgbClr val="1A2A4A"/>
                </a:solidFill>
              </a:rPr>
              <a:t>MyIAM Mobile Platform</a:t>
            </a:r>
            <a:r>
              <a:rPr b="0" i="0" lang="en" sz="900" u="none" cap="none" strike="noStrike">
                <a:solidFill>
                  <a:srgbClr val="1A2A4A"/>
                </a:solidFill>
                <a:latin typeface="Arial"/>
                <a:ea typeface="Arial"/>
                <a:cs typeface="Arial"/>
                <a:sym typeface="Arial"/>
              </a:rPr>
              <a:t> + Airbus Passport Decom and IAM Copilot are currently out of scope; see Out of Scope slide for status and re-evaluation timing.</a:t>
            </a:r>
            <a:endParaRPr sz="1100"/>
          </a:p>
        </p:txBody>
      </p:sp>
      <p:sp>
        <p:nvSpPr>
          <p:cNvPr id="369" name="Google Shape;369;p19"/>
          <p:cNvSpPr txBox="1"/>
          <p:nvPr/>
        </p:nvSpPr>
        <p:spPr>
          <a:xfrm>
            <a:off x="6789420" y="82296"/>
            <a:ext cx="2126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7425" spcFirstLastPara="1" rIns="27425" wrap="square" tIns="13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E45011"/>
                </a:solidFill>
                <a:latin typeface="Arial"/>
                <a:ea typeface="Arial"/>
                <a:cs typeface="Arial"/>
                <a:sym typeface="Arial"/>
              </a:rPr>
              <a:t>Airbus Amber</a:t>
            </a:r>
            <a:endParaRPr sz="1100"/>
          </a:p>
        </p:txBody>
      </p:sp>
      <p:pic>
        <p:nvPicPr>
          <p:cNvPr descr="image.png" id="370" name="Google Shape;37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5299" y="4855464"/>
            <a:ext cx="809244" cy="151347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9"/>
          <p:cNvSpPr txBox="1"/>
          <p:nvPr/>
        </p:nvSpPr>
        <p:spPr>
          <a:xfrm>
            <a:off x="205740" y="4882896"/>
            <a:ext cx="4803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096A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100"/>
          </a:p>
        </p:txBody>
      </p:sp>
      <p:sp>
        <p:nvSpPr>
          <p:cNvPr id="372" name="Google Shape;372;p19"/>
          <p:cNvSpPr/>
          <p:nvPr/>
        </p:nvSpPr>
        <p:spPr>
          <a:xfrm>
            <a:off x="536365" y="1065289"/>
            <a:ext cx="457200" cy="457200"/>
          </a:xfrm>
          <a:prstGeom prst="ellipse">
            <a:avLst/>
          </a:prstGeom>
          <a:solidFill>
            <a:srgbClr val="E400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3" name="Google Shape;37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7805" y="1156729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9"/>
          <p:cNvSpPr/>
          <p:nvPr/>
        </p:nvSpPr>
        <p:spPr>
          <a:xfrm>
            <a:off x="3934978" y="1058300"/>
            <a:ext cx="457200" cy="457200"/>
          </a:xfrm>
          <a:prstGeom prst="ellipse">
            <a:avLst/>
          </a:prstGeom>
          <a:solidFill>
            <a:srgbClr val="009F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5" name="Google Shape;37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26418" y="1149740"/>
            <a:ext cx="274320" cy="2743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6" name="Google Shape;376;p19"/>
          <p:cNvGrpSpPr/>
          <p:nvPr/>
        </p:nvGrpSpPr>
        <p:grpSpPr>
          <a:xfrm>
            <a:off x="8213352" y="238125"/>
            <a:ext cx="666900" cy="209700"/>
            <a:chOff x="0" y="0"/>
            <a:chExt cx="666900" cy="209700"/>
          </a:xfrm>
        </p:grpSpPr>
        <p:sp>
          <p:nvSpPr>
            <p:cNvPr id="377" name="Google Shape;377;p19"/>
            <p:cNvSpPr/>
            <p:nvPr/>
          </p:nvSpPr>
          <p:spPr>
            <a:xfrm>
              <a:off x="0" y="0"/>
              <a:ext cx="666900" cy="209700"/>
            </a:xfrm>
            <a:prstGeom prst="roundRect">
              <a:avLst>
                <a:gd fmla="val 18181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9"/>
            <p:cNvSpPr txBox="1"/>
            <p:nvPr/>
          </p:nvSpPr>
          <p:spPr>
            <a:xfrm>
              <a:off x="0" y="0"/>
              <a:ext cx="6669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DRAFT</a:t>
              </a:r>
              <a:endPara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05B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alftone_navy.png" id="384" name="Google Shape;38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20"/>
          <p:cNvSpPr txBox="1"/>
          <p:nvPr/>
        </p:nvSpPr>
        <p:spPr>
          <a:xfrm>
            <a:off x="377190" y="205740"/>
            <a:ext cx="54864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Converged </a:t>
            </a: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IAM PROGRAMME</a:t>
            </a:r>
            <a:endParaRPr sz="1100"/>
          </a:p>
        </p:txBody>
      </p:sp>
      <p:sp>
        <p:nvSpPr>
          <p:cNvPr id="386" name="Google Shape;386;p20"/>
          <p:cNvSpPr txBox="1"/>
          <p:nvPr/>
        </p:nvSpPr>
        <p:spPr>
          <a:xfrm>
            <a:off x="6789420" y="82296"/>
            <a:ext cx="2126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7425" spcFirstLastPara="1" rIns="27425" wrap="square" tIns="13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Airbus Amber</a:t>
            </a:r>
            <a:endParaRPr sz="1100"/>
          </a:p>
        </p:txBody>
      </p:sp>
      <p:sp>
        <p:nvSpPr>
          <p:cNvPr id="387" name="Google Shape;387;p20"/>
          <p:cNvSpPr/>
          <p:nvPr/>
        </p:nvSpPr>
        <p:spPr>
          <a:xfrm>
            <a:off x="397764" y="2091690"/>
            <a:ext cx="1509000" cy="3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0"/>
          <p:cNvSpPr txBox="1"/>
          <p:nvPr/>
        </p:nvSpPr>
        <p:spPr>
          <a:xfrm>
            <a:off x="377190" y="2194560"/>
            <a:ext cx="61722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 sz="1100"/>
          </a:p>
        </p:txBody>
      </p:sp>
      <p:sp>
        <p:nvSpPr>
          <p:cNvPr id="389" name="Google Shape;389;p20"/>
          <p:cNvSpPr txBox="1"/>
          <p:nvPr/>
        </p:nvSpPr>
        <p:spPr>
          <a:xfrm>
            <a:off x="377190" y="4732020"/>
            <a:ext cx="41148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27425" spcFirstLastPara="1" rIns="27425" wrap="square" tIns="13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C8D2E2"/>
                </a:solidFill>
                <a:latin typeface="Arial"/>
                <a:ea typeface="Arial"/>
                <a:cs typeface="Arial"/>
                <a:sym typeface="Arial"/>
              </a:rPr>
              <a:t>Airbus Commercial  ·  IIDIA</a:t>
            </a:r>
            <a:endParaRPr sz="1100"/>
          </a:p>
        </p:txBody>
      </p:sp>
      <p:pic>
        <p:nvPicPr>
          <p:cNvPr descr="logo_white.png" id="390" name="Google Shape;39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15299" y="4855464"/>
            <a:ext cx="809244" cy="151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