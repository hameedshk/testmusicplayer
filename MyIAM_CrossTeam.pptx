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16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365760"/>
            <a:ext cx="41148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0" b="1" dirty="0">
                <a:solidFill>
                  <a:srgbClr val="0B2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0" dirty="0"/>
          </a:p>
        </p:txBody>
      </p:sp>
      <p:sp>
        <p:nvSpPr>
          <p:cNvPr id="3" name="Shape 1"/>
          <p:cNvSpPr/>
          <p:nvPr/>
        </p:nvSpPr>
        <p:spPr>
          <a:xfrm>
            <a:off x="822960" y="777240"/>
            <a:ext cx="502920" cy="73152"/>
          </a:xfrm>
          <a:prstGeom prst="rect">
            <a:avLst/>
          </a:prstGeom>
          <a:solidFill>
            <a:srgbClr val="E450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 ·  IAM CONVERGENCE PROGRAMME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7373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MyIAM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Briefing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 For Your Bureau — and What We Need From You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  ·  Airbus Commercial  ·  IIDIA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MyIAM in Brief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replacing four separate IAM tools — built as four workstreams running side by side, not one after another.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724912" cy="434340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2724912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82880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39572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Experience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" y="292608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E7D3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26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429000"/>
            <a:ext cx="23225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reset, account and group management, and app connections are merging into a single portal.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38144" y="1508760"/>
            <a:ext cx="2724912" cy="434340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38144" y="1508760"/>
            <a:ext cx="2724912" cy="109728"/>
          </a:xfrm>
          <a:prstGeom prst="rect">
            <a:avLst/>
          </a:prstGeom>
          <a:solidFill>
            <a:srgbClr val="E45011"/>
          </a:solidFill>
          <a:ln/>
        </p:spPr>
      </p:sp>
      <p:sp>
        <p:nvSpPr>
          <p:cNvPr id="15" name="Shape 13"/>
          <p:cNvSpPr/>
          <p:nvPr/>
        </p:nvSpPr>
        <p:spPr>
          <a:xfrm>
            <a:off x="3639312" y="1828800"/>
            <a:ext cx="457200" cy="457200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3931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639312" y="239572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Foundations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639312" y="292608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E7D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639312" y="2926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639312" y="3429000"/>
            <a:ext cx="23225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behind that portal is newly built — not a patch on the old systems.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27648" y="1508760"/>
            <a:ext cx="2724912" cy="434340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27648" y="1508760"/>
            <a:ext cx="2724912" cy="109728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23" name="Shape 21"/>
          <p:cNvSpPr/>
          <p:nvPr/>
        </p:nvSpPr>
        <p:spPr>
          <a:xfrm>
            <a:off x="6528816" y="1828800"/>
            <a:ext cx="457200" cy="457200"/>
          </a:xfrm>
          <a:prstGeom prst="ellipse">
            <a:avLst/>
          </a:prstGeom>
          <a:solidFill>
            <a:srgbClr val="6A4C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2881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528816" y="239572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28816" y="292608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E4501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28816" y="2926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528816" y="3429000"/>
            <a:ext cx="23225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 pipeline is pulling identity and access information together from across sources.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217152" y="1508760"/>
            <a:ext cx="2724912" cy="434340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17152" y="1508760"/>
            <a:ext cx="2724912" cy="109728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9418320" y="1828800"/>
            <a:ext cx="457200" cy="45720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418320" y="2395728"/>
            <a:ext cx="2322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Write-Back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418320" y="2926080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C0000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0" y="2926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9418320" y="3429000"/>
            <a:ext cx="23225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MyIAM only reads from Active Directory. It does not yet make changes there — that's next.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 ·  IAM Convergence Programme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MyIAM in Brief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YOU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For Your Team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depends on how you connect to IAM today — find your category below.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105156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82296" cy="10515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673352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2E7D3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6733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NEEDED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161848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reads from AD groups today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812280" y="160020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changes for your users yet. MyIAM is read-only against Active Directory right now — your existing access flows are unaffected.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679192"/>
            <a:ext cx="11064240" cy="105156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79192"/>
            <a:ext cx="82296" cy="1051560"/>
          </a:xfrm>
          <a:prstGeom prst="rect">
            <a:avLst/>
          </a:prstGeom>
          <a:solidFill>
            <a:srgbClr val="E45011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843784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E4501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28437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COEXISTENCE WINDOW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2788920" y="27889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integrate with legacy MyX APIs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2770632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forced migration today. New APIs are live, but legacy integrations continue to work while transition timing is finalised with your team.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849624"/>
            <a:ext cx="11064240" cy="105156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49624"/>
            <a:ext cx="82296" cy="105156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4014216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0E7C8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0142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MOMENT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2788920" y="395935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self-service capability in MyIAM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3941064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actively collecting requirements right now — see the next slide. This is the best time to shape what gets built.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020056"/>
            <a:ext cx="11064240" cy="105156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020056"/>
            <a:ext cx="82296" cy="1051560"/>
          </a:xfrm>
          <a:prstGeom prst="rect">
            <a:avLst/>
          </a:prstGeom>
          <a:solidFill>
            <a:srgbClr val="8A8F98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184648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8A8F9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1846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ONLY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2788920" y="5129784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not currently engaged with IAM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5111496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needed today. Keep this briefing for context — we'll reach out directly if and when it becomes relevant to you.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 ·  IAM Convergence Programme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You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WANT YOUR INPUT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Self-Service — Tell Us What You Need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area below, tell us: what you need, how often your team needs it, and how urgent it is.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639312" cy="141732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73152" cy="14173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618488"/>
            <a:ext cx="3273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&amp; Account Self-Service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039112"/>
            <a:ext cx="327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Reset, unlock, account lifecycle (create/update/disable) for your team's accounts.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25112" y="1508760"/>
            <a:ext cx="3639312" cy="141732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5112" y="1508760"/>
            <a:ext cx="73152" cy="1417320"/>
          </a:xfrm>
          <a:prstGeom prst="rect">
            <a:avLst/>
          </a:prstGeom>
          <a:solidFill>
            <a:srgbClr val="E450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07992" y="1618488"/>
            <a:ext cx="3273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&amp; Access Requests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2039112"/>
            <a:ext cx="327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Join/leave access groups, approvals, visibility into who has access to what.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01584" y="1508760"/>
            <a:ext cx="3639312" cy="141732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01584" y="1508760"/>
            <a:ext cx="73152" cy="1417320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84464" y="1618488"/>
            <a:ext cx="3273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Connections &amp; Scopes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84464" y="2039112"/>
            <a:ext cx="327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Requesting or managing OAuth/OIDC/SAML connections and API scopes for your applications.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063240"/>
            <a:ext cx="3639312" cy="141732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063240"/>
            <a:ext cx="73152" cy="14173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172968"/>
            <a:ext cx="3273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Lookup &amp; Search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593592"/>
            <a:ext cx="327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and verifying identity details for your team members or partners.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25112" y="3063240"/>
            <a:ext cx="3639312" cy="141732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25112" y="3063240"/>
            <a:ext cx="73152" cy="14173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07992" y="3172968"/>
            <a:ext cx="3273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Audit Views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07992" y="3593592"/>
            <a:ext cx="327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reporting or audit trails for your team's own access and changes.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01584" y="3063240"/>
            <a:ext cx="3639312" cy="141732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01584" y="3063240"/>
            <a:ext cx="73152" cy="141732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84464" y="3172968"/>
            <a:ext cx="3273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Else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84464" y="3593592"/>
            <a:ext cx="3273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recurring IAM task your team handles manually today that isn't listed above.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solidFill>
            <a:srgbClr val="EAF1F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5623560"/>
            <a:ext cx="10835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respond:  </a:t>
            </a:r>
            <a:pPr indent="0" marL="0">
              <a:buNone/>
            </a:pPr>
            <a:r>
              <a:rPr lang="en-US" sz="10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intake sheet shared with this deck, or flag it live in the meeting — one line per need is enough to start.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 ·  IAM Convergence Programme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Input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COMMITMENT BACK TO YOU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With Your Input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goes through the same process — you'll hear back with a concrete plan, not silence.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755648" cy="2377440"/>
          </a:xfrm>
          <a:prstGeom prst="rect">
            <a:avLst/>
          </a:prstGeom>
          <a:solidFill>
            <a:srgbClr val="0B2A63"/>
          </a:solidFill>
          <a:ln w="12700">
            <a:solidFill>
              <a:srgbClr val="1D3D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" y="2057400"/>
            <a:ext cx="512064" cy="512064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24712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69748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324612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today, from every bureau in the room.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258568" y="265176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386584" y="1828800"/>
            <a:ext cx="1755648" cy="2377440"/>
          </a:xfrm>
          <a:prstGeom prst="rect">
            <a:avLst/>
          </a:prstGeom>
          <a:solidFill>
            <a:srgbClr val="0B2A63"/>
          </a:solidFill>
          <a:ln w="12700">
            <a:solidFill>
              <a:srgbClr val="1D3D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08376" y="2057400"/>
            <a:ext cx="512064" cy="512064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08376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2496312" y="269748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Review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496312" y="324612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assess technical fit against the current platform.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142232" y="265176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70248" y="1828800"/>
            <a:ext cx="1755648" cy="2377440"/>
          </a:xfrm>
          <a:prstGeom prst="rect">
            <a:avLst/>
          </a:prstGeom>
          <a:solidFill>
            <a:srgbClr val="0B2A63"/>
          </a:solidFill>
          <a:ln w="12700">
            <a:solidFill>
              <a:srgbClr val="1D3D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92040" y="2057400"/>
            <a:ext cx="512064" cy="512064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92040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4379976" y="269748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Estimate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379976" y="324612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delivery window, not a guess.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025896" y="265176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53912" y="1828800"/>
            <a:ext cx="1755648" cy="2377440"/>
          </a:xfrm>
          <a:prstGeom prst="rect">
            <a:avLst/>
          </a:prstGeom>
          <a:solidFill>
            <a:srgbClr val="0B2A63"/>
          </a:solidFill>
          <a:ln w="12700">
            <a:solidFill>
              <a:srgbClr val="1D3D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75704" y="2057400"/>
            <a:ext cx="512064" cy="512064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75704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269748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Slot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324612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into an active workstream.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909560" y="265176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37576" y="1828800"/>
            <a:ext cx="1755648" cy="2377440"/>
          </a:xfrm>
          <a:prstGeom prst="rect">
            <a:avLst/>
          </a:prstGeom>
          <a:solidFill>
            <a:srgbClr val="0B2A63"/>
          </a:solidFill>
          <a:ln w="12700">
            <a:solidFill>
              <a:srgbClr val="1D3D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59368" y="2057400"/>
            <a:ext cx="512064" cy="512064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59368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147304" y="269748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Debug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147304" y="324612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before it reaches your users.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793224" y="2651760"/>
            <a:ext cx="128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921240" y="1828800"/>
            <a:ext cx="1755648" cy="2377440"/>
          </a:xfrm>
          <a:prstGeom prst="rect">
            <a:avLst/>
          </a:prstGeom>
          <a:solidFill>
            <a:srgbClr val="0B2A63"/>
          </a:solidFill>
          <a:ln w="12700">
            <a:solidFill>
              <a:srgbClr val="1D3D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543032" y="2057400"/>
            <a:ext cx="512064" cy="512064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543032" y="2057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10030968" y="269748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Back to You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10030968" y="3246120"/>
            <a:ext cx="1536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confirm it meets what you asked for.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2920" y="4617720"/>
            <a:ext cx="11183112" cy="777240"/>
          </a:xfrm>
          <a:prstGeom prst="rect">
            <a:avLst/>
          </a:prstGeom>
          <a:solidFill>
            <a:srgbClr val="12336F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" y="4617720"/>
            <a:ext cx="1083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return to each bureau with a feasibility and timeline plan — not an open-ended “we'll look into it.”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 ·  IAM Convergence Programme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Commitment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 &amp; Ask Matrix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completed per bureau during and after this session — example rows shown below.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926080" cy="41148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/ Team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554480"/>
            <a:ext cx="4663440" cy="41148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6160" y="15544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138160" y="1554480"/>
            <a:ext cx="1828800" cy="41148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0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By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966960" y="1554480"/>
            <a:ext cx="1673352" cy="41148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0" y="1554480"/>
            <a:ext cx="1490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1965960"/>
            <a:ext cx="292608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E9EB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1965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App Team 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1965960"/>
            <a:ext cx="466344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E9EB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66160" y="1965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which AD groups your app reads today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38160" y="1965960"/>
            <a:ext cx="182880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E9EB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1965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966960" y="1965960"/>
            <a:ext cx="1673352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E9EB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0" y="196596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468880"/>
            <a:ext cx="2926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9EB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Bureau 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0" y="2468880"/>
            <a:ext cx="4663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9EB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566160" y="24688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a point of contact for self-service intake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38160" y="2468880"/>
            <a:ext cx="1828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9EB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0" y="2468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966960" y="2468880"/>
            <a:ext cx="167335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9EB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58400" y="246888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2971800"/>
            <a:ext cx="292608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E9EBE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2971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AD/LDAP Team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0" y="2971800"/>
            <a:ext cx="466344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E9EBE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66160" y="29718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working session on write-path design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38160" y="2971800"/>
            <a:ext cx="182880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E9EBE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0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966960" y="2971800"/>
            <a:ext cx="1673352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E9EBE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058400" y="297180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3474720"/>
            <a:ext cx="2926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9EBE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008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74720" y="3474720"/>
            <a:ext cx="4663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9EBE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566160" y="34747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138160" y="3474720"/>
            <a:ext cx="1828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9EBE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29600" y="3474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966960" y="3474720"/>
            <a:ext cx="167335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9EBE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058400" y="347472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3977640"/>
            <a:ext cx="292608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E9EBE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0080" y="3977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474720" y="3977640"/>
            <a:ext cx="466344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E9EBE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566160" y="39776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138160" y="3977640"/>
            <a:ext cx="1828800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E9EBE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229600" y="3977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9966960" y="3977640"/>
            <a:ext cx="1673352" cy="502920"/>
          </a:xfrm>
          <a:prstGeom prst="rect">
            <a:avLst/>
          </a:prstGeom>
          <a:solidFill>
            <a:srgbClr val="F5F6F8"/>
          </a:solidFill>
          <a:ln w="9525">
            <a:solidFill>
              <a:srgbClr val="E9EBE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058400" y="397764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" y="4480560"/>
            <a:ext cx="29260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9EBE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40080" y="4480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474720" y="4480560"/>
            <a:ext cx="46634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9EBE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566160" y="44805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138160" y="4480560"/>
            <a:ext cx="18288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9EBE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229600" y="4480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966960" y="4480560"/>
            <a:ext cx="1673352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E9EBE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058400" y="448056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 ·  IAM Convergence Programme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Matrix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YOU MAY HAVE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20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Anticipated FAQ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09728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411480" cy="411480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1848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affect my app's login today?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9659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MyIAM is read-only against Active Directory right now — no write changes are live, so nothing changes for your users yet.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11064240" cy="109728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98648"/>
            <a:ext cx="411480" cy="411480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898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82549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need to migrate anything now?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17296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forced migration. Legacy integrations keep working during a coexistence window while transition timing is confirmed with your team.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22776"/>
            <a:ext cx="11064240" cy="109728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105656"/>
            <a:ext cx="411480" cy="411480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105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03250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will self-service features be available to us?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379976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what you tell us today. We'll return with a feasibility and timeline plan per request — see the process on slide 5.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129784"/>
            <a:ext cx="11064240" cy="109728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312664"/>
            <a:ext cx="411480" cy="411480"/>
          </a:xfrm>
          <a:prstGeom prst="ellipse">
            <a:avLst/>
          </a:prstGeom>
          <a:solidFill>
            <a:srgbClr val="E4501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312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23951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 I contact with questions afterward?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586984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MyIAM Product Manager (this session's presenter) — reach out directly or via the intake sheet shared after this meeting.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 ·  IAM Convergence Programme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FAQ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205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39312" cy="246888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3639312" cy="914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74520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Share Your Needs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23160"/>
            <a:ext cx="3236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self-service intake sheet — today in the room, or within one week after.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5968" y="1600200"/>
            <a:ext cx="3639312" cy="246888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5968" y="1600200"/>
            <a:ext cx="3639312" cy="91440"/>
          </a:xfrm>
          <a:prstGeom prst="rect">
            <a:avLst/>
          </a:prstGeom>
          <a:solidFill>
            <a:srgbClr val="E4501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17136" y="1874520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Nominate a Contact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17136" y="2423160"/>
            <a:ext cx="3236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contact per bureau for follow-up questions and sign-off.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83296" y="1600200"/>
            <a:ext cx="3639312" cy="246888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83296" y="1600200"/>
            <a:ext cx="3639312" cy="91440"/>
          </a:xfrm>
          <a:prstGeom prst="rect">
            <a:avLst/>
          </a:prstGeom>
          <a:solidFill>
            <a:srgbClr val="6A4C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84464" y="1874520"/>
            <a:ext cx="3236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 Return With a Plan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84464" y="2423160"/>
            <a:ext cx="32369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Feasibility, timeline, implementation slot, and test plan — per request, not generic.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91672" cy="1005840"/>
          </a:xfrm>
          <a:prstGeom prst="rect">
            <a:avLst/>
          </a:prstGeom>
          <a:solidFill>
            <a:srgbClr val="FDECE3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3434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indent="0" marL="0">
              <a:buNone/>
            </a:pPr>
            <a:r>
              <a:rPr lang="en-US" sz="12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changes for your users today. This meeting is about shaping what MyIAM builds next — your input now directly influences the roadmap.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 ·  IAM Convergence Programme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863840" y="365760"/>
            <a:ext cx="4114800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0" b="1" dirty="0">
                <a:solidFill>
                  <a:srgbClr val="0B2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0" dirty="0"/>
          </a:p>
        </p:txBody>
      </p:sp>
      <p:sp>
        <p:nvSpPr>
          <p:cNvPr id="3" name="Shape 1"/>
          <p:cNvSpPr/>
          <p:nvPr/>
        </p:nvSpPr>
        <p:spPr>
          <a:xfrm>
            <a:off x="822960" y="777240"/>
            <a:ext cx="502920" cy="73152"/>
          </a:xfrm>
          <a:prstGeom prst="rect">
            <a:avLst/>
          </a:prstGeom>
          <a:solidFill>
            <a:srgbClr val="E450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45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 ·  IAM CONVERGENCE PROGRAMME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346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2011680" cy="0"/>
          </a:xfrm>
          <a:prstGeom prst="line">
            <a:avLst/>
          </a:prstGeom>
          <a:noFill/>
          <a:ln w="31750">
            <a:solidFill>
              <a:srgbClr val="E450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needs, ideas — all welcome.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 ·  IAM Convergence Programme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548872" y="228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