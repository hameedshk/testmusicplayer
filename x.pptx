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0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47"/>
                </a:solidFill>
              </a:rPr>
              <a:t>MyIAM Programme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MyPassword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ACCFF"/>
                </a:solidFill>
              </a:rPr>
              <a:t>Product Success &amp; Measurement Plan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99CC"/>
                </a:solidFill>
              </a:rPr>
              <a:t>Version 1.0  |  Airbus India  |  FY26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114800"/>
            <a:ext cx="1097280" cy="54864"/>
          </a:xfrm>
          <a:prstGeom prst="rect">
            <a:avLst/>
          </a:prstGeom>
          <a:solidFill>
            <a:srgbClr val="E45011"/>
          </a:solidFill>
          <a:ln w="12700">
            <a:solidFill>
              <a:srgbClr val="E4501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Application Overview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229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MyPassword enables Airbus employees to resolve password and account lock issues independently — without contacting the IT helpdesk — across three identity types.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1828800" cy="384048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6276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Identity Type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94560" y="1600200"/>
            <a:ext cx="1554480" cy="384048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40280" y="16276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Self-Service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49040" y="1600200"/>
            <a:ext cx="1554480" cy="384048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94760" y="16276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IIVR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0" y="1600200"/>
            <a:ext cx="1645920" cy="384048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49240" y="162763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Buddy Reset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49440" y="1600200"/>
            <a:ext cx="1737360" cy="384048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95160" y="16276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IT Admin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84248"/>
            <a:ext cx="182880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" y="202996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Prod Identity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94560" y="1984248"/>
            <a:ext cx="155448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240280" y="202996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</a:rPr>
              <a:t>✓ Reset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49040" y="1984248"/>
            <a:ext cx="155448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94760" y="202996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</a:rPr>
              <a:t>✓ Reset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0" y="1984248"/>
            <a:ext cx="164592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49240" y="20299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</a:rPr>
              <a:t>✓ Windows only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49440" y="1984248"/>
            <a:ext cx="173736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95160" y="202996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</a:rPr>
              <a:t>✓ Reset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2423160"/>
            <a:ext cx="1828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1480" y="24688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VALN Identity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194560" y="2423160"/>
            <a:ext cx="1554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240280" y="2468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</a:rPr>
              <a:t>✓ Reset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749040" y="2423160"/>
            <a:ext cx="1554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794760" y="2468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</a:rPr>
              <a:t>✓ Reset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303520" y="2423160"/>
            <a:ext cx="1645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349240" y="24688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0000"/>
                </a:solidFill>
              </a:rPr>
              <a:t>✗  —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949440" y="2423160"/>
            <a:ext cx="1737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995160" y="24688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</a:rPr>
              <a:t>✓ Reset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2862072"/>
            <a:ext cx="182880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11480" y="290779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SAP (Prod only)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194560" y="2862072"/>
            <a:ext cx="155448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240280" y="290779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</a:rPr>
              <a:t>✓ Reset + Unlock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749040" y="2862072"/>
            <a:ext cx="155448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794760" y="290779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</a:rPr>
              <a:t>✓ Reset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303520" y="2862072"/>
            <a:ext cx="164592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349240" y="290779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0000"/>
                </a:solidFill>
              </a:rPr>
              <a:t>✗  —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949440" y="2862072"/>
            <a:ext cx="173736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995160" y="290779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</a:rPr>
              <a:t>✓ Reset + Unlock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2 of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Success Definition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1463040"/>
          </a:xfrm>
          <a:prstGeom prst="rect">
            <a:avLst/>
          </a:prstGeom>
          <a:solidFill>
            <a:srgbClr val="EEF4FF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896112"/>
            <a:ext cx="813816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0205B"/>
                </a:solidFill>
              </a:rPr>
              <a:t>"MyPassword is successful when an Airbus employee can reset their Prod or VALN password and unlock their SAP account themselves, at any time, without contacting IT — and that self-service channel is secure, auditable, and trusted enough that helpdesk involvement becomes the exception, not the norm."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45011"/>
                </a:solidFill>
              </a:rPr>
              <a:t>STAKEHOLDER VIEW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36576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798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5B"/>
                </a:solidFill>
              </a:rPr>
              <a:t>Employee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2798064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Reset password or unlock SAP immediately — no ticket, no wait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145536"/>
            <a:ext cx="8412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2004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5B"/>
                </a:solidFill>
              </a:rPr>
              <a:t>IT / Helpdesk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320040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Password and SAP unlock tickets disappear from the queue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547872"/>
            <a:ext cx="8412480" cy="36576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6027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5B"/>
                </a:solidFill>
              </a:rPr>
              <a:t>IT Leadership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360273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Support cost down; team redeployed to higher-value work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950208"/>
            <a:ext cx="8412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4005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5B"/>
                </a:solidFill>
              </a:rPr>
              <a:t>Security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468880" y="400507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All resets through verified, auditable channels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352544"/>
            <a:ext cx="8412480" cy="36576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44074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5B"/>
                </a:solidFill>
              </a:rPr>
              <a:t>Business / Manager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468880" y="440740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Team not blocked due to locked SAP accounts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3 of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Channel Hierarchy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Success means events flowing toward the top of this hierarchy. IT Admin must become the exception, not the default.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137160" cy="9144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08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</a:rPr>
              <a:t>✓  Best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Self-Service / IIVR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1691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All identity types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8412480" cy="914400"/>
          </a:xfrm>
          <a:prstGeom prst="rect">
            <a:avLst/>
          </a:prstGeom>
          <a:solidFill>
            <a:srgbClr val="FFF3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468880"/>
            <a:ext cx="137160" cy="9144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~  OK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Buddy Reset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743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Prod identity, Windows only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520440"/>
            <a:ext cx="8412480" cy="914400"/>
          </a:xfrm>
          <a:prstGeom prst="rect">
            <a:avLst/>
          </a:prstGeom>
          <a:solidFill>
            <a:srgbClr val="FFEB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520440"/>
            <a:ext cx="137160" cy="914400"/>
          </a:xfrm>
          <a:prstGeom prst="rect">
            <a:avLst/>
          </a:prstGeom>
          <a:solidFill>
            <a:srgbClr val="880000"/>
          </a:solidFill>
          <a:ln w="12700">
            <a:solidFill>
              <a:srgbClr val="8800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0000"/>
                </a:solidFill>
              </a:rPr>
              <a:t>✗  Last Resort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IT Admin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3794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All identity types (fallback only)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4 of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North Star Metric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100584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896112"/>
            <a:ext cx="804672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% of reset and unlock events resolved without IT Admin involvement — across all identity types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965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When this number goes up: IT cost drops, employee wait time falls, and the platform is working.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4023360" cy="1188720"/>
          </a:xfrm>
          <a:prstGeom prst="rect">
            <a:avLst/>
          </a:prstGeom>
          <a:solidFill>
            <a:srgbClr val="F0F4FA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5420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66"/>
                </a:solidFill>
              </a:rPr>
              <a:t>Current Baseline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8346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05B"/>
                </a:solidFill>
              </a:rPr>
              <a:t>X%  (TBC from logs)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754880" y="2468880"/>
            <a:ext cx="4023360" cy="1188720"/>
          </a:xfrm>
          <a:prstGeom prst="rect">
            <a:avLst/>
          </a:prstGeom>
          <a:solidFill>
            <a:srgbClr val="E8F5E9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25420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66"/>
                </a:solidFill>
              </a:rPr>
              <a:t>Target (Oct 1 Launch)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8346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5E20"/>
                </a:solidFill>
              </a:rPr>
              <a:t>≥ 80%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</a:rPr>
              <a:t>Every feature decision should be assessed against whether it moves this metric.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5 of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Channel Distribution Targets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Track the split of events by channel and identity type. IT Admin % should shrink over time.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1463040" cy="347472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234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Identity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0" y="1207008"/>
            <a:ext cx="1554480" cy="347472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74520" y="1234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Channel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207008"/>
            <a:ext cx="1188720" cy="347472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234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Baseline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207008"/>
            <a:ext cx="1097280" cy="347472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1234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Target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0" y="1207008"/>
            <a:ext cx="1188720" cy="347472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15000" y="1234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Trend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0" y="1207008"/>
            <a:ext cx="1371600" cy="347472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03720" y="1234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Source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54480"/>
            <a:ext cx="146304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02336" y="1591056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Prod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28800" y="1554480"/>
            <a:ext cx="155448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865376" y="1591056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Self-service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83280" y="1554480"/>
            <a:ext cx="118872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19856" y="159105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X%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1554480"/>
            <a:ext cx="109728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08576" y="1591056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60%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0" y="1554480"/>
            <a:ext cx="118872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705856" y="159105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</a:rPr>
              <a:t>↑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58000" y="1554480"/>
            <a:ext cx="137160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94576" y="159105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MyPassword logs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1883664"/>
            <a:ext cx="1463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02336" y="1920240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Prod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828800" y="1883664"/>
            <a:ext cx="1554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865376" y="192024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IIVR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83280" y="1883664"/>
            <a:ext cx="1188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419856" y="192024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X%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0" y="1883664"/>
            <a:ext cx="10972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608576" y="192024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15%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69280" y="1883664"/>
            <a:ext cx="1188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705856" y="192024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</a:rPr>
              <a:t>↑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58000" y="1883664"/>
            <a:ext cx="13716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94576" y="1920240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IIVR system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2212848"/>
            <a:ext cx="146304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02336" y="2249424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Prod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828800" y="2212848"/>
            <a:ext cx="155448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865376" y="2249424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Buddy (Win)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383280" y="2212848"/>
            <a:ext cx="118872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419856" y="224942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X%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0" y="2212848"/>
            <a:ext cx="109728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608576" y="2249424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10%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669280" y="2212848"/>
            <a:ext cx="118872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705856" y="224942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</a:rPr>
              <a:t>↑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58000" y="2212848"/>
            <a:ext cx="137160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894576" y="224942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MyPassword logs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2542032"/>
            <a:ext cx="1463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02336" y="2578608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Prod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828800" y="2542032"/>
            <a:ext cx="1554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865376" y="257860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IT Admin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383280" y="2542032"/>
            <a:ext cx="1188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419856" y="257860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X%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572000" y="2542032"/>
            <a:ext cx="10972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608576" y="2578608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15%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669280" y="2542032"/>
            <a:ext cx="1188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705856" y="257860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0000"/>
                </a:solidFill>
              </a:rPr>
              <a:t>↓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858000" y="2542032"/>
            <a:ext cx="13716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894576" y="2578608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ServiceNow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65760" y="2871216"/>
            <a:ext cx="146304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402336" y="2907792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VALN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1828800" y="2871216"/>
            <a:ext cx="155448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1865376" y="290779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Self-service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383280" y="2871216"/>
            <a:ext cx="118872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3419856" y="290779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X%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572000" y="2871216"/>
            <a:ext cx="109728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4608576" y="290779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65%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5669280" y="2871216"/>
            <a:ext cx="118872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5705856" y="290779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</a:rPr>
              <a:t>↑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858000" y="2871216"/>
            <a:ext cx="137160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6894576" y="290779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MyPassword logs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365760" y="3200400"/>
            <a:ext cx="1463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402336" y="3236976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VALN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1828800" y="3200400"/>
            <a:ext cx="1554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1865376" y="3236976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IIVR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3383280" y="3200400"/>
            <a:ext cx="1188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3419856" y="323697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X%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4572000" y="3200400"/>
            <a:ext cx="10972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4608576" y="3236976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20%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5669280" y="3200400"/>
            <a:ext cx="1188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5705856" y="323697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</a:rPr>
              <a:t>↑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858000" y="3200400"/>
            <a:ext cx="13716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6894576" y="323697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IIVR system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365760" y="3529584"/>
            <a:ext cx="146304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402336" y="3566160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VALN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1828800" y="3529584"/>
            <a:ext cx="155448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1865376" y="356616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IT Admin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3383280" y="3529584"/>
            <a:ext cx="118872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3419856" y="356616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X%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4572000" y="3529584"/>
            <a:ext cx="109728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4608576" y="356616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15%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5669280" y="3529584"/>
            <a:ext cx="118872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5705856" y="356616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0000"/>
                </a:solidFill>
              </a:rPr>
              <a:t>↓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6858000" y="3529584"/>
            <a:ext cx="137160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6894576" y="3566160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ServiceNow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365760" y="3858768"/>
            <a:ext cx="1463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402336" y="3895344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SAP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1828800" y="3858768"/>
            <a:ext cx="1554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1865376" y="3895344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Self-service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3383280" y="3858768"/>
            <a:ext cx="1188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3419856" y="389534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X%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4572000" y="3858768"/>
            <a:ext cx="10972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4608576" y="3895344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70%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5669280" y="3858768"/>
            <a:ext cx="1188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5705856" y="389534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</a:rPr>
              <a:t>↑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6858000" y="3858768"/>
            <a:ext cx="13716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6894576" y="389534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MyPassword logs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365760" y="4187952"/>
            <a:ext cx="146304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402336" y="4224528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SAP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1828800" y="4187952"/>
            <a:ext cx="155448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1865376" y="422452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IIVR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3383280" y="4187952"/>
            <a:ext cx="118872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3419856" y="422452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X%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4572000" y="4187952"/>
            <a:ext cx="109728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4608576" y="4224528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15%</a:t>
            </a:r>
            <a:endParaRPr lang="en-US" sz="1000" dirty="0"/>
          </a:p>
        </p:txBody>
      </p:sp>
      <p:sp>
        <p:nvSpPr>
          <p:cNvPr id="121" name="Shape 119"/>
          <p:cNvSpPr/>
          <p:nvPr/>
        </p:nvSpPr>
        <p:spPr>
          <a:xfrm>
            <a:off x="5669280" y="4187952"/>
            <a:ext cx="118872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5705856" y="422452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</a:rPr>
              <a:t>↑</a:t>
            </a:r>
            <a:endParaRPr lang="en-US" sz="1000" dirty="0"/>
          </a:p>
        </p:txBody>
      </p:sp>
      <p:sp>
        <p:nvSpPr>
          <p:cNvPr id="123" name="Shape 121"/>
          <p:cNvSpPr/>
          <p:nvPr/>
        </p:nvSpPr>
        <p:spPr>
          <a:xfrm>
            <a:off x="6858000" y="4187952"/>
            <a:ext cx="137160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6894576" y="4224528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IIVR system</a:t>
            </a:r>
            <a:endParaRPr lang="en-US" sz="1000" dirty="0"/>
          </a:p>
        </p:txBody>
      </p:sp>
      <p:sp>
        <p:nvSpPr>
          <p:cNvPr id="125" name="Shape 123"/>
          <p:cNvSpPr/>
          <p:nvPr/>
        </p:nvSpPr>
        <p:spPr>
          <a:xfrm>
            <a:off x="365760" y="4517136"/>
            <a:ext cx="1463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402336" y="4553712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SAP</a:t>
            </a:r>
            <a:endParaRPr lang="en-US" sz="1000" dirty="0"/>
          </a:p>
        </p:txBody>
      </p:sp>
      <p:sp>
        <p:nvSpPr>
          <p:cNvPr id="127" name="Shape 125"/>
          <p:cNvSpPr/>
          <p:nvPr/>
        </p:nvSpPr>
        <p:spPr>
          <a:xfrm>
            <a:off x="1828800" y="4517136"/>
            <a:ext cx="1554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8" name="Text 126"/>
          <p:cNvSpPr txBox="1"/>
          <p:nvPr/>
        </p:nvSpPr>
        <p:spPr>
          <a:xfrm>
            <a:off x="1865376" y="455371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IT Admin</a:t>
            </a:r>
            <a:endParaRPr lang="en-US" sz="1000" dirty="0"/>
          </a:p>
        </p:txBody>
      </p:sp>
      <p:sp>
        <p:nvSpPr>
          <p:cNvPr id="129" name="Shape 127"/>
          <p:cNvSpPr/>
          <p:nvPr/>
        </p:nvSpPr>
        <p:spPr>
          <a:xfrm>
            <a:off x="3383280" y="4517136"/>
            <a:ext cx="1188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3419856" y="455371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X%</a:t>
            </a:r>
            <a:endParaRPr lang="en-US" sz="1000" dirty="0"/>
          </a:p>
        </p:txBody>
      </p:sp>
      <p:sp>
        <p:nvSpPr>
          <p:cNvPr id="131" name="Shape 129"/>
          <p:cNvSpPr/>
          <p:nvPr/>
        </p:nvSpPr>
        <p:spPr>
          <a:xfrm>
            <a:off x="4572000" y="4517136"/>
            <a:ext cx="10972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2" name="Text 130"/>
          <p:cNvSpPr txBox="1"/>
          <p:nvPr/>
        </p:nvSpPr>
        <p:spPr>
          <a:xfrm>
            <a:off x="4608576" y="455371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15%</a:t>
            </a:r>
            <a:endParaRPr lang="en-US" sz="1000" dirty="0"/>
          </a:p>
        </p:txBody>
      </p:sp>
      <p:sp>
        <p:nvSpPr>
          <p:cNvPr id="133" name="Shape 131"/>
          <p:cNvSpPr/>
          <p:nvPr/>
        </p:nvSpPr>
        <p:spPr>
          <a:xfrm>
            <a:off x="5669280" y="4517136"/>
            <a:ext cx="1188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4" name="Text 132"/>
          <p:cNvSpPr txBox="1"/>
          <p:nvPr/>
        </p:nvSpPr>
        <p:spPr>
          <a:xfrm>
            <a:off x="5705856" y="455371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0000"/>
                </a:solidFill>
              </a:rPr>
              <a:t>↓</a:t>
            </a:r>
            <a:endParaRPr lang="en-US" sz="1000" dirty="0"/>
          </a:p>
        </p:txBody>
      </p:sp>
      <p:sp>
        <p:nvSpPr>
          <p:cNvPr id="135" name="Shape 133"/>
          <p:cNvSpPr/>
          <p:nvPr/>
        </p:nvSpPr>
        <p:spPr>
          <a:xfrm>
            <a:off x="6858000" y="4517136"/>
            <a:ext cx="13716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6" name="Text 134"/>
          <p:cNvSpPr txBox="1"/>
          <p:nvPr/>
        </p:nvSpPr>
        <p:spPr>
          <a:xfrm>
            <a:off x="6894576" y="455371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ServiceNow</a:t>
            </a:r>
            <a:endParaRPr lang="en-US" sz="1000" dirty="0"/>
          </a:p>
        </p:txBody>
      </p:sp>
      <p:sp>
        <p:nvSpPr>
          <p:cNvPr id="137" name="Text 135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6 of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Metrics — Business Perspective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583680" y="182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347"/>
                </a:solidFill>
              </a:rPr>
              <a:t>CIO / IT Leadership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8046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Did it save money and reduce risk? Review quarterly.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046720" cy="329184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0624" y="12252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Metric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346704" y="12252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it shows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821424" y="12252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Target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517904"/>
            <a:ext cx="2926080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0624" y="158191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IT support cost saved / year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1517904"/>
            <a:ext cx="3474720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46704" y="158191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Financial return on the platform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66560" y="1517904"/>
            <a:ext cx="1645920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21424" y="158191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</a:rPr>
              <a:t>€ TBC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1901952"/>
            <a:ext cx="2926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0624" y="196596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IT Admin reset volume trend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91840" y="1901952"/>
            <a:ext cx="3474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46704" y="196596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Direct measure of cost reduction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766560" y="1901952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21424" y="19659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</a:rPr>
              <a:t>−50% vs baseline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2286000"/>
            <a:ext cx="2926080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0624" y="235000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Incident volume trend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91840" y="2286000"/>
            <a:ext cx="3474720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46704" y="235000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Risk and compliance exposure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766560" y="2286000"/>
            <a:ext cx="1645920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21424" y="235000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</a:rPr>
              <a:t>↓ trend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2670048"/>
            <a:ext cx="2926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20624" y="273405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Audit trail completeness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91840" y="2670048"/>
            <a:ext cx="3474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346704" y="27340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All resets through verified channels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766560" y="2670048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21424" y="27340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</a:rPr>
              <a:t>100%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3246120"/>
            <a:ext cx="8046720" cy="640080"/>
          </a:xfrm>
          <a:prstGeom prst="rect">
            <a:avLst/>
          </a:prstGeom>
          <a:solidFill>
            <a:srgbClr val="EEF4FF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8640" y="33101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05B"/>
                </a:solidFill>
              </a:rPr>
              <a:t>3-Minute CIO Story: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35387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1A2E"/>
                </a:solidFill>
              </a:rPr>
              <a:t>"Employees waited hours for access. We fixed it. IT tickets down 50%, €X saved annually, zero audit findings."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7 of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Metrics — User Perspective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583680" y="182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347"/>
                </a:solidFill>
              </a:rPr>
              <a:t>IT Management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8046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Did it make life easier for employees? Review monthly.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046720" cy="329184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0624" y="12252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Metric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346704" y="12252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it shows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821424" y="12252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Target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517904"/>
            <a:ext cx="2926080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0624" y="158191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Self-service success rate by identity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1517904"/>
            <a:ext cx="3474720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46704" y="158191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Can users actually do it themselves?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66560" y="1517904"/>
            <a:ext cx="1645920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21424" y="158191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</a:rPr>
              <a:t>≥ 80%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1901952"/>
            <a:ext cx="2926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0624" y="196596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Mean time to resolve — self-service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91840" y="1901952"/>
            <a:ext cx="3474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46704" y="196596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How fast is the experience?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766560" y="1901952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21424" y="19659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</a:rPr>
              <a:t>&lt; 5 mins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2286000"/>
            <a:ext cx="2926080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0624" y="235000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Abandonment rate mid-flow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91840" y="2286000"/>
            <a:ext cx="3474720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46704" y="235000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Where is the friction?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766560" y="2286000"/>
            <a:ext cx="1645920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21424" y="235000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</a:rPr>
              <a:t>&lt; 8%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2670048"/>
            <a:ext cx="2926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20624" y="273405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Channel adoption — self-service vs IT Admin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91840" y="2670048"/>
            <a:ext cx="3474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346704" y="27340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Are users choosing self-service willingly?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766560" y="2670048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21424" y="27340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</a:rPr>
              <a:t>IT Admin ↓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3246120"/>
            <a:ext cx="8046720" cy="640080"/>
          </a:xfrm>
          <a:prstGeom prst="rect">
            <a:avLst/>
          </a:prstGeom>
          <a:solidFill>
            <a:srgbClr val="FFF8E1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8640" y="33101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45011"/>
                </a:solidFill>
              </a:rPr>
              <a:t>Silent failure warning: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35387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1A2E"/>
                </a:solidFill>
              </a:rPr>
              <a:t>If self-service rate ↑ but abandonment stays high — users are starting but failing. UX investigation needed.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8 of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Metrics — Product Perspective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583680" y="182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347"/>
                </a:solidFill>
              </a:rPr>
              <a:t>PM Only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8046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Is the product behaving as designed? Review weekly. These drive your next product decision.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046720" cy="329184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0624" y="12252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Metric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980944" y="12252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Action if it goes wrong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821424" y="12252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Target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517904"/>
            <a:ext cx="2560320" cy="32004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0624" y="157276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Self-service failure rate by identity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0" y="1517904"/>
            <a:ext cx="3840480" cy="32004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80944" y="15727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Investigate UX or technical issue for that identity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1517904"/>
            <a:ext cx="1645920" cy="32004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21424" y="15727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20"/>
                </a:solidFill>
              </a:rPr>
              <a:t>&lt; 10%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1865376"/>
            <a:ext cx="25603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0624" y="19202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Abandonment rate mid-flow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26080" y="1865376"/>
            <a:ext cx="3840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80944" y="19202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Identify drop-off step → redesign that step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1865376"/>
            <a:ext cx="1645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21424" y="192024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20"/>
                </a:solidFill>
              </a:rPr>
              <a:t>&lt; 8%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212848"/>
            <a:ext cx="2560320" cy="32004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0624" y="226771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Channel shift trend over time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926080" y="2212848"/>
            <a:ext cx="3840480" cy="32004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980944" y="22677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Investigate why users still call IT → remove friction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66560" y="2212848"/>
            <a:ext cx="1645920" cy="32004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21424" y="226771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20"/>
                </a:solidFill>
              </a:rPr>
              <a:t>IT Admin ↓ monthly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2560320"/>
            <a:ext cx="25603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20624" y="261518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IIVR completion rate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926080" y="2560320"/>
            <a:ext cx="3840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980944" y="26151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Escalate to IT ops (system) or review IVR flow (UX)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66560" y="2560320"/>
            <a:ext cx="1645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21424" y="261518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20"/>
                </a:solidFill>
              </a:rPr>
              <a:t>&gt; 85%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2907792"/>
            <a:ext cx="2560320" cy="32004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20624" y="296265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Buddy reset success rate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926080" y="2907792"/>
            <a:ext cx="3840480" cy="32004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980944" y="29626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Investigate buddy flow reliability → UX fix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766560" y="2907792"/>
            <a:ext cx="1645920" cy="32004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21424" y="29626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20"/>
                </a:solidFill>
              </a:rPr>
              <a:t>&gt; 90%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3291840"/>
            <a:ext cx="8046720" cy="502920"/>
          </a:xfrm>
          <a:prstGeom prst="rect">
            <a:avLst/>
          </a:prstGeom>
          <a:solidFill>
            <a:srgbClr val="EEF4FF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48640" y="336499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205B"/>
                </a:solidFill>
              </a:rPr>
              <a:t>Key distinction: if a metric goes wrong and IT ops fixes it → operational. If you fix it in the product → yours.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9 of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Business Impact &amp; Next Steps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7772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45011"/>
                </a:solidFill>
              </a:rPr>
              <a:t>BUSINESS IMPACT CALCULATION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474720" cy="338328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20624" y="1152144"/>
            <a:ext cx="336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IT Admin resets / month (baseline)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840480" y="1097280"/>
            <a:ext cx="2926080" cy="338328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95344" y="1152144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TBC from ServiceNow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766560" y="1097280"/>
            <a:ext cx="1645920" cy="338328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21424" y="1152144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X tickets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463040"/>
            <a:ext cx="34747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0624" y="1517904"/>
            <a:ext cx="336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Resets deflected after launch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40480" y="1463040"/>
            <a:ext cx="29260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95344" y="1517904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Target: −50% of baseline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766560" y="1463040"/>
            <a:ext cx="16459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21424" y="1517904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X tickets/month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1828800"/>
            <a:ext cx="3474720" cy="338328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0624" y="1883664"/>
            <a:ext cx="336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Avg IT handle time per reset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840480" y="1828800"/>
            <a:ext cx="2926080" cy="338328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895344" y="1883664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15 mins (validate with helpdesk)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766560" y="1828800"/>
            <a:ext cx="1645920" cy="338328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21424" y="1883664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0.25 hrs/ticket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2194560"/>
            <a:ext cx="34747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0624" y="2249424"/>
            <a:ext cx="336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IT hours saved / month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840480" y="2194560"/>
            <a:ext cx="29260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895344" y="2249424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Deflected × 0.25 hrs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766560" y="2194560"/>
            <a:ext cx="16459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21424" y="2249424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X hrs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2560320"/>
            <a:ext cx="3474720" cy="338328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20624" y="2615184"/>
            <a:ext cx="336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Annual cost saving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840480" y="2560320"/>
            <a:ext cx="2926080" cy="338328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895344" y="2615184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Hours saved × IT cost rate (€/hr)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766560" y="2560320"/>
            <a:ext cx="1645920" cy="338328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21424" y="2615184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€ TBC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365760" y="2971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</a:rPr>
              <a:t>Reference: MyIAM programme ROI baseline — €360K/year projected savings across the full platform.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365760" y="331012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05B"/>
                </a:solidFill>
              </a:rPr>
              <a:t>IMMEDIATE NEXT STEPS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3621024"/>
            <a:ext cx="201168" cy="201168"/>
          </a:xfrm>
          <a:prstGeom prst="rect">
            <a:avLst/>
          </a:prstGeom>
          <a:solidFill>
            <a:srgbClr val="E45011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65760" y="36210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640080" y="3630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Pull current IT Admin reset volume from ServiceNow — establish baseline by identity type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65760" y="3840480"/>
            <a:ext cx="201168" cy="201168"/>
          </a:xfrm>
          <a:prstGeom prst="rect">
            <a:avLst/>
          </a:prstGeom>
          <a:solidFill>
            <a:srgbClr val="E45011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65760" y="38404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640080" y="384962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Pull self-service success/failure rates from MyPassword platform logs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65760" y="4059936"/>
            <a:ext cx="201168" cy="201168"/>
          </a:xfrm>
          <a:prstGeom prst="rect">
            <a:avLst/>
          </a:prstGeom>
          <a:solidFill>
            <a:srgbClr val="E45011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65760" y="4059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640080" y="40690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Validate avg IT handle time per reset with helpdesk team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65760" y="4279392"/>
            <a:ext cx="201168" cy="201168"/>
          </a:xfrm>
          <a:prstGeom prst="rect">
            <a:avLst/>
          </a:prstGeom>
          <a:solidFill>
            <a:srgbClr val="E45011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65760" y="42793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640080" y="428853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Agree targets with IT leadership before Oct 1 React platform launch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65760" y="4498848"/>
            <a:ext cx="201168" cy="201168"/>
          </a:xfrm>
          <a:prstGeom prst="rect">
            <a:avLst/>
          </a:prstGeom>
          <a:solidFill>
            <a:srgbClr val="E45011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65760" y="44988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640080" y="45079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Capture all baselines by Sprint 8 (beta gate) for before/after story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10 of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