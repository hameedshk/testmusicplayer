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MyIAM · Beta Feb 2027 → Production Apr 2027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182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46120" y="1170432"/>
            <a:ext cx="3217431" cy="237744"/>
          </a:xfrm>
          <a:prstGeom prst="rect">
            <a:avLst/>
          </a:prstGeom>
          <a:solidFill>
            <a:srgbClr val="0020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46120" y="1170432"/>
            <a:ext cx="32174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63551" y="1170432"/>
            <a:ext cx="4289908" cy="237744"/>
          </a:xfrm>
          <a:prstGeom prst="rect">
            <a:avLst/>
          </a:prstGeom>
          <a:solidFill>
            <a:srgbClr val="0020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3551" y="1170432"/>
            <a:ext cx="42899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753458" y="1170432"/>
            <a:ext cx="1072477" cy="237744"/>
          </a:xfrm>
          <a:prstGeom prst="rect">
            <a:avLst/>
          </a:prstGeom>
          <a:solidFill>
            <a:srgbClr val="0020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53458" y="1170432"/>
            <a:ext cx="10724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408176"/>
            <a:ext cx="1072477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46120" y="1408176"/>
            <a:ext cx="10724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
</a:t>
            </a:r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18597" y="1408176"/>
            <a:ext cx="1072477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18597" y="1408176"/>
            <a:ext cx="10724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
</a:t>
            </a:r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91074" y="1408176"/>
            <a:ext cx="1072477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91074" y="1408176"/>
            <a:ext cx="10724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
</a:t>
            </a:r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63551" y="1408176"/>
            <a:ext cx="1072477" cy="438912"/>
          </a:xfrm>
          <a:prstGeom prst="rect">
            <a:avLst/>
          </a:prstGeom>
          <a:solidFill>
            <a:srgbClr val="8B2E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63551" y="1408176"/>
            <a:ext cx="10724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
</a:t>
            </a:r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36028" y="1408176"/>
            <a:ext cx="1072477" cy="438912"/>
          </a:xfrm>
          <a:prstGeom prst="rect">
            <a:avLst/>
          </a:prstGeom>
          <a:solidFill>
            <a:srgbClr val="2C5F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36028" y="1408176"/>
            <a:ext cx="10724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
</a:t>
            </a:r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08505" y="1408176"/>
            <a:ext cx="1072477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08505" y="1408176"/>
            <a:ext cx="10724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
</a:t>
            </a:r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80981" y="1408176"/>
            <a:ext cx="1072477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80981" y="1408176"/>
            <a:ext cx="10724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
</a:t>
            </a:r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753458" y="1408176"/>
            <a:ext cx="1072477" cy="438912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753458" y="1408176"/>
            <a:ext cx="10724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2028
</a:t>
            </a:r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21043" y="1938528"/>
            <a:ext cx="714985" cy="3877056"/>
          </a:xfrm>
          <a:prstGeom prst="rect">
            <a:avLst/>
          </a:prstGeom>
          <a:solidFill>
            <a:srgbClr val="3B4C6B">
              <a:alpha val="12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01003" y="1984248"/>
            <a:ext cx="13550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6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365760" y="1956816"/>
            <a:ext cx="731520" cy="14996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93192" y="1956816"/>
            <a:ext cx="6766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Build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529584"/>
            <a:ext cx="731520" cy="713232"/>
          </a:xfrm>
          <a:prstGeom prst="rect">
            <a:avLst/>
          </a:prstGeom>
          <a:solidFill>
            <a:srgbClr val="5B3A9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93192" y="3529584"/>
            <a:ext cx="676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4315968"/>
            <a:ext cx="731520" cy="713232"/>
          </a:xfrm>
          <a:prstGeom prst="rect">
            <a:avLst/>
          </a:prstGeom>
          <a:solidFill>
            <a:srgbClr val="8B2E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93192" y="4315968"/>
            <a:ext cx="676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5102352"/>
            <a:ext cx="731520" cy="713232"/>
          </a:xfrm>
          <a:prstGeom prst="rect">
            <a:avLst/>
          </a:prstGeom>
          <a:solidFill>
            <a:srgbClr val="5C1A1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93192" y="5102352"/>
            <a:ext cx="676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Decom-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97280" y="1956816"/>
            <a:ext cx="2039112" cy="713232"/>
          </a:xfrm>
          <a:prstGeom prst="rect">
            <a:avLst/>
          </a:prstGeom>
          <a:solidFill>
            <a:srgbClr val="0020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225296" y="202996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Consolidation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1225296" y="2286000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MFE shell · Front-end · UX POC Apr 2026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46120" y="1956816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18597" y="1956816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1074" y="1956816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63551" y="1956816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36028" y="1956816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08505" y="1956816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80981" y="1956816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753458" y="1956816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46120" y="2148840"/>
            <a:ext cx="2657092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9" name="Shape 47"/>
          <p:cNvSpPr/>
          <p:nvPr/>
        </p:nvSpPr>
        <p:spPr>
          <a:xfrm>
            <a:off x="5903212" y="2148840"/>
            <a:ext cx="468899" cy="329184"/>
          </a:xfrm>
          <a:prstGeom prst="rect">
            <a:avLst/>
          </a:prstGeom>
          <a:solidFill>
            <a:srgbClr val="4FA8BE"/>
          </a:solidFill>
          <a:ln/>
        </p:spPr>
      </p:sp>
      <p:sp>
        <p:nvSpPr>
          <p:cNvPr id="50" name="Shape 48"/>
          <p:cNvSpPr/>
          <p:nvPr/>
        </p:nvSpPr>
        <p:spPr>
          <a:xfrm rot="5400000">
            <a:off x="6280671" y="2148840"/>
            <a:ext cx="182880" cy="329184"/>
          </a:xfrm>
          <a:prstGeom prst="triangle">
            <a:avLst/>
          </a:prstGeom>
          <a:solidFill>
            <a:srgbClr val="4FA8B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903212" y="2148840"/>
            <a:ext cx="6060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6463551" y="2203704"/>
            <a:ext cx="5362384" cy="219456"/>
          </a:xfrm>
          <a:prstGeom prst="rect">
            <a:avLst/>
          </a:prstGeom>
          <a:solidFill>
            <a:srgbClr val="BFDDE3"/>
          </a:solidFill>
          <a:ln/>
        </p:spPr>
      </p:sp>
      <p:sp>
        <p:nvSpPr>
          <p:cNvPr id="53" name="Shape 51"/>
          <p:cNvSpPr/>
          <p:nvPr/>
        </p:nvSpPr>
        <p:spPr>
          <a:xfrm>
            <a:off x="6390399" y="2240280"/>
            <a:ext cx="146304" cy="1463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300984" y="2148840"/>
            <a:ext cx="25473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3246120" y="2523744"/>
            <a:ext cx="632639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Solutions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Context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Groups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Password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Identity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Accounts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MyAppConnect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4131831" y="1965960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D1  </a:t>
            </a:r>
            <a:pPr algn="r"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foundation complete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3246120" y="196596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UX POC · Apr 2026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97280" y="2743200"/>
            <a:ext cx="2039112" cy="713232"/>
          </a:xfrm>
          <a:prstGeom prst="rect">
            <a:avLst/>
          </a:prstGeom>
          <a:solidFill>
            <a:srgbClr val="0020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225296" y="2816352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Development</a:t>
            </a:r>
            <a:endParaRPr lang="en-US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1225296" y="307238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APIs · started Aug 2026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246120" y="2743200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318597" y="2743200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91074" y="2743200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63551" y="2743200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536028" y="2743200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08505" y="2743200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680981" y="2743200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753458" y="2743200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76089" y="2935224"/>
            <a:ext cx="1441618" cy="329184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70" name="Shape 68"/>
          <p:cNvSpPr/>
          <p:nvPr/>
        </p:nvSpPr>
        <p:spPr>
          <a:xfrm>
            <a:off x="6117707" y="2935224"/>
            <a:ext cx="254403" cy="329184"/>
          </a:xfrm>
          <a:prstGeom prst="rect">
            <a:avLst/>
          </a:prstGeom>
          <a:solidFill>
            <a:srgbClr val="F2955C"/>
          </a:solidFill>
          <a:ln/>
        </p:spPr>
      </p:sp>
      <p:sp>
        <p:nvSpPr>
          <p:cNvPr id="71" name="Shape 69"/>
          <p:cNvSpPr/>
          <p:nvPr/>
        </p:nvSpPr>
        <p:spPr>
          <a:xfrm rot="5400000">
            <a:off x="6280671" y="2935224"/>
            <a:ext cx="182880" cy="329184"/>
          </a:xfrm>
          <a:prstGeom prst="triangle">
            <a:avLst/>
          </a:prstGeom>
          <a:solidFill>
            <a:srgbClr val="F2955C"/>
          </a:solidFill>
          <a:ln/>
        </p:spPr>
      </p:sp>
      <p:sp>
        <p:nvSpPr>
          <p:cNvPr id="72" name="Shape 70"/>
          <p:cNvSpPr/>
          <p:nvPr/>
        </p:nvSpPr>
        <p:spPr>
          <a:xfrm>
            <a:off x="6463551" y="2990088"/>
            <a:ext cx="5362384" cy="219456"/>
          </a:xfrm>
          <a:prstGeom prst="rect">
            <a:avLst/>
          </a:prstGeom>
          <a:solidFill>
            <a:srgbClr val="F6C9AA"/>
          </a:solidFill>
          <a:ln/>
        </p:spPr>
      </p:sp>
      <p:sp>
        <p:nvSpPr>
          <p:cNvPr id="73" name="Shape 71"/>
          <p:cNvSpPr/>
          <p:nvPr/>
        </p:nvSpPr>
        <p:spPr>
          <a:xfrm>
            <a:off x="6390399" y="3026664"/>
            <a:ext cx="146304" cy="1463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730953" y="2935224"/>
            <a:ext cx="1331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APIs · Solutions + Context + Groups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Password + Identity</a:t>
            </a:r>
            <a:endParaRPr lang="en-US" sz="750" dirty="0"/>
          </a:p>
        </p:txBody>
      </p:sp>
      <p:sp>
        <p:nvSpPr>
          <p:cNvPr id="75" name="Text 73"/>
          <p:cNvSpPr txBox="1"/>
          <p:nvPr/>
        </p:nvSpPr>
        <p:spPr>
          <a:xfrm>
            <a:off x="4676089" y="331012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Solutions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Context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Groups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Password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Identity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Accounts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Connectors</a:t>
            </a:r>
            <a:endParaRPr lang="en-US" sz="750" dirty="0"/>
          </a:p>
        </p:txBody>
      </p:sp>
      <p:sp>
        <p:nvSpPr>
          <p:cNvPr id="76" name="Text 74"/>
          <p:cNvSpPr txBox="1"/>
          <p:nvPr/>
        </p:nvSpPr>
        <p:spPr>
          <a:xfrm>
            <a:off x="4131831" y="2752344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D2  </a:t>
            </a:r>
            <a:pPr algn="r"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foundation complete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097280" y="3529584"/>
            <a:ext cx="2039112" cy="713232"/>
          </a:xfrm>
          <a:prstGeom prst="rect">
            <a:avLst/>
          </a:prstGeom>
          <a:solidFill>
            <a:srgbClr val="0020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225296" y="3602736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 (Prefect tool)</a:t>
            </a:r>
            <a:endParaRPr lang="en-US" sz="1250" dirty="0"/>
          </a:p>
        </p:txBody>
      </p:sp>
      <p:sp>
        <p:nvSpPr>
          <p:cNvPr id="79" name="Text 77"/>
          <p:cNvSpPr txBox="1"/>
          <p:nvPr/>
        </p:nvSpPr>
        <p:spPr>
          <a:xfrm>
            <a:off x="1225296" y="3858768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Config-over-code · Multi-source integration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246120" y="3529584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318597" y="3529584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391074" y="3529584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63551" y="3529584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536028" y="3529584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608505" y="3529584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680981" y="3529584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753458" y="3529584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391074" y="3721608"/>
            <a:ext cx="1745487" cy="329184"/>
          </a:xfrm>
          <a:prstGeom prst="rect">
            <a:avLst/>
          </a:prstGeom>
          <a:solidFill>
            <a:srgbClr val="5B3A9E"/>
          </a:solidFill>
          <a:ln/>
        </p:spPr>
      </p:sp>
      <p:sp>
        <p:nvSpPr>
          <p:cNvPr id="89" name="Shape 87"/>
          <p:cNvSpPr/>
          <p:nvPr/>
        </p:nvSpPr>
        <p:spPr>
          <a:xfrm>
            <a:off x="7136561" y="3721608"/>
            <a:ext cx="308027" cy="329184"/>
          </a:xfrm>
          <a:prstGeom prst="rect">
            <a:avLst/>
          </a:prstGeom>
          <a:solidFill>
            <a:srgbClr val="8B6FC2"/>
          </a:solidFill>
          <a:ln/>
        </p:spPr>
      </p:sp>
      <p:sp>
        <p:nvSpPr>
          <p:cNvPr id="90" name="Shape 88"/>
          <p:cNvSpPr/>
          <p:nvPr/>
        </p:nvSpPr>
        <p:spPr>
          <a:xfrm rot="5400000">
            <a:off x="7353148" y="3721608"/>
            <a:ext cx="182880" cy="329184"/>
          </a:xfrm>
          <a:prstGeom prst="triangle">
            <a:avLst/>
          </a:prstGeom>
          <a:solidFill>
            <a:srgbClr val="8B6FC2"/>
          </a:solidFill>
          <a:ln/>
        </p:spPr>
      </p:sp>
      <p:sp>
        <p:nvSpPr>
          <p:cNvPr id="91" name="Shape 89"/>
          <p:cNvSpPr/>
          <p:nvPr/>
        </p:nvSpPr>
        <p:spPr>
          <a:xfrm>
            <a:off x="7536028" y="3776472"/>
            <a:ext cx="4289908" cy="219456"/>
          </a:xfrm>
          <a:prstGeom prst="rect">
            <a:avLst/>
          </a:prstGeom>
          <a:solidFill>
            <a:srgbClr val="D6CCEE"/>
          </a:solidFill>
          <a:ln/>
        </p:spPr>
      </p:sp>
      <p:sp>
        <p:nvSpPr>
          <p:cNvPr id="92" name="Shape 90"/>
          <p:cNvSpPr/>
          <p:nvPr/>
        </p:nvSpPr>
        <p:spPr>
          <a:xfrm>
            <a:off x="7462876" y="3813048"/>
            <a:ext cx="146304" cy="1463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5445938" y="3721608"/>
            <a:ext cx="16357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→ MyIAM DB ·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Sync</a:t>
            </a:r>
            <a:endParaRPr lang="en-US" sz="750" dirty="0"/>
          </a:p>
        </p:txBody>
      </p:sp>
      <p:sp>
        <p:nvSpPr>
          <p:cNvPr id="94" name="Text 92"/>
          <p:cNvSpPr txBox="1"/>
          <p:nvPr/>
        </p:nvSpPr>
        <p:spPr>
          <a:xfrm>
            <a:off x="5391074" y="409651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 Sync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Pipeline Hosting</a:t>
            </a:r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Additional Sources</a:t>
            </a:r>
            <a:endParaRPr lang="en-US" sz="750" dirty="0"/>
          </a:p>
        </p:txBody>
      </p:sp>
      <p:sp>
        <p:nvSpPr>
          <p:cNvPr id="95" name="Text 93"/>
          <p:cNvSpPr txBox="1"/>
          <p:nvPr/>
        </p:nvSpPr>
        <p:spPr>
          <a:xfrm>
            <a:off x="5204308" y="3538728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D3  </a:t>
            </a:r>
            <a:pPr algn="r"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 complete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097280" y="4315968"/>
            <a:ext cx="2039112" cy="713232"/>
          </a:xfrm>
          <a:prstGeom prst="rect">
            <a:avLst/>
          </a:prstGeom>
          <a:solidFill>
            <a:srgbClr val="0020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225296" y="438912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Write Consolidation</a:t>
            </a:r>
            <a:endParaRPr lang="en-US" sz="1250" dirty="0"/>
          </a:p>
        </p:txBody>
      </p:sp>
      <p:sp>
        <p:nvSpPr>
          <p:cNvPr id="98" name="Text 96"/>
          <p:cNvSpPr txBox="1"/>
          <p:nvPr/>
        </p:nvSpPr>
        <p:spPr>
          <a:xfrm>
            <a:off x="1225296" y="4645152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write authority · Target release Feb 2027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3246120" y="4315968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318597" y="4315968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391074" y="4315968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463551" y="4315968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536028" y="4315968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608505" y="4315968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680981" y="4315968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753458" y="4315968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569820" y="4507992"/>
            <a:ext cx="1289684" cy="329184"/>
          </a:xfrm>
          <a:prstGeom prst="rect">
            <a:avLst/>
          </a:prstGeom>
          <a:solidFill>
            <a:srgbClr val="8B2E2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859504" y="4507992"/>
            <a:ext cx="227591" cy="329184"/>
          </a:xfrm>
          <a:prstGeom prst="rect">
            <a:avLst/>
          </a:prstGeom>
          <a:solidFill>
            <a:srgbClr val="B15C5C"/>
          </a:solidFill>
          <a:ln/>
        </p:spPr>
      </p:sp>
      <p:sp>
        <p:nvSpPr>
          <p:cNvPr id="109" name="Shape 107"/>
          <p:cNvSpPr/>
          <p:nvPr/>
        </p:nvSpPr>
        <p:spPr>
          <a:xfrm rot="5400000">
            <a:off x="6995655" y="4507992"/>
            <a:ext cx="182880" cy="329184"/>
          </a:xfrm>
          <a:prstGeom prst="triangle">
            <a:avLst/>
          </a:prstGeom>
          <a:solidFill>
            <a:srgbClr val="B15C5C"/>
          </a:solidFill>
          <a:ln/>
        </p:spPr>
      </p:sp>
      <p:sp>
        <p:nvSpPr>
          <p:cNvPr id="110" name="Shape 108"/>
          <p:cNvSpPr/>
          <p:nvPr/>
        </p:nvSpPr>
        <p:spPr>
          <a:xfrm>
            <a:off x="7178535" y="4562856"/>
            <a:ext cx="4647400" cy="219456"/>
          </a:xfrm>
          <a:prstGeom prst="rect">
            <a:avLst/>
          </a:prstGeom>
          <a:solidFill>
            <a:srgbClr val="E3C4C4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105383" y="4599432"/>
            <a:ext cx="146304" cy="1463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624684" y="4507992"/>
            <a:ext cx="11799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 · AD Write Authority</a:t>
            </a:r>
            <a:endParaRPr lang="en-US" sz="750" dirty="0"/>
          </a:p>
        </p:txBody>
      </p:sp>
      <p:sp>
        <p:nvSpPr>
          <p:cNvPr id="113" name="Text 111"/>
          <p:cNvSpPr txBox="1"/>
          <p:nvPr/>
        </p:nvSpPr>
        <p:spPr>
          <a:xfrm>
            <a:off x="5569820" y="488289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Starts mid-Oct 2026: design → implementation → release by Feb 2027</a:t>
            </a:r>
            <a:endParaRPr lang="en-US" sz="750" dirty="0"/>
          </a:p>
        </p:txBody>
      </p:sp>
      <p:sp>
        <p:nvSpPr>
          <p:cNvPr id="114" name="Text 112"/>
          <p:cNvSpPr txBox="1"/>
          <p:nvPr/>
        </p:nvSpPr>
        <p:spPr>
          <a:xfrm>
            <a:off x="4846815" y="4325112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D4  </a:t>
            </a:r>
            <a:pPr algn="r"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write authority live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097280" y="5102352"/>
            <a:ext cx="2039112" cy="713232"/>
          </a:xfrm>
          <a:prstGeom prst="rect">
            <a:avLst/>
          </a:prstGeom>
          <a:solidFill>
            <a:srgbClr val="0020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1225296" y="5175504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Decommissioning</a:t>
            </a:r>
            <a:endParaRPr lang="en-US" sz="1250" dirty="0"/>
          </a:p>
        </p:txBody>
      </p:sp>
      <p:sp>
        <p:nvSpPr>
          <p:cNvPr id="117" name="Text 115"/>
          <p:cNvSpPr txBox="1"/>
          <p:nvPr/>
        </p:nvSpPr>
        <p:spPr>
          <a:xfrm>
            <a:off x="1225296" y="5431536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MyPassword · MyAccount · MyAppConnect · MyAccess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3246120" y="5102352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18597" y="5102352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391074" y="5102352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463551" y="5102352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536028" y="5102352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608505" y="5102352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680981" y="5102352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753458" y="5102352"/>
            <a:ext cx="0" cy="71323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608505" y="5294376"/>
            <a:ext cx="2053514" cy="329184"/>
          </a:xfrm>
          <a:prstGeom prst="rect">
            <a:avLst/>
          </a:prstGeom>
          <a:solidFill>
            <a:srgbClr val="5C1A1A"/>
          </a:solidFill>
          <a:ln/>
        </p:spPr>
      </p:sp>
      <p:sp>
        <p:nvSpPr>
          <p:cNvPr id="127" name="Shape 125"/>
          <p:cNvSpPr/>
          <p:nvPr/>
        </p:nvSpPr>
        <p:spPr>
          <a:xfrm rot="5400000">
            <a:off x="10570578" y="5294376"/>
            <a:ext cx="182880" cy="329184"/>
          </a:xfrm>
          <a:prstGeom prst="triangle">
            <a:avLst/>
          </a:prstGeom>
          <a:solidFill>
            <a:srgbClr val="5C1A1A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753458" y="5349240"/>
            <a:ext cx="1072477" cy="219456"/>
          </a:xfrm>
          <a:prstGeom prst="rect">
            <a:avLst/>
          </a:prstGeom>
          <a:solidFill>
            <a:srgbClr val="DAB9B9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0680306" y="5385816"/>
            <a:ext cx="146304" cy="1463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8663369" y="5294376"/>
            <a:ext cx="19437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MyX Apps Sunset</a:t>
            </a:r>
            <a:endParaRPr lang="en-US" sz="1100" dirty="0"/>
          </a:p>
        </p:txBody>
      </p:sp>
      <p:sp>
        <p:nvSpPr>
          <p:cNvPr id="131" name="Text 129"/>
          <p:cNvSpPr txBox="1"/>
          <p:nvPr/>
        </p:nvSpPr>
        <p:spPr>
          <a:xfrm>
            <a:off x="8421738" y="5111496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D5  </a:t>
            </a:r>
            <a:pPr algn="r"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Decommissioning complete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8910549" y="5582412"/>
            <a:ext cx="82296" cy="82296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205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360989" y="5582412"/>
            <a:ext cx="82296" cy="82296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205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811430" y="5582412"/>
            <a:ext cx="82296" cy="82296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205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261870" y="5582412"/>
            <a:ext cx="82296" cy="82296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205B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8608505" y="5660136"/>
            <a:ext cx="21449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MyPassword → MyAccount → MyAppConnect → MyAccess</a:t>
            </a:r>
            <a:endParaRPr lang="en-US" sz="700" dirty="0"/>
          </a:p>
        </p:txBody>
      </p:sp>
      <p:sp>
        <p:nvSpPr>
          <p:cNvPr id="137" name="Text 135"/>
          <p:cNvSpPr txBox="1"/>
          <p:nvPr/>
        </p:nvSpPr>
        <p:spPr>
          <a:xfrm>
            <a:off x="10808322" y="5660136"/>
            <a:ext cx="101761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– complex business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11752783" y="5385816"/>
            <a:ext cx="146304" cy="1463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10454335" y="4928616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Apps Retired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6821043" y="1911096"/>
            <a:ext cx="0" cy="3904488"/>
          </a:xfrm>
          <a:prstGeom prst="line">
            <a:avLst/>
          </a:prstGeom>
          <a:noFill/>
          <a:ln w="19050">
            <a:solidFill>
              <a:srgbClr val="8B2E2E"/>
            </a:solidFill>
            <a:prstDash val="sysDot"/>
          </a:ln>
        </p:spPr>
      </p:sp>
      <p:sp>
        <p:nvSpPr>
          <p:cNvPr id="141" name="Shape 139"/>
          <p:cNvSpPr/>
          <p:nvPr/>
        </p:nvSpPr>
        <p:spPr>
          <a:xfrm>
            <a:off x="7536028" y="1911096"/>
            <a:ext cx="0" cy="3904488"/>
          </a:xfrm>
          <a:prstGeom prst="line">
            <a:avLst/>
          </a:prstGeom>
          <a:noFill/>
          <a:ln w="25400">
            <a:solidFill>
              <a:srgbClr val="2C5F2D"/>
            </a:solidFill>
            <a:prstDash val="dash"/>
          </a:ln>
        </p:spPr>
      </p:sp>
      <p:sp>
        <p:nvSpPr>
          <p:cNvPr id="142" name="Text 140"/>
          <p:cNvSpPr txBox="1"/>
          <p:nvPr/>
        </p:nvSpPr>
        <p:spPr>
          <a:xfrm>
            <a:off x="6766179" y="185166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BETA · Feb '27</a:t>
            </a:r>
            <a:endParaRPr lang="en-US" sz="750" dirty="0"/>
          </a:p>
        </p:txBody>
      </p:sp>
      <p:sp>
        <p:nvSpPr>
          <p:cNvPr id="143" name="Text 141"/>
          <p:cNvSpPr txBox="1"/>
          <p:nvPr/>
        </p:nvSpPr>
        <p:spPr>
          <a:xfrm>
            <a:off x="7481164" y="185166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PRODUCTION · Apr '27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365760" y="5980176"/>
            <a:ext cx="118872" cy="11887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5" name="Text 143"/>
          <p:cNvSpPr txBox="1"/>
          <p:nvPr/>
        </p:nvSpPr>
        <p:spPr>
          <a:xfrm>
            <a:off x="548640" y="5961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1664208" y="5971032"/>
            <a:ext cx="128016" cy="128016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1865376" y="596188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3118104" y="5961888"/>
            <a:ext cx="0" cy="164592"/>
          </a:xfrm>
          <a:prstGeom prst="line">
            <a:avLst/>
          </a:prstGeom>
          <a:noFill/>
          <a:ln w="19050">
            <a:solidFill>
              <a:srgbClr val="8B2E2E"/>
            </a:solidFill>
            <a:prstDash val="sysDot"/>
          </a:ln>
        </p:spPr>
      </p:sp>
      <p:sp>
        <p:nvSpPr>
          <p:cNvPr id="149" name="Text 147"/>
          <p:cNvSpPr txBox="1"/>
          <p:nvPr/>
        </p:nvSpPr>
        <p:spPr>
          <a:xfrm>
            <a:off x="3246120" y="59618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Beta · Feb '27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4636008" y="5961888"/>
            <a:ext cx="0" cy="164592"/>
          </a:xfrm>
          <a:prstGeom prst="line">
            <a:avLst/>
          </a:prstGeom>
          <a:noFill/>
          <a:ln w="25400">
            <a:solidFill>
              <a:srgbClr val="2C5F2D"/>
            </a:solidFill>
            <a:prstDash val="dash"/>
          </a:ln>
        </p:spPr>
      </p:sp>
      <p:sp>
        <p:nvSpPr>
          <p:cNvPr id="151" name="Text 149"/>
          <p:cNvSpPr txBox="1"/>
          <p:nvPr/>
        </p:nvSpPr>
        <p:spPr>
          <a:xfrm>
            <a:off x="4764024" y="5961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Production · Apr '27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428232" y="5971032"/>
            <a:ext cx="182880" cy="118872"/>
          </a:xfrm>
          <a:prstGeom prst="rect">
            <a:avLst/>
          </a:prstGeom>
          <a:solidFill>
            <a:srgbClr val="3B4C6B">
              <a:alpha val="22000"/>
            </a:srgbClr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6684264" y="59618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365760" y="6236208"/>
            <a:ext cx="11460175" cy="457200"/>
          </a:xfrm>
          <a:prstGeom prst="roundRect">
            <a:avLst>
              <a:gd name="adj" fmla="val 10000"/>
            </a:avLst>
          </a:prstGeom>
          <a:solidFill>
            <a:srgbClr val="FCE9DD"/>
          </a:solidFill>
          <a:ln w="9525">
            <a:solidFill>
              <a:srgbClr val="E45011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548640" y="6236208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Achieving key roadmap milestones including the Beta release and final Go-Live remains strictly dependent on the availability of the AI Assistant tool (Claude Code). Legacy app decommissioning begins post Go-Live and closes with buffer for business complexity.</a:t>
            </a:r>
            <a:endParaRPr lang="en-US" sz="900" dirty="0"/>
          </a:p>
        </p:txBody>
      </p:sp>
      <p:sp>
        <p:nvSpPr>
          <p:cNvPr id="156" name="Text 154"/>
          <p:cNvSpPr txBox="1"/>
          <p:nvPr/>
        </p:nvSpPr>
        <p:spPr>
          <a:xfrm>
            <a:off x="10271455" y="6254496"/>
            <a:ext cx="86868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</p:txBody>
      </p:sp>
      <p:sp>
        <p:nvSpPr>
          <p:cNvPr id="157" name="Text 155"/>
          <p:cNvSpPr txBox="1"/>
          <p:nvPr/>
        </p:nvSpPr>
        <p:spPr>
          <a:xfrm>
            <a:off x="11231575" y="62544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AIRBUS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2026-09-17T11:56:52Z</dcterms:created>
  <dcterms:modified xsi:type="dcterms:W3CDTF">2026-09-17T11:56:52Z</dcterms:modified>
</cp:coreProperties>
</file>