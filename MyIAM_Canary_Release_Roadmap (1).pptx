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MyIAM · Canary Release Plan – Module Rollout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AD Write Consolidation + AD→DB Data Sync complete – every module tested end-to-end · canary window = 2.5wk (Internal 1wk + Pilot 1.5wk)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017520" y="1170432"/>
            <a:ext cx="1761683" cy="36576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17520" y="1170432"/>
            <a:ext cx="1761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'27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79203" y="1170432"/>
            <a:ext cx="1761683" cy="36576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79203" y="1170432"/>
            <a:ext cx="1761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'27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40886" y="1170432"/>
            <a:ext cx="1761683" cy="36576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40886" y="1170432"/>
            <a:ext cx="1761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'27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302569" y="1170432"/>
            <a:ext cx="1761683" cy="36576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2569" y="1170432"/>
            <a:ext cx="1761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'27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64252" y="1170432"/>
            <a:ext cx="1761683" cy="36576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64252" y="1170432"/>
            <a:ext cx="1761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'27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645920"/>
            <a:ext cx="2542032" cy="804672"/>
          </a:xfrm>
          <a:prstGeom prst="rect">
            <a:avLst/>
          </a:prstGeom>
          <a:solidFill>
            <a:srgbClr val="0020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645920"/>
            <a:ext cx="91440" cy="804672"/>
          </a:xfrm>
          <a:prstGeom prst="rect">
            <a:avLst/>
          </a:prstGeom>
          <a:solidFill>
            <a:srgbClr val="8B2E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171907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Password Reset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201168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parallel with Solution → retires MyPassword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017520" y="1645920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9203" y="1645920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40886" y="1645920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02569" y="1645920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64252" y="1645920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1892808"/>
            <a:ext cx="405451" cy="310896"/>
          </a:xfrm>
          <a:prstGeom prst="rect">
            <a:avLst/>
          </a:prstGeom>
          <a:solidFill>
            <a:srgbClr val="8B2E2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2971" y="1892808"/>
            <a:ext cx="2138539" cy="310896"/>
          </a:xfrm>
          <a:prstGeom prst="rect">
            <a:avLst/>
          </a:prstGeom>
          <a:solidFill>
            <a:srgbClr val="E3C4C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5470069" y="1892808"/>
            <a:ext cx="182880" cy="310896"/>
          </a:xfrm>
          <a:prstGeom prst="triangle">
            <a:avLst/>
          </a:prstGeom>
          <a:solidFill>
            <a:srgbClr val="E3C4C4"/>
          </a:solidFill>
          <a:ln/>
        </p:spPr>
      </p:sp>
      <p:sp>
        <p:nvSpPr>
          <p:cNvPr id="27" name="Shape 25"/>
          <p:cNvSpPr/>
          <p:nvPr/>
        </p:nvSpPr>
        <p:spPr>
          <a:xfrm>
            <a:off x="3957995" y="1975104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20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9797" y="1975104"/>
            <a:ext cx="146304" cy="14630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54096" y="1892808"/>
            <a:ext cx="3322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1%</a:t>
            </a:r>
            <a:endParaRPr lang="en-US" sz="650" dirty="0"/>
          </a:p>
        </p:txBody>
      </p:sp>
      <p:sp>
        <p:nvSpPr>
          <p:cNvPr id="30" name="Text 28"/>
          <p:cNvSpPr txBox="1"/>
          <p:nvPr/>
        </p:nvSpPr>
        <p:spPr>
          <a:xfrm>
            <a:off x="3459547" y="1892808"/>
            <a:ext cx="21568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10% → Ramp 25/50/75/100%</a:t>
            </a:r>
            <a:endParaRPr lang="en-US" sz="650" dirty="0"/>
          </a:p>
        </p:txBody>
      </p:sp>
      <p:sp>
        <p:nvSpPr>
          <p:cNvPr id="31" name="Text 29"/>
          <p:cNvSpPr txBox="1"/>
          <p:nvPr/>
        </p:nvSpPr>
        <p:spPr>
          <a:xfrm>
            <a:off x="3025307" y="171907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Pilot clear</a:t>
            </a:r>
            <a:endParaRPr lang="en-US" sz="650" dirty="0"/>
          </a:p>
        </p:txBody>
      </p:sp>
      <p:sp>
        <p:nvSpPr>
          <p:cNvPr id="32" name="Text 30"/>
          <p:cNvSpPr txBox="1"/>
          <p:nvPr/>
        </p:nvSpPr>
        <p:spPr>
          <a:xfrm>
            <a:off x="4464229" y="222199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– 7wk mark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65760" y="2542032"/>
            <a:ext cx="2542032" cy="804672"/>
          </a:xfrm>
          <a:prstGeom prst="rect">
            <a:avLst/>
          </a:prstGeom>
          <a:solidFill>
            <a:srgbClr val="0020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2542032"/>
            <a:ext cx="91440" cy="8046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66928" y="261518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Solution (Solutions + Context)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290779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parallel with Password Reset → no legacy app to retire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3017520" y="2542032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79203" y="2542032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40886" y="2542032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02569" y="2542032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64252" y="2542032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17520" y="2788920"/>
            <a:ext cx="405451" cy="310896"/>
          </a:xfrm>
          <a:prstGeom prst="rect">
            <a:avLst/>
          </a:prstGeom>
          <a:solidFill>
            <a:srgbClr val="1C729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22971" y="2788920"/>
            <a:ext cx="2138539" cy="310896"/>
          </a:xfrm>
          <a:prstGeom prst="rect">
            <a:avLst/>
          </a:prstGeom>
          <a:solidFill>
            <a:srgbClr val="BFDDE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5400000">
            <a:off x="5470069" y="2788920"/>
            <a:ext cx="182880" cy="310896"/>
          </a:xfrm>
          <a:prstGeom prst="triangle">
            <a:avLst/>
          </a:prstGeom>
          <a:solidFill>
            <a:srgbClr val="BFDDE3"/>
          </a:solidFill>
          <a:ln/>
        </p:spPr>
      </p:sp>
      <p:sp>
        <p:nvSpPr>
          <p:cNvPr id="45" name="Shape 43"/>
          <p:cNvSpPr/>
          <p:nvPr/>
        </p:nvSpPr>
        <p:spPr>
          <a:xfrm>
            <a:off x="3957995" y="2871216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205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79797" y="2871216"/>
            <a:ext cx="146304" cy="14630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054096" y="2788920"/>
            <a:ext cx="3322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1%</a:t>
            </a:r>
            <a:endParaRPr lang="en-US" sz="650" dirty="0"/>
          </a:p>
        </p:txBody>
      </p:sp>
      <p:sp>
        <p:nvSpPr>
          <p:cNvPr id="48" name="Text 46"/>
          <p:cNvSpPr txBox="1"/>
          <p:nvPr/>
        </p:nvSpPr>
        <p:spPr>
          <a:xfrm>
            <a:off x="3459547" y="2788920"/>
            <a:ext cx="21568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10% → Ramp 25/50/75/100%</a:t>
            </a:r>
            <a:endParaRPr lang="en-US" sz="650" dirty="0"/>
          </a:p>
        </p:txBody>
      </p:sp>
      <p:sp>
        <p:nvSpPr>
          <p:cNvPr id="49" name="Text 47"/>
          <p:cNvSpPr txBox="1"/>
          <p:nvPr/>
        </p:nvSpPr>
        <p:spPr>
          <a:xfrm>
            <a:off x="3025307" y="261518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Pilot clear → starts Accounts</a:t>
            </a:r>
            <a:endParaRPr lang="en-US" sz="650" dirty="0"/>
          </a:p>
        </p:txBody>
      </p:sp>
      <p:sp>
        <p:nvSpPr>
          <p:cNvPr id="50" name="Text 48"/>
          <p:cNvSpPr txBox="1"/>
          <p:nvPr/>
        </p:nvSpPr>
        <p:spPr>
          <a:xfrm>
            <a:off x="4464229" y="311810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– 7wk mark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365760" y="3438144"/>
            <a:ext cx="2542032" cy="804672"/>
          </a:xfrm>
          <a:prstGeom prst="rect">
            <a:avLst/>
          </a:prstGeom>
          <a:solidFill>
            <a:srgbClr val="0020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3438144"/>
            <a:ext cx="91440" cy="804672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66928" y="351129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Accounts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566928" y="3803904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once Solution clears its pilot gate → retires MyAccount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3017520" y="3438144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79203" y="3438144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40886" y="3438144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02569" y="3438144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64252" y="3438144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31147" y="3685032"/>
            <a:ext cx="405451" cy="310896"/>
          </a:xfrm>
          <a:prstGeom prst="rect">
            <a:avLst/>
          </a:prstGeom>
          <a:solidFill>
            <a:srgbClr val="E4501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36597" y="3685032"/>
            <a:ext cx="2138539" cy="310896"/>
          </a:xfrm>
          <a:prstGeom prst="rect">
            <a:avLst/>
          </a:prstGeom>
          <a:solidFill>
            <a:srgbClr val="F6C9A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5400000">
            <a:off x="6483696" y="3685032"/>
            <a:ext cx="182880" cy="310896"/>
          </a:xfrm>
          <a:prstGeom prst="triangle">
            <a:avLst/>
          </a:prstGeom>
          <a:solidFill>
            <a:srgbClr val="F6C9AA"/>
          </a:solidFill>
          <a:ln/>
        </p:spPr>
      </p:sp>
      <p:sp>
        <p:nvSpPr>
          <p:cNvPr id="63" name="Shape 61"/>
          <p:cNvSpPr/>
          <p:nvPr/>
        </p:nvSpPr>
        <p:spPr>
          <a:xfrm>
            <a:off x="4971621" y="3767328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205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93424" y="3767328"/>
            <a:ext cx="146304" cy="14630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067723" y="3685032"/>
            <a:ext cx="3322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1%</a:t>
            </a:r>
            <a:endParaRPr lang="en-US" sz="650" dirty="0"/>
          </a:p>
        </p:txBody>
      </p:sp>
      <p:sp>
        <p:nvSpPr>
          <p:cNvPr id="66" name="Text 64"/>
          <p:cNvSpPr txBox="1"/>
          <p:nvPr/>
        </p:nvSpPr>
        <p:spPr>
          <a:xfrm>
            <a:off x="4473173" y="3685032"/>
            <a:ext cx="21568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10% → Ramp 25/50/75/100%</a:t>
            </a:r>
            <a:endParaRPr lang="en-US" sz="650" dirty="0"/>
          </a:p>
        </p:txBody>
      </p:sp>
      <p:sp>
        <p:nvSpPr>
          <p:cNvPr id="67" name="Text 65"/>
          <p:cNvSpPr txBox="1"/>
          <p:nvPr/>
        </p:nvSpPr>
        <p:spPr>
          <a:xfrm>
            <a:off x="4038933" y="351129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Pilot clear → starts Groups</a:t>
            </a:r>
            <a:endParaRPr lang="en-US" sz="650" dirty="0"/>
          </a:p>
        </p:txBody>
      </p:sp>
      <p:sp>
        <p:nvSpPr>
          <p:cNvPr id="68" name="Text 66"/>
          <p:cNvSpPr txBox="1"/>
          <p:nvPr/>
        </p:nvSpPr>
        <p:spPr>
          <a:xfrm>
            <a:off x="5477856" y="40142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– 9wk mark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365760" y="4334256"/>
            <a:ext cx="2542032" cy="804672"/>
          </a:xfrm>
          <a:prstGeom prst="rect">
            <a:avLst/>
          </a:prstGeom>
          <a:solidFill>
            <a:srgbClr val="0020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5760" y="4334256"/>
            <a:ext cx="91440" cy="804672"/>
          </a:xfrm>
          <a:prstGeom prst="rect">
            <a:avLst/>
          </a:prstGeom>
          <a:solidFill>
            <a:srgbClr val="5B3A9E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566928" y="440740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Groups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566928" y="470001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legacy app to retire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3017520" y="4334256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79203" y="4334256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540886" y="4334256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302569" y="4334256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064252" y="4334256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044773" y="4581144"/>
            <a:ext cx="405451" cy="310896"/>
          </a:xfrm>
          <a:prstGeom prst="rect">
            <a:avLst/>
          </a:prstGeom>
          <a:solidFill>
            <a:srgbClr val="5B3A9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450224" y="4581144"/>
            <a:ext cx="2138539" cy="310896"/>
          </a:xfrm>
          <a:prstGeom prst="rect">
            <a:avLst/>
          </a:prstGeom>
          <a:solidFill>
            <a:srgbClr val="D6C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5400000">
            <a:off x="7497322" y="4581144"/>
            <a:ext cx="182880" cy="310896"/>
          </a:xfrm>
          <a:prstGeom prst="triangle">
            <a:avLst/>
          </a:prstGeom>
          <a:solidFill>
            <a:srgbClr val="D6CCEE"/>
          </a:solidFill>
          <a:ln/>
        </p:spPr>
      </p:sp>
      <p:sp>
        <p:nvSpPr>
          <p:cNvPr id="81" name="Shape 79"/>
          <p:cNvSpPr/>
          <p:nvPr/>
        </p:nvSpPr>
        <p:spPr>
          <a:xfrm>
            <a:off x="5985248" y="4663440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205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07050" y="4663440"/>
            <a:ext cx="146304" cy="14630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081349" y="4581144"/>
            <a:ext cx="3322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1%</a:t>
            </a:r>
            <a:endParaRPr lang="en-US" sz="650" dirty="0"/>
          </a:p>
        </p:txBody>
      </p:sp>
      <p:sp>
        <p:nvSpPr>
          <p:cNvPr id="84" name="Text 82"/>
          <p:cNvSpPr txBox="1"/>
          <p:nvPr/>
        </p:nvSpPr>
        <p:spPr>
          <a:xfrm>
            <a:off x="5486800" y="4581144"/>
            <a:ext cx="21568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10% → Ramp 25/50/75/100%</a:t>
            </a:r>
            <a:endParaRPr lang="en-US" sz="650" dirty="0"/>
          </a:p>
        </p:txBody>
      </p:sp>
      <p:sp>
        <p:nvSpPr>
          <p:cNvPr id="85" name="Text 83"/>
          <p:cNvSpPr txBox="1"/>
          <p:nvPr/>
        </p:nvSpPr>
        <p:spPr>
          <a:xfrm>
            <a:off x="5052560" y="440740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Pilot clear → starts Access</a:t>
            </a:r>
            <a:endParaRPr lang="en-US" sz="650" dirty="0"/>
          </a:p>
        </p:txBody>
      </p:sp>
      <p:sp>
        <p:nvSpPr>
          <p:cNvPr id="86" name="Text 84"/>
          <p:cNvSpPr txBox="1"/>
          <p:nvPr/>
        </p:nvSpPr>
        <p:spPr>
          <a:xfrm>
            <a:off x="6491482" y="491032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– 12wk mark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365760" y="5230368"/>
            <a:ext cx="2542032" cy="804672"/>
          </a:xfrm>
          <a:prstGeom prst="rect">
            <a:avLst/>
          </a:prstGeom>
          <a:solidFill>
            <a:srgbClr val="0020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5760" y="5230368"/>
            <a:ext cx="91440" cy="804672"/>
          </a:xfrm>
          <a:prstGeom prst="rect">
            <a:avLst/>
          </a:prstGeom>
          <a:solidFill>
            <a:srgbClr val="5C1A1A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566928" y="53035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Access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566928" y="559612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validated Groups data → hard floor: 3wk pilot-to-ramp → retires MyAccess</a:t>
            </a:r>
            <a:endParaRPr lang="en-US" sz="780" dirty="0"/>
          </a:p>
        </p:txBody>
      </p:sp>
      <p:sp>
        <p:nvSpPr>
          <p:cNvPr id="91" name="Shape 89"/>
          <p:cNvSpPr/>
          <p:nvPr/>
        </p:nvSpPr>
        <p:spPr>
          <a:xfrm>
            <a:off x="3017520" y="5230368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779203" y="5230368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540886" y="5230368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302569" y="5230368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064252" y="5230368"/>
            <a:ext cx="0" cy="804672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058400" y="5477256"/>
            <a:ext cx="405451" cy="310896"/>
          </a:xfrm>
          <a:prstGeom prst="rect">
            <a:avLst/>
          </a:prstGeom>
          <a:solidFill>
            <a:srgbClr val="5C1A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463850" y="5477256"/>
            <a:ext cx="2138539" cy="310896"/>
          </a:xfrm>
          <a:prstGeom prst="rect">
            <a:avLst/>
          </a:prstGeom>
          <a:solidFill>
            <a:srgbClr val="DAB9B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5400000">
            <a:off x="8510949" y="5477256"/>
            <a:ext cx="182880" cy="310896"/>
          </a:xfrm>
          <a:prstGeom prst="triangle">
            <a:avLst/>
          </a:prstGeom>
          <a:solidFill>
            <a:srgbClr val="DAB9B9"/>
          </a:solidFill>
          <a:ln/>
        </p:spPr>
      </p:sp>
      <p:sp>
        <p:nvSpPr>
          <p:cNvPr id="99" name="Shape 97"/>
          <p:cNvSpPr/>
          <p:nvPr/>
        </p:nvSpPr>
        <p:spPr>
          <a:xfrm>
            <a:off x="6998874" y="5559552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0205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620677" y="5559552"/>
            <a:ext cx="146304" cy="14630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6094976" y="5477256"/>
            <a:ext cx="3322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1%</a:t>
            </a:r>
            <a:endParaRPr lang="en-US" sz="650" dirty="0"/>
          </a:p>
        </p:txBody>
      </p:sp>
      <p:sp>
        <p:nvSpPr>
          <p:cNvPr id="102" name="Text 100"/>
          <p:cNvSpPr txBox="1"/>
          <p:nvPr/>
        </p:nvSpPr>
        <p:spPr>
          <a:xfrm>
            <a:off x="6500426" y="5477256"/>
            <a:ext cx="21568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10% → Ramp 25/50/75/100%</a:t>
            </a:r>
            <a:endParaRPr lang="en-US" sz="650" dirty="0"/>
          </a:p>
        </p:txBody>
      </p:sp>
      <p:sp>
        <p:nvSpPr>
          <p:cNvPr id="103" name="Text 101"/>
          <p:cNvSpPr txBox="1"/>
          <p:nvPr/>
        </p:nvSpPr>
        <p:spPr>
          <a:xfrm>
            <a:off x="6066186" y="53035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Pilot clear</a:t>
            </a:r>
            <a:endParaRPr lang="en-US" sz="650" dirty="0"/>
          </a:p>
        </p:txBody>
      </p:sp>
      <p:sp>
        <p:nvSpPr>
          <p:cNvPr id="104" name="Text 102"/>
          <p:cNvSpPr txBox="1"/>
          <p:nvPr/>
        </p:nvSpPr>
        <p:spPr>
          <a:xfrm>
            <a:off x="7505109" y="58064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– 14wk mark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3017520" y="1600200"/>
            <a:ext cx="0" cy="4434840"/>
          </a:xfrm>
          <a:prstGeom prst="line">
            <a:avLst/>
          </a:prstGeom>
          <a:noFill/>
          <a:ln w="25400">
            <a:solidFill>
              <a:srgbClr val="00205B"/>
            </a:solidFill>
            <a:prstDash val="sysDot"/>
          </a:ln>
        </p:spPr>
      </p:sp>
      <p:sp>
        <p:nvSpPr>
          <p:cNvPr id="106" name="Text 104"/>
          <p:cNvSpPr txBox="1"/>
          <p:nvPr/>
        </p:nvSpPr>
        <p:spPr>
          <a:xfrm>
            <a:off x="2971800" y="1545336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Prerequisite complete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365760" y="6172200"/>
            <a:ext cx="182880" cy="118872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621792" y="616305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1% (dark)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2039112" y="6172200"/>
            <a:ext cx="182880" cy="118872"/>
          </a:xfrm>
          <a:prstGeom prst="rect">
            <a:avLst/>
          </a:prstGeom>
          <a:solidFill>
            <a:srgbClr val="BFDDE3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2295144" y="61630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10% → Ramp (light)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3895344" y="6163056"/>
            <a:ext cx="128016" cy="128016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4096512" y="616305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gate clear (triggers next module)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6428232" y="6172200"/>
            <a:ext cx="118872" cy="11887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6611112" y="61630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– module live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365760" y="6419088"/>
            <a:ext cx="11460175" cy="512064"/>
          </a:xfrm>
          <a:prstGeom prst="roundRect">
            <a:avLst>
              <a:gd name="adj" fmla="val 8929"/>
            </a:avLst>
          </a:prstGeom>
          <a:solidFill>
            <a:srgbClr val="FCE9DD"/>
          </a:solidFill>
          <a:ln w="9525">
            <a:solidFill>
              <a:srgbClr val="E45011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548640" y="6419088"/>
            <a:ext cx="11094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7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Password Reset and Solution start together in week 1 of January 2027 and run in parallel. Every gate requires a clean window (4 business days minimum) AND manual sign-off — Programme Lead also signs off before every module's Ramp. Access carries a hard floor of 3 weeks pilot-to-ramp. Chain completes around wk14 (~mid-Apr 2027), close to the original production date.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