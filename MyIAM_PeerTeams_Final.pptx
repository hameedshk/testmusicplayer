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-914400"/>
            <a:ext cx="5029200" cy="5029200"/>
          </a:xfrm>
          <a:prstGeom prst="ellipse">
            <a:avLst/>
          </a:prstGeom>
          <a:solidFill>
            <a:srgbClr val="0E2247">
              <a:alpha val="60000"/>
            </a:srgbClr>
          </a:solidFill>
          <a:ln w="19050">
            <a:solidFill>
              <a:srgbClr val="1A4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-182880"/>
            <a:ext cx="3474720" cy="3474720"/>
          </a:xfrm>
          <a:prstGeom prst="ellipse">
            <a:avLst/>
          </a:prstGeom>
          <a:solidFill>
            <a:srgbClr val="132B5E">
              <a:alpha val="80000"/>
            </a:srgbClr>
          </a:solidFill>
          <a:ln w="12700">
            <a:solidFill>
              <a:srgbClr val="008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MyIAM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E0EA"/>
                </a:solidFill>
              </a:rPr>
              <a:t>One Self-Service Cockpit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E0EA"/>
                </a:solidFill>
              </a:rPr>
              <a:t>for Airbus Identity &amp; Access Management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4114800" cy="36576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43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AFC8"/>
                </a:solidFill>
              </a:rPr>
              <a:t>Awareness &amp; Onboarding Guide for Peer Teams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</a:rPr>
              <a:t>Airbus Commercial  |  Q3 2024 - Q4 2027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55280" y="109728"/>
            <a:ext cx="1005840" cy="256032"/>
          </a:xfrm>
          <a:prstGeom prst="rect">
            <a:avLst/>
          </a:prstGeom>
          <a:solidFill>
            <a:srgbClr val="E833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AIRBUS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Today's Reality - 8 Separate IAM Apps, One Broken Journey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955280" y="109728"/>
            <a:ext cx="1005840" cy="256032"/>
          </a:xfrm>
          <a:prstGeom prst="rect">
            <a:avLst/>
          </a:prstGeom>
          <a:solidFill>
            <a:srgbClr val="E833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AIRBUS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" y="1261872"/>
            <a:ext cx="804672" cy="1005840"/>
          </a:xfrm>
          <a:prstGeom prst="rect">
            <a:avLst>
              <a:gd name="adj" fmla="val 9091"/>
            </a:avLst>
          </a:prstGeom>
          <a:solidFill>
            <a:srgbClr val="0082A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" y="126187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" y="1755648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Airbus Civil Realm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87552" y="749808"/>
            <a:ext cx="27432" cy="4069080"/>
          </a:xfrm>
          <a:prstGeom prst="rect">
            <a:avLst/>
          </a:prstGeom>
          <a:solidFill>
            <a:srgbClr val="AABBCC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6583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C93"/>
                </a:solidFill>
              </a:rPr>
              <a:t>Security Rules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41248" y="3611880"/>
            <a:ext cx="502920" cy="502920"/>
          </a:xfrm>
          <a:prstGeom prst="rect">
            <a:avLst>
              <a:gd name="adj" fmla="val 10909"/>
            </a:avLst>
          </a:prstGeom>
          <a:solidFill>
            <a:srgbClr val="0D1B3E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333C"/>
                </a:solidFill>
              </a:rPr>
              <a:t>LOCK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9808" y="41330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C93"/>
                </a:solidFill>
              </a:rPr>
              <a:t>Access Restrictions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896112" y="1719072"/>
            <a:ext cx="201168" cy="36576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15" name="Text 13"/>
          <p:cNvSpPr/>
          <p:nvPr/>
        </p:nvSpPr>
        <p:spPr>
          <a:xfrm>
            <a:off x="1060704" y="1609344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2A0"/>
                </a:solidFill>
              </a:rPr>
              <a:t>&gt;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97280" y="731520"/>
            <a:ext cx="4846320" cy="4133088"/>
          </a:xfrm>
          <a:prstGeom prst="rect">
            <a:avLst>
              <a:gd name="adj" fmla="val 2212"/>
            </a:avLst>
          </a:prstGeom>
          <a:solidFill>
            <a:srgbClr val="EEF4F8"/>
          </a:solidFill>
          <a:ln w="10160">
            <a:solidFill>
              <a:srgbClr val="6B7C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461772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C93"/>
                </a:solidFill>
              </a:rPr>
              <a:t>IAM Self Service App Suite (As-Is)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188720" y="841248"/>
            <a:ext cx="2286000" cy="713232"/>
          </a:xfrm>
          <a:prstGeom prst="rect">
            <a:avLst>
              <a:gd name="adj" fmla="val 7692"/>
            </a:avLst>
          </a:prstGeom>
          <a:solidFill>
            <a:srgbClr val="0D1B3E"/>
          </a:solidFill>
          <a:ln/>
        </p:spPr>
      </p:sp>
      <p:sp>
        <p:nvSpPr>
          <p:cNvPr id="19" name="Text 17"/>
          <p:cNvSpPr/>
          <p:nvPr/>
        </p:nvSpPr>
        <p:spPr>
          <a:xfrm>
            <a:off x="1261872" y="905256"/>
            <a:ext cx="2139696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MyAccount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61872" y="1169335"/>
            <a:ext cx="21396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EA"/>
                </a:solidFill>
              </a:rPr>
              <a:t>Account Lifecycle Mgmt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E0EA"/>
                </a:solidFill>
              </a:rPr>
              <a:t>SA, TA Accounts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584448" y="841248"/>
            <a:ext cx="2286000" cy="713232"/>
          </a:xfrm>
          <a:prstGeom prst="rect">
            <a:avLst>
              <a:gd name="adj" fmla="val 7692"/>
            </a:avLst>
          </a:prstGeom>
          <a:solidFill>
            <a:srgbClr val="0D1B3E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905256"/>
            <a:ext cx="2139696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MyAppConnect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0" y="1169335"/>
            <a:ext cx="21396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EA"/>
                </a:solidFill>
              </a:rPr>
              <a:t>SSO Connectors &amp; Scopes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188720" y="1682496"/>
            <a:ext cx="2286000" cy="713232"/>
          </a:xfrm>
          <a:prstGeom prst="rect">
            <a:avLst>
              <a:gd name="adj" fmla="val 7692"/>
            </a:avLst>
          </a:prstGeom>
          <a:solidFill>
            <a:srgbClr val="0D1B3E"/>
          </a:solidFill>
          <a:ln/>
        </p:spPr>
      </p:sp>
      <p:sp>
        <p:nvSpPr>
          <p:cNvPr id="25" name="Text 23"/>
          <p:cNvSpPr/>
          <p:nvPr/>
        </p:nvSpPr>
        <p:spPr>
          <a:xfrm>
            <a:off x="1261872" y="1746504"/>
            <a:ext cx="2139696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MyAccess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261872" y="2010583"/>
            <a:ext cx="21396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EA"/>
                </a:solidFill>
              </a:rPr>
              <a:t>Group Lifecycle Management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584448" y="1682496"/>
            <a:ext cx="2286000" cy="713232"/>
          </a:xfrm>
          <a:prstGeom prst="rect">
            <a:avLst>
              <a:gd name="adj" fmla="val 7692"/>
            </a:avLst>
          </a:prstGeom>
          <a:solidFill>
            <a:srgbClr val="0D1B3E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1746504"/>
            <a:ext cx="2139696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Password Reset APIs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0" y="2010583"/>
            <a:ext cx="21396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EA"/>
                </a:solidFill>
              </a:rPr>
              <a:t>For Suppliers &amp; Customers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188720" y="2523744"/>
            <a:ext cx="2286000" cy="713232"/>
          </a:xfrm>
          <a:prstGeom prst="rect">
            <a:avLst>
              <a:gd name="adj" fmla="val 7692"/>
            </a:avLst>
          </a:prstGeom>
          <a:solidFill>
            <a:srgbClr val="0D1B3E"/>
          </a:solidFill>
          <a:ln/>
        </p:spPr>
      </p:sp>
      <p:sp>
        <p:nvSpPr>
          <p:cNvPr id="31" name="Text 29"/>
          <p:cNvSpPr/>
          <p:nvPr/>
        </p:nvSpPr>
        <p:spPr>
          <a:xfrm>
            <a:off x="1261872" y="2587752"/>
            <a:ext cx="2139696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MyPassword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261872" y="2851831"/>
            <a:ext cx="21396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EA"/>
                </a:solidFill>
              </a:rPr>
              <a:t>Password Mgmt Tool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E0EA"/>
                </a:solidFill>
              </a:rPr>
              <a:t>Employees &amp; SAP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584448" y="2523744"/>
            <a:ext cx="2286000" cy="713232"/>
          </a:xfrm>
          <a:prstGeom prst="rect">
            <a:avLst>
              <a:gd name="adj" fmla="val 7692"/>
            </a:avLst>
          </a:prstGeom>
          <a:solidFill>
            <a:srgbClr val="0D1B3E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0" y="2587752"/>
            <a:ext cx="2139696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AirbusPassport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0" y="2851831"/>
            <a:ext cx="21396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EA"/>
                </a:solidFill>
              </a:rPr>
              <a:t>SSO Libraries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188720" y="3364992"/>
            <a:ext cx="2286000" cy="713232"/>
          </a:xfrm>
          <a:prstGeom prst="rect">
            <a:avLst>
              <a:gd name="adj" fmla="val 7692"/>
            </a:avLst>
          </a:prstGeom>
          <a:solidFill>
            <a:srgbClr val="0D1B3E"/>
          </a:solidFill>
          <a:ln/>
        </p:spPr>
      </p:sp>
      <p:sp>
        <p:nvSpPr>
          <p:cNvPr id="37" name="Text 35"/>
          <p:cNvSpPr/>
          <p:nvPr/>
        </p:nvSpPr>
        <p:spPr>
          <a:xfrm>
            <a:off x="1261872" y="3429000"/>
            <a:ext cx="2139696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MyContext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261872" y="3693079"/>
            <a:ext cx="21396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EA"/>
                </a:solidFill>
              </a:rPr>
              <a:t>Context / Sub Context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E0EA"/>
                </a:solidFill>
              </a:rPr>
              <a:t>Manage Solutions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584448" y="3364992"/>
            <a:ext cx="2286000" cy="713232"/>
          </a:xfrm>
          <a:prstGeom prst="rect">
            <a:avLst>
              <a:gd name="adj" fmla="val 7692"/>
            </a:avLst>
          </a:prstGeom>
          <a:solidFill>
            <a:srgbClr val="0D1B3E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0" y="3429000"/>
            <a:ext cx="2139696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Anubis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0" y="3693079"/>
            <a:ext cx="21396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EA"/>
                </a:solidFill>
              </a:rPr>
              <a:t>Unix Attributes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126480" y="914400"/>
            <a:ext cx="1234440" cy="1280160"/>
          </a:xfrm>
          <a:prstGeom prst="rect">
            <a:avLst>
              <a:gd name="adj" fmla="val 5926"/>
            </a:avLst>
          </a:prstGeom>
          <a:solidFill>
            <a:srgbClr val="0D1B3E"/>
          </a:solidFill>
          <a:ln/>
        </p:spPr>
      </p:sp>
      <p:sp>
        <p:nvSpPr>
          <p:cNvPr id="43" name="Text 41"/>
          <p:cNvSpPr/>
          <p:nvPr/>
        </p:nvSpPr>
        <p:spPr>
          <a:xfrm>
            <a:off x="6126480" y="9875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2A0"/>
                </a:solidFill>
              </a:rPr>
              <a:t>DB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126480" y="138988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MyIAM DB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26480" y="1609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E0EA"/>
                </a:solidFill>
              </a:rPr>
              <a:t>Fragmented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8E0EA"/>
                </a:solidFill>
              </a:rPr>
              <a:t>data sync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961888" y="138988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2A0"/>
                </a:solidFill>
              </a:rPr>
              <a:t>&lt;-&gt;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498080" y="777240"/>
            <a:ext cx="1280160" cy="475488"/>
          </a:xfrm>
          <a:prstGeom prst="rect">
            <a:avLst>
              <a:gd name="adj" fmla="val 9615"/>
            </a:avLst>
          </a:prstGeom>
          <a:solidFill>
            <a:srgbClr val="0D1B3E"/>
          </a:solidFill>
          <a:ln/>
        </p:spPr>
      </p:sp>
      <p:sp>
        <p:nvSpPr>
          <p:cNvPr id="48" name="Text 46"/>
          <p:cNvSpPr/>
          <p:nvPr/>
        </p:nvSpPr>
        <p:spPr>
          <a:xfrm>
            <a:off x="7498080" y="79552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MyPortfolio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498080" y="1371600"/>
            <a:ext cx="1280160" cy="475488"/>
          </a:xfrm>
          <a:prstGeom prst="rect">
            <a:avLst>
              <a:gd name="adj" fmla="val 9615"/>
            </a:avLst>
          </a:prstGeom>
          <a:solidFill>
            <a:srgbClr val="0D1B3E"/>
          </a:solidFill>
          <a:ln/>
        </p:spPr>
      </p:sp>
      <p:sp>
        <p:nvSpPr>
          <p:cNvPr id="50" name="Text 48"/>
          <p:cNvSpPr/>
          <p:nvPr/>
        </p:nvSpPr>
        <p:spPr>
          <a:xfrm>
            <a:off x="7498080" y="138988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498080" y="1965960"/>
            <a:ext cx="1280160" cy="475488"/>
          </a:xfrm>
          <a:prstGeom prst="rect">
            <a:avLst>
              <a:gd name="adj" fmla="val 9615"/>
            </a:avLst>
          </a:prstGeom>
          <a:solidFill>
            <a:srgbClr val="0D1B3E"/>
          </a:solidFill>
          <a:ln/>
        </p:spPr>
      </p:sp>
      <p:sp>
        <p:nvSpPr>
          <p:cNvPr id="52" name="Text 50"/>
          <p:cNvSpPr/>
          <p:nvPr/>
        </p:nvSpPr>
        <p:spPr>
          <a:xfrm>
            <a:off x="7498080" y="198424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ADAM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498080" y="2560320"/>
            <a:ext cx="1280160" cy="475488"/>
          </a:xfrm>
          <a:prstGeom prst="rect">
            <a:avLst>
              <a:gd name="adj" fmla="val 9615"/>
            </a:avLst>
          </a:prstGeom>
          <a:solidFill>
            <a:srgbClr val="0D1B3E"/>
          </a:solidFill>
          <a:ln/>
        </p:spPr>
      </p:sp>
      <p:sp>
        <p:nvSpPr>
          <p:cNvPr id="54" name="Text 52"/>
          <p:cNvSpPr/>
          <p:nvPr/>
        </p:nvSpPr>
        <p:spPr>
          <a:xfrm>
            <a:off x="7498080" y="257860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DSP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498080" y="3154680"/>
            <a:ext cx="1280160" cy="475488"/>
          </a:xfrm>
          <a:prstGeom prst="rect">
            <a:avLst>
              <a:gd name="adj" fmla="val 9615"/>
            </a:avLst>
          </a:prstGeom>
          <a:solidFill>
            <a:srgbClr val="0D1B3E"/>
          </a:solidFill>
          <a:ln/>
        </p:spPr>
      </p:sp>
      <p:sp>
        <p:nvSpPr>
          <p:cNvPr id="56" name="Text 54"/>
          <p:cNvSpPr/>
          <p:nvPr/>
        </p:nvSpPr>
        <p:spPr>
          <a:xfrm>
            <a:off x="7498080" y="317296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SAP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498080" y="37490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C93"/>
                </a:solidFill>
              </a:rPr>
              <a:t>Data Sources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60920" y="137160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2A0"/>
                </a:solidFill>
              </a:rPr>
              <a:t>-&gt;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498080" y="4023360"/>
            <a:ext cx="1280160" cy="640080"/>
          </a:xfrm>
          <a:prstGeom prst="rect">
            <a:avLst>
              <a:gd name="adj" fmla="val 11429"/>
            </a:avLst>
          </a:prstGeom>
          <a:solidFill>
            <a:srgbClr val="0082A0"/>
          </a:solidFill>
          <a:ln/>
        </p:spPr>
      </p:sp>
      <p:sp>
        <p:nvSpPr>
          <p:cNvPr id="60" name="Text 58"/>
          <p:cNvSpPr/>
          <p:nvPr/>
        </p:nvSpPr>
        <p:spPr>
          <a:xfrm>
            <a:off x="7498080" y="4041648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Active Directory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Airbus Civil Realm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035040" y="2377440"/>
            <a:ext cx="2926080" cy="2395728"/>
          </a:xfrm>
          <a:prstGeom prst="rect">
            <a:avLst>
              <a:gd name="adj" fmla="val 3053"/>
            </a:avLst>
          </a:prstGeom>
          <a:solidFill>
            <a:srgbClr val="FFF3F3"/>
          </a:solidFill>
          <a:ln w="12700">
            <a:solidFill>
              <a:srgbClr val="E8333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2648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333C"/>
                </a:solidFill>
              </a:rPr>
              <a:t>Key Challenges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126480" y="27797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A4A"/>
                </a:solidFill>
              </a:rPr>
              <a:t>- Complexity: 8+ IAM assets, no single view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126480" y="31546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A4A"/>
                </a:solidFill>
              </a:rPr>
              <a:t>- High Incidents &amp; Requests from UX fragmentation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126480" y="35295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A4A"/>
                </a:solidFill>
              </a:rPr>
              <a:t>- Compliance &amp; auditability gaps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126480" y="39044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A4A"/>
                </a:solidFill>
              </a:rPr>
              <a:t>- Data redundancy across systems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126480" y="42793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A4A"/>
                </a:solidFill>
              </a:rPr>
              <a:t>- SSO onboarding takes up to 2 weeks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8503920" y="48006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C93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457200"/>
            <a:ext cx="4572000" cy="4572000"/>
          </a:xfrm>
          <a:prstGeom prst="ellipse">
            <a:avLst/>
          </a:prstGeom>
          <a:solidFill>
            <a:srgbClr val="0E2247">
              <a:alpha val="50000"/>
            </a:srgbClr>
          </a:solidFill>
          <a:ln w="6350">
            <a:solidFill>
              <a:srgbClr val="0082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0" y="109728"/>
            <a:ext cx="1005840" cy="256032"/>
          </a:xfrm>
          <a:prstGeom prst="rect">
            <a:avLst/>
          </a:prstGeom>
          <a:solidFill>
            <a:srgbClr val="E833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AIRBUS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0EA"/>
                </a:solidFill>
              </a:rPr>
              <a:t>The Vision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"One cockpit for every Airbus identity -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where any user, in any division, can manage their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access securely, instantly, and intelligently -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333C"/>
                </a:solidFill>
              </a:rPr>
              <a:t>without ever raising an IT ticket."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11480" y="3017520"/>
            <a:ext cx="2651760" cy="1783080"/>
          </a:xfrm>
          <a:prstGeom prst="rect">
            <a:avLst>
              <a:gd name="adj" fmla="val 5128"/>
            </a:avLst>
          </a:prstGeom>
          <a:solidFill>
            <a:srgbClr val="0A2240"/>
          </a:solidFill>
          <a:ln w="12700">
            <a:solidFill>
              <a:srgbClr val="0082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08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2A0"/>
                </a:solidFill>
              </a:rPr>
              <a:t>AI-Powered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" y="3520440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E0EA"/>
                </a:solidFill>
              </a:rPr>
              <a:t>IAM Copilot handles requests via natural language. Insight Engine surfaces anomalies automatically.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0" y="3017520"/>
            <a:ext cx="2651760" cy="1783080"/>
          </a:xfrm>
          <a:prstGeom prst="rect">
            <a:avLst>
              <a:gd name="adj" fmla="val 5128"/>
            </a:avLst>
          </a:prstGeom>
          <a:solidFill>
            <a:srgbClr val="0A2240"/>
          </a:solidFill>
          <a:ln w="12700">
            <a:solidFill>
              <a:srgbClr val="0082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3108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2A0"/>
                </a:solidFill>
              </a:rPr>
              <a:t>Automated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01568" y="3520440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E0EA"/>
                </a:solidFill>
              </a:rPr>
              <a:t>Identity lifecycle, provisioning &amp; deprovisioning without IT tickets. Recertification runs automatically.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3017520"/>
            <a:ext cx="2651760" cy="1783080"/>
          </a:xfrm>
          <a:prstGeom prst="rect">
            <a:avLst>
              <a:gd name="adj" fmla="val 5128"/>
            </a:avLst>
          </a:prstGeom>
          <a:solidFill>
            <a:srgbClr val="0A2240"/>
          </a:solidFill>
          <a:ln w="12700">
            <a:solidFill>
              <a:srgbClr val="0082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3108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2A0"/>
                </a:solidFill>
              </a:rPr>
              <a:t>Secure by Design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81928" y="3520440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E0EA"/>
                </a:solidFill>
              </a:rPr>
              <a:t>Zero Trust, RBAC/PBAC. AD changes in 10 min. SSO onboarding: 2 weeks reduced to 2 days.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503920" y="48006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C93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Meet MyIAM - Transversal Work Package View (To-Be)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955280" y="109728"/>
            <a:ext cx="1005840" cy="256032"/>
          </a:xfrm>
          <a:prstGeom prst="rect">
            <a:avLst/>
          </a:prstGeom>
          <a:solidFill>
            <a:srgbClr val="E833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AIRBUS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" y="1261872"/>
            <a:ext cx="804672" cy="1005840"/>
          </a:xfrm>
          <a:prstGeom prst="rect">
            <a:avLst>
              <a:gd name="adj" fmla="val 9091"/>
            </a:avLst>
          </a:prstGeom>
          <a:solidFill>
            <a:srgbClr val="0082A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" y="126187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" y="1755648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Airbus Civil Realm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87552" y="749808"/>
            <a:ext cx="27432" cy="4069080"/>
          </a:xfrm>
          <a:prstGeom prst="rect">
            <a:avLst/>
          </a:prstGeom>
          <a:solidFill>
            <a:srgbClr val="AABBCC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6583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C93"/>
                </a:solidFill>
              </a:rPr>
              <a:t>Security Rules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41248" y="1691640"/>
            <a:ext cx="502920" cy="475488"/>
          </a:xfrm>
          <a:prstGeom prst="rect">
            <a:avLst>
              <a:gd name="adj" fmla="val 11538"/>
            </a:avLst>
          </a:prstGeom>
          <a:solidFill>
            <a:srgbClr val="E8A020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16916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AUTH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41248" y="3611880"/>
            <a:ext cx="502920" cy="475488"/>
          </a:xfrm>
          <a:prstGeom prst="rect">
            <a:avLst>
              <a:gd name="adj" fmla="val 11538"/>
            </a:avLst>
          </a:prstGeom>
          <a:solidFill>
            <a:srgbClr val="0D1B3E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6118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333C"/>
                </a:solidFill>
              </a:rPr>
              <a:t>LOCK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49808" y="4114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C93"/>
                </a:solidFill>
              </a:rPr>
              <a:t>Access Restrictions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914400" y="1810512"/>
            <a:ext cx="228600" cy="36576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1691640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2A0"/>
                </a:solidFill>
              </a:rPr>
              <a:t>&gt;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261872" y="731520"/>
            <a:ext cx="4846320" cy="4133088"/>
          </a:xfrm>
          <a:prstGeom prst="rect">
            <a:avLst>
              <a:gd name="adj" fmla="val 2655"/>
            </a:avLst>
          </a:prstGeom>
          <a:solidFill>
            <a:srgbClr val="EEF6FA"/>
          </a:solidFill>
          <a:ln w="19050">
            <a:solidFill>
              <a:srgbClr val="0082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617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0082A0"/>
                </a:solidFill>
              </a:rPr>
              <a:t>MyIAM  -  IAM Self Service App Suite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371600" y="841248"/>
            <a:ext cx="1810512" cy="804672"/>
          </a:xfrm>
          <a:prstGeom prst="rect">
            <a:avLst>
              <a:gd name="adj" fmla="val 6818"/>
            </a:avLst>
          </a:prstGeom>
          <a:solidFill>
            <a:srgbClr val="0D1B3E"/>
          </a:solidFill>
          <a:ln/>
        </p:spPr>
      </p:sp>
      <p:sp>
        <p:nvSpPr>
          <p:cNvPr id="21" name="Text 19"/>
          <p:cNvSpPr/>
          <p:nvPr/>
        </p:nvSpPr>
        <p:spPr>
          <a:xfrm>
            <a:off x="1444752" y="905256"/>
            <a:ext cx="1664208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MySolution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444752" y="1211397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EA"/>
                </a:solidFill>
              </a:rPr>
              <a:t>Solutions, Context,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E0EA"/>
                </a:solidFill>
              </a:rPr>
              <a:t>Sub Context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10128" y="841248"/>
            <a:ext cx="1810512" cy="804672"/>
          </a:xfrm>
          <a:prstGeom prst="rect">
            <a:avLst>
              <a:gd name="adj" fmla="val 6818"/>
            </a:avLst>
          </a:prstGeom>
          <a:solidFill>
            <a:srgbClr val="0D1B3E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905256"/>
            <a:ext cx="1664208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MyAppConnect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83280" y="1211397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EA"/>
                </a:solidFill>
              </a:rPr>
              <a:t>SSO Connectors &amp; Scopes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371600" y="1828800"/>
            <a:ext cx="1810512" cy="804672"/>
          </a:xfrm>
          <a:prstGeom prst="rect">
            <a:avLst>
              <a:gd name="adj" fmla="val 6818"/>
            </a:avLst>
          </a:prstGeom>
          <a:solidFill>
            <a:srgbClr val="0D1B3E"/>
          </a:solidFill>
          <a:ln/>
        </p:spPr>
      </p:sp>
      <p:sp>
        <p:nvSpPr>
          <p:cNvPr id="27" name="Text 25"/>
          <p:cNvSpPr/>
          <p:nvPr/>
        </p:nvSpPr>
        <p:spPr>
          <a:xfrm>
            <a:off x="1444752" y="1892808"/>
            <a:ext cx="1664208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AirbusPassport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444752" y="2198949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EA"/>
                </a:solidFill>
              </a:rPr>
              <a:t>SSO Libraries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10128" y="1828800"/>
            <a:ext cx="1810512" cy="804672"/>
          </a:xfrm>
          <a:prstGeom prst="rect">
            <a:avLst>
              <a:gd name="adj" fmla="val 6818"/>
            </a:avLst>
          </a:prstGeom>
          <a:solidFill>
            <a:srgbClr val="0D1B3E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0" y="1892808"/>
            <a:ext cx="1664208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MyAccount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83280" y="2198949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EA"/>
                </a:solidFill>
              </a:rPr>
              <a:t>Centralised Account Mgmt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E0EA"/>
                </a:solidFill>
              </a:rPr>
              <a:t>Accounts &amp; Unix Attr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371600" y="2816352"/>
            <a:ext cx="1810512" cy="804672"/>
          </a:xfrm>
          <a:prstGeom prst="rect">
            <a:avLst>
              <a:gd name="adj" fmla="val 6818"/>
            </a:avLst>
          </a:prstGeom>
          <a:solidFill>
            <a:srgbClr val="0D1B3E"/>
          </a:solidFill>
          <a:ln/>
        </p:spPr>
      </p:sp>
      <p:sp>
        <p:nvSpPr>
          <p:cNvPr id="33" name="Text 31"/>
          <p:cNvSpPr/>
          <p:nvPr/>
        </p:nvSpPr>
        <p:spPr>
          <a:xfrm>
            <a:off x="1444752" y="2880360"/>
            <a:ext cx="1664208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MyIdentity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444752" y="3186501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EA"/>
                </a:solidFill>
              </a:rPr>
              <a:t>Identity, Sparte,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E0EA"/>
                </a:solidFill>
              </a:rPr>
              <a:t>Reset Passwords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310128" y="2816352"/>
            <a:ext cx="1810512" cy="804672"/>
          </a:xfrm>
          <a:prstGeom prst="rect">
            <a:avLst>
              <a:gd name="adj" fmla="val 6818"/>
            </a:avLst>
          </a:prstGeom>
          <a:solidFill>
            <a:srgbClr val="0D1B3E"/>
          </a:solidFill>
          <a:ln/>
        </p:spPr>
      </p:sp>
      <p:sp>
        <p:nvSpPr>
          <p:cNvPr id="36" name="Text 34"/>
          <p:cNvSpPr/>
          <p:nvPr/>
        </p:nvSpPr>
        <p:spPr>
          <a:xfrm>
            <a:off x="3383280" y="2880360"/>
            <a:ext cx="1664208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MyAccess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383280" y="3186501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EA"/>
                </a:solidFill>
              </a:rPr>
              <a:t>Centralised Access Mgmt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E0EA"/>
                </a:solidFill>
              </a:rPr>
              <a:t>GBAC, RBAC, PBAC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331720" y="3767328"/>
            <a:ext cx="1810512" cy="548640"/>
          </a:xfrm>
          <a:prstGeom prst="rect">
            <a:avLst>
              <a:gd name="adj" fmla="val 10000"/>
            </a:avLst>
          </a:prstGeom>
          <a:solidFill>
            <a:srgbClr val="0A5580"/>
          </a:solidFill>
          <a:ln/>
        </p:spPr>
      </p:sp>
      <p:sp>
        <p:nvSpPr>
          <p:cNvPr id="39" name="Text 37"/>
          <p:cNvSpPr/>
          <p:nvPr/>
        </p:nvSpPr>
        <p:spPr>
          <a:xfrm>
            <a:off x="2395728" y="3803904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 Module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395728" y="404164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EA"/>
                </a:solidFill>
              </a:rPr>
              <a:t>Statistics / KPIs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309360" y="841248"/>
            <a:ext cx="1234440" cy="1280160"/>
          </a:xfrm>
          <a:prstGeom prst="rect">
            <a:avLst>
              <a:gd name="adj" fmla="val 5926"/>
            </a:avLst>
          </a:prstGeom>
          <a:solidFill>
            <a:srgbClr val="0D1B3E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9144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82A0"/>
                </a:solidFill>
              </a:rPr>
              <a:t>DB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309360" y="129844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MyIAM DB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09360" y="15361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E0EA"/>
                </a:solidFill>
              </a:rPr>
              <a:t>Single source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8E0EA"/>
                </a:solidFill>
              </a:rPr>
              <a:t>of truth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126480" y="138988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82A0"/>
                </a:solidFill>
              </a:rPr>
              <a:t>&lt;-&gt;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680960" y="777240"/>
            <a:ext cx="1280160" cy="475488"/>
          </a:xfrm>
          <a:prstGeom prst="rect">
            <a:avLst>
              <a:gd name="adj" fmla="val 9615"/>
            </a:avLst>
          </a:prstGeom>
          <a:solidFill>
            <a:srgbClr val="0D1B3E"/>
          </a:solidFill>
          <a:ln/>
        </p:spPr>
      </p:sp>
      <p:sp>
        <p:nvSpPr>
          <p:cNvPr id="47" name="Text 45"/>
          <p:cNvSpPr/>
          <p:nvPr/>
        </p:nvSpPr>
        <p:spPr>
          <a:xfrm>
            <a:off x="7680960" y="79552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MyPortfolio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680960" y="1371600"/>
            <a:ext cx="1280160" cy="475488"/>
          </a:xfrm>
          <a:prstGeom prst="rect">
            <a:avLst>
              <a:gd name="adj" fmla="val 9615"/>
            </a:avLst>
          </a:prstGeom>
          <a:solidFill>
            <a:srgbClr val="0D1B3E"/>
          </a:solidFill>
          <a:ln/>
        </p:spPr>
      </p:sp>
      <p:sp>
        <p:nvSpPr>
          <p:cNvPr id="49" name="Text 47"/>
          <p:cNvSpPr/>
          <p:nvPr/>
        </p:nvSpPr>
        <p:spPr>
          <a:xfrm>
            <a:off x="7680960" y="138988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680960" y="1965960"/>
            <a:ext cx="1280160" cy="475488"/>
          </a:xfrm>
          <a:prstGeom prst="rect">
            <a:avLst>
              <a:gd name="adj" fmla="val 9615"/>
            </a:avLst>
          </a:prstGeom>
          <a:solidFill>
            <a:srgbClr val="0D1B3E"/>
          </a:solidFill>
          <a:ln/>
        </p:spPr>
      </p:sp>
      <p:sp>
        <p:nvSpPr>
          <p:cNvPr id="51" name="Text 49"/>
          <p:cNvSpPr/>
          <p:nvPr/>
        </p:nvSpPr>
        <p:spPr>
          <a:xfrm>
            <a:off x="7680960" y="198424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ADAM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680960" y="2560320"/>
            <a:ext cx="1280160" cy="475488"/>
          </a:xfrm>
          <a:prstGeom prst="rect">
            <a:avLst>
              <a:gd name="adj" fmla="val 9615"/>
            </a:avLst>
          </a:prstGeom>
          <a:solidFill>
            <a:srgbClr val="0D1B3E"/>
          </a:solidFill>
          <a:ln/>
        </p:spPr>
      </p:sp>
      <p:sp>
        <p:nvSpPr>
          <p:cNvPr id="53" name="Text 51"/>
          <p:cNvSpPr/>
          <p:nvPr/>
        </p:nvSpPr>
        <p:spPr>
          <a:xfrm>
            <a:off x="7680960" y="257860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DSP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680960" y="3154680"/>
            <a:ext cx="1280160" cy="475488"/>
          </a:xfrm>
          <a:prstGeom prst="rect">
            <a:avLst>
              <a:gd name="adj" fmla="val 9615"/>
            </a:avLst>
          </a:prstGeom>
          <a:solidFill>
            <a:srgbClr val="0D1B3E"/>
          </a:solidFill>
          <a:ln/>
        </p:spPr>
      </p:sp>
      <p:sp>
        <p:nvSpPr>
          <p:cNvPr id="55" name="Text 53"/>
          <p:cNvSpPr/>
          <p:nvPr/>
        </p:nvSpPr>
        <p:spPr>
          <a:xfrm>
            <a:off x="7680960" y="317296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SAP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680960" y="37490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C93"/>
                </a:solidFill>
              </a:rPr>
              <a:t>Data Sources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543800" y="137160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2A0"/>
                </a:solidFill>
              </a:rPr>
              <a:t>-&gt;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680960" y="4023360"/>
            <a:ext cx="1280160" cy="640080"/>
          </a:xfrm>
          <a:prstGeom prst="rect">
            <a:avLst>
              <a:gd name="adj" fmla="val 11429"/>
            </a:avLst>
          </a:prstGeom>
          <a:solidFill>
            <a:srgbClr val="0082A0"/>
          </a:solidFill>
          <a:ln/>
        </p:spPr>
      </p:sp>
      <p:sp>
        <p:nvSpPr>
          <p:cNvPr id="59" name="Text 57"/>
          <p:cNvSpPr/>
          <p:nvPr/>
        </p:nvSpPr>
        <p:spPr>
          <a:xfrm>
            <a:off x="7680960" y="4041648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Active Directory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Airbus Civil Realm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503920" y="48006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C93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What's Changing Now - Phase 1: UI Consolidation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955280" y="109728"/>
            <a:ext cx="1005840" cy="256032"/>
          </a:xfrm>
          <a:prstGeom prst="rect">
            <a:avLst/>
          </a:prstGeom>
          <a:solidFill>
            <a:srgbClr val="E833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AIRBUS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" y="804672"/>
            <a:ext cx="1234440" cy="1143000"/>
          </a:xfrm>
          <a:prstGeom prst="rect">
            <a:avLst>
              <a:gd name="adj" fmla="val 6400"/>
            </a:avLst>
          </a:prstGeom>
          <a:solidFill>
            <a:srgbClr val="0D1B3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" y="8686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Airbus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Defence &amp; Space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Users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1440" y="2103120"/>
            <a:ext cx="1234440" cy="1143000"/>
          </a:xfrm>
          <a:prstGeom prst="rect">
            <a:avLst>
              <a:gd name="adj" fmla="val 6400"/>
            </a:avLst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216712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Airbus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Commercial Aircraft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Users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1440" y="3401568"/>
            <a:ext cx="1234440" cy="1143000"/>
          </a:xfrm>
          <a:prstGeom prst="rect">
            <a:avLst>
              <a:gd name="adj" fmla="val 6400"/>
            </a:avLst>
          </a:prstGeom>
          <a:solidFill>
            <a:srgbClr val="0D1B3E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" y="3465576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Airbus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Helicopter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Users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508760" y="1920240"/>
            <a:ext cx="960120" cy="685800"/>
          </a:xfrm>
          <a:prstGeom prst="rect">
            <a:avLst>
              <a:gd name="adj" fmla="val 9333"/>
            </a:avLst>
          </a:prstGeom>
          <a:solidFill>
            <a:srgbClr val="E8A020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193852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28600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RBAC / PBAC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344168" y="1417320"/>
            <a:ext cx="182880" cy="36576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16" name="Text 14"/>
          <p:cNvSpPr/>
          <p:nvPr/>
        </p:nvSpPr>
        <p:spPr>
          <a:xfrm>
            <a:off x="1481328" y="1325880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2A0"/>
                </a:solidFill>
              </a:rPr>
              <a:t>&gt;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44168" y="2377440"/>
            <a:ext cx="182880" cy="36576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18" name="Text 16"/>
          <p:cNvSpPr/>
          <p:nvPr/>
        </p:nvSpPr>
        <p:spPr>
          <a:xfrm>
            <a:off x="1481328" y="2286000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2A0"/>
                </a:solidFill>
              </a:rPr>
              <a:t>&gt;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44168" y="3337560"/>
            <a:ext cx="182880" cy="36576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20" name="Text 18"/>
          <p:cNvSpPr/>
          <p:nvPr/>
        </p:nvSpPr>
        <p:spPr>
          <a:xfrm>
            <a:off x="1481328" y="3246120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2A0"/>
                </a:solidFill>
              </a:rPr>
              <a:t>&gt;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33472" y="1691640"/>
            <a:ext cx="1389888" cy="1170432"/>
          </a:xfrm>
          <a:prstGeom prst="rect">
            <a:avLst>
              <a:gd name="adj" fmla="val 7813"/>
            </a:avLst>
          </a:prstGeom>
          <a:solidFill>
            <a:srgbClr val="00205B"/>
          </a:solidFill>
          <a:ln/>
        </p:spPr>
      </p:sp>
      <p:sp>
        <p:nvSpPr>
          <p:cNvPr id="22" name="Text 20"/>
          <p:cNvSpPr/>
          <p:nvPr/>
        </p:nvSpPr>
        <p:spPr>
          <a:xfrm>
            <a:off x="2633472" y="182880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MyIAM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633472" y="226771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E0EA"/>
                </a:solidFill>
              </a:rPr>
              <a:t>Core Cockpit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87168" y="2240280"/>
            <a:ext cx="164592" cy="36576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25" name="Text 23"/>
          <p:cNvSpPr/>
          <p:nvPr/>
        </p:nvSpPr>
        <p:spPr>
          <a:xfrm>
            <a:off x="2606040" y="2121408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2A0"/>
                </a:solidFill>
              </a:rPr>
              <a:t>&gt;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60520" y="969264"/>
            <a:ext cx="1298448" cy="566928"/>
          </a:xfrm>
          <a:prstGeom prst="rect">
            <a:avLst>
              <a:gd name="adj" fmla="val 9677"/>
            </a:avLst>
          </a:prstGeom>
          <a:solidFill>
            <a:srgbClr val="EEF6FA"/>
          </a:solidFill>
          <a:ln w="10160">
            <a:solidFill>
              <a:srgbClr val="0082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987552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Solution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041648" y="1161288"/>
            <a:ext cx="137160" cy="36576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29" name="Shape 27"/>
          <p:cNvSpPr/>
          <p:nvPr/>
        </p:nvSpPr>
        <p:spPr>
          <a:xfrm>
            <a:off x="4160520" y="1792224"/>
            <a:ext cx="1298448" cy="566928"/>
          </a:xfrm>
          <a:prstGeom prst="rect">
            <a:avLst>
              <a:gd name="adj" fmla="val 9677"/>
            </a:avLst>
          </a:prstGeom>
          <a:solidFill>
            <a:srgbClr val="EEF6FA"/>
          </a:solidFill>
          <a:ln w="10160">
            <a:solidFill>
              <a:srgbClr val="0082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60520" y="1810512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Identity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041648" y="1984248"/>
            <a:ext cx="137160" cy="36576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32" name="Shape 30"/>
          <p:cNvSpPr/>
          <p:nvPr/>
        </p:nvSpPr>
        <p:spPr>
          <a:xfrm>
            <a:off x="4160520" y="2615184"/>
            <a:ext cx="1298448" cy="566928"/>
          </a:xfrm>
          <a:prstGeom prst="rect">
            <a:avLst>
              <a:gd name="adj" fmla="val 9677"/>
            </a:avLst>
          </a:prstGeom>
          <a:solidFill>
            <a:srgbClr val="EEF6FA"/>
          </a:solidFill>
          <a:ln w="10160">
            <a:solidFill>
              <a:srgbClr val="0082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60520" y="2633472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Account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041648" y="2807208"/>
            <a:ext cx="137160" cy="36576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35" name="Shape 33"/>
          <p:cNvSpPr/>
          <p:nvPr/>
        </p:nvSpPr>
        <p:spPr>
          <a:xfrm>
            <a:off x="4160520" y="3438144"/>
            <a:ext cx="1298448" cy="566928"/>
          </a:xfrm>
          <a:prstGeom prst="rect">
            <a:avLst>
              <a:gd name="adj" fmla="val 9677"/>
            </a:avLst>
          </a:prstGeom>
          <a:solidFill>
            <a:srgbClr val="EEF6FA"/>
          </a:solidFill>
          <a:ln w="10160">
            <a:solidFill>
              <a:srgbClr val="0082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0520" y="3456432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Password Reset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041648" y="3630168"/>
            <a:ext cx="137160" cy="36576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38" name="Shape 36"/>
          <p:cNvSpPr/>
          <p:nvPr/>
        </p:nvSpPr>
        <p:spPr>
          <a:xfrm>
            <a:off x="5532120" y="2249424"/>
            <a:ext cx="292608" cy="36576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39" name="Text 37"/>
          <p:cNvSpPr/>
          <p:nvPr/>
        </p:nvSpPr>
        <p:spPr>
          <a:xfrm>
            <a:off x="5760720" y="2121408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2A0"/>
                </a:solidFill>
              </a:rPr>
              <a:t>&gt;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70448" y="850392"/>
            <a:ext cx="1417320" cy="548640"/>
          </a:xfrm>
          <a:prstGeom prst="rect">
            <a:avLst>
              <a:gd name="adj" fmla="val 10000"/>
            </a:avLst>
          </a:prstGeom>
          <a:solidFill>
            <a:srgbClr val="0D1B3E"/>
          </a:solidFill>
          <a:ln/>
        </p:spPr>
      </p:sp>
      <p:sp>
        <p:nvSpPr>
          <p:cNvPr id="41" name="Text 39"/>
          <p:cNvSpPr/>
          <p:nvPr/>
        </p:nvSpPr>
        <p:spPr>
          <a:xfrm>
            <a:off x="5870448" y="868680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Group (GBAC)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760720" y="1051560"/>
            <a:ext cx="128016" cy="36576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43" name="Shape 41"/>
          <p:cNvSpPr/>
          <p:nvPr/>
        </p:nvSpPr>
        <p:spPr>
          <a:xfrm>
            <a:off x="5870448" y="1527048"/>
            <a:ext cx="1417320" cy="548640"/>
          </a:xfrm>
          <a:prstGeom prst="rect">
            <a:avLst>
              <a:gd name="adj" fmla="val 10000"/>
            </a:avLst>
          </a:prstGeom>
          <a:solidFill>
            <a:srgbClr val="0D1B3E"/>
          </a:solidFill>
          <a:ln/>
        </p:spPr>
      </p:sp>
      <p:sp>
        <p:nvSpPr>
          <p:cNvPr id="44" name="Text 42"/>
          <p:cNvSpPr/>
          <p:nvPr/>
        </p:nvSpPr>
        <p:spPr>
          <a:xfrm>
            <a:off x="5870448" y="1545336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Role (RBAC)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760720" y="1728216"/>
            <a:ext cx="128016" cy="36576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46" name="Shape 44"/>
          <p:cNvSpPr/>
          <p:nvPr/>
        </p:nvSpPr>
        <p:spPr>
          <a:xfrm>
            <a:off x="5870448" y="2203704"/>
            <a:ext cx="1417320" cy="548640"/>
          </a:xfrm>
          <a:prstGeom prst="rect">
            <a:avLst>
              <a:gd name="adj" fmla="val 10000"/>
            </a:avLst>
          </a:prstGeom>
          <a:solidFill>
            <a:srgbClr val="0D1B3E"/>
          </a:solidFill>
          <a:ln/>
        </p:spPr>
      </p:sp>
      <p:sp>
        <p:nvSpPr>
          <p:cNvPr id="47" name="Text 45"/>
          <p:cNvSpPr/>
          <p:nvPr/>
        </p:nvSpPr>
        <p:spPr>
          <a:xfrm>
            <a:off x="5870448" y="222199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Permissions (PBAC)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760720" y="2404872"/>
            <a:ext cx="128016" cy="36576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49" name="Shape 47"/>
          <p:cNvSpPr/>
          <p:nvPr/>
        </p:nvSpPr>
        <p:spPr>
          <a:xfrm>
            <a:off x="5870448" y="2880360"/>
            <a:ext cx="1417320" cy="548640"/>
          </a:xfrm>
          <a:prstGeom prst="rect">
            <a:avLst>
              <a:gd name="adj" fmla="val 10000"/>
            </a:avLst>
          </a:prstGeom>
          <a:solidFill>
            <a:srgbClr val="0D1B3E"/>
          </a:solidFill>
          <a:ln/>
        </p:spPr>
      </p:sp>
      <p:sp>
        <p:nvSpPr>
          <p:cNvPr id="50" name="Text 48"/>
          <p:cNvSpPr/>
          <p:nvPr/>
        </p:nvSpPr>
        <p:spPr>
          <a:xfrm>
            <a:off x="5870448" y="2898648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Policy Control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760720" y="3081528"/>
            <a:ext cx="128016" cy="36576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52" name="Shape 50"/>
          <p:cNvSpPr/>
          <p:nvPr/>
        </p:nvSpPr>
        <p:spPr>
          <a:xfrm>
            <a:off x="2468880" y="4187952"/>
            <a:ext cx="1417320" cy="566928"/>
          </a:xfrm>
          <a:prstGeom prst="rect">
            <a:avLst>
              <a:gd name="adj" fmla="val 12903"/>
            </a:avLst>
          </a:prstGeom>
          <a:solidFill>
            <a:srgbClr val="0082A0"/>
          </a:solidFill>
          <a:ln/>
        </p:spPr>
      </p:sp>
      <p:sp>
        <p:nvSpPr>
          <p:cNvPr id="53" name="Text 51"/>
          <p:cNvSpPr/>
          <p:nvPr/>
        </p:nvSpPr>
        <p:spPr>
          <a:xfrm>
            <a:off x="2468880" y="420624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API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069080" y="4187952"/>
            <a:ext cx="1417320" cy="566928"/>
          </a:xfrm>
          <a:prstGeom prst="rect">
            <a:avLst>
              <a:gd name="adj" fmla="val 12903"/>
            </a:avLst>
          </a:prstGeom>
          <a:solidFill>
            <a:srgbClr val="0D1B3E"/>
          </a:solidFill>
          <a:ln/>
        </p:spPr>
      </p:sp>
      <p:sp>
        <p:nvSpPr>
          <p:cNvPr id="55" name="Text 53"/>
          <p:cNvSpPr/>
          <p:nvPr/>
        </p:nvSpPr>
        <p:spPr>
          <a:xfrm>
            <a:off x="4069080" y="420624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Ops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3858768" y="434340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2A0"/>
                </a:solidFill>
              </a:rPr>
              <a:t>&lt;&gt;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424928" y="731520"/>
            <a:ext cx="1627632" cy="4160520"/>
          </a:xfrm>
          <a:prstGeom prst="rect">
            <a:avLst>
              <a:gd name="adj" fmla="val 5618"/>
            </a:avLst>
          </a:prstGeom>
          <a:solidFill>
            <a:srgbClr val="0D1B3E"/>
          </a:solidFill>
          <a:ln/>
        </p:spPr>
      </p:sp>
      <p:sp>
        <p:nvSpPr>
          <p:cNvPr id="58" name="Text 56"/>
          <p:cNvSpPr/>
          <p:nvPr/>
        </p:nvSpPr>
        <p:spPr>
          <a:xfrm>
            <a:off x="7470648" y="80467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7470648" y="111556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333C"/>
                </a:solidFill>
              </a:rPr>
              <a:t>Now -&gt; Mar 2027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516368" y="1417320"/>
            <a:ext cx="1444752" cy="27432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61" name="Text 59"/>
          <p:cNvSpPr/>
          <p:nvPr/>
        </p:nvSpPr>
        <p:spPr>
          <a:xfrm>
            <a:off x="7470648" y="150876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EA"/>
                </a:solidFill>
              </a:rPr>
              <a:t>- MyAccess UI -&gt; MyIAM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470648" y="1984248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EA"/>
                </a:solidFill>
              </a:rPr>
              <a:t>- MyPassword -&gt; MyIAM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470648" y="2459736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EA"/>
                </a:solidFill>
              </a:rPr>
              <a:t>- MyAccount -&gt; MyIAM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470648" y="2935224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EA"/>
                </a:solidFill>
              </a:rPr>
              <a:t>- MyContext -&gt; MyIAM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470648" y="3410712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EA"/>
                </a:solidFill>
              </a:rPr>
              <a:t>- 100K+ users at go-live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7470648" y="388620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EA"/>
                </a:solidFill>
              </a:rPr>
              <a:t>- No new credentials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503920" y="48006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C93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MyIAM Programme Roadmap  |  May 2026 - Apr 2028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955280" y="109728"/>
            <a:ext cx="1005840" cy="256032"/>
          </a:xfrm>
          <a:prstGeom prst="rect">
            <a:avLst/>
          </a:prstGeom>
          <a:solidFill>
            <a:srgbClr val="E833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AIRBUS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731520"/>
            <a:ext cx="2084832" cy="4206240"/>
          </a:xfrm>
          <a:prstGeom prst="rect">
            <a:avLst>
              <a:gd name="adj" fmla="val 4386"/>
            </a:avLst>
          </a:prstGeom>
          <a:solidFill>
            <a:srgbClr val="0082A0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" y="685800"/>
            <a:ext cx="2176272" cy="4297680"/>
          </a:xfrm>
          <a:prstGeom prst="rect">
            <a:avLst>
              <a:gd name="adj" fmla="val 5042"/>
            </a:avLst>
          </a:prstGeom>
          <a:solidFill>
            <a:srgbClr val="FFFFFF">
              <a:alpha val="0"/>
            </a:srgbClr>
          </a:solidFill>
          <a:ln w="25400">
            <a:solidFill>
              <a:srgbClr val="E83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804672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74320" y="129844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D0D0"/>
                </a:solidFill>
              </a:rPr>
              <a:t>CONVERGED IAM SCOPE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256032" y="1536192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UI Consolidation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93852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DD0"/>
                </a:solidFill>
              </a:rPr>
              <a:t>Now - Mar 2027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2231136"/>
            <a:ext cx="1755648" cy="27432"/>
          </a:xfrm>
          <a:prstGeom prst="rect">
            <a:avLst/>
          </a:prstGeom>
          <a:solidFill>
            <a:srgbClr val="E8333C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30428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- Release 1: MyAccess UI convergence (technical merge)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74320" y="277977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- Release 2: MFE Shell - refined UX  Apr 2028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74320" y="3255264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- MFE Shell + Kendo + 4 MFE modules + Legacy UIs retired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74320" y="3730752"/>
            <a:ext cx="1901952" cy="27432"/>
          </a:xfrm>
          <a:prstGeom prst="rect">
            <a:avLst/>
          </a:prstGeom>
          <a:solidFill>
            <a:srgbClr val="E8333C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79476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E8333C"/>
                </a:solidFill>
              </a:rPr>
              <a:t>D1 &amp; D4: Unified cockpit live - 100K+ users onboarded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74320" y="479145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333C"/>
                </a:solidFill>
              </a:rPr>
              <a:t>NOW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95728" y="731520"/>
            <a:ext cx="2084832" cy="4206240"/>
          </a:xfrm>
          <a:prstGeom prst="rect">
            <a:avLst>
              <a:gd name="adj" fmla="val 4386"/>
            </a:avLst>
          </a:prstGeom>
          <a:solidFill>
            <a:srgbClr val="0062A0"/>
          </a:solidFill>
          <a:ln/>
        </p:spPr>
      </p:sp>
      <p:sp>
        <p:nvSpPr>
          <p:cNvPr id="20" name="Text 18"/>
          <p:cNvSpPr/>
          <p:nvPr/>
        </p:nvSpPr>
        <p:spPr>
          <a:xfrm>
            <a:off x="2395728" y="804672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E0EA"/>
                </a:solidFill>
              </a:rPr>
              <a:t>02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2487168" y="129844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AAFC8"/>
                </a:solidFill>
              </a:rPr>
              <a:t>PSL VISION ON SELF-SERVICE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468880" y="1536192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Secure Foundation Live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87168" y="193852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E0EA"/>
                </a:solidFill>
              </a:rPr>
              <a:t>FY 2026 - FY 2027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0" y="2231136"/>
            <a:ext cx="1755648" cy="27432"/>
          </a:xfrm>
          <a:prstGeom prst="rect">
            <a:avLst/>
          </a:prstGeom>
          <a:solidFill>
            <a:srgbClr val="3A6B8A"/>
          </a:solidFill>
          <a:ln/>
        </p:spPr>
      </p:sp>
      <p:sp>
        <p:nvSpPr>
          <p:cNvPr id="25" name="Text 23"/>
          <p:cNvSpPr/>
          <p:nvPr/>
        </p:nvSpPr>
        <p:spPr>
          <a:xfrm>
            <a:off x="2487168" y="230428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- One pipeline, one authorised write path out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487168" y="277977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- Full data sync with auditability from day one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487168" y="3255264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- MyIAM DB Cluster + Apache NiFi + Core API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487168" y="3730752"/>
            <a:ext cx="1901952" cy="27432"/>
          </a:xfrm>
          <a:prstGeom prst="rect">
            <a:avLst/>
          </a:prstGeom>
          <a:solidFill>
            <a:srgbClr val="3A6B8A"/>
          </a:solidFill>
          <a:ln/>
        </p:spPr>
      </p:sp>
      <p:sp>
        <p:nvSpPr>
          <p:cNvPr id="29" name="Text 27"/>
          <p:cNvSpPr/>
          <p:nvPr/>
        </p:nvSpPr>
        <p:spPr>
          <a:xfrm>
            <a:off x="2487168" y="379476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8E0EA"/>
                </a:solidFill>
              </a:rPr>
              <a:t>D2: Secure foundation live - faster sync &amp; write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608576" y="731520"/>
            <a:ext cx="2084832" cy="4206240"/>
          </a:xfrm>
          <a:prstGeom prst="rect">
            <a:avLst>
              <a:gd name="adj" fmla="val 4386"/>
            </a:avLst>
          </a:prstGeom>
          <a:solidFill>
            <a:srgbClr val="004E75"/>
          </a:solidFill>
          <a:ln/>
        </p:spPr>
      </p:sp>
      <p:sp>
        <p:nvSpPr>
          <p:cNvPr id="31" name="Text 29"/>
          <p:cNvSpPr/>
          <p:nvPr/>
        </p:nvSpPr>
        <p:spPr>
          <a:xfrm>
            <a:off x="4608576" y="804672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E0EA"/>
                </a:solidFill>
              </a:rPr>
              <a:t>03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4700016" y="129844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AAFC8"/>
                </a:solidFill>
              </a:rPr>
              <a:t>PSL VISION ON SELF-SERVICE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681728" y="1536192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Platform Backbone Live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0016" y="193852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E0EA"/>
                </a:solidFill>
              </a:rPr>
              <a:t>FY 2027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73168" y="2231136"/>
            <a:ext cx="1755648" cy="27432"/>
          </a:xfrm>
          <a:prstGeom prst="rect">
            <a:avLst/>
          </a:prstGeom>
          <a:solidFill>
            <a:srgbClr val="3A6B8A"/>
          </a:solidFill>
          <a:ln/>
        </p:spPr>
      </p:sp>
      <p:sp>
        <p:nvSpPr>
          <p:cNvPr id="36" name="Text 34"/>
          <p:cNvSpPr/>
          <p:nvPr/>
        </p:nvSpPr>
        <p:spPr>
          <a:xfrm>
            <a:off x="4700016" y="230428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- Scalable, resilient, Zero Trust enforced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700016" y="277977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- Legacy systems fully marked for decommission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700016" y="3255264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- 4 Module APIs + CIGA APIs revamp + logic migrated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700016" y="3730752"/>
            <a:ext cx="1901952" cy="27432"/>
          </a:xfrm>
          <a:prstGeom prst="rect">
            <a:avLst/>
          </a:prstGeom>
          <a:solidFill>
            <a:srgbClr val="3A6B8A"/>
          </a:solidFill>
          <a:ln/>
        </p:spPr>
      </p:sp>
      <p:sp>
        <p:nvSpPr>
          <p:cNvPr id="40" name="Text 38"/>
          <p:cNvSpPr/>
          <p:nvPr/>
        </p:nvSpPr>
        <p:spPr>
          <a:xfrm>
            <a:off x="4700016" y="379476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8E0EA"/>
                </a:solidFill>
              </a:rPr>
              <a:t>D3: Backbone live - Ready for MyX Apps decommission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821424" y="731520"/>
            <a:ext cx="2084832" cy="4206240"/>
          </a:xfrm>
          <a:prstGeom prst="rect">
            <a:avLst>
              <a:gd name="adj" fmla="val 4386"/>
            </a:avLst>
          </a:prstGeom>
          <a:solidFill>
            <a:srgbClr val="0D1B3E"/>
          </a:solidFill>
          <a:ln/>
        </p:spPr>
      </p:sp>
      <p:sp>
        <p:nvSpPr>
          <p:cNvPr id="42" name="Text 40"/>
          <p:cNvSpPr/>
          <p:nvPr/>
        </p:nvSpPr>
        <p:spPr>
          <a:xfrm>
            <a:off x="6821424" y="804672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E0EA"/>
                </a:solidFill>
              </a:rPr>
              <a:t>04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6912864" y="129844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AAFC8"/>
                </a:solidFill>
              </a:rPr>
              <a:t>PSL VISION ON SELF-SERVICE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6894576" y="1536192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MyX Apps Sunset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12864" y="193852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E0EA"/>
                </a:solidFill>
              </a:rPr>
              <a:t>FY 2027 - FY 2028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986016" y="2231136"/>
            <a:ext cx="1755648" cy="27432"/>
          </a:xfrm>
          <a:prstGeom prst="rect">
            <a:avLst/>
          </a:prstGeom>
          <a:solidFill>
            <a:srgbClr val="3A6B8A"/>
          </a:solidFill>
          <a:ln/>
        </p:spPr>
      </p:sp>
      <p:sp>
        <p:nvSpPr>
          <p:cNvPr id="47" name="Text 45"/>
          <p:cNvSpPr/>
          <p:nvPr/>
        </p:nvSpPr>
        <p:spPr>
          <a:xfrm>
            <a:off x="6912864" y="230428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- MyX apps retired - MyIAM is platform of record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912864" y="277977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- Annual upgrade cadence from 2029 (Jul-Aug)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912864" y="3255264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- 4 apps sunset + decom complete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912864" y="3730752"/>
            <a:ext cx="1901952" cy="27432"/>
          </a:xfrm>
          <a:prstGeom prst="rect">
            <a:avLst/>
          </a:prstGeom>
          <a:solidFill>
            <a:srgbClr val="3A6B8A"/>
          </a:solidFill>
          <a:ln/>
        </p:spPr>
      </p:sp>
      <p:sp>
        <p:nvSpPr>
          <p:cNvPr id="51" name="Text 49"/>
          <p:cNvSpPr/>
          <p:nvPr/>
        </p:nvSpPr>
        <p:spPr>
          <a:xfrm>
            <a:off x="6912864" y="379476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8E0EA"/>
                </a:solidFill>
              </a:rPr>
              <a:t>D4: MyX apps decommissioned - 4 apps retired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37160" y="4956048"/>
            <a:ext cx="8869680" cy="164592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53" name="Text 51"/>
          <p:cNvSpPr/>
          <p:nvPr/>
        </p:nvSpPr>
        <p:spPr>
          <a:xfrm>
            <a:off x="228600" y="4956048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8E0EA"/>
                </a:solidFill>
              </a:rPr>
              <a:t>Vision: Establish MyIAM as the unified entry point and definitive source of truth, eliminating the need for direct Active Directory (AD) access.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503920" y="48006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C93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0" y="109728"/>
            <a:ext cx="1005840" cy="256032"/>
          </a:xfrm>
          <a:prstGeom prst="rect">
            <a:avLst/>
          </a:prstGeom>
          <a:solidFill>
            <a:srgbClr val="E833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AIRBUS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What Peer Teams Need to Do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8E0EA"/>
                </a:solidFill>
              </a:rPr>
              <a:t>Simple awareness - no system changes, no technical action required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1179576"/>
            <a:ext cx="438912" cy="438912"/>
          </a:xfrm>
          <a:prstGeom prst="ellipse">
            <a:avLst/>
          </a:prstGeom>
          <a:solidFill>
            <a:srgbClr val="E8333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79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Read the MyIAM documentation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138988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EA"/>
                </a:solidFill>
              </a:rPr>
              <a:t>Familiarise yourself with what MyIAM is, what it replaces, and what your users will experience. Documentation is available via the IAM PSL Slack channel.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" y="1636776"/>
            <a:ext cx="36576" cy="402336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2148840"/>
            <a:ext cx="438912" cy="438912"/>
          </a:xfrm>
          <a:prstGeom prst="ellipse">
            <a:avLst/>
          </a:prstGeom>
          <a:solidFill>
            <a:srgbClr val="E8333C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02082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Be aware of the timeline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05840" y="235915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EA"/>
                </a:solidFill>
              </a:rPr>
              <a:t>Phase 1 go-live is March 2027. From that point, MyAccess, MyPassword, MyAccount and MyContext will all be accessed through MyIAM. No disruption - just a new front door.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" y="2606040"/>
            <a:ext cx="36576" cy="402336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3118104"/>
            <a:ext cx="438912" cy="438912"/>
          </a:xfrm>
          <a:prstGeom prst="ellipse">
            <a:avLst/>
          </a:prstGeom>
          <a:solidFill>
            <a:srgbClr val="E8333C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118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99008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Stay informed via monthly updates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05840" y="3328416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EA"/>
                </a:solidFill>
              </a:rPr>
              <a:t>The MyIAM programme publishes a monthly update via the IAM PSL Slack channel. Follow the channel to stay current on progress, go-live dates, and any actions that arise.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" y="3575304"/>
            <a:ext cx="36576" cy="402336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4087368"/>
            <a:ext cx="438912" cy="438912"/>
          </a:xfrm>
          <a:prstGeom prst="ellipse">
            <a:avLst/>
          </a:prstGeom>
          <a:solidFill>
            <a:srgbClr val="E8333C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087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95935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Redirect users when asked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05840" y="429768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EA"/>
                </a:solidFill>
              </a:rPr>
              <a:t>If a user asks where to go for IAM tasks, point them to MyIAM. No new credentials, no retraining - the experience is familiar, just consolidated in one place.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0" y="48006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C93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-457200"/>
            <a:ext cx="5486400" cy="5486400"/>
          </a:xfrm>
          <a:prstGeom prst="ellipse">
            <a:avLst/>
          </a:prstGeom>
          <a:solidFill>
            <a:srgbClr val="0A1E3F">
              <a:alpha val="60000"/>
            </a:srgbClr>
          </a:solidFill>
          <a:ln w="12700">
            <a:solidFill>
              <a:srgbClr val="0082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0" y="109728"/>
            <a:ext cx="1005840" cy="256032"/>
          </a:xfrm>
          <a:prstGeom prst="rect">
            <a:avLst/>
          </a:prstGeom>
          <a:solidFill>
            <a:srgbClr val="E833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AIRBUS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MyIAM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135331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E0EA"/>
                </a:solidFill>
              </a:rPr>
              <a:t>One cockpit. Every identity. Every division.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5029200" cy="36576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933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333C"/>
                </a:solidFill>
              </a:rPr>
              <a:t>90%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0EA"/>
                </a:solidFill>
              </a:rPr>
              <a:t>Reduction 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E0EA"/>
                </a:solidFill>
              </a:rPr>
              <a:t>IAM Requests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06040" y="19933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333C"/>
                </a:solidFill>
              </a:rPr>
              <a:t>75%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06040" y="25146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0EA"/>
                </a:solidFill>
              </a:rPr>
              <a:t>Reduction 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E0EA"/>
                </a:solidFill>
              </a:rPr>
              <a:t>IAM Incidents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80560" y="19933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333C"/>
                </a:solidFill>
              </a:rPr>
              <a:t>100K+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480560" y="25146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0EA"/>
                </a:solidFill>
              </a:rPr>
              <a:t>Users 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E0EA"/>
                </a:solidFill>
              </a:rPr>
              <a:t>Phase 1 Go-Live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55080" y="19933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333C"/>
                </a:solidFill>
              </a:rPr>
              <a:t>11-&gt;1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55080" y="25146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0EA"/>
                </a:solidFill>
              </a:rPr>
              <a:t>Apps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E0EA"/>
                </a:solidFill>
              </a:rPr>
              <a:t>Consolidated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2944368"/>
            <a:ext cx="5029200" cy="36576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090672"/>
            <a:ext cx="5029200" cy="960120"/>
          </a:xfrm>
          <a:prstGeom prst="rect">
            <a:avLst>
              <a:gd name="adj" fmla="val 7619"/>
            </a:avLst>
          </a:prstGeom>
          <a:solidFill>
            <a:srgbClr val="0A2240"/>
          </a:solidFill>
          <a:ln w="12700">
            <a:solidFill>
              <a:srgbClr val="0082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1546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2A0"/>
                </a:solidFill>
              </a:rPr>
              <a:t>Communication Cadence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4290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Monthly update published via IAM PSL Slack channel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8680" y="36850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E0EA"/>
                </a:solidFill>
              </a:rPr>
              <a:t>Covers: progress, go-live readiness, upcoming milestones, and any actions for peer teams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</a:rPr>
              <a:t>Programme Lead: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1752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Abhishek Reddy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462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</a:rPr>
              <a:t>Questions &amp; Escalations: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17520" y="4462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IAM PSL - Slack channel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7640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</a:rPr>
              <a:t>Go-Live: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017520" y="47640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1: March 2027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0" y="48006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C93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From 4 Separate Apps to One Unified Cockpit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955280" y="109728"/>
            <a:ext cx="1005840" cy="256032"/>
          </a:xfrm>
          <a:prstGeom prst="rect">
            <a:avLst/>
          </a:prstGeom>
          <a:solidFill>
            <a:srgbClr val="E833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AIRBUS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749808"/>
            <a:ext cx="3566160" cy="347472"/>
          </a:xfrm>
          <a:prstGeom prst="rect">
            <a:avLst>
              <a:gd name="adj" fmla="val 15789"/>
            </a:avLst>
          </a:prstGeom>
          <a:solidFill>
            <a:srgbClr val="E8333C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7498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AS-IS  -  4 Fragmented Apps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1207008"/>
            <a:ext cx="3566160" cy="749808"/>
          </a:xfrm>
          <a:prstGeom prst="rect">
            <a:avLst>
              <a:gd name="adj" fmla="val 9756"/>
            </a:avLst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710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MyAccount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15544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EA"/>
                </a:solidFill>
              </a:rPr>
              <a:t>Account Lifecycle Mgmt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E0EA"/>
                </a:solidFill>
              </a:rPr>
              <a:t>SA, TA, Unix Attributes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2103120"/>
            <a:ext cx="3566160" cy="749808"/>
          </a:xfrm>
          <a:prstGeom prst="rect">
            <a:avLst>
              <a:gd name="adj" fmla="val 9756"/>
            </a:avLst>
          </a:prstGeom>
          <a:solidFill>
            <a:srgbClr val="0D1B3E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167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MyAccess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2450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EA"/>
                </a:solidFill>
              </a:rPr>
              <a:t>Group Lifecycle Mgmt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E0EA"/>
                </a:solidFill>
              </a:rPr>
              <a:t>GBAC, RBAC, PBAC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2999232"/>
            <a:ext cx="3566160" cy="749808"/>
          </a:xfrm>
          <a:prstGeom prst="rect">
            <a:avLst>
              <a:gd name="adj" fmla="val 9756"/>
            </a:avLst>
          </a:prstGeom>
          <a:solidFill>
            <a:srgbClr val="0D1B3E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MyPassword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33467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EA"/>
                </a:solidFill>
              </a:rPr>
              <a:t>Password Management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E0EA"/>
                </a:solidFill>
              </a:rPr>
              <a:t>Employees &amp; SAP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3895344"/>
            <a:ext cx="3566160" cy="749808"/>
          </a:xfrm>
          <a:prstGeom prst="rect">
            <a:avLst>
              <a:gd name="adj" fmla="val 9756"/>
            </a:avLst>
          </a:prstGeom>
          <a:solidFill>
            <a:srgbClr val="0D1B3E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959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MyAppConnect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2428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EA"/>
                </a:solidFill>
              </a:rPr>
              <a:t>SSO Connectors &amp; Scopes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77640" y="2331720"/>
            <a:ext cx="1188720" cy="164592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14884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2A0"/>
                </a:solidFill>
              </a:rPr>
              <a:t>&gt;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840480" y="2578608"/>
            <a:ext cx="1463040" cy="475488"/>
          </a:xfrm>
          <a:prstGeom prst="rect">
            <a:avLst>
              <a:gd name="adj" fmla="val 11538"/>
            </a:avLst>
          </a:prstGeom>
          <a:solidFill>
            <a:srgbClr val="0082A0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0" y="25786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UI Consolidation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0" y="30906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82A0"/>
                </a:solidFill>
              </a:rPr>
              <a:t>Now - Mar 2027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94960" y="749808"/>
            <a:ext cx="3566160" cy="347472"/>
          </a:xfrm>
          <a:prstGeom prst="rect">
            <a:avLst>
              <a:gd name="adj" fmla="val 15789"/>
            </a:avLst>
          </a:prstGeom>
          <a:solidFill>
            <a:srgbClr val="0082A0"/>
          </a:solidFill>
          <a:ln/>
        </p:spPr>
      </p:sp>
      <p:sp>
        <p:nvSpPr>
          <p:cNvPr id="26" name="Text 24"/>
          <p:cNvSpPr/>
          <p:nvPr/>
        </p:nvSpPr>
        <p:spPr>
          <a:xfrm>
            <a:off x="5394960" y="7498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TO-BE  -  One MyIAM Cockpit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94960" y="1170432"/>
            <a:ext cx="3566160" cy="3657600"/>
          </a:xfrm>
          <a:prstGeom prst="rect">
            <a:avLst>
              <a:gd name="adj" fmla="val 3077"/>
            </a:avLst>
          </a:prstGeom>
          <a:solidFill>
            <a:srgbClr val="00205B"/>
          </a:solidFill>
          <a:ln/>
        </p:spPr>
      </p:sp>
      <p:sp>
        <p:nvSpPr>
          <p:cNvPr id="28" name="Text 26"/>
          <p:cNvSpPr/>
          <p:nvPr/>
        </p:nvSpPr>
        <p:spPr>
          <a:xfrm>
            <a:off x="5394960" y="126187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MyIAM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394960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E0EA"/>
                </a:solidFill>
              </a:rPr>
              <a:t>One Self-Service Cockpit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77840" y="2103120"/>
            <a:ext cx="3200400" cy="530352"/>
          </a:xfrm>
          <a:prstGeom prst="rect">
            <a:avLst>
              <a:gd name="adj" fmla="val 10345"/>
            </a:avLst>
          </a:prstGeom>
          <a:solidFill>
            <a:srgbClr val="0A2A5C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0" y="21488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MyAccount Module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0" y="23774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EA"/>
                </a:solidFill>
              </a:rPr>
              <a:t>Centralised Account Mgmt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77840" y="2761488"/>
            <a:ext cx="3200400" cy="530352"/>
          </a:xfrm>
          <a:prstGeom prst="rect">
            <a:avLst>
              <a:gd name="adj" fmla="val 10345"/>
            </a:avLst>
          </a:prstGeom>
          <a:solidFill>
            <a:srgbClr val="0A2A5C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0" y="28072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MyAccess Module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9280" y="303580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EA"/>
                </a:solidFill>
              </a:rPr>
              <a:t>Centralised Access Mgmt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77840" y="3419856"/>
            <a:ext cx="3200400" cy="530352"/>
          </a:xfrm>
          <a:prstGeom prst="rect">
            <a:avLst>
              <a:gd name="adj" fmla="val 10345"/>
            </a:avLst>
          </a:prstGeom>
          <a:solidFill>
            <a:srgbClr val="0A2A5C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0" y="34655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MyIdentity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69280" y="36941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EA"/>
                </a:solidFill>
              </a:rPr>
              <a:t>Password Reset &amp; Identity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577840" y="4078224"/>
            <a:ext cx="3200400" cy="530352"/>
          </a:xfrm>
          <a:prstGeom prst="rect">
            <a:avLst>
              <a:gd name="adj" fmla="val 10345"/>
            </a:avLst>
          </a:prstGeom>
          <a:solidFill>
            <a:srgbClr val="0A2A5C"/>
          </a:solidFill>
          <a:ln/>
        </p:spPr>
      </p:sp>
      <p:sp>
        <p:nvSpPr>
          <p:cNvPr id="40" name="Text 38"/>
          <p:cNvSpPr/>
          <p:nvPr/>
        </p:nvSpPr>
        <p:spPr>
          <a:xfrm>
            <a:off x="5669280" y="41239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MyAppConnect Module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69280" y="43525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EA"/>
                </a:solidFill>
              </a:rPr>
              <a:t>SSO Connectors &amp; Scopes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2880" y="4736592"/>
            <a:ext cx="8778240" cy="29260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0EA"/>
                </a:solidFill>
              </a:rPr>
              <a:t>One login  |  One front door  |  No IT ticket needed  |  Full audit trail  |  100K+ users onboarded at go-live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503920" y="48006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C93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Consolidation Map - Where Each App Lives in MyIAM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955280" y="109728"/>
            <a:ext cx="1005840" cy="256032"/>
          </a:xfrm>
          <a:prstGeom prst="rect">
            <a:avLst/>
          </a:prstGeom>
          <a:solidFill>
            <a:srgbClr val="E833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AIRBUS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C93"/>
                </a:solidFill>
              </a:rPr>
              <a:t>OLD APPS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2743200" cy="804672"/>
          </a:xfrm>
          <a:prstGeom prst="rect">
            <a:avLst>
              <a:gd name="adj" fmla="val 9091"/>
            </a:avLst>
          </a:prstGeom>
          <a:solidFill>
            <a:srgbClr val="0D1B3E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887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MyAccount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4996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EA"/>
                </a:solidFill>
              </a:rPr>
              <a:t>Account Lifecycle, SA/TA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2148840"/>
            <a:ext cx="2743200" cy="804672"/>
          </a:xfrm>
          <a:prstGeom prst="rect">
            <a:avLst>
              <a:gd name="adj" fmla="val 9091"/>
            </a:avLst>
          </a:prstGeom>
          <a:solidFill>
            <a:srgbClr val="0D1B3E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240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MyAccess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25511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EA"/>
                </a:solidFill>
              </a:rPr>
              <a:t>Group Lifecycle Mgmt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3200400"/>
            <a:ext cx="2743200" cy="804672"/>
          </a:xfrm>
          <a:prstGeom prst="rect">
            <a:avLst>
              <a:gd name="adj" fmla="val 9091"/>
            </a:avLst>
          </a:prstGeom>
          <a:solidFill>
            <a:srgbClr val="0D1B3E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3291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MyPassword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36027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EA"/>
                </a:solidFill>
              </a:rPr>
              <a:t>Password Mgmt Tool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4251960"/>
            <a:ext cx="2743200" cy="804672"/>
          </a:xfrm>
          <a:prstGeom prst="rect">
            <a:avLst>
              <a:gd name="adj" fmla="val 9091"/>
            </a:avLst>
          </a:prstGeom>
          <a:solidFill>
            <a:srgbClr val="0D1B3E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4343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MyAppConnect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46542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EA"/>
                </a:solidFill>
              </a:rPr>
              <a:t>SSO Connectors &amp; Scopes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72200" y="749808"/>
            <a:ext cx="2743200" cy="256032"/>
          </a:xfrm>
          <a:prstGeom prst="rect">
            <a:avLst>
              <a:gd name="adj" fmla="val 17857"/>
            </a:avLst>
          </a:prstGeom>
          <a:solidFill>
            <a:srgbClr val="0082A0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749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MYIAM MODULES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72200" y="1097280"/>
            <a:ext cx="2743200" cy="804672"/>
          </a:xfrm>
          <a:prstGeom prst="rect">
            <a:avLst>
              <a:gd name="adj" fmla="val 9091"/>
            </a:avLst>
          </a:prstGeom>
          <a:solidFill>
            <a:srgbClr val="0082A0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1161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MyAccount Module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144475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Centralised Account Mgmt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Accounts &amp; Unix Attributes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72200" y="2148840"/>
            <a:ext cx="2743200" cy="804672"/>
          </a:xfrm>
          <a:prstGeom prst="rect">
            <a:avLst>
              <a:gd name="adj" fmla="val 9091"/>
            </a:avLst>
          </a:prstGeom>
          <a:solidFill>
            <a:srgbClr val="0082A0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MyAccess Module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249631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Centralised Access Mgmt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GBAC, RBAC, PBAC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72200" y="3200400"/>
            <a:ext cx="2743200" cy="804672"/>
          </a:xfrm>
          <a:prstGeom prst="rect">
            <a:avLst>
              <a:gd name="adj" fmla="val 9091"/>
            </a:avLst>
          </a:prstGeom>
          <a:solidFill>
            <a:srgbClr val="0082A0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3264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MyIdentity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354787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Identity, Sparte,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Reset Passwords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72200" y="4251960"/>
            <a:ext cx="2743200" cy="804672"/>
          </a:xfrm>
          <a:prstGeom prst="rect">
            <a:avLst>
              <a:gd name="adj" fmla="val 9091"/>
            </a:avLst>
          </a:prstGeom>
          <a:solidFill>
            <a:srgbClr val="0082A0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4315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MyAppConnect Module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45994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SSO Connectors &amp; Scopes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AirbusPassport integrated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46120" y="960120"/>
            <a:ext cx="2651760" cy="3858768"/>
          </a:xfrm>
          <a:prstGeom prst="rect">
            <a:avLst>
              <a:gd name="adj" fmla="val 4138"/>
            </a:avLst>
          </a:prstGeom>
          <a:solidFill>
            <a:srgbClr val="00205B"/>
          </a:solidFill>
          <a:ln/>
        </p:spPr>
      </p:sp>
      <p:sp>
        <p:nvSpPr>
          <p:cNvPr id="34" name="Text 32"/>
          <p:cNvSpPr/>
          <p:nvPr/>
        </p:nvSpPr>
        <p:spPr>
          <a:xfrm>
            <a:off x="3246120" y="10515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MyIAM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337560" y="153619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E0EA"/>
                </a:solidFill>
              </a:rPr>
              <a:t>Unified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E0EA"/>
                </a:solidFill>
              </a:rPr>
              <a:t>Self-Service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E0EA"/>
                </a:solidFill>
              </a:rPr>
              <a:t>Cockpit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37560" y="25146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E0EA"/>
                </a:solidFill>
              </a:rPr>
              <a:t>One login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C8E0EA"/>
                </a:solidFill>
              </a:rPr>
              <a:t>One front door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C8E0EA"/>
                </a:solidFill>
              </a:rPr>
              <a:t>No IT ticket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37560" y="3337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333C"/>
                </a:solidFill>
              </a:rPr>
              <a:t>Phase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333C"/>
                </a:solidFill>
              </a:rPr>
              <a:t>Now - Mar 2027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971800" y="1499616"/>
            <a:ext cx="292608" cy="36576"/>
          </a:xfrm>
          <a:prstGeom prst="rect">
            <a:avLst/>
          </a:prstGeom>
          <a:solidFill>
            <a:srgbClr val="E8333C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0" y="137160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333C"/>
                </a:solidFill>
              </a:rPr>
              <a:t>&gt;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971800" y="2551176"/>
            <a:ext cx="292608" cy="36576"/>
          </a:xfrm>
          <a:prstGeom prst="rect">
            <a:avLst/>
          </a:prstGeom>
          <a:solidFill>
            <a:srgbClr val="E8333C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0" y="242316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333C"/>
                </a:solidFill>
              </a:rPr>
              <a:t>&gt;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971800" y="3602736"/>
            <a:ext cx="292608" cy="36576"/>
          </a:xfrm>
          <a:prstGeom prst="rect">
            <a:avLst/>
          </a:prstGeom>
          <a:solidFill>
            <a:srgbClr val="E8333C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0" y="34747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333C"/>
                </a:solidFill>
              </a:rPr>
              <a:t>&gt;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971800" y="4654296"/>
            <a:ext cx="292608" cy="36576"/>
          </a:xfrm>
          <a:prstGeom prst="rect">
            <a:avLst/>
          </a:prstGeom>
          <a:solidFill>
            <a:srgbClr val="E8333C"/>
          </a:solidFill>
          <a:ln/>
        </p:spPr>
      </p:sp>
      <p:sp>
        <p:nvSpPr>
          <p:cNvPr id="45" name="Text 43"/>
          <p:cNvSpPr/>
          <p:nvPr/>
        </p:nvSpPr>
        <p:spPr>
          <a:xfrm>
            <a:off x="3200400" y="452628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333C"/>
                </a:solidFill>
              </a:rPr>
              <a:t>&gt;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879592" y="1499616"/>
            <a:ext cx="292608" cy="36576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47" name="Text 45"/>
          <p:cNvSpPr/>
          <p:nvPr/>
        </p:nvSpPr>
        <p:spPr>
          <a:xfrm>
            <a:off x="6108192" y="137160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2A0"/>
                </a:solidFill>
              </a:rPr>
              <a:t>&gt;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879592" y="2551176"/>
            <a:ext cx="292608" cy="36576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49" name="Text 47"/>
          <p:cNvSpPr/>
          <p:nvPr/>
        </p:nvSpPr>
        <p:spPr>
          <a:xfrm>
            <a:off x="6108192" y="242316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2A0"/>
                </a:solidFill>
              </a:rPr>
              <a:t>&gt;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879592" y="3602736"/>
            <a:ext cx="292608" cy="36576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51" name="Text 49"/>
          <p:cNvSpPr/>
          <p:nvPr/>
        </p:nvSpPr>
        <p:spPr>
          <a:xfrm>
            <a:off x="6108192" y="34747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2A0"/>
                </a:solidFill>
              </a:rPr>
              <a:t>&gt;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879592" y="4654296"/>
            <a:ext cx="292608" cy="36576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53" name="Text 51"/>
          <p:cNvSpPr/>
          <p:nvPr/>
        </p:nvSpPr>
        <p:spPr>
          <a:xfrm>
            <a:off x="6108192" y="452628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2A0"/>
                </a:solidFill>
              </a:rPr>
              <a:t>&gt;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503920" y="48006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C93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Before &amp; After MyIAM - Password Reset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955280" y="109728"/>
            <a:ext cx="1005840" cy="256032"/>
          </a:xfrm>
          <a:prstGeom prst="rect">
            <a:avLst/>
          </a:prstGeom>
          <a:solidFill>
            <a:srgbClr val="E833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AIRBUS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3A4A"/>
                </a:solidFill>
              </a:rPr>
              <a:t>Task: A user needs to reset their Airbus password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024128"/>
            <a:ext cx="4160520" cy="347472"/>
          </a:xfrm>
          <a:prstGeom prst="rect">
            <a:avLst>
              <a:gd name="adj" fmla="val 15789"/>
            </a:avLst>
          </a:prstGeom>
          <a:solidFill>
            <a:srgbClr val="E8333C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02412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BEFORE  -  Using MyPassword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24128"/>
            <a:ext cx="4160520" cy="347472"/>
          </a:xfrm>
          <a:prstGeom prst="rect">
            <a:avLst>
              <a:gd name="adj" fmla="val 15789"/>
            </a:avLst>
          </a:prstGeom>
          <a:solidFill>
            <a:srgbClr val="0082A0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02412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AFTER  -  Using MyIAM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62272" y="1005840"/>
            <a:ext cx="36576" cy="3931920"/>
          </a:xfrm>
          <a:prstGeom prst="rect">
            <a:avLst/>
          </a:prstGeom>
          <a:solidFill>
            <a:srgbClr val="C8E0EA"/>
          </a:solidFill>
          <a:ln/>
        </p:spPr>
      </p:sp>
      <p:sp>
        <p:nvSpPr>
          <p:cNvPr id="12" name="Shape 10"/>
          <p:cNvSpPr/>
          <p:nvPr/>
        </p:nvSpPr>
        <p:spPr>
          <a:xfrm>
            <a:off x="228600" y="1536192"/>
            <a:ext cx="347472" cy="347472"/>
          </a:xfrm>
          <a:prstGeom prst="ellipse">
            <a:avLst/>
          </a:prstGeom>
          <a:solidFill>
            <a:srgbClr val="E8333C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1536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Navigate to MyPassword portal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1755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</a:rPr>
              <a:t>Separate URL, separate login required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2176272"/>
            <a:ext cx="347472" cy="347472"/>
          </a:xfrm>
          <a:prstGeom prst="ellipse">
            <a:avLst/>
          </a:prstGeom>
          <a:solidFill>
            <a:srgbClr val="E8333C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2121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Authenticate with current credentials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23957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</a:rPr>
              <a:t>Even if already logged in to other apps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2816352"/>
            <a:ext cx="347472" cy="347472"/>
          </a:xfrm>
          <a:prstGeom prst="ellipse">
            <a:avLst/>
          </a:prstGeom>
          <a:solidFill>
            <a:srgbClr val="E8333C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" y="2816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2761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Select password type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" y="30358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</a:rPr>
              <a:t>Employee vs SAP password - different screens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3456432"/>
            <a:ext cx="347472" cy="347472"/>
          </a:xfrm>
          <a:prstGeom prst="ellipse">
            <a:avLst/>
          </a:prstGeom>
          <a:solidFill>
            <a:srgbClr val="E8333C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" y="3456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3401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Follow reset flow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" y="3675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</a:rPr>
              <a:t>Multiple screens, no guided help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4096512"/>
            <a:ext cx="347472" cy="347472"/>
          </a:xfrm>
          <a:prstGeom prst="ellipse">
            <a:avLst/>
          </a:prstGeom>
          <a:solidFill>
            <a:srgbClr val="E8333C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" y="4041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Wait for confirmation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" y="4315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</a:rPr>
              <a:t>Up to 10 min for AD sync to complete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46320" y="1536192"/>
            <a:ext cx="347472" cy="347472"/>
          </a:xfrm>
          <a:prstGeom prst="ellipse">
            <a:avLst/>
          </a:prstGeom>
          <a:solidFill>
            <a:srgbClr val="0082A0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1536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76088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Open MyIAM - already logged 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76088" y="1755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</a:rPr>
              <a:t>Single sign-on via Airbus Civil Realm - no separate login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46320" y="2340864"/>
            <a:ext cx="347472" cy="347472"/>
          </a:xfrm>
          <a:prstGeom prst="ellipse">
            <a:avLst/>
          </a:prstGeom>
          <a:solidFill>
            <a:srgbClr val="0082A0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340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76088" y="2286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Select Password Reset from dashboard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76088" y="2560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</a:rPr>
              <a:t>Persona-based view shows relevant options immediately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46320" y="3145536"/>
            <a:ext cx="347472" cy="347472"/>
          </a:xfrm>
          <a:prstGeom prst="ellipse">
            <a:avLst/>
          </a:prstGeom>
          <a:solidFill>
            <a:srgbClr val="0082A0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76088" y="3090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AI Copilot guides the reset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76088" y="33649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</a:rPr>
              <a:t>Natural language assistance - no navigation needed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46320" y="3950208"/>
            <a:ext cx="347472" cy="347472"/>
          </a:xfrm>
          <a:prstGeom prst="ellipse">
            <a:avLst/>
          </a:prstGeom>
          <a:solidFill>
            <a:srgbClr val="0082A0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3950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76088" y="3895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Done - AD synced in under 10 min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276088" y="41696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</a:rPr>
              <a:t>Full audit trail logged automatically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82880" y="4736592"/>
            <a:ext cx="8778240" cy="29260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9" name="Text 47"/>
          <p:cNvSpPr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0EA"/>
                </a:solidFill>
              </a:rPr>
              <a:t>Result: 5 steps reduced to 4  |  No separate login  |  AI-guided  |  Faster AD sync  |  Full audit trail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503920" y="48006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C93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82A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Before &amp; After MyIAM - New Joiner Access Setup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955280" y="109728"/>
            <a:ext cx="1005840" cy="256032"/>
          </a:xfrm>
          <a:prstGeom prst="rect">
            <a:avLst/>
          </a:prstGeom>
          <a:solidFill>
            <a:srgbClr val="E833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AIRBUS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3A4A"/>
                </a:solidFill>
              </a:rPr>
              <a:t>Task: A new joiner needs their account created and access provisioned on Day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024128"/>
            <a:ext cx="4160520" cy="347472"/>
          </a:xfrm>
          <a:prstGeom prst="rect">
            <a:avLst>
              <a:gd name="adj" fmla="val 15789"/>
            </a:avLst>
          </a:prstGeom>
          <a:solidFill>
            <a:srgbClr val="E8333C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02412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BEFORE  -  Across 3 Separate Apps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24128"/>
            <a:ext cx="4160520" cy="347472"/>
          </a:xfrm>
          <a:prstGeom prst="rect">
            <a:avLst>
              <a:gd name="adj" fmla="val 15789"/>
            </a:avLst>
          </a:prstGeom>
          <a:solidFill>
            <a:srgbClr val="0082A0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02412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AFTER  -  Using MyIAM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62272" y="1005840"/>
            <a:ext cx="36576" cy="3931920"/>
          </a:xfrm>
          <a:prstGeom prst="rect">
            <a:avLst/>
          </a:prstGeom>
          <a:solidFill>
            <a:srgbClr val="C8E0EA"/>
          </a:solidFill>
          <a:ln/>
        </p:spPr>
      </p:sp>
      <p:sp>
        <p:nvSpPr>
          <p:cNvPr id="12" name="Shape 10"/>
          <p:cNvSpPr/>
          <p:nvPr/>
        </p:nvSpPr>
        <p:spPr>
          <a:xfrm>
            <a:off x="201168" y="1463040"/>
            <a:ext cx="1207008" cy="256032"/>
          </a:xfrm>
          <a:prstGeom prst="rect">
            <a:avLst>
              <a:gd name="adj" fmla="val 14286"/>
            </a:avLst>
          </a:prstGeom>
          <a:solidFill>
            <a:srgbClr val="4A5568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" y="146304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MyAccount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481328" y="1463040"/>
            <a:ext cx="1207008" cy="256032"/>
          </a:xfrm>
          <a:prstGeom prst="rect">
            <a:avLst>
              <a:gd name="adj" fmla="val 14286"/>
            </a:avLst>
          </a:prstGeom>
          <a:solidFill>
            <a:srgbClr val="4A5568"/>
          </a:solidFill>
          <a:ln/>
        </p:spPr>
      </p:sp>
      <p:sp>
        <p:nvSpPr>
          <p:cNvPr id="15" name="Text 13"/>
          <p:cNvSpPr/>
          <p:nvPr/>
        </p:nvSpPr>
        <p:spPr>
          <a:xfrm>
            <a:off x="1481328" y="146304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MyAccess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61488" y="1463040"/>
            <a:ext cx="1481328" cy="256032"/>
          </a:xfrm>
          <a:prstGeom prst="rect">
            <a:avLst>
              <a:gd name="adj" fmla="val 14286"/>
            </a:avLst>
          </a:prstGeom>
          <a:solidFill>
            <a:srgbClr val="4A5568"/>
          </a:solidFill>
          <a:ln/>
        </p:spPr>
      </p:sp>
      <p:sp>
        <p:nvSpPr>
          <p:cNvPr id="17" name="Text 15"/>
          <p:cNvSpPr/>
          <p:nvPr/>
        </p:nvSpPr>
        <p:spPr>
          <a:xfrm>
            <a:off x="2761488" y="14630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MyAppConnect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8600" y="1865376"/>
            <a:ext cx="292608" cy="292608"/>
          </a:xfrm>
          <a:prstGeom prst="ellipse">
            <a:avLst/>
          </a:prstGeom>
          <a:solidFill>
            <a:srgbClr val="E8333C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1865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18288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IT raises ticket in MyAccount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" y="20665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C93"/>
                </a:solidFill>
              </a:rPr>
              <a:t>Manual SA/TA account creation - 1-2 days wait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" y="2350008"/>
            <a:ext cx="292608" cy="292608"/>
          </a:xfrm>
          <a:prstGeom prst="ellipse">
            <a:avLst/>
          </a:prstGeom>
          <a:solidFill>
            <a:srgbClr val="E8333C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23134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Switch to MyAccess for group assignment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25511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C93"/>
                </a:solidFill>
              </a:rPr>
              <a:t>Separate login, repeat identity verification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8600" y="2834640"/>
            <a:ext cx="292608" cy="292608"/>
          </a:xfrm>
          <a:prstGeom prst="ellipse">
            <a:avLst/>
          </a:prstGeom>
          <a:solidFill>
            <a:srgbClr val="E8333C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27980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Go to MyAppConnect for SSO setup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4360" y="30358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C93"/>
                </a:solidFill>
              </a:rPr>
              <a:t>Third separate app, separate configuration screen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8600" y="3319272"/>
            <a:ext cx="292608" cy="292608"/>
          </a:xfrm>
          <a:prstGeom prst="ellipse">
            <a:avLst/>
          </a:prstGeom>
          <a:solidFill>
            <a:srgbClr val="E8333C"/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2826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Wait for each system to sync independently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4360" y="35204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C93"/>
                </a:solidFill>
              </a:rPr>
              <a:t>Each app syncs to AD on its own schedule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" y="3803904"/>
            <a:ext cx="292608" cy="292608"/>
          </a:xfrm>
          <a:prstGeom prst="ellipse">
            <a:avLst/>
          </a:prstGeom>
          <a:solidFill>
            <a:srgbClr val="E8333C"/>
          </a:solidFill>
          <a:ln/>
        </p:spPr>
      </p:sp>
      <p:sp>
        <p:nvSpPr>
          <p:cNvPr id="35" name="Text 33"/>
          <p:cNvSpPr/>
          <p:nvPr/>
        </p:nvSpPr>
        <p:spPr>
          <a:xfrm>
            <a:off x="228600" y="3803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" y="37673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Manually verify all access is working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4360" y="40050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C93"/>
                </a:solidFill>
              </a:rPr>
              <a:t>No single view - check each app separately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28600" y="4288536"/>
            <a:ext cx="292608" cy="292608"/>
          </a:xfrm>
          <a:prstGeom prst="ellipse">
            <a:avLst/>
          </a:prstGeom>
          <a:solidFill>
            <a:srgbClr val="E8333C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" y="4288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4360" y="42519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SSO onboarding complete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94360" y="44897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C93"/>
                </a:solidFill>
              </a:rPr>
              <a:t>Average time: up to 2 weeks end to end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46320" y="1536192"/>
            <a:ext cx="347472" cy="347472"/>
          </a:xfrm>
          <a:prstGeom prst="ellipse">
            <a:avLst/>
          </a:prstGeom>
          <a:solidFill>
            <a:srgbClr val="0082A0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1536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76088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Manager submits request in MyIAM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76088" y="1755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</a:rPr>
              <a:t>Single form - account, groups, SSO all in one request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46320" y="2340864"/>
            <a:ext cx="347472" cy="347472"/>
          </a:xfrm>
          <a:prstGeom prst="ellipse">
            <a:avLst/>
          </a:prstGeom>
          <a:solidFill>
            <a:srgbClr val="0082A0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2340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276088" y="2286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Automated provisioning triggered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76088" y="2560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</a:rPr>
              <a:t>MyIAM creates account, assigns groups, configures SSO simultaneously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846320" y="3145536"/>
            <a:ext cx="347472" cy="347472"/>
          </a:xfrm>
          <a:prstGeom prst="ellipse">
            <a:avLst/>
          </a:prstGeom>
          <a:solidFill>
            <a:srgbClr val="0082A0"/>
          </a:solidFill>
          <a:ln/>
        </p:spPr>
      </p:sp>
      <p:sp>
        <p:nvSpPr>
          <p:cNvPr id="51" name="Text 49"/>
          <p:cNvSpPr/>
          <p:nvPr/>
        </p:nvSpPr>
        <p:spPr>
          <a:xfrm>
            <a:off x="484632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276088" y="3090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AI Autopilot monitors and completes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76088" y="33649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</a:rPr>
              <a:t>Detects and resolves provisioning issues automatically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846320" y="3950208"/>
            <a:ext cx="347472" cy="347472"/>
          </a:xfrm>
          <a:prstGeom prst="ellipse">
            <a:avLst/>
          </a:prstGeom>
          <a:solidFill>
            <a:srgbClr val="0082A0"/>
          </a:solidFill>
          <a:ln/>
        </p:spPr>
      </p:sp>
      <p:sp>
        <p:nvSpPr>
          <p:cNvPr id="55" name="Text 53"/>
          <p:cNvSpPr/>
          <p:nvPr/>
        </p:nvSpPr>
        <p:spPr>
          <a:xfrm>
            <a:off x="4846320" y="3950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276088" y="3895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Joiner notified - access ready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276088" y="41696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</a:rPr>
              <a:t>SSO onboarding: 2 weeks reduced to 2 days. Full audit trail logged.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82880" y="4736592"/>
            <a:ext cx="8778240" cy="29260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59" name="Text 57"/>
          <p:cNvSpPr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0EA"/>
                </a:solidFill>
              </a:rPr>
              <a:t>Result: 6 steps across 3 apps reduced to 4 in one place  |  SSO onboarding: 2 weeks reduced to 2 days  |  Zero manual chasing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503920" y="48006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C93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2026-07-30T08:54:47Z</dcterms:created>
  <dcterms:modified xsi:type="dcterms:W3CDTF">2026-07-30T08:54:47Z</dcterms:modified>
</cp:coreProperties>
</file>